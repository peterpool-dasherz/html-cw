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89" r:id="rId4"/>
    <p:sldId id="290" r:id="rId5"/>
    <p:sldId id="293" r:id="rId6"/>
    <p:sldId id="296" r:id="rId7"/>
    <p:sldId id="297" r:id="rId8"/>
    <p:sldId id="298" r:id="rId9"/>
    <p:sldId id="299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26" r:id="rId20"/>
    <p:sldId id="318" r:id="rId21"/>
    <p:sldId id="320" r:id="rId22"/>
    <p:sldId id="322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54" autoAdjust="0"/>
  </p:normalViewPr>
  <p:slideViewPr>
    <p:cSldViewPr>
      <p:cViewPr varScale="1">
        <p:scale>
          <a:sx n="106" d="100"/>
          <a:sy n="106" d="100"/>
        </p:scale>
        <p:origin x="1800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2944" y="501397"/>
            <a:ext cx="77647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65644" y="3924300"/>
            <a:ext cx="7212710" cy="812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66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D0D0D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F7F7F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2944" y="501397"/>
            <a:ext cx="77647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3040379"/>
            <a:ext cx="6724650" cy="162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F7F7F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airtable.com/hc/en-us/articles/232313848-How-to-open-the-developer-console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" y="6725284"/>
            <a:ext cx="4219575" cy="217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lang="en-GB" sz="1400" spc="-5" noProof="0" dirty="0">
                <a:solidFill>
                  <a:srgbClr val="9A9A99"/>
                </a:solidFill>
                <a:latin typeface="Trebuchet MS"/>
                <a:cs typeface="Trebuchet MS"/>
              </a:rPr>
              <a:t>COMP1314</a:t>
            </a:r>
            <a:r>
              <a:rPr lang="en-GB" sz="1400" spc="-105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90" noProof="0" dirty="0">
                <a:solidFill>
                  <a:srgbClr val="9A9A99"/>
                </a:solidFill>
                <a:latin typeface="Trebuchet MS"/>
                <a:cs typeface="Trebuchet MS"/>
              </a:rPr>
              <a:t>-</a:t>
            </a:r>
            <a:r>
              <a:rPr lang="en-GB" sz="1400" spc="-12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45" noProof="0" dirty="0">
                <a:solidFill>
                  <a:srgbClr val="9A9A99"/>
                </a:solidFill>
                <a:latin typeface="Trebuchet MS"/>
                <a:cs typeface="Trebuchet MS"/>
              </a:rPr>
              <a:t>Digital</a:t>
            </a:r>
            <a:r>
              <a:rPr lang="en-GB" sz="1400" spc="-6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45" noProof="0" dirty="0">
                <a:solidFill>
                  <a:srgbClr val="9A9A99"/>
                </a:solidFill>
                <a:latin typeface="Trebuchet MS"/>
                <a:cs typeface="Trebuchet MS"/>
              </a:rPr>
              <a:t>Media,</a:t>
            </a:r>
            <a:r>
              <a:rPr lang="en-GB" sz="1400" spc="-135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20" noProof="0" dirty="0">
                <a:solidFill>
                  <a:srgbClr val="9A9A99"/>
                </a:solidFill>
                <a:latin typeface="Trebuchet MS"/>
                <a:cs typeface="Trebuchet MS"/>
              </a:rPr>
              <a:t>Computing</a:t>
            </a:r>
            <a:r>
              <a:rPr lang="en-GB" sz="1400" spc="-30" noProof="0" dirty="0">
                <a:solidFill>
                  <a:srgbClr val="9A9A99"/>
                </a:solidFill>
                <a:latin typeface="Trebuchet MS"/>
                <a:cs typeface="Trebuchet MS"/>
              </a:rPr>
              <a:t> and</a:t>
            </a:r>
            <a:r>
              <a:rPr lang="en-GB" sz="1400" spc="-28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30" noProof="0" dirty="0">
                <a:solidFill>
                  <a:srgbClr val="9A9A99"/>
                </a:solidFill>
                <a:latin typeface="Trebuchet MS"/>
                <a:cs typeface="Trebuchet MS"/>
              </a:rPr>
              <a:t>Programming</a:t>
            </a:r>
            <a:endParaRPr lang="en-GB" sz="1400" noProof="0" dirty="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51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1602" y="1067307"/>
            <a:ext cx="7501890" cy="2757806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87325" marR="5080" indent="-174625" algn="ctr">
              <a:lnSpc>
                <a:spcPts val="10490"/>
              </a:lnSpc>
              <a:spcBef>
                <a:spcPts val="505"/>
              </a:spcBef>
            </a:pPr>
            <a:r>
              <a:rPr lang="en-GB" sz="8800" spc="195" noProof="0" dirty="0">
                <a:solidFill>
                  <a:srgbClr val="FFFFFF"/>
                </a:solidFill>
              </a:rPr>
              <a:t>Introduction</a:t>
            </a:r>
            <a:r>
              <a:rPr lang="en-GB" sz="8800" spc="-20" noProof="0" dirty="0">
                <a:solidFill>
                  <a:srgbClr val="FFFFFF"/>
                </a:solidFill>
              </a:rPr>
              <a:t> </a:t>
            </a:r>
            <a:r>
              <a:rPr lang="en-GB" sz="8800" spc="330" noProof="0" dirty="0">
                <a:solidFill>
                  <a:srgbClr val="FFFFFF"/>
                </a:solidFill>
              </a:rPr>
              <a:t>to  </a:t>
            </a:r>
            <a:r>
              <a:rPr lang="en-GB" sz="8800" spc="254" noProof="0" dirty="0">
                <a:solidFill>
                  <a:srgbClr val="FFFFFF"/>
                </a:solidFill>
              </a:rPr>
              <a:t>JavaScript</a:t>
            </a:r>
            <a:endParaRPr lang="en-GB" sz="8800" noProof="0" dirty="0"/>
          </a:p>
        </p:txBody>
      </p:sp>
      <p:sp>
        <p:nvSpPr>
          <p:cNvPr id="5" name="object 5"/>
          <p:cNvSpPr txBox="1"/>
          <p:nvPr/>
        </p:nvSpPr>
        <p:spPr>
          <a:xfrm>
            <a:off x="3920578" y="4135628"/>
            <a:ext cx="130238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1800" spc="5" noProof="0" dirty="0">
                <a:solidFill>
                  <a:srgbClr val="F2F2F2"/>
                </a:solidFill>
                <a:latin typeface="Trebuchet MS"/>
                <a:cs typeface="Trebuchet MS"/>
              </a:rPr>
              <a:t>COMP</a:t>
            </a:r>
            <a:r>
              <a:rPr lang="en-GB" sz="1800" spc="-170" noProof="0" dirty="0">
                <a:solidFill>
                  <a:srgbClr val="F2F2F2"/>
                </a:solidFill>
                <a:latin typeface="Trebuchet MS"/>
                <a:cs typeface="Trebuchet MS"/>
              </a:rPr>
              <a:t> </a:t>
            </a:r>
            <a:r>
              <a:rPr lang="en-GB" spc="-40" noProof="0" dirty="0">
                <a:solidFill>
                  <a:srgbClr val="F2F2F2"/>
                </a:solidFill>
                <a:latin typeface="Trebuchet MS"/>
                <a:cs typeface="Trebuchet MS"/>
              </a:rPr>
              <a:t>1589</a:t>
            </a:r>
            <a:endParaRPr lang="en-GB" sz="1800" noProof="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GB" sz="1850" noProof="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GB" sz="1800" spc="-25" noProof="0" dirty="0">
                <a:solidFill>
                  <a:srgbClr val="F2F2F2"/>
                </a:solidFill>
                <a:latin typeface="Trebuchet MS"/>
                <a:cs typeface="Trebuchet MS"/>
              </a:rPr>
              <a:t>Matt</a:t>
            </a:r>
            <a:r>
              <a:rPr lang="en-GB" sz="1800" spc="-204" noProof="0" dirty="0">
                <a:solidFill>
                  <a:srgbClr val="F2F2F2"/>
                </a:solidFill>
                <a:latin typeface="Trebuchet MS"/>
                <a:cs typeface="Trebuchet MS"/>
              </a:rPr>
              <a:t> </a:t>
            </a:r>
            <a:r>
              <a:rPr lang="en-GB" sz="1800" spc="-85" noProof="0" dirty="0">
                <a:solidFill>
                  <a:srgbClr val="F2F2F2"/>
                </a:solidFill>
                <a:latin typeface="Trebuchet MS"/>
                <a:cs typeface="Trebuchet MS"/>
              </a:rPr>
              <a:t>Prichard</a:t>
            </a:r>
            <a:endParaRPr lang="en-GB" sz="1800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647" y="2179827"/>
            <a:ext cx="818197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8800" spc="-305" noProof="0" dirty="0">
                <a:solidFill>
                  <a:srgbClr val="000000"/>
                </a:solidFill>
              </a:rPr>
              <a:t>Why</a:t>
            </a:r>
            <a:r>
              <a:rPr lang="en-GB" sz="8800" spc="-340" noProof="0" dirty="0">
                <a:solidFill>
                  <a:srgbClr val="000000"/>
                </a:solidFill>
              </a:rPr>
              <a:t> </a:t>
            </a:r>
            <a:r>
              <a:rPr lang="en-GB" sz="8800" spc="-60" noProof="0" dirty="0">
                <a:solidFill>
                  <a:srgbClr val="000000"/>
                </a:solidFill>
              </a:rPr>
              <a:t>JavaScript?</a:t>
            </a:r>
            <a:endParaRPr lang="en-GB" sz="8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62" y="332739"/>
            <a:ext cx="40906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spc="-80" noProof="0" dirty="0"/>
              <a:t>What </a:t>
            </a:r>
            <a:r>
              <a:rPr lang="en-GB" sz="4000" spc="-114" noProof="0" dirty="0"/>
              <a:t>is</a:t>
            </a:r>
            <a:r>
              <a:rPr lang="en-GB" sz="4000" spc="25" noProof="0" dirty="0"/>
              <a:t> </a:t>
            </a:r>
            <a:r>
              <a:rPr lang="en-GB" sz="4000" spc="-65" noProof="0" dirty="0"/>
              <a:t>JavaScript</a:t>
            </a:r>
            <a:endParaRPr lang="en-GB" sz="400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403224" y="1185164"/>
            <a:ext cx="8512175" cy="5144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57275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lang="en-GB" sz="2400" spc="-9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 </a:t>
            </a:r>
            <a:r>
              <a:rPr lang="en-GB" sz="2400" spc="-2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platform-independent, </a:t>
            </a: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event-driven, 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interpreted programming</a:t>
            </a:r>
            <a:r>
              <a:rPr lang="en-GB" sz="2400" spc="1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language.</a:t>
            </a:r>
            <a:endParaRPr lang="en-GB" sz="24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355600" marR="33655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spc="-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JavaScript's </a:t>
            </a:r>
            <a:r>
              <a:rPr lang="en-GB" sz="24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official </a:t>
            </a:r>
            <a:r>
              <a:rPr lang="en-GB" sz="2400" spc="-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name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"ECMAScript". </a:t>
            </a:r>
            <a:r>
              <a:rPr lang="en-GB" sz="2400" spc="-9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standard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 </a:t>
            </a: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developed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lang="en-GB" sz="24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maintained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by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400" u="sng" spc="-90" noProof="0" dirty="0">
                <a:uFill>
                  <a:solidFill>
                    <a:srgbClr val="0000FF"/>
                  </a:solidFill>
                </a:u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ECMA</a:t>
            </a:r>
            <a:r>
              <a:rPr lang="en-GB" sz="2400" u="sng" spc="150" noProof="0" dirty="0">
                <a:uFill>
                  <a:solidFill>
                    <a:srgbClr val="0000FF"/>
                  </a:solidFill>
                </a:u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u="sng" spc="-40" noProof="0" dirty="0">
                <a:uFill>
                  <a:solidFill>
                    <a:srgbClr val="0000FF"/>
                  </a:solidFill>
                </a:uFill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organisation</a:t>
            </a: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.</a:t>
            </a:r>
            <a:endParaRPr lang="en-GB" sz="24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355600" marR="5080" indent="-342900">
              <a:lnSpc>
                <a:spcPct val="15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ECMA-262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4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official </a:t>
            </a: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standard. </a:t>
            </a:r>
            <a:r>
              <a:rPr lang="en-GB" sz="2400" spc="-9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standard 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based </a:t>
            </a:r>
            <a:r>
              <a:rPr lang="en-GB" sz="2400" spc="-2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on </a:t>
            </a:r>
            <a:r>
              <a:rPr lang="en-GB" sz="24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JavaScript </a:t>
            </a:r>
            <a:r>
              <a:rPr lang="en-GB" sz="2400" spc="-7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(Netscape)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lang="en-GB" sz="2400" spc="-1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JScript</a:t>
            </a:r>
            <a:r>
              <a:rPr lang="en-GB" sz="2400" spc="21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400" spc="-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(Microsoft).</a:t>
            </a:r>
            <a:endParaRPr lang="en-GB" sz="24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355600" marR="250825" indent="-342900">
              <a:lnSpc>
                <a:spcPct val="150000"/>
              </a:lnSpc>
              <a:spcBef>
                <a:spcPts val="56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spc="-9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400" spc="-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language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was </a:t>
            </a:r>
            <a:r>
              <a:rPr lang="en-GB" sz="2400" spc="-4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invented </a:t>
            </a:r>
            <a:r>
              <a:rPr lang="en-GB" sz="24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by </a:t>
            </a:r>
            <a:r>
              <a:rPr lang="en-GB" sz="24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Brendan </a:t>
            </a:r>
            <a:r>
              <a:rPr lang="en-GB" sz="2400" spc="-7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Eich </a:t>
            </a:r>
            <a:r>
              <a:rPr lang="en-GB" sz="2400" spc="-2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at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Netscape  </a:t>
            </a:r>
            <a:r>
              <a:rPr lang="en-GB" sz="24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(with </a:t>
            </a:r>
            <a:r>
              <a:rPr lang="en-GB" sz="2400" spc="-4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Navigator </a:t>
            </a:r>
            <a:r>
              <a:rPr lang="en-GB" sz="24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2.0),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lang="en-GB" sz="24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has </a:t>
            </a:r>
            <a:r>
              <a:rPr lang="en-GB" sz="2400" spc="-4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appeared </a:t>
            </a:r>
            <a:r>
              <a:rPr lang="en-GB" sz="2400" spc="-7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 </a:t>
            </a:r>
            <a:r>
              <a:rPr lang="en-GB" sz="2400" spc="-9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all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Netscape  </a:t>
            </a:r>
            <a:r>
              <a:rPr lang="en-GB" sz="2400" spc="-4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(defunct </a:t>
            </a:r>
            <a:r>
              <a:rPr lang="en-GB" sz="24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since </a:t>
            </a:r>
            <a:r>
              <a:rPr lang="en-GB" sz="24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Mar </a:t>
            </a:r>
            <a:r>
              <a:rPr lang="en-GB" sz="2400" spc="-4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2008)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lang="en-GB" sz="2400" spc="-2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Microsoft </a:t>
            </a:r>
            <a:r>
              <a:rPr lang="en-GB" sz="2400" spc="-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browsers </a:t>
            </a:r>
            <a:r>
              <a:rPr lang="en-GB" sz="24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since  </a:t>
            </a:r>
            <a:r>
              <a:rPr lang="en-GB" sz="2400" spc="-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1996.</a:t>
            </a:r>
            <a:endParaRPr lang="en-GB" sz="24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15619"/>
            <a:ext cx="57200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spc="-80" noProof="0" dirty="0">
                <a:solidFill>
                  <a:srgbClr val="000000"/>
                </a:solidFill>
              </a:rPr>
              <a:t>What </a:t>
            </a:r>
            <a:r>
              <a:rPr lang="en-GB" sz="4000" spc="-114" noProof="0" dirty="0">
                <a:solidFill>
                  <a:srgbClr val="000000"/>
                </a:solidFill>
              </a:rPr>
              <a:t>is </a:t>
            </a:r>
            <a:r>
              <a:rPr lang="en-GB" sz="4000" spc="-65" noProof="0" dirty="0">
                <a:solidFill>
                  <a:srgbClr val="000000"/>
                </a:solidFill>
              </a:rPr>
              <a:t>JavaScript</a:t>
            </a:r>
            <a:r>
              <a:rPr lang="en-GB" sz="4000" spc="160" noProof="0" dirty="0">
                <a:solidFill>
                  <a:srgbClr val="000000"/>
                </a:solidFill>
              </a:rPr>
              <a:t> </a:t>
            </a:r>
            <a:r>
              <a:rPr lang="en-GB" sz="4000" spc="-15" noProof="0" dirty="0">
                <a:solidFill>
                  <a:srgbClr val="000000"/>
                </a:solidFill>
              </a:rPr>
              <a:t>Cont...</a:t>
            </a:r>
            <a:endParaRPr lang="en-GB" sz="400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532515" y="1447800"/>
            <a:ext cx="8021955" cy="439350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noProof="0" dirty="0"/>
              <a:t>JavaScript was designed to add interactivity and to provide client-side programming to HTML pages</a:t>
            </a:r>
          </a:p>
          <a:p>
            <a:pPr marL="355600" marR="1421130" indent="-342900">
              <a:lnSpc>
                <a:spcPct val="110800"/>
              </a:lnSpc>
              <a:spcBef>
                <a:spcPts val="5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noProof="0" dirty="0"/>
              <a:t>JavaScript is a scripting language or a lightweight  programming language .</a:t>
            </a:r>
          </a:p>
          <a:p>
            <a:pPr marL="355600" marR="5080" indent="-342900">
              <a:lnSpc>
                <a:spcPct val="1117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noProof="0" dirty="0"/>
              <a:t>Executable JavaScript may be included into an HTML page as  either...</a:t>
            </a:r>
          </a:p>
          <a:p>
            <a:pPr marL="801370" lvl="1" indent="-34290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641350" algn="l"/>
              </a:tabLst>
            </a:pPr>
            <a:r>
              <a:rPr lang="en-GB" sz="2400" noProof="0" dirty="0"/>
              <a:t>External - a separate file containing JavaScript</a:t>
            </a:r>
          </a:p>
          <a:p>
            <a:pPr marL="801370" lvl="1" indent="-342900">
              <a:lnSpc>
                <a:spcPct val="100000"/>
              </a:lnSpc>
              <a:spcBef>
                <a:spcPts val="505"/>
              </a:spcBef>
              <a:buFont typeface="Arial" panose="020B0604020202020204" pitchFamily="34" charset="0"/>
              <a:buChar char="•"/>
              <a:tabLst>
                <a:tab pos="641350" algn="l"/>
              </a:tabLst>
            </a:pPr>
            <a:r>
              <a:rPr lang="en-GB" sz="2400" noProof="0" dirty="0"/>
              <a:t>Embedded - as the content of a &lt;script&gt; element</a:t>
            </a:r>
          </a:p>
          <a:p>
            <a:pPr marL="801370" lvl="1" indent="-342900">
              <a:lnSpc>
                <a:spcPct val="100000"/>
              </a:lnSpc>
              <a:spcBef>
                <a:spcPts val="625"/>
              </a:spcBef>
              <a:buFont typeface="Arial" panose="020B0604020202020204" pitchFamily="34" charset="0"/>
              <a:buChar char="•"/>
              <a:tabLst>
                <a:tab pos="641350" algn="l"/>
              </a:tabLst>
            </a:pPr>
            <a:r>
              <a:rPr lang="en-GB" sz="2400" noProof="0" dirty="0"/>
              <a:t>Inline - as the value of an HTML event attribute</a:t>
            </a: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400" noProof="0" dirty="0"/>
              <a:t>Everyone can use JavaScript without purchasing a license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276" y="2510029"/>
            <a:ext cx="8356600" cy="33877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10160" algn="ctr">
              <a:lnSpc>
                <a:spcPct val="100299"/>
              </a:lnSpc>
              <a:spcBef>
                <a:spcPts val="85"/>
              </a:spcBef>
              <a:tabLst>
                <a:tab pos="698500" algn="l"/>
                <a:tab pos="1904364" algn="l"/>
              </a:tabLst>
            </a:pPr>
            <a:r>
              <a:rPr lang="en-GB" sz="3200" spc="-100" noProof="0" dirty="0">
                <a:solidFill>
                  <a:srgbClr val="262626"/>
                </a:solidFill>
                <a:latin typeface="Times New Roman"/>
                <a:cs typeface="Times New Roman"/>
              </a:rPr>
              <a:t>“JavaScript	</a:t>
            </a:r>
            <a:r>
              <a:rPr lang="en-GB" sz="3200" spc="-65" noProof="0" dirty="0">
                <a:solidFill>
                  <a:srgbClr val="262626"/>
                </a:solidFill>
                <a:latin typeface="Times New Roman"/>
                <a:cs typeface="Times New Roman"/>
              </a:rPr>
              <a:t>is </a:t>
            </a:r>
            <a:r>
              <a:rPr lang="en-GB" b="1" spc="140" noProof="0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lang="en-GB" b="1" spc="-20" noProof="0" dirty="0">
                <a:solidFill>
                  <a:srgbClr val="262626"/>
                </a:solidFill>
                <a:latin typeface="Times New Roman"/>
                <a:cs typeface="Times New Roman"/>
              </a:rPr>
              <a:t>scripting </a:t>
            </a:r>
            <a:r>
              <a:rPr lang="en-GB" b="1" spc="30" noProof="0" dirty="0">
                <a:solidFill>
                  <a:srgbClr val="262626"/>
                </a:solidFill>
                <a:latin typeface="Times New Roman"/>
                <a:cs typeface="Times New Roman"/>
              </a:rPr>
              <a:t>language  </a:t>
            </a:r>
            <a:r>
              <a:rPr lang="en-GB" b="1" spc="-15" noProof="0" dirty="0">
                <a:solidFill>
                  <a:srgbClr val="262626"/>
                </a:solidFill>
                <a:latin typeface="Times New Roman"/>
                <a:cs typeface="Times New Roman"/>
              </a:rPr>
              <a:t>of	</a:t>
            </a:r>
            <a:r>
              <a:rPr lang="en-GB" b="1" spc="-5" noProof="0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lang="en-GB" b="1" spc="-215" noProof="0" dirty="0">
                <a:solidFill>
                  <a:srgbClr val="262626"/>
                </a:solidFill>
                <a:latin typeface="Times New Roman"/>
                <a:cs typeface="Times New Roman"/>
              </a:rPr>
              <a:t>Web</a:t>
            </a:r>
            <a:r>
              <a:rPr lang="en-GB" sz="3200" spc="-215" noProof="0" dirty="0">
                <a:solidFill>
                  <a:srgbClr val="262626"/>
                </a:solidFill>
                <a:latin typeface="Times New Roman"/>
                <a:cs typeface="Times New Roman"/>
              </a:rPr>
              <a:t>. </a:t>
            </a:r>
            <a:r>
              <a:rPr lang="en-GB" sz="3200" spc="-105" noProof="0" dirty="0">
                <a:solidFill>
                  <a:srgbClr val="262626"/>
                </a:solidFill>
                <a:latin typeface="Times New Roman"/>
                <a:cs typeface="Times New Roman"/>
              </a:rPr>
              <a:t>JavaScript </a:t>
            </a:r>
            <a:r>
              <a:rPr lang="en-GB" sz="3200" spc="-65" noProof="0" dirty="0">
                <a:solidFill>
                  <a:srgbClr val="262626"/>
                </a:solidFill>
                <a:latin typeface="Times New Roman"/>
                <a:cs typeface="Times New Roman"/>
              </a:rPr>
              <a:t>is </a:t>
            </a:r>
            <a:r>
              <a:rPr lang="en-GB" b="1" spc="30" noProof="0" dirty="0">
                <a:solidFill>
                  <a:srgbClr val="262626"/>
                </a:solidFill>
                <a:latin typeface="Times New Roman"/>
                <a:cs typeface="Times New Roman"/>
              </a:rPr>
              <a:t>used </a:t>
            </a:r>
            <a:r>
              <a:rPr lang="en-GB" b="1" spc="-5" noProof="0" dirty="0">
                <a:solidFill>
                  <a:srgbClr val="262626"/>
                </a:solidFill>
                <a:latin typeface="Times New Roman"/>
                <a:cs typeface="Times New Roman"/>
              </a:rPr>
              <a:t>in</a:t>
            </a:r>
            <a:r>
              <a:rPr lang="en-GB" b="1" spc="-415" noProof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GB" b="1" noProof="0" dirty="0">
                <a:solidFill>
                  <a:srgbClr val="262626"/>
                </a:solidFill>
                <a:latin typeface="Times New Roman"/>
                <a:cs typeface="Times New Roman"/>
              </a:rPr>
              <a:t>billions  </a:t>
            </a:r>
            <a:r>
              <a:rPr lang="en-GB" b="1" spc="-15" noProof="0" dirty="0">
                <a:solidFill>
                  <a:srgbClr val="262626"/>
                </a:solidFill>
                <a:latin typeface="Times New Roman"/>
                <a:cs typeface="Times New Roman"/>
              </a:rPr>
              <a:t>of	</a:t>
            </a:r>
            <a:r>
              <a:rPr lang="en-GB" b="1" spc="-245" noProof="0" dirty="0">
                <a:solidFill>
                  <a:srgbClr val="262626"/>
                </a:solidFill>
                <a:latin typeface="Times New Roman"/>
                <a:cs typeface="Times New Roman"/>
              </a:rPr>
              <a:t>Web </a:t>
            </a:r>
            <a:r>
              <a:rPr lang="en-GB" b="1" spc="50" noProof="0" dirty="0">
                <a:solidFill>
                  <a:srgbClr val="262626"/>
                </a:solidFill>
                <a:latin typeface="Times New Roman"/>
                <a:cs typeface="Times New Roman"/>
              </a:rPr>
              <a:t>pages </a:t>
            </a:r>
            <a:r>
              <a:rPr lang="en-GB" sz="3200" spc="15" noProof="0" dirty="0">
                <a:solidFill>
                  <a:srgbClr val="262626"/>
                </a:solidFill>
                <a:latin typeface="Times New Roman"/>
                <a:cs typeface="Times New Roman"/>
              </a:rPr>
              <a:t>to </a:t>
            </a:r>
            <a:r>
              <a:rPr lang="en-GB" b="1" spc="-30" noProof="0" dirty="0">
                <a:solidFill>
                  <a:srgbClr val="262626"/>
                </a:solidFill>
                <a:latin typeface="Times New Roman"/>
                <a:cs typeface="Times New Roman"/>
              </a:rPr>
              <a:t>add </a:t>
            </a:r>
            <a:r>
              <a:rPr lang="en-GB" b="1" spc="-45" noProof="0" dirty="0">
                <a:solidFill>
                  <a:srgbClr val="262626"/>
                </a:solidFill>
                <a:latin typeface="Times New Roman"/>
                <a:cs typeface="Times New Roman"/>
              </a:rPr>
              <a:t>functionality</a:t>
            </a:r>
            <a:r>
              <a:rPr lang="en-GB" sz="3200" spc="-45" noProof="0" dirty="0">
                <a:solidFill>
                  <a:srgbClr val="262626"/>
                </a:solidFill>
                <a:latin typeface="Times New Roman"/>
                <a:cs typeface="Times New Roman"/>
              </a:rPr>
              <a:t>,  </a:t>
            </a:r>
            <a:r>
              <a:rPr lang="en-GB" b="1" spc="-65" noProof="0" dirty="0">
                <a:solidFill>
                  <a:srgbClr val="262626"/>
                </a:solidFill>
                <a:latin typeface="Times New Roman"/>
                <a:cs typeface="Times New Roman"/>
              </a:rPr>
              <a:t>validate </a:t>
            </a:r>
            <a:r>
              <a:rPr lang="en-GB" b="1" spc="-35" noProof="0" dirty="0">
                <a:solidFill>
                  <a:srgbClr val="262626"/>
                </a:solidFill>
                <a:latin typeface="Times New Roman"/>
                <a:cs typeface="Times New Roman"/>
              </a:rPr>
              <a:t>forms</a:t>
            </a:r>
            <a:r>
              <a:rPr lang="en-GB" sz="3200" spc="-35" noProof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lang="en-GB" b="1" spc="20" noProof="0" dirty="0">
                <a:solidFill>
                  <a:srgbClr val="262626"/>
                </a:solidFill>
                <a:latin typeface="Times New Roman"/>
                <a:cs typeface="Times New Roman"/>
              </a:rPr>
              <a:t>communicate </a:t>
            </a:r>
            <a:r>
              <a:rPr lang="en-GB" b="1" spc="-45" noProof="0" dirty="0">
                <a:solidFill>
                  <a:srgbClr val="262626"/>
                </a:solidFill>
                <a:latin typeface="Times New Roman"/>
                <a:cs typeface="Times New Roman"/>
              </a:rPr>
              <a:t>with  </a:t>
            </a:r>
            <a:r>
              <a:rPr lang="en-GB" b="1" spc="-5" noProof="0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lang="en-GB" b="1" spc="-95" noProof="0" dirty="0">
                <a:solidFill>
                  <a:srgbClr val="262626"/>
                </a:solidFill>
                <a:latin typeface="Times New Roman"/>
                <a:cs typeface="Times New Roman"/>
              </a:rPr>
              <a:t>server</a:t>
            </a:r>
            <a:r>
              <a:rPr lang="en-GB" sz="3200" spc="-95" noProof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lang="en-GB" sz="3200" spc="-20" noProof="0" dirty="0">
                <a:solidFill>
                  <a:srgbClr val="262626"/>
                </a:solidFill>
                <a:latin typeface="Times New Roman"/>
                <a:cs typeface="Times New Roman"/>
              </a:rPr>
              <a:t>and </a:t>
            </a:r>
            <a:r>
              <a:rPr lang="en-GB" sz="3200" spc="-45" noProof="0" dirty="0">
                <a:solidFill>
                  <a:srgbClr val="262626"/>
                </a:solidFill>
                <a:latin typeface="Times New Roman"/>
                <a:cs typeface="Times New Roman"/>
              </a:rPr>
              <a:t>much</a:t>
            </a:r>
            <a:r>
              <a:rPr lang="en-GB" sz="3200" spc="-190" noProof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GB" sz="3200" spc="-50" noProof="0" dirty="0">
                <a:solidFill>
                  <a:srgbClr val="262626"/>
                </a:solidFill>
                <a:latin typeface="Times New Roman"/>
                <a:cs typeface="Times New Roman"/>
              </a:rPr>
              <a:t>more.”</a:t>
            </a:r>
            <a:endParaRPr lang="en-GB" sz="3200" noProof="0" dirty="0">
              <a:latin typeface="Times New Roman"/>
              <a:cs typeface="Times New Roman"/>
            </a:endParaRPr>
          </a:p>
        </p:txBody>
      </p:sp>
      <p:sp>
        <p:nvSpPr>
          <p:cNvPr id="3" name="object 3" descr="logo"/>
          <p:cNvSpPr/>
          <p:nvPr/>
        </p:nvSpPr>
        <p:spPr>
          <a:xfrm>
            <a:off x="3638550" y="404812"/>
            <a:ext cx="1509712" cy="1992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5455" y="2026920"/>
            <a:ext cx="1432559" cy="262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88" y="2089404"/>
            <a:ext cx="477901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100"/>
              </a:spcBef>
            </a:pPr>
            <a:r>
              <a:rPr lang="en-GB" sz="8000" spc="-125" noProof="0" dirty="0">
                <a:solidFill>
                  <a:srgbClr val="7F7F7F"/>
                </a:solidFill>
              </a:rPr>
              <a:t>JavaScript  </a:t>
            </a:r>
            <a:r>
              <a:rPr lang="en-GB" sz="8000" spc="-229" noProof="0" dirty="0">
                <a:solidFill>
                  <a:srgbClr val="7F7F7F"/>
                </a:solidFill>
              </a:rPr>
              <a:t>is </a:t>
            </a:r>
            <a:r>
              <a:rPr lang="en-GB" sz="8000" spc="-5" noProof="0" dirty="0">
                <a:solidFill>
                  <a:srgbClr val="7F7F7F"/>
                </a:solidFill>
              </a:rPr>
              <a:t>not</a:t>
            </a:r>
            <a:r>
              <a:rPr lang="en-GB" sz="8000" spc="155" noProof="0" dirty="0">
                <a:solidFill>
                  <a:srgbClr val="7F7F7F"/>
                </a:solidFill>
              </a:rPr>
              <a:t> </a:t>
            </a:r>
            <a:r>
              <a:rPr lang="en-GB" sz="8000" spc="-229" noProof="0" dirty="0">
                <a:solidFill>
                  <a:srgbClr val="7F7F7F"/>
                </a:solidFill>
              </a:rPr>
              <a:t>Java</a:t>
            </a:r>
            <a:endParaRPr lang="en-GB" sz="8000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1640" y="1746504"/>
            <a:ext cx="3352800" cy="3374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095755"/>
            <a:ext cx="9144000" cy="26084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333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81380" marR="5080" lvl="0" indent="-869315" algn="ctr" defTabSz="914400" rtl="0" eaLnBrk="1" fontAlgn="auto" latinLnBrk="0" hangingPunct="1">
              <a:lnSpc>
                <a:spcPct val="1102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to</a:t>
            </a:r>
          </a:p>
          <a:p>
            <a:pPr marL="881380" marR="5080" lvl="0" indent="-869315" algn="ctr" defTabSz="914400" rtl="0" eaLnBrk="1" fontAlgn="auto" latinLnBrk="0" hangingPunct="1">
              <a:lnSpc>
                <a:spcPct val="1102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4495800"/>
            <a:ext cx="91439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400" spc="-10" noProof="0" dirty="0">
                <a:solidFill>
                  <a:srgbClr val="7F7F7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demonstrations</a:t>
            </a:r>
            <a:endParaRPr lang="en-GB" sz="4400" noProof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8600" y="4343400"/>
            <a:ext cx="8229600" cy="2217787"/>
          </a:xfrm>
          <a:prstGeom prst="rect">
            <a:avLst/>
          </a:prstGeom>
          <a:ln w="19050">
            <a:noFill/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390"/>
              </a:spcBef>
            </a:pP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To insert a JavaScript into an HTML page, use the </a:t>
            </a:r>
            <a:r>
              <a:rPr lang="en-GB" sz="2400" noProof="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 </a:t>
            </a: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tag. The </a:t>
            </a:r>
            <a:r>
              <a:rPr lang="en-GB" sz="2400" noProof="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 </a:t>
            </a: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and </a:t>
            </a:r>
            <a:r>
              <a:rPr lang="en-GB" sz="2400" noProof="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&lt;/script&gt; </a:t>
            </a: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tells where the JavaScript starts and ends. The lines between the   </a:t>
            </a:r>
            <a:r>
              <a:rPr lang="en-GB" sz="2400" noProof="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 </a:t>
            </a: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and </a:t>
            </a:r>
            <a:r>
              <a:rPr lang="en-GB" sz="2400" noProof="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&lt;/script&gt;</a:t>
            </a:r>
            <a:r>
              <a:rPr lang="en-GB" sz="2400" noProof="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contain the JavaScript.</a:t>
            </a:r>
          </a:p>
        </p:txBody>
      </p:sp>
      <p:pic>
        <p:nvPicPr>
          <p:cNvPr id="8" name="Picture 7" descr="A screen shot of a computer screen">
            <a:extLst>
              <a:ext uri="{FF2B5EF4-FFF2-40B4-BE49-F238E27FC236}">
                <a16:creationId xmlns:a16="http://schemas.microsoft.com/office/drawing/2014/main" id="{B9EF7428-1A6E-EB44-9504-742F358B2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8623300" cy="402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39482" y="2017267"/>
            <a:ext cx="7426325" cy="8483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alert(expression);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67583" y="2749295"/>
            <a:ext cx="5666232" cy="1901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2072" y="3660647"/>
            <a:ext cx="5419344" cy="984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9400" y="2782823"/>
            <a:ext cx="5562600" cy="1801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9400" y="2782862"/>
            <a:ext cx="5562600" cy="1798955"/>
          </a:xfrm>
          <a:custGeom>
            <a:avLst/>
            <a:gdLst/>
            <a:ahLst/>
            <a:cxnLst/>
            <a:rect l="l" t="t" r="r" b="b"/>
            <a:pathLst>
              <a:path w="5562600" h="1798954">
                <a:moveTo>
                  <a:pt x="0" y="884261"/>
                </a:moveTo>
                <a:lnTo>
                  <a:pt x="927099" y="884261"/>
                </a:lnTo>
                <a:lnTo>
                  <a:pt x="45668" y="0"/>
                </a:lnTo>
                <a:lnTo>
                  <a:pt x="2317751" y="884261"/>
                </a:lnTo>
                <a:lnTo>
                  <a:pt x="5562593" y="884261"/>
                </a:lnTo>
                <a:lnTo>
                  <a:pt x="5562593" y="1036660"/>
                </a:lnTo>
                <a:lnTo>
                  <a:pt x="5562593" y="1265260"/>
                </a:lnTo>
                <a:lnTo>
                  <a:pt x="5562593" y="1798661"/>
                </a:lnTo>
                <a:lnTo>
                  <a:pt x="2317751" y="1798661"/>
                </a:lnTo>
                <a:lnTo>
                  <a:pt x="927099" y="1798661"/>
                </a:lnTo>
                <a:lnTo>
                  <a:pt x="0" y="1798661"/>
                </a:lnTo>
                <a:lnTo>
                  <a:pt x="0" y="1265260"/>
                </a:lnTo>
                <a:lnTo>
                  <a:pt x="0" y="1036660"/>
                </a:lnTo>
                <a:lnTo>
                  <a:pt x="0" y="884261"/>
                </a:lnTo>
                <a:close/>
              </a:path>
            </a:pathLst>
          </a:custGeom>
          <a:ln w="12700">
            <a:solidFill>
              <a:srgbClr val="0045AA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7" name="object 7"/>
          <p:cNvSpPr txBox="1"/>
          <p:nvPr/>
        </p:nvSpPr>
        <p:spPr>
          <a:xfrm>
            <a:off x="2929127" y="3637787"/>
            <a:ext cx="5260340" cy="766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7875" marR="5080" indent="-2035175">
              <a:lnSpc>
                <a:spcPct val="129000"/>
              </a:lnSpc>
              <a:spcBef>
                <a:spcPts val="100"/>
              </a:spcBef>
            </a:pPr>
            <a:r>
              <a:rPr lang="en-GB" sz="2000" spc="-90" noProof="0" dirty="0">
                <a:solidFill>
                  <a:srgbClr val="336699"/>
                </a:solidFill>
                <a:latin typeface="Trebuchet MS"/>
                <a:cs typeface="Trebuchet MS"/>
              </a:rPr>
              <a:t>evaluates </a:t>
            </a:r>
            <a:r>
              <a:rPr lang="en-GB" sz="2000" spc="-80" noProof="0" dirty="0">
                <a:solidFill>
                  <a:srgbClr val="336699"/>
                </a:solidFill>
                <a:latin typeface="Trebuchet MS"/>
                <a:cs typeface="Trebuchet MS"/>
              </a:rPr>
              <a:t>the </a:t>
            </a:r>
            <a:r>
              <a:rPr lang="en-GB" sz="2000" spc="-60" noProof="0" dirty="0">
                <a:solidFill>
                  <a:srgbClr val="336699"/>
                </a:solidFill>
                <a:latin typeface="Trebuchet MS"/>
                <a:cs typeface="Trebuchet MS"/>
              </a:rPr>
              <a:t>expression </a:t>
            </a:r>
            <a:r>
              <a:rPr lang="en-GB" sz="2000" spc="-40" noProof="0" dirty="0">
                <a:solidFill>
                  <a:srgbClr val="336699"/>
                </a:solidFill>
                <a:latin typeface="Trebuchet MS"/>
                <a:cs typeface="Trebuchet MS"/>
              </a:rPr>
              <a:t>and </a:t>
            </a:r>
            <a:r>
              <a:rPr lang="en-GB" sz="2000" spc="-55" noProof="0" dirty="0">
                <a:solidFill>
                  <a:srgbClr val="336699"/>
                </a:solidFill>
                <a:latin typeface="Trebuchet MS"/>
                <a:cs typeface="Trebuchet MS"/>
              </a:rPr>
              <a:t>displays the </a:t>
            </a:r>
            <a:r>
              <a:rPr lang="en-GB" sz="2000" spc="-90" noProof="0" dirty="0">
                <a:solidFill>
                  <a:srgbClr val="336699"/>
                </a:solidFill>
                <a:latin typeface="Trebuchet MS"/>
                <a:cs typeface="Trebuchet MS"/>
              </a:rPr>
              <a:t>result</a:t>
            </a:r>
            <a:r>
              <a:rPr lang="en-GB" sz="2000" spc="-340" noProof="0" dirty="0">
                <a:solidFill>
                  <a:srgbClr val="336699"/>
                </a:solidFill>
                <a:latin typeface="Trebuchet MS"/>
                <a:cs typeface="Trebuchet MS"/>
              </a:rPr>
              <a:t> </a:t>
            </a:r>
            <a:r>
              <a:rPr lang="en-GB" sz="2000" spc="-50" noProof="0" dirty="0">
                <a:solidFill>
                  <a:srgbClr val="336699"/>
                </a:solidFill>
                <a:latin typeface="Trebuchet MS"/>
                <a:cs typeface="Trebuchet MS"/>
              </a:rPr>
              <a:t>in </a:t>
            </a:r>
            <a:r>
              <a:rPr lang="en-GB" sz="2000" spc="-55" noProof="0" dirty="0">
                <a:solidFill>
                  <a:srgbClr val="336699"/>
                </a:solidFill>
                <a:latin typeface="Trebuchet MS"/>
                <a:cs typeface="Trebuchet MS"/>
              </a:rPr>
              <a:t>an </a:t>
            </a:r>
            <a:r>
              <a:rPr lang="en-GB" sz="2000" spc="-105" noProof="0" dirty="0">
                <a:solidFill>
                  <a:srgbClr val="336699"/>
                </a:solidFill>
                <a:latin typeface="Trebuchet MS"/>
                <a:cs typeface="Trebuchet MS"/>
              </a:rPr>
              <a:t>alert</a:t>
            </a:r>
            <a:r>
              <a:rPr lang="en-GB" sz="2000" spc="-350" noProof="0" dirty="0">
                <a:solidFill>
                  <a:srgbClr val="336699"/>
                </a:solidFill>
                <a:latin typeface="Trebuchet MS"/>
                <a:cs typeface="Trebuchet MS"/>
              </a:rPr>
              <a:t> </a:t>
            </a:r>
            <a:r>
              <a:rPr lang="en-GB" sz="2000" spc="-60" noProof="0" dirty="0">
                <a:solidFill>
                  <a:srgbClr val="336699"/>
                </a:solidFill>
                <a:latin typeface="Trebuchet MS"/>
                <a:cs typeface="Trebuchet MS"/>
              </a:rPr>
              <a:t>box</a:t>
            </a:r>
            <a:endParaRPr lang="en-GB" sz="2000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computer code">
            <a:extLst>
              <a:ext uri="{FF2B5EF4-FFF2-40B4-BE49-F238E27FC236}">
                <a16:creationId xmlns:a16="http://schemas.microsoft.com/office/drawing/2014/main" id="{AA299F91-EDEC-7B4D-AE9B-17605B232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400"/>
            <a:ext cx="8825633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314" y="2274314"/>
            <a:ext cx="734123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spc="-5" noProof="0" dirty="0">
                <a:latin typeface="Courier New"/>
                <a:cs typeface="Courier New"/>
              </a:rPr>
              <a:t>console.log(expression);</a:t>
            </a:r>
            <a:endParaRPr lang="en-GB" sz="4000" noProof="0" dirty="0">
              <a:latin typeface="Courier New"/>
              <a:cs typeface="Courier New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58439" y="3035807"/>
            <a:ext cx="5663184" cy="1901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2927" y="3947159"/>
            <a:ext cx="5416296" cy="984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07207" y="3069335"/>
            <a:ext cx="5565648" cy="1801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08287" y="3070199"/>
            <a:ext cx="5562600" cy="1798955"/>
          </a:xfrm>
          <a:custGeom>
            <a:avLst/>
            <a:gdLst/>
            <a:ahLst/>
            <a:cxnLst/>
            <a:rect l="l" t="t" r="r" b="b"/>
            <a:pathLst>
              <a:path w="5562600" h="1798954">
                <a:moveTo>
                  <a:pt x="0" y="884261"/>
                </a:moveTo>
                <a:lnTo>
                  <a:pt x="927099" y="884261"/>
                </a:lnTo>
                <a:lnTo>
                  <a:pt x="45668" y="0"/>
                </a:lnTo>
                <a:lnTo>
                  <a:pt x="2317751" y="884261"/>
                </a:lnTo>
                <a:lnTo>
                  <a:pt x="5562603" y="884261"/>
                </a:lnTo>
                <a:lnTo>
                  <a:pt x="5562603" y="1036660"/>
                </a:lnTo>
                <a:lnTo>
                  <a:pt x="5562603" y="1265260"/>
                </a:lnTo>
                <a:lnTo>
                  <a:pt x="5562603" y="1798661"/>
                </a:lnTo>
                <a:lnTo>
                  <a:pt x="2317751" y="1798661"/>
                </a:lnTo>
                <a:lnTo>
                  <a:pt x="927099" y="1798661"/>
                </a:lnTo>
                <a:lnTo>
                  <a:pt x="0" y="1798661"/>
                </a:lnTo>
                <a:lnTo>
                  <a:pt x="0" y="1265260"/>
                </a:lnTo>
                <a:lnTo>
                  <a:pt x="0" y="1036660"/>
                </a:lnTo>
                <a:lnTo>
                  <a:pt x="0" y="884261"/>
                </a:lnTo>
                <a:close/>
              </a:path>
            </a:pathLst>
          </a:custGeom>
          <a:ln w="12700">
            <a:solidFill>
              <a:srgbClr val="0045AA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7" name="object 7"/>
          <p:cNvSpPr txBox="1">
            <a:spLocks noGrp="1"/>
          </p:cNvSpPr>
          <p:nvPr>
            <p:ph type="subTitle" idx="4"/>
          </p:nvPr>
        </p:nvSpPr>
        <p:spPr>
          <a:xfrm>
            <a:off x="965644" y="3924300"/>
            <a:ext cx="7212710" cy="766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3445" marR="5080" indent="-1469390">
              <a:lnSpc>
                <a:spcPct val="129000"/>
              </a:lnSpc>
              <a:spcBef>
                <a:spcPts val="100"/>
              </a:spcBef>
            </a:pPr>
            <a:r>
              <a:rPr lang="en-GB" spc="-90" noProof="0" dirty="0"/>
              <a:t>evaluates </a:t>
            </a:r>
            <a:r>
              <a:rPr lang="en-GB" spc="-80" noProof="0" dirty="0"/>
              <a:t>the </a:t>
            </a:r>
            <a:r>
              <a:rPr lang="en-GB" spc="-60" noProof="0" dirty="0"/>
              <a:t>expression </a:t>
            </a:r>
            <a:r>
              <a:rPr lang="en-GB" spc="-40" noProof="0" dirty="0"/>
              <a:t>and </a:t>
            </a:r>
            <a:r>
              <a:rPr lang="en-GB" spc="-55" noProof="0" dirty="0"/>
              <a:t>displays the </a:t>
            </a:r>
            <a:r>
              <a:rPr lang="en-GB" spc="-90" noProof="0" dirty="0"/>
              <a:t>result</a:t>
            </a:r>
            <a:r>
              <a:rPr lang="en-GB" spc="-340" noProof="0" dirty="0"/>
              <a:t> </a:t>
            </a:r>
            <a:r>
              <a:rPr lang="en-GB" spc="-50" noProof="0" dirty="0"/>
              <a:t>in </a:t>
            </a:r>
            <a:r>
              <a:rPr lang="en-GB" spc="-80" noProof="0" dirty="0"/>
              <a:t>the </a:t>
            </a:r>
            <a:r>
              <a:rPr lang="en-GB" spc="-95" noProof="0" dirty="0"/>
              <a:t>JavaScript</a:t>
            </a:r>
            <a:r>
              <a:rPr lang="en-GB" spc="-275" noProof="0" dirty="0"/>
              <a:t> </a:t>
            </a:r>
            <a:r>
              <a:rPr lang="en-GB" spc="-45" noProof="0" dirty="0"/>
              <a:t>Console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" y="6725284"/>
            <a:ext cx="4219575" cy="217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4"/>
              </a:lnSpc>
            </a:pPr>
            <a:r>
              <a:rPr lang="en-GB" sz="1400" spc="-5" noProof="0" dirty="0">
                <a:solidFill>
                  <a:srgbClr val="9A9A99"/>
                </a:solidFill>
                <a:latin typeface="Trebuchet MS"/>
                <a:cs typeface="Trebuchet MS"/>
              </a:rPr>
              <a:t>COMP1314</a:t>
            </a:r>
            <a:r>
              <a:rPr lang="en-GB" sz="1400" spc="-105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90" noProof="0" dirty="0">
                <a:solidFill>
                  <a:srgbClr val="9A9A99"/>
                </a:solidFill>
                <a:latin typeface="Trebuchet MS"/>
                <a:cs typeface="Trebuchet MS"/>
              </a:rPr>
              <a:t>-</a:t>
            </a:r>
            <a:r>
              <a:rPr lang="en-GB" sz="1400" spc="-12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45" noProof="0" dirty="0">
                <a:solidFill>
                  <a:srgbClr val="9A9A99"/>
                </a:solidFill>
                <a:latin typeface="Trebuchet MS"/>
                <a:cs typeface="Trebuchet MS"/>
              </a:rPr>
              <a:t>Digital</a:t>
            </a:r>
            <a:r>
              <a:rPr lang="en-GB" sz="1400" spc="-6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45" noProof="0" dirty="0">
                <a:solidFill>
                  <a:srgbClr val="9A9A99"/>
                </a:solidFill>
                <a:latin typeface="Trebuchet MS"/>
                <a:cs typeface="Trebuchet MS"/>
              </a:rPr>
              <a:t>Media,</a:t>
            </a:r>
            <a:r>
              <a:rPr lang="en-GB" sz="1400" spc="-135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20" noProof="0" dirty="0">
                <a:solidFill>
                  <a:srgbClr val="9A9A99"/>
                </a:solidFill>
                <a:latin typeface="Trebuchet MS"/>
                <a:cs typeface="Trebuchet MS"/>
              </a:rPr>
              <a:t>Computing</a:t>
            </a:r>
            <a:r>
              <a:rPr lang="en-GB" sz="1400" spc="-30" noProof="0" dirty="0">
                <a:solidFill>
                  <a:srgbClr val="9A9A99"/>
                </a:solidFill>
                <a:latin typeface="Trebuchet MS"/>
                <a:cs typeface="Trebuchet MS"/>
              </a:rPr>
              <a:t> and</a:t>
            </a:r>
            <a:r>
              <a:rPr lang="en-GB" sz="1400" spc="-280" noProof="0" dirty="0">
                <a:solidFill>
                  <a:srgbClr val="9A9A99"/>
                </a:solidFill>
                <a:latin typeface="Trebuchet MS"/>
                <a:cs typeface="Trebuchet MS"/>
              </a:rPr>
              <a:t> </a:t>
            </a:r>
            <a:r>
              <a:rPr lang="en-GB" sz="1400" spc="-30" noProof="0" dirty="0">
                <a:solidFill>
                  <a:srgbClr val="9A9A99"/>
                </a:solidFill>
                <a:latin typeface="Trebuchet MS"/>
                <a:cs typeface="Trebuchet MS"/>
              </a:rPr>
              <a:t>Programming</a:t>
            </a:r>
            <a:endParaRPr lang="en-GB" sz="1400" noProof="0" dirty="0">
              <a:latin typeface="Trebuchet MS"/>
              <a:cs typeface="Trebuchet MS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325945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10" noProof="0" dirty="0" err="1">
                <a:solidFill>
                  <a:srgbClr val="000000"/>
                </a:solidFill>
              </a:rPr>
              <a:t>innerHTML</a:t>
            </a:r>
            <a:endParaRPr lang="en-GB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447800"/>
            <a:ext cx="8305800" cy="3417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800" spc="-5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Another </a:t>
            </a:r>
            <a:r>
              <a:rPr lang="en-GB" sz="28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way </a:t>
            </a:r>
            <a:r>
              <a:rPr lang="en-GB" sz="2800" spc="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800" spc="-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get </a:t>
            </a:r>
            <a:r>
              <a:rPr lang="en-GB" sz="2800" spc="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output </a:t>
            </a:r>
            <a:r>
              <a:rPr lang="en-GB" sz="2800" spc="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8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8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screen </a:t>
            </a:r>
            <a:r>
              <a:rPr lang="en-GB" sz="2800" spc="-8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lang="en-GB" sz="2800" spc="-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using  </a:t>
            </a:r>
            <a:r>
              <a:rPr lang="en-GB" sz="2800" spc="-75" noProof="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innerHTML</a:t>
            </a:r>
            <a:endParaRPr lang="en-GB" sz="28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469900" marR="339725" indent="-457200">
              <a:lnSpc>
                <a:spcPct val="150000"/>
              </a:lnSpc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800" spc="-9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 </a:t>
            </a:r>
            <a:r>
              <a:rPr lang="en-GB" sz="2800" spc="-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allows us </a:t>
            </a:r>
            <a:r>
              <a:rPr lang="en-GB" sz="2800" spc="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800" spc="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output </a:t>
            </a:r>
            <a:r>
              <a:rPr lang="en-GB" sz="2800" spc="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lang="en-GB" sz="2800" spc="-9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any </a:t>
            </a:r>
            <a:r>
              <a:rPr lang="en-GB" sz="2800" spc="-7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HTML </a:t>
            </a:r>
            <a:r>
              <a:rPr lang="en-GB" sz="28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  </a:t>
            </a:r>
            <a:r>
              <a:rPr lang="en-GB" sz="28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 </a:t>
            </a:r>
            <a:r>
              <a:rPr lang="en-GB" sz="2800" spc="-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know </a:t>
            </a:r>
            <a:r>
              <a:rPr lang="en-GB" sz="28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lang="en-GB" sz="2800" spc="6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‘id’</a:t>
            </a:r>
            <a:r>
              <a:rPr lang="en-GB" sz="2800" spc="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800" spc="-2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of.</a:t>
            </a:r>
            <a:endParaRPr lang="en-GB" sz="28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469900" indent="-457200">
              <a:lnSpc>
                <a:spcPct val="150000"/>
              </a:lnSpc>
              <a:spcBef>
                <a:spcPts val="134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lang="en-GB" sz="2800" spc="-13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 </a:t>
            </a:r>
            <a:r>
              <a:rPr lang="en-GB" sz="2800" spc="-5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create </a:t>
            </a:r>
            <a:r>
              <a:rPr lang="en-GB" sz="2800" spc="-8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 HTML </a:t>
            </a:r>
            <a:r>
              <a:rPr lang="en-GB" sz="2800" spc="-6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 </a:t>
            </a:r>
            <a:r>
              <a:rPr lang="en-GB" sz="2800" spc="-4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lang="en-GB" sz="2800" spc="-8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give </a:t>
            </a:r>
            <a:r>
              <a:rPr lang="en-GB" sz="2800" spc="-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it </a:t>
            </a:r>
            <a:r>
              <a:rPr lang="en-GB" sz="2800" spc="-85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</a:t>
            </a:r>
            <a:r>
              <a:rPr lang="en-GB" sz="2800" spc="43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lang="en-GB" sz="2800" spc="-90" noProof="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ID.</a:t>
            </a:r>
            <a:endParaRPr lang="en-GB" sz="2800" noProof="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  <p:pic>
        <p:nvPicPr>
          <p:cNvPr id="5" name="Picture 4" descr="A yellow text on a black background">
            <a:extLst>
              <a:ext uri="{FF2B5EF4-FFF2-40B4-BE49-F238E27FC236}">
                <a16:creationId xmlns:a16="http://schemas.microsoft.com/office/drawing/2014/main" id="{8B33B476-5165-0B41-B5B9-F2658FEEB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04894"/>
            <a:ext cx="7224000" cy="11721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ode">
            <a:extLst>
              <a:ext uri="{FF2B5EF4-FFF2-40B4-BE49-F238E27FC236}">
                <a16:creationId xmlns:a16="http://schemas.microsoft.com/office/drawing/2014/main" id="{666DBEA2-2A2C-6541-B55D-BE5D97D78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52" y="3071284"/>
            <a:ext cx="7912100" cy="7493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143" y="512570"/>
            <a:ext cx="36728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000" spc="-110" noProof="0" dirty="0" err="1">
                <a:solidFill>
                  <a:srgbClr val="000000"/>
                </a:solidFill>
              </a:rPr>
              <a:t>innerHTML</a:t>
            </a:r>
            <a:r>
              <a:rPr lang="en-GB" sz="4000" spc="-40" noProof="0" dirty="0">
                <a:solidFill>
                  <a:srgbClr val="000000"/>
                </a:solidFill>
              </a:rPr>
              <a:t> </a:t>
            </a:r>
            <a:r>
              <a:rPr lang="en-GB" sz="4000" spc="10" noProof="0" dirty="0">
                <a:solidFill>
                  <a:srgbClr val="000000"/>
                </a:solidFill>
              </a:rPr>
              <a:t>cont.</a:t>
            </a:r>
            <a:endParaRPr lang="en-GB" sz="4000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031" y="1271016"/>
            <a:ext cx="7946135" cy="18074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1325880"/>
            <a:ext cx="7915656" cy="1161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5400"/>
            <a:ext cx="7848600" cy="1711960"/>
          </a:xfrm>
          <a:custGeom>
            <a:avLst/>
            <a:gdLst/>
            <a:ahLst/>
            <a:cxnLst/>
            <a:rect l="l" t="t" r="r" b="b"/>
            <a:pathLst>
              <a:path w="7848600" h="1711960">
                <a:moveTo>
                  <a:pt x="3270250" y="1066800"/>
                </a:moveTo>
                <a:lnTo>
                  <a:pt x="1308100" y="1066800"/>
                </a:lnTo>
                <a:lnTo>
                  <a:pt x="2356548" y="1711960"/>
                </a:lnTo>
                <a:lnTo>
                  <a:pt x="3270250" y="1066800"/>
                </a:lnTo>
                <a:close/>
              </a:path>
              <a:path w="7848600" h="1711960">
                <a:moveTo>
                  <a:pt x="7848600" y="0"/>
                </a:moveTo>
                <a:lnTo>
                  <a:pt x="0" y="0"/>
                </a:lnTo>
                <a:lnTo>
                  <a:pt x="0" y="1066800"/>
                </a:lnTo>
                <a:lnTo>
                  <a:pt x="7848600" y="1066800"/>
                </a:lnTo>
                <a:lnTo>
                  <a:pt x="7848600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5400"/>
            <a:ext cx="7848600" cy="1711960"/>
          </a:xfrm>
          <a:custGeom>
            <a:avLst/>
            <a:gdLst/>
            <a:ahLst/>
            <a:cxnLst/>
            <a:rect l="l" t="t" r="r" b="b"/>
            <a:pathLst>
              <a:path w="7848600" h="1711960">
                <a:moveTo>
                  <a:pt x="0" y="0"/>
                </a:moveTo>
                <a:lnTo>
                  <a:pt x="1308100" y="0"/>
                </a:lnTo>
                <a:lnTo>
                  <a:pt x="3270251" y="0"/>
                </a:lnTo>
                <a:lnTo>
                  <a:pt x="7848604" y="0"/>
                </a:lnTo>
                <a:lnTo>
                  <a:pt x="7848604" y="622302"/>
                </a:lnTo>
                <a:lnTo>
                  <a:pt x="7848604" y="889004"/>
                </a:lnTo>
                <a:lnTo>
                  <a:pt x="7848604" y="1066800"/>
                </a:lnTo>
                <a:lnTo>
                  <a:pt x="3270251" y="1066800"/>
                </a:lnTo>
                <a:lnTo>
                  <a:pt x="2356541" y="1711960"/>
                </a:lnTo>
                <a:lnTo>
                  <a:pt x="1308100" y="1066800"/>
                </a:lnTo>
                <a:lnTo>
                  <a:pt x="0" y="1066800"/>
                </a:lnTo>
                <a:lnTo>
                  <a:pt x="0" y="889004"/>
                </a:lnTo>
                <a:lnTo>
                  <a:pt x="0" y="6223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7" name="object 7"/>
          <p:cNvSpPr txBox="1"/>
          <p:nvPr/>
        </p:nvSpPr>
        <p:spPr>
          <a:xfrm>
            <a:off x="612140" y="1355852"/>
            <a:ext cx="7699375" cy="1823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6205" marR="5080" indent="-2348230">
              <a:lnSpc>
                <a:spcPct val="118300"/>
              </a:lnSpc>
              <a:spcBef>
                <a:spcPts val="100"/>
              </a:spcBef>
            </a:pPr>
            <a:r>
              <a:rPr lang="en-GB" sz="2400" spc="-95" noProof="0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lang="en-GB" sz="2400" spc="-70" noProof="0" dirty="0" err="1">
                <a:solidFill>
                  <a:srgbClr val="0D0D0D"/>
                </a:solidFill>
                <a:latin typeface="Arial"/>
                <a:cs typeface="Arial"/>
              </a:rPr>
              <a:t>getElementById</a:t>
            </a:r>
            <a:r>
              <a:rPr lang="en-GB" sz="2400" spc="-70" noProof="0" dirty="0">
                <a:solidFill>
                  <a:srgbClr val="0D0D0D"/>
                </a:solidFill>
                <a:latin typeface="Arial"/>
                <a:cs typeface="Arial"/>
              </a:rPr>
              <a:t>() </a:t>
            </a:r>
            <a:r>
              <a:rPr lang="en-GB" sz="2400" spc="-10" noProof="0" dirty="0">
                <a:solidFill>
                  <a:srgbClr val="0D0D0D"/>
                </a:solidFill>
                <a:latin typeface="Arial"/>
                <a:cs typeface="Arial"/>
              </a:rPr>
              <a:t>method </a:t>
            </a:r>
            <a:r>
              <a:rPr lang="en-GB" sz="2400" spc="-45" noProof="0" dirty="0">
                <a:solidFill>
                  <a:srgbClr val="0D0D0D"/>
                </a:solidFill>
                <a:latin typeface="Arial"/>
                <a:cs typeface="Arial"/>
              </a:rPr>
              <a:t>accesses </a:t>
            </a:r>
            <a:r>
              <a:rPr lang="en-GB" sz="2400" spc="-35" noProof="0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lang="en-GB" sz="2400" spc="-40" noProof="0" dirty="0">
                <a:solidFill>
                  <a:srgbClr val="0D0D0D"/>
                </a:solidFill>
                <a:latin typeface="Arial"/>
                <a:cs typeface="Arial"/>
              </a:rPr>
              <a:t>first </a:t>
            </a:r>
            <a:r>
              <a:rPr lang="en-GB" sz="2400" spc="-55" noProof="0" dirty="0">
                <a:solidFill>
                  <a:srgbClr val="0D0D0D"/>
                </a:solidFill>
                <a:latin typeface="Arial"/>
                <a:cs typeface="Arial"/>
              </a:rPr>
              <a:t>element  </a:t>
            </a:r>
            <a:r>
              <a:rPr lang="en-GB" sz="2400" spc="-15" noProof="0" dirty="0">
                <a:solidFill>
                  <a:srgbClr val="0D0D0D"/>
                </a:solidFill>
                <a:latin typeface="Arial"/>
                <a:cs typeface="Arial"/>
              </a:rPr>
              <a:t>with </a:t>
            </a:r>
            <a:r>
              <a:rPr lang="en-GB" sz="2400" spc="-35" noProof="0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lang="en-GB" sz="2400" spc="-40" noProof="0" dirty="0">
                <a:solidFill>
                  <a:srgbClr val="0D0D0D"/>
                </a:solidFill>
                <a:latin typeface="Arial"/>
                <a:cs typeface="Arial"/>
              </a:rPr>
              <a:t>specified</a:t>
            </a:r>
            <a:r>
              <a:rPr lang="en-GB" sz="2400" spc="20" noProof="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lang="en-GB" sz="2400" spc="-20" noProof="0" dirty="0">
                <a:solidFill>
                  <a:srgbClr val="0D0D0D"/>
                </a:solidFill>
                <a:latin typeface="Arial"/>
                <a:cs typeface="Arial"/>
              </a:rPr>
              <a:t>id.</a:t>
            </a:r>
            <a:endParaRPr lang="en-GB" sz="24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GB" sz="28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GB" sz="3300" noProof="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0832" y="3761231"/>
            <a:ext cx="7946135" cy="23835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983479"/>
            <a:ext cx="8110728" cy="1161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197" y="3733800"/>
            <a:ext cx="7848600" cy="2290445"/>
          </a:xfrm>
          <a:custGeom>
            <a:avLst/>
            <a:gdLst/>
            <a:ahLst/>
            <a:cxnLst/>
            <a:rect l="l" t="t" r="r" b="b"/>
            <a:pathLst>
              <a:path w="7848600" h="2290445">
                <a:moveTo>
                  <a:pt x="7848600" y="1223073"/>
                </a:moveTo>
                <a:lnTo>
                  <a:pt x="0" y="1223073"/>
                </a:lnTo>
                <a:lnTo>
                  <a:pt x="0" y="2289873"/>
                </a:lnTo>
                <a:lnTo>
                  <a:pt x="7848600" y="2289873"/>
                </a:lnTo>
                <a:lnTo>
                  <a:pt x="7848600" y="1223073"/>
                </a:lnTo>
                <a:close/>
              </a:path>
              <a:path w="7848600" h="2290445">
                <a:moveTo>
                  <a:pt x="6499974" y="0"/>
                </a:moveTo>
                <a:lnTo>
                  <a:pt x="4578350" y="1223073"/>
                </a:lnTo>
                <a:lnTo>
                  <a:pt x="6540500" y="1223073"/>
                </a:lnTo>
                <a:lnTo>
                  <a:pt x="6499974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3729919"/>
            <a:ext cx="7848600" cy="2290445"/>
          </a:xfrm>
          <a:custGeom>
            <a:avLst/>
            <a:gdLst/>
            <a:ahLst/>
            <a:cxnLst/>
            <a:rect l="l" t="t" r="r" b="b"/>
            <a:pathLst>
              <a:path w="7848600" h="2290445">
                <a:moveTo>
                  <a:pt x="0" y="1223080"/>
                </a:moveTo>
                <a:lnTo>
                  <a:pt x="4578352" y="1223080"/>
                </a:lnTo>
                <a:lnTo>
                  <a:pt x="6499983" y="0"/>
                </a:lnTo>
                <a:lnTo>
                  <a:pt x="6540503" y="1223080"/>
                </a:lnTo>
                <a:lnTo>
                  <a:pt x="7848604" y="1223080"/>
                </a:lnTo>
                <a:lnTo>
                  <a:pt x="7848604" y="1400884"/>
                </a:lnTo>
                <a:lnTo>
                  <a:pt x="7848604" y="1667578"/>
                </a:lnTo>
                <a:lnTo>
                  <a:pt x="7848604" y="2289881"/>
                </a:lnTo>
                <a:lnTo>
                  <a:pt x="6540503" y="2289881"/>
                </a:lnTo>
                <a:lnTo>
                  <a:pt x="4578352" y="2289881"/>
                </a:lnTo>
                <a:lnTo>
                  <a:pt x="0" y="2289881"/>
                </a:lnTo>
                <a:lnTo>
                  <a:pt x="0" y="1667578"/>
                </a:lnTo>
                <a:lnTo>
                  <a:pt x="0" y="1400884"/>
                </a:lnTo>
                <a:lnTo>
                  <a:pt x="0" y="1223080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12" name="object 12"/>
          <p:cNvSpPr txBox="1"/>
          <p:nvPr/>
        </p:nvSpPr>
        <p:spPr>
          <a:xfrm>
            <a:off x="733774" y="5013452"/>
            <a:ext cx="7603490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9710" marR="5080" indent="-2747645">
              <a:lnSpc>
                <a:spcPct val="118300"/>
              </a:lnSpc>
              <a:spcBef>
                <a:spcPts val="100"/>
              </a:spcBef>
            </a:pPr>
            <a:r>
              <a:rPr lang="en-GB" sz="2400" spc="-80" noProof="0" dirty="0">
                <a:solidFill>
                  <a:srgbClr val="0D0D0D"/>
                </a:solidFill>
                <a:latin typeface="Arial"/>
                <a:cs typeface="Arial"/>
              </a:rPr>
              <a:t>Then </a:t>
            </a:r>
            <a:r>
              <a:rPr lang="en-GB" sz="2400" spc="-30" noProof="0" dirty="0">
                <a:solidFill>
                  <a:srgbClr val="0D0D0D"/>
                </a:solidFill>
                <a:latin typeface="Arial"/>
                <a:cs typeface="Arial"/>
              </a:rPr>
              <a:t>access </a:t>
            </a:r>
            <a:r>
              <a:rPr lang="en-GB" sz="2400" spc="-35" noProof="0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lang="en-GB" sz="2400" spc="-65" noProof="0" dirty="0">
                <a:solidFill>
                  <a:srgbClr val="0D0D0D"/>
                </a:solidFill>
                <a:latin typeface="Arial"/>
                <a:cs typeface="Arial"/>
              </a:rPr>
              <a:t>inner HTML </a:t>
            </a:r>
            <a:r>
              <a:rPr lang="en-GB" sz="2400" spc="-30" noProof="0" dirty="0">
                <a:solidFill>
                  <a:srgbClr val="0D0D0D"/>
                </a:solidFill>
                <a:latin typeface="Arial"/>
                <a:cs typeface="Arial"/>
              </a:rPr>
              <a:t>property </a:t>
            </a:r>
            <a:r>
              <a:rPr lang="en-GB" sz="2400" spc="-25" noProof="0" dirty="0">
                <a:solidFill>
                  <a:srgbClr val="0D0D0D"/>
                </a:solidFill>
                <a:latin typeface="Arial"/>
                <a:cs typeface="Arial"/>
              </a:rPr>
              <a:t>of </a:t>
            </a:r>
            <a:r>
              <a:rPr lang="en-GB" sz="2400" spc="-15" noProof="0" dirty="0">
                <a:solidFill>
                  <a:srgbClr val="0D0D0D"/>
                </a:solidFill>
                <a:latin typeface="Arial"/>
                <a:cs typeface="Arial"/>
              </a:rPr>
              <a:t>that </a:t>
            </a:r>
            <a:r>
              <a:rPr lang="en-GB" sz="2400" spc="-50" noProof="0" dirty="0">
                <a:solidFill>
                  <a:srgbClr val="0D0D0D"/>
                </a:solidFill>
                <a:latin typeface="Arial"/>
                <a:cs typeface="Arial"/>
              </a:rPr>
              <a:t>element </a:t>
            </a:r>
            <a:r>
              <a:rPr lang="en-GB" sz="2400" spc="-35" noProof="0" dirty="0">
                <a:solidFill>
                  <a:srgbClr val="0D0D0D"/>
                </a:solidFill>
                <a:latin typeface="Arial"/>
                <a:cs typeface="Arial"/>
              </a:rPr>
              <a:t>and  </a:t>
            </a:r>
            <a:r>
              <a:rPr lang="en-GB" sz="2400" spc="-60" noProof="0" dirty="0">
                <a:solidFill>
                  <a:srgbClr val="0D0D0D"/>
                </a:solidFill>
                <a:latin typeface="Arial"/>
                <a:cs typeface="Arial"/>
              </a:rPr>
              <a:t>assign </a:t>
            </a:r>
            <a:r>
              <a:rPr lang="en-GB" sz="2400" spc="-25" noProof="0" dirty="0">
                <a:solidFill>
                  <a:srgbClr val="0D0D0D"/>
                </a:solidFill>
                <a:latin typeface="Arial"/>
                <a:cs typeface="Arial"/>
              </a:rPr>
              <a:t>it </a:t>
            </a:r>
            <a:r>
              <a:rPr lang="en-GB" sz="2400" spc="-90" noProof="0" dirty="0">
                <a:solidFill>
                  <a:srgbClr val="0D0D0D"/>
                </a:solidFill>
                <a:latin typeface="Arial"/>
                <a:cs typeface="Arial"/>
              </a:rPr>
              <a:t>a</a:t>
            </a:r>
            <a:r>
              <a:rPr lang="en-GB" sz="2400" spc="60" noProof="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lang="en-GB" sz="2400" spc="-85" noProof="0" dirty="0">
                <a:solidFill>
                  <a:srgbClr val="0D0D0D"/>
                </a:solidFill>
                <a:latin typeface="Arial"/>
                <a:cs typeface="Arial"/>
              </a:rPr>
              <a:t>value</a:t>
            </a:r>
            <a:endParaRPr lang="en-GB" sz="24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C21372-C34B-EC40-A2B1-D5A8CDC2D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35970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6157"/>
            <a:ext cx="5511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35" noProof="0" dirty="0">
                <a:solidFill>
                  <a:srgbClr val="000000"/>
                </a:solidFill>
              </a:rPr>
              <a:t>Inner </a:t>
            </a:r>
            <a:r>
              <a:rPr lang="en-GB" spc="-50" noProof="0" dirty="0">
                <a:solidFill>
                  <a:srgbClr val="000000"/>
                </a:solidFill>
              </a:rPr>
              <a:t>html </a:t>
            </a:r>
            <a:r>
              <a:rPr lang="en-GB" spc="-130" noProof="0" dirty="0">
                <a:solidFill>
                  <a:srgbClr val="000000"/>
                </a:solidFill>
              </a:rPr>
              <a:t>in </a:t>
            </a:r>
            <a:r>
              <a:rPr lang="en-GB" spc="-165" noProof="0" dirty="0">
                <a:solidFill>
                  <a:srgbClr val="000000"/>
                </a:solidFill>
              </a:rPr>
              <a:t>a</a:t>
            </a:r>
            <a:r>
              <a:rPr lang="en-GB" spc="265" noProof="0" dirty="0">
                <a:solidFill>
                  <a:srgbClr val="000000"/>
                </a:solidFill>
              </a:rPr>
              <a:t> </a:t>
            </a:r>
            <a:r>
              <a:rPr lang="en-GB" spc="-50" noProof="0" dirty="0">
                <a:solidFill>
                  <a:srgbClr val="000000"/>
                </a:solidFill>
              </a:rPr>
              <a:t>browser</a:t>
            </a: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3917" y="1600200"/>
            <a:ext cx="7756169" cy="2180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850" y="1593850"/>
            <a:ext cx="8242300" cy="4538980"/>
          </a:xfrm>
          <a:custGeom>
            <a:avLst/>
            <a:gdLst/>
            <a:ahLst/>
            <a:cxnLst/>
            <a:rect l="l" t="t" r="r" b="b"/>
            <a:pathLst>
              <a:path w="8242300" h="4538980">
                <a:moveTo>
                  <a:pt x="0" y="0"/>
                </a:moveTo>
                <a:lnTo>
                  <a:pt x="8242304" y="0"/>
                </a:lnTo>
                <a:lnTo>
                  <a:pt x="8242304" y="4538662"/>
                </a:lnTo>
                <a:lnTo>
                  <a:pt x="0" y="45386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7738" y="1959662"/>
            <a:ext cx="3495040" cy="267716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lang="en-GB" sz="11500" spc="-675" noProof="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lang="en-GB" sz="11500" spc="-509" noProof="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lang="en-GB" sz="11500" spc="-1015" noProof="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lang="en-GB" sz="11500" spc="-100" noProof="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lang="en-GB" sz="11500" spc="-650" noProof="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lang="en-GB" sz="11500" spc="-160" noProof="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lang="en-GB" sz="11500" noProof="0" dirty="0">
              <a:latin typeface="Trebuchet MS"/>
              <a:cs typeface="Trebuchet MS"/>
            </a:endParaRPr>
          </a:p>
          <a:p>
            <a:pPr marR="7620" algn="ctr">
              <a:lnSpc>
                <a:spcPct val="100000"/>
              </a:lnSpc>
              <a:spcBef>
                <a:spcPts val="385"/>
              </a:spcBef>
            </a:pPr>
            <a:r>
              <a:rPr lang="en-GB" sz="4800" spc="-45" noProof="0" dirty="0">
                <a:solidFill>
                  <a:srgbClr val="FFFFFF"/>
                </a:solidFill>
                <a:latin typeface="Trebuchet MS"/>
                <a:cs typeface="Trebuchet MS"/>
              </a:rPr>
              <a:t>(debugging)</a:t>
            </a:r>
            <a:endParaRPr lang="en-GB" sz="4800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7620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4555" y="4172358"/>
            <a:ext cx="9158555" cy="2761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D9020D-A5D1-9E40-8DF5-0578647F4E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0550" y="228600"/>
            <a:ext cx="7924800" cy="73635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Access the Console in Chrome or Firefox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7F83D404-3AD5-0242-AEDB-5036820512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19200"/>
            <a:ext cx="6705600" cy="531972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DE18B6-B2A0-7746-9B06-5023330541D1}"/>
              </a:ext>
            </a:extLst>
          </p:cNvPr>
          <p:cNvSpPr/>
          <p:nvPr/>
        </p:nvSpPr>
        <p:spPr>
          <a:xfrm>
            <a:off x="304800" y="6400800"/>
            <a:ext cx="8229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noProof="0" dirty="0">
                <a:hlinkClick r:id="rId3"/>
              </a:rPr>
              <a:t>https://support.airtable.com/hc/en-us/articles/232313848-How-to-open-the-developer-console</a:t>
            </a:r>
            <a:endParaRPr lang="en-GB" sz="14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CFB54-E550-8C40-A873-3E5674F1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6989674" cy="124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0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752600"/>
            <a:ext cx="6172199" cy="263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270"/>
              </a:lnSpc>
              <a:spcBef>
                <a:spcPts val="100"/>
              </a:spcBef>
            </a:pPr>
            <a:r>
              <a:rPr lang="en-GB" sz="8800" spc="-270" noProof="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lang="en-GB" sz="8800" spc="80" noProof="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lang="en-GB" sz="8800" spc="-10" noProof="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lang="en-GB" sz="8800" spc="-60" noProof="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lang="en-GB" sz="8800" spc="-195" noProof="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lang="en-GB" sz="8800" spc="-125" noProof="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lang="en-GB" sz="8800" spc="-335" noProof="0" dirty="0">
                <a:solidFill>
                  <a:srgbClr val="FFFFFF"/>
                </a:solidFill>
                <a:latin typeface="Trebuchet MS"/>
                <a:cs typeface="Trebuchet MS"/>
              </a:rPr>
              <a:t>ts</a:t>
            </a:r>
            <a:endParaRPr lang="en-GB" sz="8800" noProof="0" dirty="0">
              <a:latin typeface="Trebuchet MS"/>
              <a:cs typeface="Trebuchet MS"/>
            </a:endParaRPr>
          </a:p>
          <a:p>
            <a:pPr algn="ctr">
              <a:lnSpc>
                <a:spcPts val="10270"/>
              </a:lnSpc>
            </a:pPr>
            <a:r>
              <a:rPr lang="en-GB" sz="8800" spc="-10" noProof="0" dirty="0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lang="en-GB" sz="8800" spc="-170" noProof="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lang="en-GB" sz="8800" spc="-10" noProof="0" dirty="0">
                <a:solidFill>
                  <a:srgbClr val="FFFFFF"/>
                </a:solidFill>
                <a:latin typeface="Courier New"/>
                <a:cs typeface="Courier New"/>
              </a:rPr>
              <a:t>………</a:t>
            </a:r>
            <a:endParaRPr lang="en-GB" sz="8800" noProof="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12D1F9-F07F-2E49-8B51-B41F8AF58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85800"/>
            <a:ext cx="8728364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195320" y="367983"/>
            <a:ext cx="2753360" cy="612203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7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0" b="0" i="0" u="none" strike="noStrike" kern="1200" cap="none" spc="-77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?</a:t>
            </a:r>
            <a:endParaRPr kumimoji="0" lang="en-GB" sz="40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418</Words>
  <Application>Microsoft Office PowerPoint</Application>
  <PresentationFormat>On-screen Show (4:3)</PresentationFormat>
  <Paragraphs>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Courier New</vt:lpstr>
      <vt:lpstr>Helvetica Neue</vt:lpstr>
      <vt:lpstr>Helvetica Neue Light</vt:lpstr>
      <vt:lpstr>Times New Roman</vt:lpstr>
      <vt:lpstr>Trebuchet MS</vt:lpstr>
      <vt:lpstr>Office Theme</vt:lpstr>
      <vt:lpstr>Introduction to  JavaScript</vt:lpstr>
      <vt:lpstr>Why JavaScript?</vt:lpstr>
      <vt:lpstr>What is JavaScript</vt:lpstr>
      <vt:lpstr>What is JavaScript Cont...</vt:lpstr>
      <vt:lpstr>“JavaScript is THE scripting language  of the Web. JavaScript is used in billions  of Web pages to add functionality,  validate forms, communicate with  the server, and much more.”</vt:lpstr>
      <vt:lpstr>JavaScript  is not Java</vt:lpstr>
      <vt:lpstr>Introduction to JavaScript</vt:lpstr>
      <vt:lpstr>PowerPoint Presentation</vt:lpstr>
      <vt:lpstr>alert(expression);</vt:lpstr>
      <vt:lpstr>PowerPoint Presentation</vt:lpstr>
      <vt:lpstr>PowerPoint Presentation</vt:lpstr>
      <vt:lpstr>PowerPoint Presentation</vt:lpstr>
      <vt:lpstr>innerHTML</vt:lpstr>
      <vt:lpstr>innerHTML cont.</vt:lpstr>
      <vt:lpstr>PowerPoint Presentation</vt:lpstr>
      <vt:lpstr>Inner html in a browser</vt:lpstr>
      <vt:lpstr>Errors (debugging)</vt:lpstr>
      <vt:lpstr>Access the Console in Chrome or Firefox</vt:lpstr>
      <vt:lpstr>PowerPoint Presentation</vt:lpstr>
      <vt:lpstr>Comments // ………</vt:lpstr>
      <vt:lpstr>PowerPoint Presentation</vt:lpstr>
      <vt:lpstr>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cp:lastModifiedBy>Louis Kashari</cp:lastModifiedBy>
  <cp:revision>68</cp:revision>
  <dcterms:created xsi:type="dcterms:W3CDTF">2019-08-13T14:40:10Z</dcterms:created>
  <dcterms:modified xsi:type="dcterms:W3CDTF">2025-05-09T15:01:17Z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2019-08-13T00:00:00Z</vt:filetime>
  </property>
</Properties>
</file>