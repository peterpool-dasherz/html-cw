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7" r:id="rId1"/>
    <p:sldMasterId id="2147483660" r:id="rId2"/>
    <p:sldMasterId id="2147483672" r:id="rId3"/>
    <p:sldMasterId id="2147483684" r:id="rId4"/>
  </p:sldMasterIdLst>
  <p:notesMasterIdLst>
    <p:notesMasterId r:id="rId62"/>
  </p:notesMasterIdLst>
  <p:sldIdLst>
    <p:sldId id="258" r:id="rId5"/>
    <p:sldId id="319" r:id="rId6"/>
    <p:sldId id="408" r:id="rId7"/>
    <p:sldId id="407" r:id="rId8"/>
    <p:sldId id="322" r:id="rId9"/>
    <p:sldId id="323" r:id="rId10"/>
    <p:sldId id="271" r:id="rId11"/>
    <p:sldId id="274" r:id="rId12"/>
    <p:sldId id="273" r:id="rId13"/>
    <p:sldId id="406" r:id="rId14"/>
    <p:sldId id="335" r:id="rId15"/>
    <p:sldId id="373" r:id="rId16"/>
    <p:sldId id="336" r:id="rId17"/>
    <p:sldId id="374" r:id="rId18"/>
    <p:sldId id="326" r:id="rId19"/>
    <p:sldId id="328" r:id="rId20"/>
    <p:sldId id="329" r:id="rId21"/>
    <p:sldId id="330" r:id="rId22"/>
    <p:sldId id="333" r:id="rId23"/>
    <p:sldId id="375" r:id="rId24"/>
    <p:sldId id="339" r:id="rId25"/>
    <p:sldId id="340" r:id="rId26"/>
    <p:sldId id="341" r:id="rId27"/>
    <p:sldId id="343" r:id="rId28"/>
    <p:sldId id="344" r:id="rId29"/>
    <p:sldId id="345" r:id="rId30"/>
    <p:sldId id="346" r:id="rId31"/>
    <p:sldId id="376" r:id="rId32"/>
    <p:sldId id="347" r:id="rId33"/>
    <p:sldId id="378" r:id="rId34"/>
    <p:sldId id="400" r:id="rId35"/>
    <p:sldId id="405" r:id="rId36"/>
    <p:sldId id="383" r:id="rId37"/>
    <p:sldId id="384" r:id="rId38"/>
    <p:sldId id="385" r:id="rId39"/>
    <p:sldId id="386" r:id="rId40"/>
    <p:sldId id="356" r:id="rId41"/>
    <p:sldId id="359" r:id="rId42"/>
    <p:sldId id="388" r:id="rId43"/>
    <p:sldId id="389" r:id="rId44"/>
    <p:sldId id="390" r:id="rId45"/>
    <p:sldId id="391" r:id="rId46"/>
    <p:sldId id="362" r:id="rId47"/>
    <p:sldId id="363" r:id="rId48"/>
    <p:sldId id="392" r:id="rId49"/>
    <p:sldId id="395" r:id="rId50"/>
    <p:sldId id="393" r:id="rId51"/>
    <p:sldId id="394" r:id="rId52"/>
    <p:sldId id="365" r:id="rId53"/>
    <p:sldId id="366" r:id="rId54"/>
    <p:sldId id="396" r:id="rId55"/>
    <p:sldId id="367" r:id="rId56"/>
    <p:sldId id="368" r:id="rId57"/>
    <p:sldId id="369" r:id="rId58"/>
    <p:sldId id="397" r:id="rId59"/>
    <p:sldId id="399" r:id="rId60"/>
    <p:sldId id="307" r:id="rId6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outlineView">
  <p:normalViewPr showOutlineIcons="0">
    <p:restoredLeft sz="34603" autoAdjust="0"/>
    <p:restoredTop sz="86417" autoAdjust="0"/>
  </p:normalViewPr>
  <p:slideViewPr>
    <p:cSldViewPr snapToGrid="0" snapToObjects="1">
      <p:cViewPr varScale="1">
        <p:scale>
          <a:sx n="108" d="100"/>
          <a:sy n="108" d="100"/>
        </p:scale>
        <p:origin x="618" y="102"/>
      </p:cViewPr>
      <p:guideLst>
        <p:guide orient="horz" pos="2160"/>
        <p:guide pos="2880"/>
      </p:guideLst>
    </p:cSldViewPr>
  </p:slideViewPr>
  <p:outlineViewPr>
    <p:cViewPr>
      <p:scale>
        <a:sx n="33" d="100"/>
        <a:sy n="33" d="100"/>
      </p:scale>
      <p:origin x="0" y="-1314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5C9706-31C7-8349-B14A-13E95ED9F780}" type="datetimeFigureOut">
              <a:rPr lang="en-US" smtClean="0"/>
              <a:t>5/9/2025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6F1073-B060-374D-9213-F686D26165EC}" type="slidenum">
              <a:rPr lang="en-US" smtClean="0"/>
              <a:t>‹#›</a:t>
            </a:fld>
            <a:endParaRPr lang="en-US"/>
          </a:p>
        </p:txBody>
      </p:sp>
    </p:spTree>
    <p:extLst>
      <p:ext uri="{BB962C8B-B14F-4D97-AF65-F5344CB8AC3E}">
        <p14:creationId xmlns:p14="http://schemas.microsoft.com/office/powerpoint/2010/main" val="3679300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ACB6DB8A-3E93-FA41-BE9D-9CB5A69520F7}" type="datetimeFigureOut">
              <a:rPr lang="en-US" smtClean="0"/>
              <a:t>5/9/2025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3B336049-9BC2-B047-ADF6-A984FEB2FCAB}" type="slidenum">
              <a:rPr lang="en-US" smtClean="0"/>
              <a:t>‹#›</a:t>
            </a:fld>
            <a:endParaRPr lang="en-US"/>
          </a:p>
        </p:txBody>
      </p:sp>
    </p:spTree>
    <p:extLst>
      <p:ext uri="{BB962C8B-B14F-4D97-AF65-F5344CB8AC3E}">
        <p14:creationId xmlns:p14="http://schemas.microsoft.com/office/powerpoint/2010/main" val="1221951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GB"/>
              <a:t>Click to edit Master title style</a:t>
            </a:r>
            <a:endParaRPr lang="en-US"/>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ACB6DB8A-3E93-FA41-BE9D-9CB5A69520F7}" type="datetimeFigureOut">
              <a:rPr lang="en-US" smtClean="0"/>
              <a:t>5/9/2025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3B336049-9BC2-B047-ADF6-A984FEB2FCAB}" type="slidenum">
              <a:rPr lang="en-US" smtClean="0"/>
              <a:t>‹#›</a:t>
            </a:fld>
            <a:endParaRPr lang="en-US"/>
          </a:p>
        </p:txBody>
      </p:sp>
    </p:spTree>
    <p:extLst>
      <p:ext uri="{BB962C8B-B14F-4D97-AF65-F5344CB8AC3E}">
        <p14:creationId xmlns:p14="http://schemas.microsoft.com/office/powerpoint/2010/main" val="1842822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ACB6DB8A-3E93-FA41-BE9D-9CB5A69520F7}" type="datetimeFigureOut">
              <a:rPr lang="en-US" smtClean="0"/>
              <a:t>5/9/2025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3B336049-9BC2-B047-ADF6-A984FEB2FCAB}" type="slidenum">
              <a:rPr lang="en-US" smtClean="0"/>
              <a:t>‹#›</a:t>
            </a:fld>
            <a:endParaRPr lang="en-US"/>
          </a:p>
        </p:txBody>
      </p:sp>
    </p:spTree>
    <p:extLst>
      <p:ext uri="{BB962C8B-B14F-4D97-AF65-F5344CB8AC3E}">
        <p14:creationId xmlns:p14="http://schemas.microsoft.com/office/powerpoint/2010/main" val="1528865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ACB6DB8A-3E93-FA41-BE9D-9CB5A69520F7}" type="datetimeFigureOut">
              <a:rPr lang="en-US" smtClean="0"/>
              <a:t>5/9/2025</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3B336049-9BC2-B047-ADF6-A984FEB2FCAB}" type="slidenum">
              <a:rPr lang="en-US" smtClean="0"/>
              <a:t>‹#›</a:t>
            </a:fld>
            <a:endParaRPr lang="en-US"/>
          </a:p>
        </p:txBody>
      </p:sp>
    </p:spTree>
    <p:extLst>
      <p:ext uri="{BB962C8B-B14F-4D97-AF65-F5344CB8AC3E}">
        <p14:creationId xmlns:p14="http://schemas.microsoft.com/office/powerpoint/2010/main" val="4132214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ACB6DB8A-3E93-FA41-BE9D-9CB5A69520F7}" type="datetimeFigureOut">
              <a:rPr lang="en-US" smtClean="0"/>
              <a:t>5/9/2025</a:t>
            </a:fld>
            <a:endParaRPr lang="en-US"/>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3B336049-9BC2-B047-ADF6-A984FEB2FCAB}" type="slidenum">
              <a:rPr lang="en-US" smtClean="0"/>
              <a:t>‹#›</a:t>
            </a:fld>
            <a:endParaRPr lang="en-US"/>
          </a:p>
        </p:txBody>
      </p:sp>
    </p:spTree>
    <p:extLst>
      <p:ext uri="{BB962C8B-B14F-4D97-AF65-F5344CB8AC3E}">
        <p14:creationId xmlns:p14="http://schemas.microsoft.com/office/powerpoint/2010/main" val="1246940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GB"/>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ACB6DB8A-3E93-FA41-BE9D-9CB5A69520F7}" type="datetimeFigureOut">
              <a:rPr lang="en-US" smtClean="0"/>
              <a:t>5/9/2025</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3B336049-9BC2-B047-ADF6-A984FEB2FCAB}" type="slidenum">
              <a:rPr lang="en-US" smtClean="0"/>
              <a:t>‹#›</a:t>
            </a:fld>
            <a:endParaRPr lang="en-US"/>
          </a:p>
        </p:txBody>
      </p:sp>
    </p:spTree>
    <p:extLst>
      <p:ext uri="{BB962C8B-B14F-4D97-AF65-F5344CB8AC3E}">
        <p14:creationId xmlns:p14="http://schemas.microsoft.com/office/powerpoint/2010/main" val="3031352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ACB6DB8A-3E93-FA41-BE9D-9CB5A69520F7}" type="datetimeFigureOut">
              <a:rPr lang="en-US" smtClean="0"/>
              <a:t>5/9/2025</a:t>
            </a:fld>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3B336049-9BC2-B047-ADF6-A984FEB2FCAB}" type="slidenum">
              <a:rPr lang="en-US" smtClean="0"/>
              <a:t>‹#›</a:t>
            </a:fld>
            <a:endParaRPr lang="en-US"/>
          </a:p>
        </p:txBody>
      </p:sp>
    </p:spTree>
    <p:extLst>
      <p:ext uri="{BB962C8B-B14F-4D97-AF65-F5344CB8AC3E}">
        <p14:creationId xmlns:p14="http://schemas.microsoft.com/office/powerpoint/2010/main" val="645125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ACB6DB8A-3E93-FA41-BE9D-9CB5A69520F7}" type="datetimeFigureOut">
              <a:rPr lang="en-US" smtClean="0"/>
              <a:t>5/9/2025</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3B336049-9BC2-B047-ADF6-A984FEB2FCAB}" type="slidenum">
              <a:rPr lang="en-US" smtClean="0"/>
              <a:t>‹#›</a:t>
            </a:fld>
            <a:endParaRPr lang="en-US"/>
          </a:p>
        </p:txBody>
      </p:sp>
    </p:spTree>
    <p:extLst>
      <p:ext uri="{BB962C8B-B14F-4D97-AF65-F5344CB8AC3E}">
        <p14:creationId xmlns:p14="http://schemas.microsoft.com/office/powerpoint/2010/main" val="3050701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ACB6DB8A-3E93-FA41-BE9D-9CB5A69520F7}" type="datetimeFigureOut">
              <a:rPr lang="en-US" smtClean="0"/>
              <a:t>5/9/2025</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3B336049-9BC2-B047-ADF6-A984FEB2FCAB}" type="slidenum">
              <a:rPr lang="en-US" smtClean="0"/>
              <a:t>‹#›</a:t>
            </a:fld>
            <a:endParaRPr lang="en-US"/>
          </a:p>
        </p:txBody>
      </p:sp>
    </p:spTree>
    <p:extLst>
      <p:ext uri="{BB962C8B-B14F-4D97-AF65-F5344CB8AC3E}">
        <p14:creationId xmlns:p14="http://schemas.microsoft.com/office/powerpoint/2010/main" val="2648448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ACB6DB8A-3E93-FA41-BE9D-9CB5A69520F7}" type="datetimeFigureOut">
              <a:rPr lang="en-US" smtClean="0"/>
              <a:t>5/9/2025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3B336049-9BC2-B047-ADF6-A984FEB2FCAB}" type="slidenum">
              <a:rPr lang="en-US" smtClean="0"/>
              <a:t>‹#›</a:t>
            </a:fld>
            <a:endParaRPr lang="en-US"/>
          </a:p>
        </p:txBody>
      </p:sp>
    </p:spTree>
    <p:extLst>
      <p:ext uri="{BB962C8B-B14F-4D97-AF65-F5344CB8AC3E}">
        <p14:creationId xmlns:p14="http://schemas.microsoft.com/office/powerpoint/2010/main" val="859463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ACB6DB8A-3E93-FA41-BE9D-9CB5A69520F7}" type="datetimeFigureOut">
              <a:rPr lang="en-US" smtClean="0"/>
              <a:t>5/9/2025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3B336049-9BC2-B047-ADF6-A984FEB2FCAB}" type="slidenum">
              <a:rPr lang="en-US" smtClean="0"/>
              <a:t>‹#›</a:t>
            </a:fld>
            <a:endParaRPr lang="en-US"/>
          </a:p>
        </p:txBody>
      </p:sp>
    </p:spTree>
    <p:extLst>
      <p:ext uri="{BB962C8B-B14F-4D97-AF65-F5344CB8AC3E}">
        <p14:creationId xmlns:p14="http://schemas.microsoft.com/office/powerpoint/2010/main" val="41881688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6505246A-8616-4640-8C9D-DBD24739C6AD}" type="datetimeFigureOut">
              <a:rPr lang="en-US" smtClean="0"/>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E81607-2480-C64A-AE0D-BFA7CF573C66}" type="slidenum">
              <a:rPr lang="en-US" smtClean="0"/>
              <a:t>‹#›</a:t>
            </a:fld>
            <a:endParaRPr lang="en-US"/>
          </a:p>
        </p:txBody>
      </p:sp>
    </p:spTree>
    <p:extLst>
      <p:ext uri="{BB962C8B-B14F-4D97-AF65-F5344CB8AC3E}">
        <p14:creationId xmlns:p14="http://schemas.microsoft.com/office/powerpoint/2010/main" val="5257728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505246A-8616-4640-8C9D-DBD24739C6AD}" type="datetimeFigureOut">
              <a:rPr lang="en-US" smtClean="0"/>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E81607-2480-C64A-AE0D-BFA7CF573C66}" type="slidenum">
              <a:rPr lang="en-US" smtClean="0"/>
              <a:t>‹#›</a:t>
            </a:fld>
            <a:endParaRPr lang="en-US"/>
          </a:p>
        </p:txBody>
      </p:sp>
    </p:spTree>
    <p:extLst>
      <p:ext uri="{BB962C8B-B14F-4D97-AF65-F5344CB8AC3E}">
        <p14:creationId xmlns:p14="http://schemas.microsoft.com/office/powerpoint/2010/main" val="12381835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505246A-8616-4640-8C9D-DBD24739C6AD}" type="datetimeFigureOut">
              <a:rPr lang="en-US" smtClean="0"/>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E81607-2480-C64A-AE0D-BFA7CF573C66}" type="slidenum">
              <a:rPr lang="en-US" smtClean="0"/>
              <a:t>‹#›</a:t>
            </a:fld>
            <a:endParaRPr lang="en-US"/>
          </a:p>
        </p:txBody>
      </p:sp>
    </p:spTree>
    <p:extLst>
      <p:ext uri="{BB962C8B-B14F-4D97-AF65-F5344CB8AC3E}">
        <p14:creationId xmlns:p14="http://schemas.microsoft.com/office/powerpoint/2010/main" val="19819904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6505246A-8616-4640-8C9D-DBD24739C6AD}" type="datetimeFigureOut">
              <a:rPr lang="en-US" smtClean="0"/>
              <a:t>5/9/2025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E81607-2480-C64A-AE0D-BFA7CF573C66}" type="slidenum">
              <a:rPr lang="en-US" smtClean="0"/>
              <a:t>‹#›</a:t>
            </a:fld>
            <a:endParaRPr lang="en-US"/>
          </a:p>
        </p:txBody>
      </p:sp>
    </p:spTree>
    <p:extLst>
      <p:ext uri="{BB962C8B-B14F-4D97-AF65-F5344CB8AC3E}">
        <p14:creationId xmlns:p14="http://schemas.microsoft.com/office/powerpoint/2010/main" val="35445883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6505246A-8616-4640-8C9D-DBD24739C6AD}" type="datetimeFigureOut">
              <a:rPr lang="en-US" smtClean="0"/>
              <a:t>5/9/2025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2E81607-2480-C64A-AE0D-BFA7CF573C66}" type="slidenum">
              <a:rPr lang="en-US" smtClean="0"/>
              <a:t>‹#›</a:t>
            </a:fld>
            <a:endParaRPr lang="en-US"/>
          </a:p>
        </p:txBody>
      </p:sp>
    </p:spTree>
    <p:extLst>
      <p:ext uri="{BB962C8B-B14F-4D97-AF65-F5344CB8AC3E}">
        <p14:creationId xmlns:p14="http://schemas.microsoft.com/office/powerpoint/2010/main" val="5993323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6505246A-8616-4640-8C9D-DBD24739C6AD}" type="datetimeFigureOut">
              <a:rPr lang="en-US" smtClean="0"/>
              <a:t>5/9/2025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2E81607-2480-C64A-AE0D-BFA7CF573C66}" type="slidenum">
              <a:rPr lang="en-US" smtClean="0"/>
              <a:t>‹#›</a:t>
            </a:fld>
            <a:endParaRPr lang="en-US"/>
          </a:p>
        </p:txBody>
      </p:sp>
    </p:spTree>
    <p:extLst>
      <p:ext uri="{BB962C8B-B14F-4D97-AF65-F5344CB8AC3E}">
        <p14:creationId xmlns:p14="http://schemas.microsoft.com/office/powerpoint/2010/main" val="9756897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05246A-8616-4640-8C9D-DBD24739C6AD}" type="datetimeFigureOut">
              <a:rPr lang="en-US" smtClean="0"/>
              <a:t>5/9/2025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2E81607-2480-C64A-AE0D-BFA7CF573C66}" type="slidenum">
              <a:rPr lang="en-US" smtClean="0"/>
              <a:t>‹#›</a:t>
            </a:fld>
            <a:endParaRPr lang="en-US"/>
          </a:p>
        </p:txBody>
      </p:sp>
    </p:spTree>
    <p:extLst>
      <p:ext uri="{BB962C8B-B14F-4D97-AF65-F5344CB8AC3E}">
        <p14:creationId xmlns:p14="http://schemas.microsoft.com/office/powerpoint/2010/main" val="20542166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505246A-8616-4640-8C9D-DBD24739C6AD}" type="datetimeFigureOut">
              <a:rPr lang="en-US" smtClean="0"/>
              <a:t>5/9/2025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E81607-2480-C64A-AE0D-BFA7CF573C66}" type="slidenum">
              <a:rPr lang="en-US" smtClean="0"/>
              <a:t>‹#›</a:t>
            </a:fld>
            <a:endParaRPr lang="en-US"/>
          </a:p>
        </p:txBody>
      </p:sp>
    </p:spTree>
    <p:extLst>
      <p:ext uri="{BB962C8B-B14F-4D97-AF65-F5344CB8AC3E}">
        <p14:creationId xmlns:p14="http://schemas.microsoft.com/office/powerpoint/2010/main" val="17966446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505246A-8616-4640-8C9D-DBD24739C6AD}" type="datetimeFigureOut">
              <a:rPr lang="en-US" smtClean="0"/>
              <a:t>5/9/2025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E81607-2480-C64A-AE0D-BFA7CF573C66}" type="slidenum">
              <a:rPr lang="en-US" smtClean="0"/>
              <a:t>‹#›</a:t>
            </a:fld>
            <a:endParaRPr lang="en-US"/>
          </a:p>
        </p:txBody>
      </p:sp>
    </p:spTree>
    <p:extLst>
      <p:ext uri="{BB962C8B-B14F-4D97-AF65-F5344CB8AC3E}">
        <p14:creationId xmlns:p14="http://schemas.microsoft.com/office/powerpoint/2010/main" val="17886761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505246A-8616-4640-8C9D-DBD24739C6AD}" type="datetimeFigureOut">
              <a:rPr lang="en-US" smtClean="0"/>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E81607-2480-C64A-AE0D-BFA7CF573C66}" type="slidenum">
              <a:rPr lang="en-US" smtClean="0"/>
              <a:t>‹#›</a:t>
            </a:fld>
            <a:endParaRPr lang="en-US"/>
          </a:p>
        </p:txBody>
      </p:sp>
    </p:spTree>
    <p:extLst>
      <p:ext uri="{BB962C8B-B14F-4D97-AF65-F5344CB8AC3E}">
        <p14:creationId xmlns:p14="http://schemas.microsoft.com/office/powerpoint/2010/main" val="2243888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505246A-8616-4640-8C9D-DBD24739C6AD}" type="datetimeFigureOut">
              <a:rPr lang="en-US" smtClean="0"/>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E81607-2480-C64A-AE0D-BFA7CF573C66}" type="slidenum">
              <a:rPr lang="en-US" smtClean="0"/>
              <a:t>‹#›</a:t>
            </a:fld>
            <a:endParaRPr lang="en-US"/>
          </a:p>
        </p:txBody>
      </p:sp>
    </p:spTree>
    <p:extLst>
      <p:ext uri="{BB962C8B-B14F-4D97-AF65-F5344CB8AC3E}">
        <p14:creationId xmlns:p14="http://schemas.microsoft.com/office/powerpoint/2010/main" val="13085696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699639DA-20EF-994D-ACA9-701455A1E308}" type="datetimeFigureOut">
              <a:rPr lang="en-US" smtClean="0"/>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470CE-864D-3C44-B4A8-F0B6E7A31342}" type="slidenum">
              <a:rPr lang="en-US" smtClean="0"/>
              <a:t>‹#›</a:t>
            </a:fld>
            <a:endParaRPr lang="en-US"/>
          </a:p>
        </p:txBody>
      </p:sp>
    </p:spTree>
    <p:extLst>
      <p:ext uri="{BB962C8B-B14F-4D97-AF65-F5344CB8AC3E}">
        <p14:creationId xmlns:p14="http://schemas.microsoft.com/office/powerpoint/2010/main" val="3123948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99639DA-20EF-994D-ACA9-701455A1E308}" type="datetimeFigureOut">
              <a:rPr lang="en-US" smtClean="0"/>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470CE-864D-3C44-B4A8-F0B6E7A31342}" type="slidenum">
              <a:rPr lang="en-US" smtClean="0"/>
              <a:t>‹#›</a:t>
            </a:fld>
            <a:endParaRPr lang="en-US"/>
          </a:p>
        </p:txBody>
      </p:sp>
    </p:spTree>
    <p:extLst>
      <p:ext uri="{BB962C8B-B14F-4D97-AF65-F5344CB8AC3E}">
        <p14:creationId xmlns:p14="http://schemas.microsoft.com/office/powerpoint/2010/main" val="16764398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99639DA-20EF-994D-ACA9-701455A1E308}" type="datetimeFigureOut">
              <a:rPr lang="en-US" smtClean="0"/>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470CE-864D-3C44-B4A8-F0B6E7A31342}" type="slidenum">
              <a:rPr lang="en-US" smtClean="0"/>
              <a:t>‹#›</a:t>
            </a:fld>
            <a:endParaRPr lang="en-US"/>
          </a:p>
        </p:txBody>
      </p:sp>
    </p:spTree>
    <p:extLst>
      <p:ext uri="{BB962C8B-B14F-4D97-AF65-F5344CB8AC3E}">
        <p14:creationId xmlns:p14="http://schemas.microsoft.com/office/powerpoint/2010/main" val="16227829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699639DA-20EF-994D-ACA9-701455A1E308}" type="datetimeFigureOut">
              <a:rPr lang="en-US" smtClean="0"/>
              <a:t>5/9/2025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470CE-864D-3C44-B4A8-F0B6E7A31342}" type="slidenum">
              <a:rPr lang="en-US" smtClean="0"/>
              <a:t>‹#›</a:t>
            </a:fld>
            <a:endParaRPr lang="en-US"/>
          </a:p>
        </p:txBody>
      </p:sp>
    </p:spTree>
    <p:extLst>
      <p:ext uri="{BB962C8B-B14F-4D97-AF65-F5344CB8AC3E}">
        <p14:creationId xmlns:p14="http://schemas.microsoft.com/office/powerpoint/2010/main" val="26034081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699639DA-20EF-994D-ACA9-701455A1E308}" type="datetimeFigureOut">
              <a:rPr lang="en-US" smtClean="0"/>
              <a:t>5/9/2025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5470CE-864D-3C44-B4A8-F0B6E7A31342}" type="slidenum">
              <a:rPr lang="en-US" smtClean="0"/>
              <a:t>‹#›</a:t>
            </a:fld>
            <a:endParaRPr lang="en-US"/>
          </a:p>
        </p:txBody>
      </p:sp>
    </p:spTree>
    <p:extLst>
      <p:ext uri="{BB962C8B-B14F-4D97-AF65-F5344CB8AC3E}">
        <p14:creationId xmlns:p14="http://schemas.microsoft.com/office/powerpoint/2010/main" val="19737605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699639DA-20EF-994D-ACA9-701455A1E308}" type="datetimeFigureOut">
              <a:rPr lang="en-US" smtClean="0"/>
              <a:t>5/9/2025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470CE-864D-3C44-B4A8-F0B6E7A31342}" type="slidenum">
              <a:rPr lang="en-US" smtClean="0"/>
              <a:t>‹#›</a:t>
            </a:fld>
            <a:endParaRPr lang="en-US"/>
          </a:p>
        </p:txBody>
      </p:sp>
    </p:spTree>
    <p:extLst>
      <p:ext uri="{BB962C8B-B14F-4D97-AF65-F5344CB8AC3E}">
        <p14:creationId xmlns:p14="http://schemas.microsoft.com/office/powerpoint/2010/main" val="35030296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9639DA-20EF-994D-ACA9-701455A1E308}" type="datetimeFigureOut">
              <a:rPr lang="en-US" smtClean="0"/>
              <a:t>5/9/2025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5470CE-864D-3C44-B4A8-F0B6E7A31342}" type="slidenum">
              <a:rPr lang="en-US" smtClean="0"/>
              <a:t>‹#›</a:t>
            </a:fld>
            <a:endParaRPr lang="en-US"/>
          </a:p>
        </p:txBody>
      </p:sp>
    </p:spTree>
    <p:extLst>
      <p:ext uri="{BB962C8B-B14F-4D97-AF65-F5344CB8AC3E}">
        <p14:creationId xmlns:p14="http://schemas.microsoft.com/office/powerpoint/2010/main" val="36388892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99639DA-20EF-994D-ACA9-701455A1E308}" type="datetimeFigureOut">
              <a:rPr lang="en-US" smtClean="0"/>
              <a:t>5/9/2025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470CE-864D-3C44-B4A8-F0B6E7A31342}" type="slidenum">
              <a:rPr lang="en-US" smtClean="0"/>
              <a:t>‹#›</a:t>
            </a:fld>
            <a:endParaRPr lang="en-US"/>
          </a:p>
        </p:txBody>
      </p:sp>
    </p:spTree>
    <p:extLst>
      <p:ext uri="{BB962C8B-B14F-4D97-AF65-F5344CB8AC3E}">
        <p14:creationId xmlns:p14="http://schemas.microsoft.com/office/powerpoint/2010/main" val="249008957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99639DA-20EF-994D-ACA9-701455A1E308}" type="datetimeFigureOut">
              <a:rPr lang="en-US" smtClean="0"/>
              <a:t>5/9/2025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470CE-864D-3C44-B4A8-F0B6E7A31342}" type="slidenum">
              <a:rPr lang="en-US" smtClean="0"/>
              <a:t>‹#›</a:t>
            </a:fld>
            <a:endParaRPr lang="en-US"/>
          </a:p>
        </p:txBody>
      </p:sp>
    </p:spTree>
    <p:extLst>
      <p:ext uri="{BB962C8B-B14F-4D97-AF65-F5344CB8AC3E}">
        <p14:creationId xmlns:p14="http://schemas.microsoft.com/office/powerpoint/2010/main" val="40881281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99639DA-20EF-994D-ACA9-701455A1E308}" type="datetimeFigureOut">
              <a:rPr lang="en-US" smtClean="0"/>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470CE-864D-3C44-B4A8-F0B6E7A31342}" type="slidenum">
              <a:rPr lang="en-US" smtClean="0"/>
              <a:t>‹#›</a:t>
            </a:fld>
            <a:endParaRPr lang="en-US"/>
          </a:p>
        </p:txBody>
      </p:sp>
    </p:spTree>
    <p:extLst>
      <p:ext uri="{BB962C8B-B14F-4D97-AF65-F5344CB8AC3E}">
        <p14:creationId xmlns:p14="http://schemas.microsoft.com/office/powerpoint/2010/main" val="14558149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99639DA-20EF-994D-ACA9-701455A1E308}" type="datetimeFigureOut">
              <a:rPr lang="en-US" smtClean="0"/>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470CE-864D-3C44-B4A8-F0B6E7A31342}" type="slidenum">
              <a:rPr lang="en-US" smtClean="0"/>
              <a:t>‹#›</a:t>
            </a:fld>
            <a:endParaRPr lang="en-US"/>
          </a:p>
        </p:txBody>
      </p:sp>
    </p:spTree>
    <p:extLst>
      <p:ext uri="{BB962C8B-B14F-4D97-AF65-F5344CB8AC3E}">
        <p14:creationId xmlns:p14="http://schemas.microsoft.com/office/powerpoint/2010/main" val="38806709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068C928-7777-B146-8309-AFD9ABC8A05E}" type="datetimeFigureOut">
              <a:rPr lang="en-US" smtClean="0"/>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13E871-1AD0-CE4B-A62B-C63BC4A0D340}" type="slidenum">
              <a:rPr lang="en-US" smtClean="0"/>
              <a:t>‹#›</a:t>
            </a:fld>
            <a:endParaRPr lang="en-US"/>
          </a:p>
        </p:txBody>
      </p:sp>
    </p:spTree>
    <p:extLst>
      <p:ext uri="{BB962C8B-B14F-4D97-AF65-F5344CB8AC3E}">
        <p14:creationId xmlns:p14="http://schemas.microsoft.com/office/powerpoint/2010/main" val="92111024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068C928-7777-B146-8309-AFD9ABC8A05E}" type="datetimeFigureOut">
              <a:rPr lang="en-US" smtClean="0"/>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13E871-1AD0-CE4B-A62B-C63BC4A0D340}" type="slidenum">
              <a:rPr lang="en-US" smtClean="0"/>
              <a:t>‹#›</a:t>
            </a:fld>
            <a:endParaRPr lang="en-US"/>
          </a:p>
        </p:txBody>
      </p:sp>
    </p:spTree>
    <p:extLst>
      <p:ext uri="{BB962C8B-B14F-4D97-AF65-F5344CB8AC3E}">
        <p14:creationId xmlns:p14="http://schemas.microsoft.com/office/powerpoint/2010/main" val="18318710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068C928-7777-B146-8309-AFD9ABC8A05E}" type="datetimeFigureOut">
              <a:rPr lang="en-US" smtClean="0"/>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13E871-1AD0-CE4B-A62B-C63BC4A0D340}" type="slidenum">
              <a:rPr lang="en-US" smtClean="0"/>
              <a:t>‹#›</a:t>
            </a:fld>
            <a:endParaRPr lang="en-US"/>
          </a:p>
        </p:txBody>
      </p:sp>
    </p:spTree>
    <p:extLst>
      <p:ext uri="{BB962C8B-B14F-4D97-AF65-F5344CB8AC3E}">
        <p14:creationId xmlns:p14="http://schemas.microsoft.com/office/powerpoint/2010/main" val="184189109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1068C928-7777-B146-8309-AFD9ABC8A05E}" type="datetimeFigureOut">
              <a:rPr lang="en-US" smtClean="0"/>
              <a:t>5/9/2025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13E871-1AD0-CE4B-A62B-C63BC4A0D340}" type="slidenum">
              <a:rPr lang="en-US" smtClean="0"/>
              <a:t>‹#›</a:t>
            </a:fld>
            <a:endParaRPr lang="en-US"/>
          </a:p>
        </p:txBody>
      </p:sp>
    </p:spTree>
    <p:extLst>
      <p:ext uri="{BB962C8B-B14F-4D97-AF65-F5344CB8AC3E}">
        <p14:creationId xmlns:p14="http://schemas.microsoft.com/office/powerpoint/2010/main" val="803555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1068C928-7777-B146-8309-AFD9ABC8A05E}" type="datetimeFigureOut">
              <a:rPr lang="en-US" smtClean="0"/>
              <a:t>5/9/2025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13E871-1AD0-CE4B-A62B-C63BC4A0D340}" type="slidenum">
              <a:rPr lang="en-US" smtClean="0"/>
              <a:t>‹#›</a:t>
            </a:fld>
            <a:endParaRPr lang="en-US"/>
          </a:p>
        </p:txBody>
      </p:sp>
    </p:spTree>
    <p:extLst>
      <p:ext uri="{BB962C8B-B14F-4D97-AF65-F5344CB8AC3E}">
        <p14:creationId xmlns:p14="http://schemas.microsoft.com/office/powerpoint/2010/main" val="42143230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1068C928-7777-B146-8309-AFD9ABC8A05E}" type="datetimeFigureOut">
              <a:rPr lang="en-US" smtClean="0"/>
              <a:t>5/9/2025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13E871-1AD0-CE4B-A62B-C63BC4A0D340}" type="slidenum">
              <a:rPr lang="en-US" smtClean="0"/>
              <a:t>‹#›</a:t>
            </a:fld>
            <a:endParaRPr lang="en-US"/>
          </a:p>
        </p:txBody>
      </p:sp>
    </p:spTree>
    <p:extLst>
      <p:ext uri="{BB962C8B-B14F-4D97-AF65-F5344CB8AC3E}">
        <p14:creationId xmlns:p14="http://schemas.microsoft.com/office/powerpoint/2010/main" val="392114623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68C928-7777-B146-8309-AFD9ABC8A05E}" type="datetimeFigureOut">
              <a:rPr lang="en-US" smtClean="0"/>
              <a:t>5/9/2025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F13E871-1AD0-CE4B-A62B-C63BC4A0D340}" type="slidenum">
              <a:rPr lang="en-US" smtClean="0"/>
              <a:t>‹#›</a:t>
            </a:fld>
            <a:endParaRPr lang="en-US"/>
          </a:p>
        </p:txBody>
      </p:sp>
    </p:spTree>
    <p:extLst>
      <p:ext uri="{BB962C8B-B14F-4D97-AF65-F5344CB8AC3E}">
        <p14:creationId xmlns:p14="http://schemas.microsoft.com/office/powerpoint/2010/main" val="15596106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068C928-7777-B146-8309-AFD9ABC8A05E}" type="datetimeFigureOut">
              <a:rPr lang="en-US" smtClean="0"/>
              <a:t>5/9/2025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13E871-1AD0-CE4B-A62B-C63BC4A0D340}" type="slidenum">
              <a:rPr lang="en-US" smtClean="0"/>
              <a:t>‹#›</a:t>
            </a:fld>
            <a:endParaRPr lang="en-US"/>
          </a:p>
        </p:txBody>
      </p:sp>
    </p:spTree>
    <p:extLst>
      <p:ext uri="{BB962C8B-B14F-4D97-AF65-F5344CB8AC3E}">
        <p14:creationId xmlns:p14="http://schemas.microsoft.com/office/powerpoint/2010/main" val="148329130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068C928-7777-B146-8309-AFD9ABC8A05E}" type="datetimeFigureOut">
              <a:rPr lang="en-US" smtClean="0"/>
              <a:t>5/9/2025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13E871-1AD0-CE4B-A62B-C63BC4A0D340}" type="slidenum">
              <a:rPr lang="en-US" smtClean="0"/>
              <a:t>‹#›</a:t>
            </a:fld>
            <a:endParaRPr lang="en-US"/>
          </a:p>
        </p:txBody>
      </p:sp>
    </p:spTree>
    <p:extLst>
      <p:ext uri="{BB962C8B-B14F-4D97-AF65-F5344CB8AC3E}">
        <p14:creationId xmlns:p14="http://schemas.microsoft.com/office/powerpoint/2010/main" val="207307173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068C928-7777-B146-8309-AFD9ABC8A05E}" type="datetimeFigureOut">
              <a:rPr lang="en-US" smtClean="0"/>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13E871-1AD0-CE4B-A62B-C63BC4A0D340}" type="slidenum">
              <a:rPr lang="en-US" smtClean="0"/>
              <a:t>‹#›</a:t>
            </a:fld>
            <a:endParaRPr lang="en-US"/>
          </a:p>
        </p:txBody>
      </p:sp>
    </p:spTree>
    <p:extLst>
      <p:ext uri="{BB962C8B-B14F-4D97-AF65-F5344CB8AC3E}">
        <p14:creationId xmlns:p14="http://schemas.microsoft.com/office/powerpoint/2010/main" val="321301363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068C928-7777-B146-8309-AFD9ABC8A05E}" type="datetimeFigureOut">
              <a:rPr lang="en-US" smtClean="0"/>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13E871-1AD0-CE4B-A62B-C63BC4A0D340}" type="slidenum">
              <a:rPr lang="en-US" smtClean="0"/>
              <a:t>‹#›</a:t>
            </a:fld>
            <a:endParaRPr lang="en-US"/>
          </a:p>
        </p:txBody>
      </p:sp>
    </p:spTree>
    <p:extLst>
      <p:ext uri="{BB962C8B-B14F-4D97-AF65-F5344CB8AC3E}">
        <p14:creationId xmlns:p14="http://schemas.microsoft.com/office/powerpoint/2010/main" val="13181137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1068C928-7777-B146-8309-AFD9ABC8A05E}" type="datetimeFigureOut">
              <a:rPr lang="en-US" smtClean="0"/>
              <a:t>5/9/2025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13E871-1AD0-CE4B-A62B-C63BC4A0D340}" type="slidenum">
              <a:rPr lang="en-US" smtClean="0"/>
              <a:t>‹#›</a:t>
            </a:fld>
            <a:endParaRPr lang="en-US"/>
          </a:p>
        </p:txBody>
      </p:sp>
    </p:spTree>
    <p:extLst>
      <p:ext uri="{BB962C8B-B14F-4D97-AF65-F5344CB8AC3E}">
        <p14:creationId xmlns:p14="http://schemas.microsoft.com/office/powerpoint/2010/main" val="3781633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theme" Target="../theme/theme4.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6"/>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8" name="Text Placeholder 7"/>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13805247"/>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txStyles>
    <p:titleStyle>
      <a:lvl1pPr algn="l" defTabSz="457200" rtl="0" eaLnBrk="1" latinLnBrk="0" hangingPunct="1">
        <a:spcBef>
          <a:spcPct val="0"/>
        </a:spcBef>
        <a:buNone/>
        <a:defRPr sz="4400" b="0" i="0" kern="1200">
          <a:solidFill>
            <a:schemeClr val="tx1"/>
          </a:solidFill>
          <a:latin typeface="Helvetica Neue Light"/>
          <a:ea typeface="+mj-ea"/>
          <a:cs typeface="Helvetica Neue Light"/>
        </a:defRPr>
      </a:lvl1pPr>
    </p:titleStyle>
    <p:bodyStyle>
      <a:lvl1pPr marL="342900" indent="-342900" algn="l" defTabSz="457200" rtl="0" eaLnBrk="1" latinLnBrk="0" hangingPunct="1">
        <a:spcBef>
          <a:spcPct val="20000"/>
        </a:spcBef>
        <a:buFont typeface="Arial"/>
        <a:buChar char="•"/>
        <a:defRPr sz="3200" b="0" i="0" kern="1200">
          <a:solidFill>
            <a:schemeClr val="bg1">
              <a:lumMod val="50000"/>
            </a:schemeClr>
          </a:solidFill>
          <a:latin typeface="Helvetica Neue Light"/>
          <a:ea typeface="+mn-ea"/>
          <a:cs typeface="Helvetica Neue Light"/>
        </a:defRPr>
      </a:lvl1pPr>
      <a:lvl2pPr marL="742950" indent="-285750" algn="l" defTabSz="457200" rtl="0" eaLnBrk="1" latinLnBrk="0" hangingPunct="1">
        <a:spcBef>
          <a:spcPct val="20000"/>
        </a:spcBef>
        <a:buFont typeface="Arial"/>
        <a:buChar char="•"/>
        <a:defRPr sz="2800" b="0" i="0" kern="1200">
          <a:solidFill>
            <a:schemeClr val="bg1">
              <a:lumMod val="50000"/>
            </a:schemeClr>
          </a:solidFill>
          <a:latin typeface="Helvetica Neue Light"/>
          <a:ea typeface="+mn-ea"/>
          <a:cs typeface="Helvetica Neue Light"/>
        </a:defRPr>
      </a:lvl2pPr>
      <a:lvl3pPr marL="1143000" indent="-228600" algn="l" defTabSz="457200" rtl="0" eaLnBrk="1" latinLnBrk="0" hangingPunct="1">
        <a:spcBef>
          <a:spcPct val="20000"/>
        </a:spcBef>
        <a:buFont typeface="Arial"/>
        <a:buChar char="•"/>
        <a:defRPr sz="2400" b="0" i="0" kern="1200">
          <a:solidFill>
            <a:schemeClr val="bg1">
              <a:lumMod val="50000"/>
            </a:schemeClr>
          </a:solidFill>
          <a:latin typeface="Helvetica Neue Light"/>
          <a:ea typeface="+mn-ea"/>
          <a:cs typeface="Helvetica Neue Light"/>
        </a:defRPr>
      </a:lvl3pPr>
      <a:lvl4pPr marL="1600200" indent="-228600" algn="l" defTabSz="457200" rtl="0" eaLnBrk="1" latinLnBrk="0" hangingPunct="1">
        <a:spcBef>
          <a:spcPct val="20000"/>
        </a:spcBef>
        <a:buFont typeface="Arial"/>
        <a:buChar char="•"/>
        <a:defRPr sz="2000" b="0" i="0" kern="1200">
          <a:solidFill>
            <a:schemeClr val="bg1">
              <a:lumMod val="50000"/>
            </a:schemeClr>
          </a:solidFill>
          <a:latin typeface="Helvetica Neue Light"/>
          <a:ea typeface="+mn-ea"/>
          <a:cs typeface="Helvetica Neue Light"/>
        </a:defRPr>
      </a:lvl4pPr>
      <a:lvl5pPr marL="2057400" indent="-228600" algn="l" defTabSz="457200" rtl="0" eaLnBrk="1" latinLnBrk="0" hangingPunct="1">
        <a:spcBef>
          <a:spcPct val="20000"/>
        </a:spcBef>
        <a:buFont typeface="Arial"/>
        <a:buChar char="•"/>
        <a:defRPr sz="2000" b="0" i="0" kern="1200">
          <a:solidFill>
            <a:schemeClr val="bg1">
              <a:lumMod val="50000"/>
            </a:schemeClr>
          </a:solidFill>
          <a:latin typeface="Helvetica Neue Light"/>
          <a:ea typeface="+mn-ea"/>
          <a:cs typeface="Helvetica Neue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05246A-8616-4640-8C9D-DBD24739C6AD}" type="datetimeFigureOut">
              <a:rPr lang="en-US" smtClean="0"/>
              <a:t>5/9/2025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E81607-2480-C64A-AE0D-BFA7CF573C66}" type="slidenum">
              <a:rPr lang="en-US" smtClean="0"/>
              <a:t>‹#›</a:t>
            </a:fld>
            <a:endParaRPr lang="en-US"/>
          </a:p>
        </p:txBody>
      </p:sp>
    </p:spTree>
    <p:extLst>
      <p:ext uri="{BB962C8B-B14F-4D97-AF65-F5344CB8AC3E}">
        <p14:creationId xmlns:p14="http://schemas.microsoft.com/office/powerpoint/2010/main" val="32105280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9639DA-20EF-994D-ACA9-701455A1E308}" type="datetimeFigureOut">
              <a:rPr lang="en-US" smtClean="0"/>
              <a:t>5/9/2025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5470CE-864D-3C44-B4A8-F0B6E7A31342}" type="slidenum">
              <a:rPr lang="en-US" smtClean="0"/>
              <a:t>‹#›</a:t>
            </a:fld>
            <a:endParaRPr lang="en-US"/>
          </a:p>
        </p:txBody>
      </p:sp>
    </p:spTree>
    <p:extLst>
      <p:ext uri="{BB962C8B-B14F-4D97-AF65-F5344CB8AC3E}">
        <p14:creationId xmlns:p14="http://schemas.microsoft.com/office/powerpoint/2010/main" val="107280181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68C928-7777-B146-8309-AFD9ABC8A05E}" type="datetimeFigureOut">
              <a:rPr lang="en-US" smtClean="0"/>
              <a:t>5/9/2025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13E871-1AD0-CE4B-A62B-C63BC4A0D340}" type="slidenum">
              <a:rPr lang="en-US" smtClean="0"/>
              <a:t>‹#›</a:t>
            </a:fld>
            <a:endParaRPr lang="en-US"/>
          </a:p>
        </p:txBody>
      </p:sp>
    </p:spTree>
    <p:extLst>
      <p:ext uri="{BB962C8B-B14F-4D97-AF65-F5344CB8AC3E}">
        <p14:creationId xmlns:p14="http://schemas.microsoft.com/office/powerpoint/2010/main" val="272626546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w3schools.com/js/js_variables.asp"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w3schools.com/js/js_es6.asp"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freecodecamp.org/news/understanding-let-const-and-var-keywords/" TargetMode="External"/><Relationship Id="rId2" Type="http://schemas.openxmlformats.org/officeDocument/2006/relationships/hyperlink" Target="https://www.w3schools.com/js/js_es6.asp"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hyperlink" Target="https://www.w3schools.com/js/js_strings.asp"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www.w3schools.com/js/js_datatypes.asp" TargetMode="Externa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hyperlink" Target="http://www.w3schools.com/jsref/jsref_obj_boolean.asp"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hyperlink" Target="https://en.wikipedia.org/wiki/Camel_case" TargetMode="External"/><Relationship Id="rId2" Type="http://schemas.openxmlformats.org/officeDocument/2006/relationships/hyperlink" Target="http://www.w3schools.com/js/js_reserved.asp"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4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4.png"/><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5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5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4.png"/><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4.png"/><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5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54.png"/></Relationships>
</file>

<file path=ppt/slides/_rels/slide5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94148" y="2144807"/>
            <a:ext cx="8092651" cy="1470025"/>
          </a:xfrm>
        </p:spPr>
        <p:txBody>
          <a:bodyPr>
            <a:normAutofit fontScale="90000"/>
          </a:bodyPr>
          <a:lstStyle/>
          <a:p>
            <a:pPr>
              <a:lnSpc>
                <a:spcPct val="120000"/>
              </a:lnSpc>
            </a:pPr>
            <a:r>
              <a:rPr lang="en-GB" spc="600" noProof="0" dirty="0"/>
              <a:t>Variables,</a:t>
            </a:r>
            <a:br>
              <a:rPr lang="en-GB" spc="600" noProof="0" dirty="0"/>
            </a:br>
            <a:r>
              <a:rPr lang="en-GB" spc="600" noProof="0" dirty="0"/>
              <a:t>Functions and Methods</a:t>
            </a:r>
            <a:endParaRPr lang="en-GB" sz="1800" noProof="0" dirty="0">
              <a:solidFill>
                <a:schemeClr val="bg1">
                  <a:lumMod val="50000"/>
                </a:schemeClr>
              </a:solidFill>
            </a:endParaRPr>
          </a:p>
        </p:txBody>
      </p:sp>
      <p:sp>
        <p:nvSpPr>
          <p:cNvPr id="3" name="Subtitle 2"/>
          <p:cNvSpPr>
            <a:spLocks noGrp="1"/>
          </p:cNvSpPr>
          <p:nvPr>
            <p:ph type="subTitle" idx="1"/>
          </p:nvPr>
        </p:nvSpPr>
        <p:spPr>
          <a:xfrm>
            <a:off x="607242" y="3844190"/>
            <a:ext cx="6400800" cy="1752600"/>
          </a:xfrm>
        </p:spPr>
        <p:txBody>
          <a:bodyPr/>
          <a:lstStyle/>
          <a:p>
            <a:pPr algn="l"/>
            <a:r>
              <a:rPr lang="en-GB" sz="2000" noProof="0" dirty="0">
                <a:solidFill>
                  <a:schemeClr val="bg1">
                    <a:lumMod val="50000"/>
                  </a:schemeClr>
                </a:solidFill>
              </a:rPr>
              <a:t>Matt Prichard</a:t>
            </a:r>
          </a:p>
          <a:p>
            <a:endParaRPr lang="en-GB" noProof="0" dirty="0"/>
          </a:p>
        </p:txBody>
      </p:sp>
      <p:cxnSp>
        <p:nvCxnSpPr>
          <p:cNvPr id="5" name="Straight Connector 4">
            <a:extLst>
              <a:ext uri="{C183D7F6-B498-43B3-948B-1728B52AA6E4}">
                <adec:decorative xmlns:adec="http://schemas.microsoft.com/office/drawing/2017/decorative" val="1"/>
              </a:ext>
            </a:extLst>
          </p:cNvPr>
          <p:cNvCxnSpPr/>
          <p:nvPr/>
        </p:nvCxnSpPr>
        <p:spPr>
          <a:xfrm>
            <a:off x="457200" y="3566136"/>
            <a:ext cx="8229600"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4" name="Picture 3" descr="A yellow and black logo"/>
          <p:cNvPicPr>
            <a:picLocks noChangeAspect="1"/>
          </p:cNvPicPr>
          <p:nvPr/>
        </p:nvPicPr>
        <p:blipFill>
          <a:blip r:embed="rId2"/>
          <a:stretch>
            <a:fillRect/>
          </a:stretch>
        </p:blipFill>
        <p:spPr>
          <a:xfrm>
            <a:off x="6236403" y="265825"/>
            <a:ext cx="2577546" cy="2577546"/>
          </a:xfrm>
          <a:prstGeom prst="rect">
            <a:avLst/>
          </a:prstGeom>
        </p:spPr>
      </p:pic>
    </p:spTree>
    <p:extLst>
      <p:ext uri="{BB962C8B-B14F-4D97-AF65-F5344CB8AC3E}">
        <p14:creationId xmlns:p14="http://schemas.microsoft.com/office/powerpoint/2010/main" val="4123854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5024" y="579945"/>
            <a:ext cx="8049246" cy="5052665"/>
          </a:xfrm>
          <a:prstGeom prst="rect">
            <a:avLst/>
          </a:prstGeom>
        </p:spPr>
        <p:txBody>
          <a:bodyPr vert="horz" wrap="square" lIns="0" tIns="0" rIns="0" bIns="0" rtlCol="0">
            <a:spAutoFit/>
          </a:bodyPr>
          <a:lstStyle/>
          <a:p>
            <a:pPr marL="12700">
              <a:lnSpc>
                <a:spcPct val="150000"/>
              </a:lnSpc>
            </a:pPr>
            <a:r>
              <a:rPr lang="en-GB" sz="2200" spc="5" noProof="0" dirty="0"/>
              <a:t>I am assuming you understand the very basics of programming from term 1 Python.</a:t>
            </a:r>
            <a:br>
              <a:rPr lang="en-GB" sz="2200" spc="5" noProof="0" dirty="0"/>
            </a:br>
            <a:r>
              <a:rPr lang="en-GB" sz="2200" spc="5" noProof="0" dirty="0"/>
              <a:t>We will be re-covering some of the same concepts but in a different language, JavaScript.</a:t>
            </a:r>
            <a:br>
              <a:rPr lang="en-GB" sz="2200" spc="5" noProof="0" dirty="0"/>
            </a:br>
            <a:r>
              <a:rPr lang="en-GB" sz="2200" spc="5" noProof="0" dirty="0"/>
              <a:t>I will be making some assumptions about your knowledge but stop me if something is unclear.</a:t>
            </a:r>
            <a:br>
              <a:rPr lang="en-GB" sz="2200" spc="5" noProof="0" dirty="0"/>
            </a:br>
            <a:br>
              <a:rPr lang="en-GB" sz="2200" spc="5" noProof="0" dirty="0"/>
            </a:br>
            <a:r>
              <a:rPr lang="en-GB" sz="2200" spc="5" noProof="0" dirty="0"/>
              <a:t>The main difference between the languages at entry level are to do with syntax, the broad concepts are very similar though.</a:t>
            </a:r>
            <a:br>
              <a:rPr lang="en-GB" sz="2400" spc="5" noProof="0" dirty="0"/>
            </a:br>
            <a:endParaRPr lang="en-GB" sz="2400" noProof="0" dirty="0"/>
          </a:p>
        </p:txBody>
      </p:sp>
    </p:spTree>
    <p:extLst>
      <p:ext uri="{BB962C8B-B14F-4D97-AF65-F5344CB8AC3E}">
        <p14:creationId xmlns:p14="http://schemas.microsoft.com/office/powerpoint/2010/main" val="3760430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EC52A-2EF9-4E18-F669-D384795C726B}"/>
              </a:ext>
            </a:extLst>
          </p:cNvPr>
          <p:cNvSpPr>
            <a:spLocks noGrp="1"/>
          </p:cNvSpPr>
          <p:nvPr>
            <p:ph type="title"/>
          </p:nvPr>
        </p:nvSpPr>
        <p:spPr/>
        <p:txBody>
          <a:bodyPr/>
          <a:lstStyle/>
          <a:p>
            <a:endParaRPr lang="en-GB" noProof="0" dirty="0"/>
          </a:p>
        </p:txBody>
      </p:sp>
      <p:pic>
        <p:nvPicPr>
          <p:cNvPr id="1026" name="Picture 2">
            <a:extLst>
              <a:ext uri="{FF2B5EF4-FFF2-40B4-BE49-F238E27FC236}">
                <a16:creationId xmlns:a16="http://schemas.microsoft.com/office/drawing/2014/main" id="{9AD76886-6AA1-F070-0750-AFAA61C7AE64}"/>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0975"/>
            <a:ext cx="9144000" cy="649446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9EAEBC96-DDDB-6159-749A-58D682DF82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187962" y="414670"/>
            <a:ext cx="4768075" cy="5814925"/>
          </a:xfrm>
          <a:prstGeom prst="rect">
            <a:avLst/>
          </a:prstGeom>
          <a:ln w="25400">
            <a:solidFill>
              <a:srgbClr val="FFC000"/>
            </a:solidFill>
          </a:ln>
        </p:spPr>
      </p:pic>
      <p:sp>
        <p:nvSpPr>
          <p:cNvPr id="4" name="TextBox 3">
            <a:extLst>
              <a:ext uri="{FF2B5EF4-FFF2-40B4-BE49-F238E27FC236}">
                <a16:creationId xmlns:a16="http://schemas.microsoft.com/office/drawing/2014/main" id="{F98CFF2F-C073-9099-39D0-ACB1EA8FD46A}"/>
              </a:ext>
              <a:ext uri="{C183D7F6-B498-43B3-948B-1728B52AA6E4}">
                <adec:decorative xmlns:adec="http://schemas.microsoft.com/office/drawing/2017/decorative" val="1"/>
              </a:ext>
            </a:extLst>
          </p:cNvPr>
          <p:cNvSpPr txBox="1"/>
          <p:nvPr/>
        </p:nvSpPr>
        <p:spPr>
          <a:xfrm>
            <a:off x="7666074" y="-531628"/>
            <a:ext cx="184731" cy="369332"/>
          </a:xfrm>
          <a:prstGeom prst="rect">
            <a:avLst/>
          </a:prstGeom>
          <a:noFill/>
        </p:spPr>
        <p:txBody>
          <a:bodyPr wrap="none" rtlCol="0">
            <a:spAutoFit/>
          </a:bodyPr>
          <a:lstStyle/>
          <a:p>
            <a:endParaRPr lang="en-GB" noProof="0" dirty="0"/>
          </a:p>
        </p:txBody>
      </p:sp>
    </p:spTree>
    <p:extLst>
      <p:ext uri="{BB962C8B-B14F-4D97-AF65-F5344CB8AC3E}">
        <p14:creationId xmlns:p14="http://schemas.microsoft.com/office/powerpoint/2010/main" val="1868648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A4E74-7A7F-5A90-08F4-CCB638152A3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A2404B2-49CF-E161-EA54-8B1E990A1865}"/>
              </a:ext>
            </a:extLst>
          </p:cNvPr>
          <p:cNvSpPr txBox="1">
            <a:spLocks noGrp="1"/>
          </p:cNvSpPr>
          <p:nvPr>
            <p:ph type="title"/>
          </p:nvPr>
        </p:nvSpPr>
        <p:spPr>
          <a:xfrm>
            <a:off x="2104848" y="2438463"/>
            <a:ext cx="5048368" cy="1485900"/>
          </a:xfrm>
          <a:prstGeom prst="rect">
            <a:avLst/>
          </a:prstGeom>
        </p:spPr>
        <p:txBody>
          <a:bodyPr vert="horz" wrap="square" lIns="0" tIns="0" rIns="0" bIns="0" rtlCol="0">
            <a:spAutoFit/>
          </a:bodyPr>
          <a:lstStyle/>
          <a:p>
            <a:pPr marL="12700">
              <a:lnSpc>
                <a:spcPct val="100000"/>
              </a:lnSpc>
            </a:pPr>
            <a:r>
              <a:rPr lang="en-GB" sz="9600" spc="5" noProof="0" dirty="0"/>
              <a:t>Variables</a:t>
            </a:r>
            <a:endParaRPr lang="en-GB" sz="9600" noProof="0" dirty="0"/>
          </a:p>
        </p:txBody>
      </p:sp>
    </p:spTree>
    <p:extLst>
      <p:ext uri="{BB962C8B-B14F-4D97-AF65-F5344CB8AC3E}">
        <p14:creationId xmlns:p14="http://schemas.microsoft.com/office/powerpoint/2010/main" val="1664117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object 20"/>
          <p:cNvSpPr txBox="1">
            <a:spLocks noGrp="1"/>
          </p:cNvSpPr>
          <p:nvPr>
            <p:ph type="title" idx="4294967295"/>
          </p:nvPr>
        </p:nvSpPr>
        <p:spPr>
          <a:xfrm>
            <a:off x="688340" y="2392362"/>
            <a:ext cx="7618095" cy="133540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2700" marR="220345" lvl="0" indent="0" algn="l" defTabSz="457200" rtl="0" eaLnBrk="1" fontAlgn="auto" latinLnBrk="0" hangingPunct="1">
              <a:lnSpc>
                <a:spcPts val="5200"/>
              </a:lnSpc>
              <a:spcBef>
                <a:spcPts val="0"/>
              </a:spcBef>
              <a:spcAft>
                <a:spcPts val="0"/>
              </a:spcAft>
              <a:buClrTx/>
              <a:buSzTx/>
              <a:buFontTx/>
              <a:buNone/>
              <a:tabLst>
                <a:tab pos="1353820" algn="l"/>
                <a:tab pos="4707255" algn="l"/>
              </a:tabLst>
              <a:defRPr/>
            </a:pPr>
            <a:r>
              <a:rPr kumimoji="0" lang="en-GB" sz="4400" b="0" i="0" u="none" strike="noStrike" kern="1200" cap="none" spc="0" normalizeH="0" baseline="0" noProof="0" dirty="0">
                <a:ln>
                  <a:noFill/>
                </a:ln>
                <a:solidFill>
                  <a:schemeClr val="bg1">
                    <a:lumMod val="50000"/>
                  </a:schemeClr>
                </a:solidFill>
                <a:effectLst/>
                <a:uLnTx/>
                <a:uFillTx/>
                <a:latin typeface="Courier New"/>
                <a:ea typeface="+mn-ea"/>
                <a:cs typeface="Courier New"/>
              </a:rPr>
              <a:t>var	</a:t>
            </a:r>
            <a:r>
              <a:rPr kumimoji="0" lang="en-GB" sz="4400" b="0" i="0" u="none" strike="noStrike" kern="1200" cap="none" spc="-5" normalizeH="0" baseline="0" noProof="0" dirty="0">
                <a:ln>
                  <a:noFill/>
                </a:ln>
                <a:solidFill>
                  <a:schemeClr val="bg1">
                    <a:lumMod val="50000"/>
                  </a:schemeClr>
                </a:solidFill>
                <a:effectLst/>
                <a:uLnTx/>
                <a:uFillTx/>
                <a:latin typeface="Courier New"/>
                <a:ea typeface="+mn-ea"/>
                <a:cs typeface="Courier New"/>
              </a:rPr>
              <a:t>messag</a:t>
            </a:r>
            <a:r>
              <a:rPr kumimoji="0" lang="en-GB" sz="4400" b="0" i="0" u="none" strike="noStrike" kern="1200" cap="none" spc="0" normalizeH="0" baseline="0" noProof="0" dirty="0">
                <a:ln>
                  <a:noFill/>
                </a:ln>
                <a:solidFill>
                  <a:schemeClr val="bg1">
                    <a:lumMod val="50000"/>
                  </a:schemeClr>
                </a:solidFill>
                <a:effectLst/>
                <a:uLnTx/>
                <a:uFillTx/>
                <a:latin typeface="Courier New"/>
                <a:ea typeface="+mn-ea"/>
                <a:cs typeface="Courier New"/>
              </a:rPr>
              <a:t>e =	</a:t>
            </a:r>
            <a:r>
              <a:rPr kumimoji="0" lang="en-GB" sz="4400" b="0" i="0" u="none" strike="noStrike" kern="1200" cap="none" spc="-5" normalizeH="0" baseline="0" noProof="0" dirty="0">
                <a:ln>
                  <a:noFill/>
                </a:ln>
                <a:solidFill>
                  <a:schemeClr val="bg1">
                    <a:lumMod val="50000"/>
                  </a:schemeClr>
                </a:solidFill>
                <a:effectLst/>
                <a:uLnTx/>
                <a:uFillTx/>
                <a:latin typeface="Courier New"/>
                <a:ea typeface="+mn-ea"/>
                <a:cs typeface="Courier New"/>
              </a:rPr>
              <a:t>“Hello”;  console.log(message);</a:t>
            </a:r>
            <a:endParaRPr kumimoji="0" lang="en-GB" sz="4400" b="0" i="0" u="none" strike="noStrike" kern="1200" cap="none" spc="0" normalizeH="0" baseline="0" noProof="0" dirty="0">
              <a:ln>
                <a:noFill/>
              </a:ln>
              <a:solidFill>
                <a:schemeClr val="bg1">
                  <a:lumMod val="50000"/>
                </a:schemeClr>
              </a:solidFill>
              <a:effectLst/>
              <a:uLnTx/>
              <a:uFillTx/>
              <a:latin typeface="Courier New"/>
              <a:ea typeface="+mn-ea"/>
              <a:cs typeface="Courier New"/>
            </a:endParaRPr>
          </a:p>
        </p:txBody>
      </p:sp>
      <p:sp>
        <p:nvSpPr>
          <p:cNvPr id="22" name="Rounded Rectangular Callout 21"/>
          <p:cNvSpPr/>
          <p:nvPr/>
        </p:nvSpPr>
        <p:spPr>
          <a:xfrm>
            <a:off x="482137" y="405677"/>
            <a:ext cx="3081512" cy="1238114"/>
          </a:xfrm>
          <a:prstGeom prst="wedgeRoundRectCallout">
            <a:avLst>
              <a:gd name="adj1" fmla="val -22131"/>
              <a:gd name="adj2" fmla="val 126261"/>
              <a:gd name="adj3" fmla="val 16667"/>
            </a:avLst>
          </a:prstGeom>
          <a:gradFill flip="none" rotWithShape="1">
            <a:gsLst>
              <a:gs pos="0">
                <a:schemeClr val="dk1">
                  <a:tint val="50000"/>
                  <a:satMod val="300000"/>
                  <a:alpha val="31000"/>
                </a:schemeClr>
              </a:gs>
              <a:gs pos="35000">
                <a:schemeClr val="dk1">
                  <a:tint val="37000"/>
                  <a:satMod val="300000"/>
                  <a:alpha val="31000"/>
                </a:schemeClr>
              </a:gs>
              <a:gs pos="100000">
                <a:schemeClr val="dk1">
                  <a:tint val="15000"/>
                  <a:satMod val="350000"/>
                  <a:alpha val="31000"/>
                </a:schemeClr>
              </a:gs>
            </a:gsLst>
            <a:lin ang="16200000" scaled="1"/>
            <a:tileRect/>
          </a:gradFill>
        </p:spPr>
        <p:style>
          <a:lnRef idx="1">
            <a:schemeClr val="dk1"/>
          </a:lnRef>
          <a:fillRef idx="2">
            <a:schemeClr val="dk1"/>
          </a:fillRef>
          <a:effectRef idx="1">
            <a:schemeClr val="dk1"/>
          </a:effectRef>
          <a:fontRef idx="minor">
            <a:schemeClr val="dk1"/>
          </a:fontRef>
        </p:style>
        <p:txBody>
          <a:bodyPr rtlCol="0" anchor="ctr"/>
          <a:lstStyle/>
          <a:p>
            <a:pPr>
              <a:lnSpc>
                <a:spcPct val="130000"/>
              </a:lnSpc>
            </a:pPr>
            <a:r>
              <a:rPr lang="en-GB" sz="2400" spc="-25" noProof="0" dirty="0">
                <a:solidFill>
                  <a:schemeClr val="tx1"/>
                </a:solidFill>
                <a:latin typeface="Helvetica Neue Light"/>
                <a:cs typeface="Helvetica Neue Light"/>
              </a:rPr>
              <a:t>Tells </a:t>
            </a:r>
            <a:r>
              <a:rPr lang="en-GB" sz="2400" spc="35" noProof="0" dirty="0">
                <a:solidFill>
                  <a:schemeClr val="tx1"/>
                </a:solidFill>
                <a:latin typeface="Helvetica Neue Light"/>
                <a:cs typeface="Helvetica Neue Light"/>
              </a:rPr>
              <a:t>JavaScript </a:t>
            </a:r>
            <a:r>
              <a:rPr lang="en-GB" sz="2400" spc="20" noProof="0" dirty="0">
                <a:solidFill>
                  <a:schemeClr val="tx1"/>
                </a:solidFill>
                <a:latin typeface="Helvetica Neue Light"/>
                <a:cs typeface="Helvetica Neue Light"/>
              </a:rPr>
              <a:t>this</a:t>
            </a:r>
            <a:r>
              <a:rPr lang="en-GB" sz="2400" spc="-150" noProof="0" dirty="0">
                <a:solidFill>
                  <a:schemeClr val="tx1"/>
                </a:solidFill>
                <a:latin typeface="Helvetica Neue Light"/>
                <a:cs typeface="Helvetica Neue Light"/>
              </a:rPr>
              <a:t> </a:t>
            </a:r>
            <a:r>
              <a:rPr lang="en-GB" sz="2400" spc="10" noProof="0" dirty="0">
                <a:solidFill>
                  <a:schemeClr val="tx1"/>
                </a:solidFill>
                <a:latin typeface="Helvetica Neue Light"/>
                <a:cs typeface="Helvetica Neue Light"/>
              </a:rPr>
              <a:t>is </a:t>
            </a:r>
            <a:r>
              <a:rPr lang="en-GB" sz="2400" spc="5" noProof="0" dirty="0">
                <a:solidFill>
                  <a:schemeClr val="tx1"/>
                </a:solidFill>
                <a:latin typeface="Helvetica Neue Light"/>
                <a:cs typeface="Helvetica Neue Light"/>
              </a:rPr>
              <a:t>a</a:t>
            </a:r>
            <a:r>
              <a:rPr lang="en-GB" sz="2400" spc="-130" noProof="0" dirty="0">
                <a:solidFill>
                  <a:schemeClr val="tx1"/>
                </a:solidFill>
                <a:latin typeface="Helvetica Neue Light"/>
                <a:cs typeface="Helvetica Neue Light"/>
              </a:rPr>
              <a:t> </a:t>
            </a:r>
            <a:r>
              <a:rPr lang="en-GB" sz="2400" spc="20" noProof="0" dirty="0">
                <a:solidFill>
                  <a:schemeClr val="tx1"/>
                </a:solidFill>
                <a:latin typeface="Helvetica Neue Light"/>
                <a:cs typeface="Helvetica Neue Light"/>
              </a:rPr>
              <a:t>variable</a:t>
            </a:r>
            <a:endParaRPr lang="en-GB" sz="2400" noProof="0" dirty="0">
              <a:solidFill>
                <a:schemeClr val="tx1"/>
              </a:solidFill>
              <a:latin typeface="Helvetica Neue Light"/>
              <a:cs typeface="Helvetica Neue Light"/>
            </a:endParaRPr>
          </a:p>
        </p:txBody>
      </p:sp>
      <p:sp>
        <p:nvSpPr>
          <p:cNvPr id="24" name="Rounded Rectangular Callout 23"/>
          <p:cNvSpPr/>
          <p:nvPr/>
        </p:nvSpPr>
        <p:spPr>
          <a:xfrm>
            <a:off x="3952411" y="405677"/>
            <a:ext cx="4859521" cy="1238114"/>
          </a:xfrm>
          <a:prstGeom prst="wedgeRoundRectCallout">
            <a:avLst>
              <a:gd name="adj1" fmla="val -46439"/>
              <a:gd name="adj2" fmla="val 119982"/>
              <a:gd name="adj3" fmla="val 16667"/>
            </a:avLst>
          </a:prstGeom>
          <a:gradFill flip="none" rotWithShape="1">
            <a:gsLst>
              <a:gs pos="0">
                <a:schemeClr val="dk1">
                  <a:tint val="50000"/>
                  <a:satMod val="300000"/>
                  <a:alpha val="31000"/>
                </a:schemeClr>
              </a:gs>
              <a:gs pos="35000">
                <a:schemeClr val="dk1">
                  <a:tint val="37000"/>
                  <a:satMod val="300000"/>
                  <a:alpha val="31000"/>
                </a:schemeClr>
              </a:gs>
              <a:gs pos="100000">
                <a:schemeClr val="dk1">
                  <a:tint val="15000"/>
                  <a:satMod val="350000"/>
                  <a:alpha val="31000"/>
                </a:schemeClr>
              </a:gs>
            </a:gsLst>
            <a:lin ang="16200000" scaled="1"/>
            <a:tileRect/>
          </a:gradFill>
        </p:spPr>
        <p:style>
          <a:lnRef idx="1">
            <a:schemeClr val="dk1"/>
          </a:lnRef>
          <a:fillRef idx="2">
            <a:schemeClr val="dk1"/>
          </a:fillRef>
          <a:effectRef idx="1">
            <a:schemeClr val="dk1"/>
          </a:effectRef>
          <a:fontRef idx="minor">
            <a:schemeClr val="dk1"/>
          </a:fontRef>
        </p:style>
        <p:txBody>
          <a:bodyPr rtlCol="0" anchor="ctr"/>
          <a:lstStyle/>
          <a:p>
            <a:pPr>
              <a:lnSpc>
                <a:spcPct val="130000"/>
              </a:lnSpc>
            </a:pPr>
            <a:r>
              <a:rPr lang="en-GB" sz="2400" spc="-25" noProof="0" dirty="0">
                <a:solidFill>
                  <a:schemeClr val="tx1"/>
                </a:solidFill>
                <a:latin typeface="Helvetica Neue Light"/>
                <a:cs typeface="Helvetica Neue Light"/>
              </a:rPr>
              <a:t>Variable name (Some are reserved).</a:t>
            </a:r>
          </a:p>
          <a:p>
            <a:pPr>
              <a:lnSpc>
                <a:spcPct val="130000"/>
              </a:lnSpc>
            </a:pPr>
            <a:r>
              <a:rPr lang="en-GB" sz="2400" spc="-25" noProof="0" dirty="0">
                <a:solidFill>
                  <a:schemeClr val="tx1"/>
                </a:solidFill>
                <a:latin typeface="Helvetica Neue Light"/>
                <a:cs typeface="Helvetica Neue Light"/>
              </a:rPr>
              <a:t>Variable names in lowercase</a:t>
            </a:r>
          </a:p>
        </p:txBody>
      </p:sp>
      <p:sp>
        <p:nvSpPr>
          <p:cNvPr id="26" name="Rounded Rectangular Callout 25"/>
          <p:cNvSpPr/>
          <p:nvPr/>
        </p:nvSpPr>
        <p:spPr>
          <a:xfrm>
            <a:off x="688340" y="4580989"/>
            <a:ext cx="3680536" cy="1238114"/>
          </a:xfrm>
          <a:prstGeom prst="wedgeRoundRectCallout">
            <a:avLst>
              <a:gd name="adj1" fmla="val -21779"/>
              <a:gd name="adj2" fmla="val -112361"/>
              <a:gd name="adj3" fmla="val 16667"/>
            </a:avLst>
          </a:prstGeom>
          <a:gradFill flip="none" rotWithShape="1">
            <a:gsLst>
              <a:gs pos="0">
                <a:schemeClr val="dk1">
                  <a:tint val="50000"/>
                  <a:satMod val="300000"/>
                  <a:alpha val="31000"/>
                </a:schemeClr>
              </a:gs>
              <a:gs pos="35000">
                <a:schemeClr val="dk1">
                  <a:tint val="37000"/>
                  <a:satMod val="300000"/>
                  <a:alpha val="31000"/>
                </a:schemeClr>
              </a:gs>
              <a:gs pos="100000">
                <a:schemeClr val="dk1">
                  <a:tint val="15000"/>
                  <a:satMod val="350000"/>
                  <a:alpha val="31000"/>
                </a:schemeClr>
              </a:gs>
            </a:gsLst>
            <a:lin ang="16200000" scaled="1"/>
            <a:tileRect/>
          </a:gradFill>
        </p:spPr>
        <p:style>
          <a:lnRef idx="1">
            <a:schemeClr val="dk1"/>
          </a:lnRef>
          <a:fillRef idx="2">
            <a:schemeClr val="dk1"/>
          </a:fillRef>
          <a:effectRef idx="1">
            <a:schemeClr val="dk1"/>
          </a:effectRef>
          <a:fontRef idx="minor">
            <a:schemeClr val="dk1"/>
          </a:fontRef>
        </p:style>
        <p:txBody>
          <a:bodyPr rtlCol="0" anchor="ctr"/>
          <a:lstStyle/>
          <a:p>
            <a:pPr>
              <a:lnSpc>
                <a:spcPct val="130000"/>
              </a:lnSpc>
            </a:pPr>
            <a:r>
              <a:rPr lang="en-GB" sz="2400" spc="-25" noProof="0" dirty="0">
                <a:solidFill>
                  <a:schemeClr val="tx1"/>
                </a:solidFill>
                <a:latin typeface="Helvetica Neue Light"/>
                <a:cs typeface="Helvetica Neue Light"/>
              </a:rPr>
              <a:t>Outputs the contents of the variable </a:t>
            </a:r>
            <a:r>
              <a:rPr lang="en-GB" sz="2400" i="1" spc="-25" noProof="0" dirty="0">
                <a:solidFill>
                  <a:schemeClr val="tx1"/>
                </a:solidFill>
                <a:latin typeface="Helvetica Neue Light"/>
                <a:cs typeface="Helvetica Neue Light"/>
              </a:rPr>
              <a:t>message</a:t>
            </a:r>
            <a:endParaRPr lang="en-GB" sz="2400" i="1" noProof="0" dirty="0">
              <a:solidFill>
                <a:schemeClr val="tx1"/>
              </a:solidFill>
              <a:latin typeface="Helvetica Neue Light"/>
              <a:cs typeface="Helvetica Neue Light"/>
            </a:endParaRPr>
          </a:p>
        </p:txBody>
      </p:sp>
      <p:sp>
        <p:nvSpPr>
          <p:cNvPr id="28" name="Rounded Rectangular Callout 27"/>
          <p:cNvSpPr/>
          <p:nvPr/>
        </p:nvSpPr>
        <p:spPr>
          <a:xfrm>
            <a:off x="5131396" y="4595761"/>
            <a:ext cx="3680536" cy="1238114"/>
          </a:xfrm>
          <a:prstGeom prst="wedgeRoundRectCallout">
            <a:avLst>
              <a:gd name="adj1" fmla="val 11669"/>
              <a:gd name="adj2" fmla="val -176203"/>
              <a:gd name="adj3" fmla="val 16667"/>
            </a:avLst>
          </a:prstGeom>
          <a:gradFill flip="none" rotWithShape="1">
            <a:gsLst>
              <a:gs pos="0">
                <a:schemeClr val="dk1">
                  <a:tint val="50000"/>
                  <a:satMod val="300000"/>
                  <a:alpha val="31000"/>
                </a:schemeClr>
              </a:gs>
              <a:gs pos="35000">
                <a:schemeClr val="dk1">
                  <a:tint val="37000"/>
                  <a:satMod val="300000"/>
                  <a:alpha val="31000"/>
                </a:schemeClr>
              </a:gs>
              <a:gs pos="100000">
                <a:schemeClr val="dk1">
                  <a:tint val="15000"/>
                  <a:satMod val="350000"/>
                  <a:alpha val="31000"/>
                </a:schemeClr>
              </a:gs>
            </a:gsLst>
            <a:lin ang="16200000" scaled="1"/>
            <a:tileRect/>
          </a:gradFill>
        </p:spPr>
        <p:style>
          <a:lnRef idx="1">
            <a:schemeClr val="dk1"/>
          </a:lnRef>
          <a:fillRef idx="2">
            <a:schemeClr val="dk1"/>
          </a:fillRef>
          <a:effectRef idx="1">
            <a:schemeClr val="dk1"/>
          </a:effectRef>
          <a:fontRef idx="minor">
            <a:schemeClr val="dk1"/>
          </a:fontRef>
        </p:style>
        <p:txBody>
          <a:bodyPr rtlCol="0" anchor="ctr"/>
          <a:lstStyle/>
          <a:p>
            <a:pPr>
              <a:lnSpc>
                <a:spcPct val="130000"/>
              </a:lnSpc>
            </a:pPr>
            <a:r>
              <a:rPr lang="en-GB" sz="2400" spc="-25" noProof="0" dirty="0">
                <a:solidFill>
                  <a:schemeClr val="tx1"/>
                </a:solidFill>
                <a:latin typeface="Helvetica Neue Light"/>
                <a:cs typeface="Helvetica Neue Light"/>
              </a:rPr>
              <a:t>Puts the word </a:t>
            </a:r>
            <a:r>
              <a:rPr lang="en-GB" sz="2400" i="1" spc="-25" noProof="0" dirty="0">
                <a:solidFill>
                  <a:schemeClr val="tx1"/>
                </a:solidFill>
                <a:latin typeface="Helvetica Neue Light"/>
                <a:cs typeface="Helvetica Neue Light"/>
              </a:rPr>
              <a:t>Hello</a:t>
            </a:r>
            <a:r>
              <a:rPr lang="en-GB" sz="2400" spc="-25" noProof="0" dirty="0">
                <a:solidFill>
                  <a:schemeClr val="tx1"/>
                </a:solidFill>
                <a:latin typeface="Helvetica Neue Light"/>
                <a:cs typeface="Helvetica Neue Light"/>
              </a:rPr>
              <a:t> into the variable </a:t>
            </a:r>
            <a:r>
              <a:rPr lang="en-GB" sz="2400" i="1" spc="-25" noProof="0" dirty="0">
                <a:solidFill>
                  <a:schemeClr val="tx1"/>
                </a:solidFill>
                <a:latin typeface="Helvetica Neue Light"/>
                <a:cs typeface="Helvetica Neue Light"/>
              </a:rPr>
              <a:t>message</a:t>
            </a:r>
            <a:endParaRPr lang="en-GB" sz="2400" i="1" noProof="0" dirty="0">
              <a:solidFill>
                <a:schemeClr val="tx1"/>
              </a:solidFill>
              <a:latin typeface="Helvetica Neue Light"/>
              <a:cs typeface="Helvetica Neue Light"/>
            </a:endParaRPr>
          </a:p>
        </p:txBody>
      </p:sp>
    </p:spTree>
    <p:extLst>
      <p:ext uri="{BB962C8B-B14F-4D97-AF65-F5344CB8AC3E}">
        <p14:creationId xmlns:p14="http://schemas.microsoft.com/office/powerpoint/2010/main" val="2343660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animBg="1"/>
      <p:bldP spid="26" grpId="0" animBg="1"/>
      <p:bldP spid="2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8340" y="2361882"/>
            <a:ext cx="4384675" cy="677108"/>
          </a:xfrm>
          <a:prstGeom prst="rect">
            <a:avLst/>
          </a:prstGeom>
        </p:spPr>
        <p:txBody>
          <a:bodyPr vert="horz" wrap="square" lIns="0" tIns="0" rIns="0" bIns="0" rtlCol="0">
            <a:spAutoFit/>
          </a:bodyPr>
          <a:lstStyle/>
          <a:p>
            <a:pPr marL="12700">
              <a:lnSpc>
                <a:spcPct val="100000"/>
              </a:lnSpc>
              <a:tabLst>
                <a:tab pos="1353820" algn="l"/>
                <a:tab pos="3365500" algn="l"/>
              </a:tabLst>
            </a:pPr>
            <a:r>
              <a:rPr lang="en-GB" sz="4400" noProof="0" dirty="0">
                <a:solidFill>
                  <a:schemeClr val="bg1">
                    <a:lumMod val="50000"/>
                  </a:schemeClr>
                </a:solidFill>
                <a:latin typeface="Courier New"/>
                <a:cs typeface="Courier New"/>
              </a:rPr>
              <a:t>var	</a:t>
            </a:r>
            <a:r>
              <a:rPr lang="en-GB" sz="4400" spc="-5" noProof="0" dirty="0">
                <a:solidFill>
                  <a:schemeClr val="bg1">
                    <a:lumMod val="50000"/>
                  </a:schemeClr>
                </a:solidFill>
                <a:latin typeface="Courier New"/>
                <a:cs typeface="Courier New"/>
              </a:rPr>
              <a:t>ag</a:t>
            </a:r>
            <a:r>
              <a:rPr lang="en-GB" sz="4400" noProof="0" dirty="0">
                <a:solidFill>
                  <a:schemeClr val="bg1">
                    <a:lumMod val="50000"/>
                  </a:schemeClr>
                </a:solidFill>
                <a:latin typeface="Courier New"/>
                <a:cs typeface="Courier New"/>
              </a:rPr>
              <a:t>e =	</a:t>
            </a:r>
            <a:r>
              <a:rPr lang="en-GB" sz="4400" spc="-5" noProof="0" dirty="0">
                <a:solidFill>
                  <a:schemeClr val="bg1">
                    <a:lumMod val="50000"/>
                  </a:schemeClr>
                </a:solidFill>
                <a:latin typeface="Courier New"/>
                <a:cs typeface="Courier New"/>
              </a:rPr>
              <a:t>29;</a:t>
            </a:r>
            <a:endParaRPr lang="en-GB" sz="4400" noProof="0" dirty="0">
              <a:solidFill>
                <a:schemeClr val="bg1">
                  <a:lumMod val="50000"/>
                </a:schemeClr>
              </a:solidFill>
              <a:latin typeface="Courier New"/>
              <a:cs typeface="Courier New"/>
            </a:endParaRPr>
          </a:p>
        </p:txBody>
      </p:sp>
      <p:sp>
        <p:nvSpPr>
          <p:cNvPr id="3" name="object 3"/>
          <p:cNvSpPr txBox="1"/>
          <p:nvPr/>
        </p:nvSpPr>
        <p:spPr>
          <a:xfrm>
            <a:off x="688340" y="3022282"/>
            <a:ext cx="5725795" cy="677108"/>
          </a:xfrm>
          <a:prstGeom prst="rect">
            <a:avLst/>
          </a:prstGeom>
        </p:spPr>
        <p:txBody>
          <a:bodyPr vert="horz" wrap="square" lIns="0" tIns="0" rIns="0" bIns="0" rtlCol="0">
            <a:spAutoFit/>
          </a:bodyPr>
          <a:lstStyle/>
          <a:p>
            <a:pPr marL="12700">
              <a:lnSpc>
                <a:spcPct val="100000"/>
              </a:lnSpc>
            </a:pPr>
            <a:r>
              <a:rPr lang="en-GB" sz="4400" spc="-5" noProof="0" dirty="0">
                <a:solidFill>
                  <a:schemeClr val="bg1">
                    <a:lumMod val="50000"/>
                  </a:schemeClr>
                </a:solidFill>
                <a:latin typeface="Courier New"/>
                <a:cs typeface="Courier New"/>
              </a:rPr>
              <a:t>console.log(age);</a:t>
            </a:r>
            <a:endParaRPr lang="en-GB" sz="4400" noProof="0" dirty="0">
              <a:solidFill>
                <a:schemeClr val="bg1">
                  <a:lumMod val="50000"/>
                </a:schemeClr>
              </a:solidFill>
              <a:latin typeface="Courier New"/>
              <a:cs typeface="Courier New"/>
            </a:endParaRPr>
          </a:p>
        </p:txBody>
      </p:sp>
      <p:sp>
        <p:nvSpPr>
          <p:cNvPr id="17" name="Rounded Rectangular Callout 16"/>
          <p:cNvSpPr/>
          <p:nvPr/>
        </p:nvSpPr>
        <p:spPr>
          <a:xfrm>
            <a:off x="307340" y="829309"/>
            <a:ext cx="4001583" cy="814482"/>
          </a:xfrm>
          <a:prstGeom prst="wedgeRoundRectCallout">
            <a:avLst>
              <a:gd name="adj1" fmla="val 43924"/>
              <a:gd name="adj2" fmla="val 138739"/>
              <a:gd name="adj3" fmla="val 16667"/>
            </a:avLst>
          </a:prstGeom>
          <a:gradFill flip="none" rotWithShape="1">
            <a:gsLst>
              <a:gs pos="0">
                <a:schemeClr val="dk1">
                  <a:tint val="50000"/>
                  <a:satMod val="300000"/>
                  <a:alpha val="31000"/>
                </a:schemeClr>
              </a:gs>
              <a:gs pos="35000">
                <a:schemeClr val="dk1">
                  <a:tint val="37000"/>
                  <a:satMod val="300000"/>
                  <a:alpha val="31000"/>
                </a:schemeClr>
              </a:gs>
              <a:gs pos="100000">
                <a:schemeClr val="dk1">
                  <a:tint val="15000"/>
                  <a:satMod val="350000"/>
                  <a:alpha val="31000"/>
                </a:schemeClr>
              </a:gs>
            </a:gsLst>
            <a:lin ang="16200000" scaled="1"/>
            <a:tileRect/>
          </a:gradFill>
        </p:spPr>
        <p:style>
          <a:lnRef idx="1">
            <a:schemeClr val="dk1"/>
          </a:lnRef>
          <a:fillRef idx="2">
            <a:schemeClr val="dk1"/>
          </a:fillRef>
          <a:effectRef idx="1">
            <a:schemeClr val="dk1"/>
          </a:effectRef>
          <a:fontRef idx="minor">
            <a:schemeClr val="dk1"/>
          </a:fontRef>
        </p:style>
        <p:txBody>
          <a:bodyPr rtlCol="0" anchor="ctr"/>
          <a:lstStyle/>
          <a:p>
            <a:pPr>
              <a:lnSpc>
                <a:spcPct val="130000"/>
              </a:lnSpc>
            </a:pPr>
            <a:r>
              <a:rPr lang="en-GB" sz="2400" spc="-25" noProof="0" dirty="0">
                <a:solidFill>
                  <a:schemeClr val="tx1"/>
                </a:solidFill>
                <a:latin typeface="Helvetica Neue Light"/>
                <a:cs typeface="Helvetica Neue Light"/>
              </a:rPr>
              <a:t>Numbers don’t have quotes</a:t>
            </a:r>
            <a:endParaRPr lang="en-GB" sz="2400" noProof="0" dirty="0">
              <a:solidFill>
                <a:schemeClr val="tx1"/>
              </a:solidFill>
              <a:latin typeface="Helvetica Neue Light"/>
              <a:cs typeface="Helvetica Neue Light"/>
            </a:endParaRPr>
          </a:p>
        </p:txBody>
      </p:sp>
      <p:sp>
        <p:nvSpPr>
          <p:cNvPr id="18" name="Rounded Rectangular Callout 17"/>
          <p:cNvSpPr>
            <a:spLocks noGrp="1"/>
          </p:cNvSpPr>
          <p:nvPr>
            <p:ph type="title" idx="4294967295"/>
          </p:nvPr>
        </p:nvSpPr>
        <p:spPr>
          <a:xfrm>
            <a:off x="5073015" y="829309"/>
            <a:ext cx="3777660" cy="1227473"/>
          </a:xfrm>
          <a:prstGeom prst="wedgeRoundRectCallout">
            <a:avLst>
              <a:gd name="adj1" fmla="val -48159"/>
              <a:gd name="adj2" fmla="val 96110"/>
              <a:gd name="adj3" fmla="val 16667"/>
            </a:avLst>
          </a:prstGeom>
          <a:gradFill flip="none" rotWithShape="1">
            <a:gsLst>
              <a:gs pos="0">
                <a:schemeClr val="dk1">
                  <a:tint val="50000"/>
                  <a:satMod val="300000"/>
                  <a:alpha val="31000"/>
                </a:schemeClr>
              </a:gs>
              <a:gs pos="35000">
                <a:schemeClr val="dk1">
                  <a:tint val="37000"/>
                  <a:satMod val="300000"/>
                  <a:alpha val="31000"/>
                </a:schemeClr>
              </a:gs>
              <a:gs pos="100000">
                <a:schemeClr val="dk1">
                  <a:tint val="15000"/>
                  <a:satMod val="350000"/>
                  <a:alpha val="31000"/>
                </a:schemeClr>
              </a:gs>
            </a:gsLst>
            <a:lin ang="16200000" scaled="1"/>
            <a:tileRect/>
          </a:gradFill>
          <a:ln w="9525" cap="flat" cmpd="sng" algn="ctr">
            <a:solidFill>
              <a:schemeClr val="dk1">
                <a:shade val="95000"/>
                <a:satMod val="105000"/>
              </a:schemeClr>
            </a:solidFill>
            <a:prstDash val="solid"/>
          </a:ln>
          <a:effectLst>
            <a:outerShdw blurRad="40000" dist="20000" dir="5400000" rotWithShape="0">
              <a:srgbClr val="000000">
                <a:alpha val="38000"/>
              </a:srgbClr>
            </a:outerShdw>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30000"/>
              </a:lnSpc>
              <a:spcBef>
                <a:spcPts val="0"/>
              </a:spcBef>
              <a:spcAft>
                <a:spcPts val="0"/>
              </a:spcAft>
              <a:buClrTx/>
              <a:buSzTx/>
              <a:buFontTx/>
              <a:buNone/>
              <a:tabLst/>
              <a:defRPr/>
            </a:pPr>
            <a:r>
              <a:rPr kumimoji="0" lang="en-GB" sz="2400" b="0" i="0" u="none" strike="noStrike" kern="1200" cap="none" spc="-25" normalizeH="0" baseline="0" noProof="0" dirty="0">
                <a:ln>
                  <a:noFill/>
                </a:ln>
                <a:solidFill>
                  <a:schemeClr val="tx1"/>
                </a:solidFill>
                <a:effectLst/>
                <a:uLnTx/>
                <a:uFillTx/>
                <a:latin typeface="Helvetica Neue Light"/>
                <a:ea typeface="+mn-ea"/>
                <a:cs typeface="Helvetica Neue Light"/>
              </a:rPr>
              <a:t>Puts the number 29 into  the variable age</a:t>
            </a:r>
          </a:p>
        </p:txBody>
      </p:sp>
    </p:spTree>
    <p:extLst>
      <p:ext uri="{BB962C8B-B14F-4D97-AF65-F5344CB8AC3E}">
        <p14:creationId xmlns:p14="http://schemas.microsoft.com/office/powerpoint/2010/main" val="3906689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GB" sz="4500" spc="45" noProof="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let vs </a:t>
            </a:r>
            <a:r>
              <a:rPr lang="en-GB" sz="4500" spc="45" noProof="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const</a:t>
            </a:r>
            <a:r>
              <a:rPr lang="en-GB" sz="4500" spc="45" noProof="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 vs var</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628650" y="2226468"/>
            <a:ext cx="7886700" cy="3408265"/>
          </a:xfrm>
        </p:spPr>
        <p:txBody>
          <a:bodyPr>
            <a:normAutofit fontScale="62500" lnSpcReduction="20000"/>
          </a:bodyPr>
          <a:lstStyle/>
          <a:p>
            <a:pPr marL="0" indent="0">
              <a:lnSpc>
                <a:spcPct val="160000"/>
              </a:lnSpc>
              <a:buNone/>
            </a:pPr>
            <a:r>
              <a:rPr lang="en-GB" spc="60" noProof="0" dirty="0">
                <a:solidFill>
                  <a:schemeClr val="tx1">
                    <a:lumMod val="85000"/>
                    <a:lumOff val="15000"/>
                  </a:schemeClr>
                </a:solidFill>
                <a:latin typeface="Helvetica Neue Light" panose="02000403000000020004" pitchFamily="2" charset="0"/>
                <a:ea typeface="Helvetica Neue Light" panose="02000403000000020004" pitchFamily="2" charset="0"/>
              </a:rPr>
              <a:t>I highly </a:t>
            </a:r>
            <a:r>
              <a:rPr lang="en-GB" spc="60" noProof="0" dirty="0">
                <a:solidFill>
                  <a:srgbClr val="FF0000"/>
                </a:solidFill>
                <a:latin typeface="Helvetica Neue Light" panose="02000403000000020004" pitchFamily="2" charset="0"/>
                <a:ea typeface="Helvetica Neue Light" panose="02000403000000020004" pitchFamily="2" charset="0"/>
              </a:rPr>
              <a:t>recommend you read </a:t>
            </a:r>
            <a:r>
              <a:rPr lang="en-GB" spc="60" noProof="0" dirty="0">
                <a:solidFill>
                  <a:schemeClr val="tx1">
                    <a:lumMod val="85000"/>
                    <a:lumOff val="15000"/>
                  </a:schemeClr>
                </a:solidFill>
                <a:latin typeface="Helvetica Neue Light" panose="02000403000000020004" pitchFamily="2" charset="0"/>
                <a:ea typeface="Helvetica Neue Light" panose="02000403000000020004" pitchFamily="2" charset="0"/>
              </a:rPr>
              <a:t>this section </a:t>
            </a:r>
          </a:p>
          <a:p>
            <a:pPr marL="0" indent="0">
              <a:lnSpc>
                <a:spcPct val="160000"/>
              </a:lnSpc>
              <a:buNone/>
            </a:pPr>
            <a:r>
              <a:rPr lang="en-GB" spc="60" noProof="0" dirty="0">
                <a:solidFill>
                  <a:schemeClr val="tx1">
                    <a:lumMod val="85000"/>
                    <a:lumOff val="15000"/>
                  </a:schemeClr>
                </a:solidFill>
                <a:latin typeface="Helvetica Neue Light" panose="02000403000000020004" pitchFamily="2" charset="0"/>
                <a:ea typeface="Helvetica Neue Light" panose="02000403000000020004" pitchFamily="2" charset="0"/>
              </a:rPr>
              <a:t> </a:t>
            </a:r>
            <a:r>
              <a:rPr lang="en-GB" spc="60" noProof="0" dirty="0">
                <a:solidFill>
                  <a:schemeClr val="tx1">
                    <a:lumMod val="85000"/>
                    <a:lumOff val="15000"/>
                  </a:schemeClr>
                </a:solidFill>
                <a:latin typeface="Helvetica Neue Light" panose="02000403000000020004" pitchFamily="2" charset="0"/>
                <a:ea typeface="Helvetica Neue Light" panose="02000403000000020004" pitchFamily="2" charset="0"/>
                <a:hlinkClick r:id="rId2"/>
              </a:rPr>
              <a:t>https://www.w3schools.com/js/js_variables.asp</a:t>
            </a:r>
            <a:endParaRPr lang="en-GB" spc="60" noProof="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a:lnSpc>
                <a:spcPct val="160000"/>
              </a:lnSpc>
            </a:pPr>
            <a:r>
              <a:rPr lang="en-GB" noProof="0" dirty="0">
                <a:latin typeface="Helvetica Neue Light" panose="02000403000000020004" pitchFamily="2" charset="0"/>
                <a:ea typeface="Helvetica Neue Light" panose="02000403000000020004" pitchFamily="2" charset="0"/>
              </a:rPr>
              <a:t>Always declare JavaScript variables with var, let, or const.</a:t>
            </a:r>
          </a:p>
          <a:p>
            <a:pPr>
              <a:lnSpc>
                <a:spcPct val="160000"/>
              </a:lnSpc>
            </a:pPr>
            <a:r>
              <a:rPr lang="en-GB" noProof="0" dirty="0">
                <a:latin typeface="Helvetica Neue Light" panose="02000403000000020004" pitchFamily="2" charset="0"/>
                <a:ea typeface="Helvetica Neue Light" panose="02000403000000020004" pitchFamily="2" charset="0"/>
              </a:rPr>
              <a:t>The var keyword is used in all JavaScript code from 1995 to 2015.</a:t>
            </a:r>
          </a:p>
          <a:p>
            <a:pPr>
              <a:lnSpc>
                <a:spcPct val="160000"/>
              </a:lnSpc>
            </a:pPr>
            <a:r>
              <a:rPr lang="en-GB" noProof="0" dirty="0">
                <a:latin typeface="Helvetica Neue Light" panose="02000403000000020004" pitchFamily="2" charset="0"/>
                <a:ea typeface="Helvetica Neue Light" panose="02000403000000020004" pitchFamily="2" charset="0"/>
              </a:rPr>
              <a:t>The let and </a:t>
            </a:r>
            <a:r>
              <a:rPr lang="en-GB" noProof="0" dirty="0" err="1">
                <a:latin typeface="Helvetica Neue Light" panose="02000403000000020004" pitchFamily="2" charset="0"/>
                <a:ea typeface="Helvetica Neue Light" panose="02000403000000020004" pitchFamily="2" charset="0"/>
              </a:rPr>
              <a:t>const</a:t>
            </a:r>
            <a:r>
              <a:rPr lang="en-GB" noProof="0" dirty="0">
                <a:latin typeface="Helvetica Neue Light" panose="02000403000000020004" pitchFamily="2" charset="0"/>
                <a:ea typeface="Helvetica Neue Light" panose="02000403000000020004" pitchFamily="2" charset="0"/>
              </a:rPr>
              <a:t> keywords were added to JavaScript in 2015.</a:t>
            </a:r>
          </a:p>
          <a:p>
            <a:pPr>
              <a:lnSpc>
                <a:spcPct val="160000"/>
              </a:lnSpc>
            </a:pPr>
            <a:r>
              <a:rPr lang="en-GB" noProof="0" dirty="0">
                <a:latin typeface="Helvetica Neue Light" panose="02000403000000020004" pitchFamily="2" charset="0"/>
                <a:ea typeface="Helvetica Neue Light" panose="02000403000000020004" pitchFamily="2" charset="0"/>
              </a:rPr>
              <a:t>If you want your code to run in an older browser, you must use var.</a:t>
            </a:r>
          </a:p>
          <a:p>
            <a:pPr marL="0" indent="0">
              <a:lnSpc>
                <a:spcPct val="150000"/>
              </a:lnSpc>
              <a:buNone/>
            </a:pPr>
            <a:endParaRPr lang="en-GB" spc="60" noProof="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endParaRPr lang="en-GB" spc="60" noProof="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a:lnSpc>
                <a:spcPct val="150000"/>
              </a:lnSpc>
            </a:pPr>
            <a:endParaRPr lang="en-GB" spc="60" noProof="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a:lnSpc>
                <a:spcPct val="150000"/>
              </a:lnSpc>
            </a:pPr>
            <a:endParaRPr lang="en-GB" sz="1800" spc="60" noProof="0" dirty="0">
              <a:latin typeface="Helvetica Neue Light" panose="02000403000000020004" pitchFamily="2" charset="0"/>
              <a:ea typeface="Helvetica Neue Light" panose="02000403000000020004" pitchFamily="2" charset="0"/>
            </a:endParaRPr>
          </a:p>
          <a:p>
            <a:pPr marL="0" indent="0">
              <a:lnSpc>
                <a:spcPct val="150000"/>
              </a:lnSpc>
              <a:buNone/>
            </a:pPr>
            <a:endParaRPr lang="en-GB" noProof="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2744085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GB" sz="4500" spc="45" noProof="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const</a:t>
            </a:r>
            <a:endParaRPr lang="en-GB" sz="4500" spc="45" noProof="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628650" y="1920738"/>
            <a:ext cx="7886700" cy="3806169"/>
          </a:xfrm>
        </p:spPr>
        <p:txBody>
          <a:bodyPr>
            <a:normAutofit fontScale="62500" lnSpcReduction="20000"/>
          </a:bodyPr>
          <a:lstStyle/>
          <a:p>
            <a:pPr>
              <a:lnSpc>
                <a:spcPct val="150000"/>
              </a:lnSpc>
            </a:pPr>
            <a:r>
              <a:rPr lang="en-GB" noProof="0" dirty="0">
                <a:latin typeface="Helvetica Neue Light" panose="02000403000000020004" pitchFamily="2" charset="0"/>
                <a:ea typeface="Helvetica Neue Light" panose="02000403000000020004" pitchFamily="2" charset="0"/>
              </a:rPr>
              <a:t>The </a:t>
            </a:r>
            <a:r>
              <a:rPr lang="en-GB" noProof="0" dirty="0" err="1">
                <a:latin typeface="Helvetica Neue Light" panose="02000403000000020004" pitchFamily="2" charset="0"/>
                <a:ea typeface="Helvetica Neue Light" panose="02000403000000020004" pitchFamily="2" charset="0"/>
              </a:rPr>
              <a:t>const</a:t>
            </a:r>
            <a:r>
              <a:rPr lang="en-GB" noProof="0" dirty="0">
                <a:latin typeface="Helvetica Neue Light" panose="02000403000000020004" pitchFamily="2" charset="0"/>
                <a:ea typeface="Helvetica Neue Light" panose="02000403000000020004" pitchFamily="2" charset="0"/>
              </a:rPr>
              <a:t> keyword was introduced in </a:t>
            </a:r>
            <a:r>
              <a:rPr lang="en-GB" noProof="0" dirty="0">
                <a:latin typeface="Helvetica Neue Light" panose="02000403000000020004" pitchFamily="2" charset="0"/>
                <a:ea typeface="Helvetica Neue Light" panose="02000403000000020004" pitchFamily="2" charset="0"/>
                <a:hlinkClick r:id="rId2"/>
              </a:rPr>
              <a:t>ES6 (2015)</a:t>
            </a:r>
            <a:r>
              <a:rPr lang="en-GB" noProof="0" dirty="0">
                <a:latin typeface="Helvetica Neue Light" panose="02000403000000020004" pitchFamily="2" charset="0"/>
                <a:ea typeface="Helvetica Neue Light" panose="02000403000000020004" pitchFamily="2" charset="0"/>
              </a:rPr>
              <a:t>.</a:t>
            </a:r>
          </a:p>
          <a:p>
            <a:pPr>
              <a:lnSpc>
                <a:spcPct val="150000"/>
              </a:lnSpc>
            </a:pPr>
            <a:r>
              <a:rPr lang="en-GB" noProof="0" dirty="0">
                <a:latin typeface="Helvetica Neue Light" panose="02000403000000020004" pitchFamily="2" charset="0"/>
                <a:ea typeface="Helvetica Neue Light" panose="02000403000000020004" pitchFamily="2" charset="0"/>
              </a:rPr>
              <a:t>Variables defined with </a:t>
            </a:r>
            <a:r>
              <a:rPr lang="en-GB" noProof="0" dirty="0" err="1">
                <a:latin typeface="Helvetica Neue Light" panose="02000403000000020004" pitchFamily="2" charset="0"/>
                <a:ea typeface="Helvetica Neue Light" panose="02000403000000020004" pitchFamily="2" charset="0"/>
              </a:rPr>
              <a:t>const</a:t>
            </a:r>
            <a:r>
              <a:rPr lang="en-GB" noProof="0" dirty="0">
                <a:latin typeface="Helvetica Neue Light" panose="02000403000000020004" pitchFamily="2" charset="0"/>
                <a:ea typeface="Helvetica Neue Light" panose="02000403000000020004" pitchFamily="2" charset="0"/>
              </a:rPr>
              <a:t> cannot be Redeclared.</a:t>
            </a:r>
          </a:p>
          <a:p>
            <a:pPr>
              <a:lnSpc>
                <a:spcPct val="150000"/>
              </a:lnSpc>
            </a:pPr>
            <a:r>
              <a:rPr lang="en-GB" noProof="0" dirty="0">
                <a:latin typeface="Helvetica Neue Light" panose="02000403000000020004" pitchFamily="2" charset="0"/>
                <a:ea typeface="Helvetica Neue Light" panose="02000403000000020004" pitchFamily="2" charset="0"/>
              </a:rPr>
              <a:t>Variables defined with </a:t>
            </a:r>
            <a:r>
              <a:rPr lang="en-GB" noProof="0" dirty="0" err="1">
                <a:latin typeface="Helvetica Neue Light" panose="02000403000000020004" pitchFamily="2" charset="0"/>
                <a:ea typeface="Helvetica Neue Light" panose="02000403000000020004" pitchFamily="2" charset="0"/>
              </a:rPr>
              <a:t>const</a:t>
            </a:r>
            <a:r>
              <a:rPr lang="en-GB" noProof="0" dirty="0">
                <a:latin typeface="Helvetica Neue Light" panose="02000403000000020004" pitchFamily="2" charset="0"/>
                <a:ea typeface="Helvetica Neue Light" panose="02000403000000020004" pitchFamily="2" charset="0"/>
              </a:rPr>
              <a:t> cannot be Reassigned.</a:t>
            </a:r>
          </a:p>
          <a:p>
            <a:pPr>
              <a:lnSpc>
                <a:spcPct val="150000"/>
              </a:lnSpc>
            </a:pPr>
            <a:r>
              <a:rPr lang="en-GB" noProof="0" dirty="0">
                <a:latin typeface="Helvetica Neue Light" panose="02000403000000020004" pitchFamily="2" charset="0"/>
                <a:ea typeface="Helvetica Neue Light" panose="02000403000000020004" pitchFamily="2" charset="0"/>
              </a:rPr>
              <a:t>Variables defined with </a:t>
            </a:r>
            <a:r>
              <a:rPr lang="en-GB" noProof="0" dirty="0" err="1">
                <a:latin typeface="Helvetica Neue Light" panose="02000403000000020004" pitchFamily="2" charset="0"/>
                <a:ea typeface="Helvetica Neue Light" panose="02000403000000020004" pitchFamily="2" charset="0"/>
              </a:rPr>
              <a:t>const</a:t>
            </a:r>
            <a:r>
              <a:rPr lang="en-GB" noProof="0" dirty="0">
                <a:latin typeface="Helvetica Neue Light" panose="02000403000000020004" pitchFamily="2" charset="0"/>
                <a:ea typeface="Helvetica Neue Light" panose="02000403000000020004" pitchFamily="2" charset="0"/>
              </a:rPr>
              <a:t> have Block Scope.</a:t>
            </a:r>
          </a:p>
          <a:p>
            <a:pPr>
              <a:lnSpc>
                <a:spcPct val="170000"/>
              </a:lnSpc>
            </a:pPr>
            <a:r>
              <a:rPr lang="en-GB" b="1" noProof="0" dirty="0">
                <a:latin typeface="Helvetica Neue Light" panose="02000403000000020004" pitchFamily="2" charset="0"/>
                <a:ea typeface="Helvetica Neue Light" panose="02000403000000020004" pitchFamily="2" charset="0"/>
              </a:rPr>
              <a:t>As a general rule, always declare a variable with </a:t>
            </a:r>
            <a:r>
              <a:rPr lang="en-GB" b="1" noProof="0" dirty="0" err="1">
                <a:latin typeface="Helvetica Neue Light" panose="02000403000000020004" pitchFamily="2" charset="0"/>
                <a:ea typeface="Helvetica Neue Light" panose="02000403000000020004" pitchFamily="2" charset="0"/>
              </a:rPr>
              <a:t>const</a:t>
            </a:r>
            <a:r>
              <a:rPr lang="en-GB" b="1" noProof="0" dirty="0">
                <a:latin typeface="Helvetica Neue Light" panose="02000403000000020004" pitchFamily="2" charset="0"/>
                <a:ea typeface="Helvetica Neue Light" panose="02000403000000020004" pitchFamily="2" charset="0"/>
              </a:rPr>
              <a:t> unless you know that the value will change. </a:t>
            </a:r>
            <a:r>
              <a:rPr lang="en-GB" noProof="0" dirty="0">
                <a:latin typeface="Helvetica Neue Light" panose="02000403000000020004" pitchFamily="2" charset="0"/>
                <a:ea typeface="Helvetica Neue Light" panose="02000403000000020004" pitchFamily="2" charset="0"/>
              </a:rPr>
              <a:t>Use </a:t>
            </a:r>
            <a:r>
              <a:rPr lang="en-GB" noProof="0" dirty="0" err="1">
                <a:latin typeface="Helvetica Neue Light" panose="02000403000000020004" pitchFamily="2" charset="0"/>
                <a:ea typeface="Helvetica Neue Light" panose="02000403000000020004" pitchFamily="2" charset="0"/>
              </a:rPr>
              <a:t>const</a:t>
            </a:r>
            <a:r>
              <a:rPr lang="en-GB" noProof="0" dirty="0">
                <a:latin typeface="Helvetica Neue Light" panose="02000403000000020004" pitchFamily="2" charset="0"/>
                <a:ea typeface="Helvetica Neue Light" panose="02000403000000020004" pitchFamily="2" charset="0"/>
              </a:rPr>
              <a:t> when you declare:</a:t>
            </a:r>
          </a:p>
          <a:p>
            <a:pPr>
              <a:lnSpc>
                <a:spcPct val="170000"/>
              </a:lnSpc>
            </a:pPr>
            <a:r>
              <a:rPr lang="en-GB" noProof="0" dirty="0">
                <a:latin typeface="Helvetica Neue Light" panose="02000403000000020004" pitchFamily="2" charset="0"/>
                <a:ea typeface="Helvetica Neue Light" panose="02000403000000020004" pitchFamily="2" charset="0"/>
              </a:rPr>
              <a:t>A new Array, a new Object or a new Function</a:t>
            </a:r>
          </a:p>
          <a:p>
            <a:pPr marL="0" indent="0">
              <a:lnSpc>
                <a:spcPct val="150000"/>
              </a:lnSpc>
              <a:buNone/>
            </a:pPr>
            <a:endParaRPr lang="en-GB" spc="60" noProof="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endParaRPr lang="en-GB" spc="60" noProof="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a:lnSpc>
                <a:spcPct val="150000"/>
              </a:lnSpc>
            </a:pPr>
            <a:endParaRPr lang="en-GB" spc="60" noProof="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a:lnSpc>
                <a:spcPct val="150000"/>
              </a:lnSpc>
            </a:pPr>
            <a:endParaRPr lang="en-GB" sz="1800" spc="60" noProof="0" dirty="0">
              <a:latin typeface="Helvetica Neue Light" panose="02000403000000020004" pitchFamily="2" charset="0"/>
              <a:ea typeface="Helvetica Neue Light" panose="02000403000000020004" pitchFamily="2" charset="0"/>
            </a:endParaRPr>
          </a:p>
          <a:p>
            <a:pPr marL="0" indent="0">
              <a:lnSpc>
                <a:spcPct val="150000"/>
              </a:lnSpc>
              <a:buNone/>
            </a:pPr>
            <a:endParaRPr lang="en-GB" noProof="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302908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GB" sz="4500" spc="45" noProof="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let</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628650" y="2125266"/>
            <a:ext cx="7886700" cy="3408265"/>
          </a:xfrm>
        </p:spPr>
        <p:txBody>
          <a:bodyPr>
            <a:normAutofit fontScale="70000" lnSpcReduction="20000"/>
          </a:bodyPr>
          <a:lstStyle/>
          <a:p>
            <a:pPr>
              <a:lnSpc>
                <a:spcPct val="150000"/>
              </a:lnSpc>
            </a:pPr>
            <a:r>
              <a:rPr lang="en-GB" noProof="0" dirty="0">
                <a:latin typeface="Helvetica Neue Light" panose="02000403000000020004" pitchFamily="2" charset="0"/>
                <a:ea typeface="Helvetica Neue Light" panose="02000403000000020004" pitchFamily="2" charset="0"/>
              </a:rPr>
              <a:t>The let keyword was introduced in </a:t>
            </a:r>
            <a:r>
              <a:rPr lang="en-GB" noProof="0" dirty="0">
                <a:latin typeface="Helvetica Neue Light" panose="02000403000000020004" pitchFamily="2" charset="0"/>
                <a:ea typeface="Helvetica Neue Light" panose="02000403000000020004" pitchFamily="2" charset="0"/>
                <a:hlinkClick r:id="rId2"/>
              </a:rPr>
              <a:t>ES6 (2015)</a:t>
            </a:r>
            <a:r>
              <a:rPr lang="en-GB" noProof="0" dirty="0">
                <a:latin typeface="Helvetica Neue Light" panose="02000403000000020004" pitchFamily="2" charset="0"/>
                <a:ea typeface="Helvetica Neue Light" panose="02000403000000020004" pitchFamily="2" charset="0"/>
              </a:rPr>
              <a:t>.</a:t>
            </a:r>
          </a:p>
          <a:p>
            <a:pPr>
              <a:lnSpc>
                <a:spcPct val="150000"/>
              </a:lnSpc>
            </a:pPr>
            <a:r>
              <a:rPr lang="en-GB" noProof="0" dirty="0">
                <a:latin typeface="Helvetica Neue Light" panose="02000403000000020004" pitchFamily="2" charset="0"/>
                <a:ea typeface="Helvetica Neue Light" panose="02000403000000020004" pitchFamily="2" charset="0"/>
              </a:rPr>
              <a:t>Variables defined with let cannot be Redeclared.</a:t>
            </a:r>
          </a:p>
          <a:p>
            <a:pPr>
              <a:lnSpc>
                <a:spcPct val="150000"/>
              </a:lnSpc>
            </a:pPr>
            <a:r>
              <a:rPr lang="en-GB" noProof="0" dirty="0">
                <a:latin typeface="Helvetica Neue Light" panose="02000403000000020004" pitchFamily="2" charset="0"/>
                <a:ea typeface="Helvetica Neue Light" panose="02000403000000020004" pitchFamily="2" charset="0"/>
              </a:rPr>
              <a:t>Variables defined with let must be Declared before use.</a:t>
            </a:r>
          </a:p>
          <a:p>
            <a:pPr>
              <a:lnSpc>
                <a:spcPct val="150000"/>
              </a:lnSpc>
            </a:pPr>
            <a:r>
              <a:rPr lang="en-GB" noProof="0" dirty="0">
                <a:latin typeface="Helvetica Neue Light" panose="02000403000000020004" pitchFamily="2" charset="0"/>
                <a:ea typeface="Helvetica Neue Light" panose="02000403000000020004" pitchFamily="2" charset="0"/>
              </a:rPr>
              <a:t>Variables defined with let have Block Scope.</a:t>
            </a:r>
          </a:p>
          <a:p>
            <a:pPr>
              <a:lnSpc>
                <a:spcPct val="150000"/>
              </a:lnSpc>
            </a:pPr>
            <a:r>
              <a:rPr lang="en-GB" noProof="0" dirty="0">
                <a:latin typeface="Helvetica Neue Light" panose="02000403000000020004" pitchFamily="2" charset="0"/>
                <a:ea typeface="Helvetica Neue Light" panose="02000403000000020004" pitchFamily="2" charset="0"/>
                <a:hlinkClick r:id="rId3"/>
              </a:rPr>
              <a:t>https://www.freecodecamp.org/news/understanding-let-const-and-var-keywords/</a:t>
            </a:r>
            <a:endParaRPr lang="en-GB" noProof="0" dirty="0">
              <a:latin typeface="Helvetica Neue Light" panose="02000403000000020004" pitchFamily="2" charset="0"/>
              <a:ea typeface="Helvetica Neue Light" panose="02000403000000020004" pitchFamily="2" charset="0"/>
            </a:endParaRPr>
          </a:p>
          <a:p>
            <a:pPr>
              <a:lnSpc>
                <a:spcPct val="150000"/>
              </a:lnSpc>
            </a:pPr>
            <a:endParaRPr lang="en-GB" noProof="0" dirty="0">
              <a:latin typeface="Helvetica Neue Light" panose="02000403000000020004" pitchFamily="2" charset="0"/>
              <a:ea typeface="Helvetica Neue Light" panose="02000403000000020004" pitchFamily="2" charset="0"/>
            </a:endParaRPr>
          </a:p>
          <a:p>
            <a:pPr>
              <a:lnSpc>
                <a:spcPct val="150000"/>
              </a:lnSpc>
            </a:pPr>
            <a:endParaRPr lang="en-GB" noProof="0" dirty="0">
              <a:latin typeface="Helvetica Neue Light" panose="02000403000000020004" pitchFamily="2" charset="0"/>
              <a:ea typeface="Helvetica Neue Light" panose="02000403000000020004" pitchFamily="2" charset="0"/>
            </a:endParaRPr>
          </a:p>
          <a:p>
            <a:pPr marL="0" indent="0">
              <a:lnSpc>
                <a:spcPct val="150000"/>
              </a:lnSpc>
              <a:buNone/>
            </a:pPr>
            <a:endParaRPr lang="en-GB" spc="60" noProof="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endParaRPr lang="en-GB" spc="60" noProof="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a:lnSpc>
                <a:spcPct val="150000"/>
              </a:lnSpc>
            </a:pPr>
            <a:endParaRPr lang="en-GB" spc="60" noProof="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a:lnSpc>
                <a:spcPct val="150000"/>
              </a:lnSpc>
            </a:pPr>
            <a:endParaRPr lang="en-GB" sz="1800" spc="60" noProof="0" dirty="0">
              <a:latin typeface="Helvetica Neue Light" panose="02000403000000020004" pitchFamily="2" charset="0"/>
              <a:ea typeface="Helvetica Neue Light" panose="02000403000000020004" pitchFamily="2" charset="0"/>
            </a:endParaRPr>
          </a:p>
          <a:p>
            <a:pPr marL="0" indent="0">
              <a:lnSpc>
                <a:spcPct val="150000"/>
              </a:lnSpc>
              <a:buNone/>
            </a:pPr>
            <a:endParaRPr lang="en-GB" noProof="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1366412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74D5D-9A9B-072B-E9E4-42A6A28FB5C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9C5CE6B-DB86-2D9D-11DC-8D9F4DF48BCF}"/>
              </a:ext>
            </a:extLst>
          </p:cNvPr>
          <p:cNvSpPr>
            <a:spLocks noGrp="1"/>
          </p:cNvSpPr>
          <p:nvPr>
            <p:ph type="title"/>
          </p:nvPr>
        </p:nvSpPr>
        <p:spPr/>
        <p:txBody>
          <a:bodyPr>
            <a:normAutofit/>
          </a:bodyPr>
          <a:lstStyle/>
          <a:p>
            <a:r>
              <a:rPr lang="en-GB" sz="4500" spc="45" noProof="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var</a:t>
            </a:r>
          </a:p>
        </p:txBody>
      </p:sp>
      <p:sp>
        <p:nvSpPr>
          <p:cNvPr id="5" name="Content Placeholder 4">
            <a:extLst>
              <a:ext uri="{FF2B5EF4-FFF2-40B4-BE49-F238E27FC236}">
                <a16:creationId xmlns:a16="http://schemas.microsoft.com/office/drawing/2014/main" id="{69FF69D2-442F-683C-D2C6-1E2D4A3F9ACA}"/>
              </a:ext>
            </a:extLst>
          </p:cNvPr>
          <p:cNvSpPr>
            <a:spLocks noGrp="1"/>
          </p:cNvSpPr>
          <p:nvPr>
            <p:ph idx="1"/>
          </p:nvPr>
        </p:nvSpPr>
        <p:spPr>
          <a:xfrm>
            <a:off x="532957" y="1417638"/>
            <a:ext cx="8058150" cy="4217618"/>
          </a:xfrm>
        </p:spPr>
        <p:txBody>
          <a:bodyPr>
            <a:normAutofit fontScale="85000" lnSpcReduction="10000"/>
          </a:bodyPr>
          <a:lstStyle/>
          <a:p>
            <a:pPr>
              <a:lnSpc>
                <a:spcPct val="150000"/>
              </a:lnSpc>
            </a:pPr>
            <a:r>
              <a:rPr lang="en-GB" noProof="0" dirty="0">
                <a:latin typeface="Helvetica Neue Light" panose="02000403000000020004" pitchFamily="2" charset="0"/>
                <a:ea typeface="Helvetica Neue Light" panose="02000403000000020004" pitchFamily="2" charset="0"/>
              </a:rPr>
              <a:t>We will use ‘var’ throughout this term as it keeps everything simple to understand.</a:t>
            </a:r>
          </a:p>
          <a:p>
            <a:pPr>
              <a:lnSpc>
                <a:spcPct val="150000"/>
              </a:lnSpc>
            </a:pPr>
            <a:r>
              <a:rPr lang="en-GB" noProof="0" dirty="0">
                <a:latin typeface="Helvetica Neue Light" panose="02000403000000020004" pitchFamily="2" charset="0"/>
                <a:ea typeface="Helvetica Neue Light" panose="02000403000000020004" pitchFamily="2" charset="0"/>
              </a:rPr>
              <a:t>But if looking online for help you will most likely now see ‘</a:t>
            </a:r>
            <a:r>
              <a:rPr lang="en-GB" noProof="0" dirty="0" err="1">
                <a:latin typeface="Helvetica Neue Light" panose="02000403000000020004" pitchFamily="2" charset="0"/>
                <a:ea typeface="Helvetica Neue Light" panose="02000403000000020004" pitchFamily="2" charset="0"/>
              </a:rPr>
              <a:t>const</a:t>
            </a:r>
            <a:r>
              <a:rPr lang="en-GB" noProof="0" dirty="0">
                <a:latin typeface="Helvetica Neue Light" panose="02000403000000020004" pitchFamily="2" charset="0"/>
                <a:ea typeface="Helvetica Neue Light" panose="02000403000000020004" pitchFamily="2" charset="0"/>
              </a:rPr>
              <a:t>’ used the most and ‘let’ when appropriate. </a:t>
            </a:r>
          </a:p>
          <a:p>
            <a:pPr>
              <a:lnSpc>
                <a:spcPct val="150000"/>
              </a:lnSpc>
            </a:pPr>
            <a:r>
              <a:rPr lang="en-GB" noProof="0" dirty="0">
                <a:latin typeface="Helvetica Neue Light" panose="02000403000000020004" pitchFamily="2" charset="0"/>
                <a:ea typeface="Helvetica Neue Light" panose="02000403000000020004" pitchFamily="2" charset="0"/>
              </a:rPr>
              <a:t>Don’t worry too much about this at the moment.</a:t>
            </a:r>
          </a:p>
          <a:p>
            <a:pPr>
              <a:lnSpc>
                <a:spcPct val="150000"/>
              </a:lnSpc>
            </a:pPr>
            <a:endParaRPr lang="en-GB" noProof="0" dirty="0">
              <a:latin typeface="Helvetica Neue Light" panose="02000403000000020004" pitchFamily="2" charset="0"/>
              <a:ea typeface="Helvetica Neue Light" panose="02000403000000020004" pitchFamily="2" charset="0"/>
            </a:endParaRPr>
          </a:p>
          <a:p>
            <a:pPr marL="0" indent="0">
              <a:lnSpc>
                <a:spcPct val="150000"/>
              </a:lnSpc>
              <a:buNone/>
            </a:pPr>
            <a:endParaRPr lang="en-GB" spc="60" noProof="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endParaRPr lang="en-GB" spc="60" noProof="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a:lnSpc>
                <a:spcPct val="150000"/>
              </a:lnSpc>
            </a:pPr>
            <a:endParaRPr lang="en-GB" spc="60" noProof="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a:lnSpc>
                <a:spcPct val="150000"/>
              </a:lnSpc>
            </a:pPr>
            <a:endParaRPr lang="en-GB" sz="1800" spc="60" noProof="0" dirty="0">
              <a:latin typeface="Helvetica Neue Light" panose="02000403000000020004" pitchFamily="2" charset="0"/>
              <a:ea typeface="Helvetica Neue Light" panose="02000403000000020004" pitchFamily="2" charset="0"/>
            </a:endParaRPr>
          </a:p>
          <a:p>
            <a:pPr marL="0" indent="0">
              <a:lnSpc>
                <a:spcPct val="150000"/>
              </a:lnSpc>
              <a:buNone/>
            </a:pPr>
            <a:endParaRPr lang="en-GB" noProof="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1802148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txBox="1"/>
          <p:nvPr/>
        </p:nvSpPr>
        <p:spPr>
          <a:xfrm>
            <a:off x="0" y="0"/>
            <a:ext cx="9144000" cy="7009611"/>
          </a:xfrm>
          <a:prstGeom prst="rect">
            <a:avLst/>
          </a:prstGeom>
        </p:spPr>
        <p:txBody>
          <a:bodyPr vert="horz" wrap="square" lIns="0" tIns="0" rIns="0" bIns="0" rtlCol="0">
            <a:spAutoFit/>
          </a:bodyPr>
          <a:lstStyle/>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marL="320040">
              <a:lnSpc>
                <a:spcPct val="100000"/>
              </a:lnSpc>
              <a:spcBef>
                <a:spcPts val="855"/>
              </a:spcBef>
            </a:pPr>
            <a:endParaRPr lang="en-GB" sz="1400" noProof="0" dirty="0">
              <a:latin typeface="Calibri"/>
              <a:cs typeface="Calibri"/>
            </a:endParaRPr>
          </a:p>
        </p:txBody>
      </p:sp>
      <p:sp>
        <p:nvSpPr>
          <p:cNvPr id="3" name="object 3">
            <a:extLst>
              <a:ext uri="{C183D7F6-B498-43B3-948B-1728B52AA6E4}">
                <adec:decorative xmlns:adec="http://schemas.microsoft.com/office/drawing/2017/decorative" val="1"/>
              </a:ext>
            </a:extLst>
          </p:cNvPr>
          <p:cNvSpPr/>
          <p:nvPr/>
        </p:nvSpPr>
        <p:spPr>
          <a:xfrm>
            <a:off x="0" y="0"/>
            <a:ext cx="9144000" cy="6857999"/>
          </a:xfrm>
          <a:prstGeom prst="rect">
            <a:avLst/>
          </a:prstGeom>
          <a:blipFill>
            <a:blip r:embed="rId2" cstate="print"/>
            <a:stretch>
              <a:fillRect/>
            </a:stretch>
          </a:blipFill>
        </p:spPr>
        <p:txBody>
          <a:bodyPr wrap="square" lIns="0" tIns="0" rIns="0" bIns="0" rtlCol="0"/>
          <a:lstStyle/>
          <a:p>
            <a:endParaRPr lang="en-GB" noProof="0" dirty="0"/>
          </a:p>
        </p:txBody>
      </p:sp>
      <p:sp>
        <p:nvSpPr>
          <p:cNvPr id="4" name="object 4"/>
          <p:cNvSpPr txBox="1">
            <a:spLocks noGrp="1"/>
          </p:cNvSpPr>
          <p:nvPr>
            <p:ph type="title"/>
          </p:nvPr>
        </p:nvSpPr>
        <p:spPr>
          <a:xfrm>
            <a:off x="3165398" y="2556827"/>
            <a:ext cx="3793437" cy="1363345"/>
          </a:xfrm>
          <a:prstGeom prst="rect">
            <a:avLst/>
          </a:prstGeom>
        </p:spPr>
        <p:txBody>
          <a:bodyPr vert="horz" wrap="square" lIns="0" tIns="0" rIns="0" bIns="0" rtlCol="0">
            <a:spAutoFit/>
          </a:bodyPr>
          <a:lstStyle/>
          <a:p>
            <a:pPr marL="12700">
              <a:lnSpc>
                <a:spcPct val="100000"/>
              </a:lnSpc>
            </a:pPr>
            <a:r>
              <a:rPr lang="en-GB" sz="8800" spc="190" noProof="0" dirty="0">
                <a:solidFill>
                  <a:schemeClr val="bg1"/>
                </a:solidFill>
              </a:rPr>
              <a:t>String</a:t>
            </a:r>
            <a:endParaRPr lang="en-GB" sz="8800" noProof="0" dirty="0">
              <a:solidFill>
                <a:schemeClr val="bg1"/>
              </a:solidFill>
            </a:endParaRPr>
          </a:p>
        </p:txBody>
      </p:sp>
    </p:spTree>
    <p:extLst>
      <p:ext uri="{BB962C8B-B14F-4D97-AF65-F5344CB8AC3E}">
        <p14:creationId xmlns:p14="http://schemas.microsoft.com/office/powerpoint/2010/main" val="29082611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14324" y="555711"/>
            <a:ext cx="7795888" cy="5360442"/>
          </a:xfrm>
          <a:prstGeom prst="rect">
            <a:avLst/>
          </a:prstGeom>
        </p:spPr>
        <p:txBody>
          <a:bodyPr wrap="square">
            <a:spAutoFit/>
          </a:bodyPr>
          <a:lstStyle/>
          <a:p>
            <a:pPr>
              <a:lnSpc>
                <a:spcPct val="120000"/>
              </a:lnSpc>
            </a:pPr>
            <a:r>
              <a:rPr lang="en-GB" sz="2600" noProof="0" dirty="0">
                <a:solidFill>
                  <a:schemeClr val="bg1">
                    <a:lumMod val="50000"/>
                  </a:schemeClr>
                </a:solidFill>
                <a:latin typeface="Helvetica Neue Light"/>
                <a:cs typeface="Helvetica Neue Light"/>
              </a:rPr>
              <a:t>One of the most widely used data types is a </a:t>
            </a:r>
            <a:r>
              <a:rPr lang="en-GB" sz="2600" noProof="0" dirty="0">
                <a:solidFill>
                  <a:schemeClr val="tx1">
                    <a:lumMod val="95000"/>
                    <a:lumOff val="5000"/>
                  </a:schemeClr>
                </a:solidFill>
                <a:latin typeface="Helvetica Neue Light"/>
                <a:cs typeface="Helvetica Neue Light"/>
              </a:rPr>
              <a:t>string</a:t>
            </a:r>
            <a:r>
              <a:rPr lang="en-GB" sz="2600" noProof="0" dirty="0">
                <a:solidFill>
                  <a:schemeClr val="bg1">
                    <a:lumMod val="50000"/>
                  </a:schemeClr>
                </a:solidFill>
                <a:latin typeface="Helvetica Neue Light"/>
                <a:cs typeface="Helvetica Neue Light"/>
              </a:rPr>
              <a:t>.</a:t>
            </a:r>
          </a:p>
          <a:p>
            <a:pPr>
              <a:lnSpc>
                <a:spcPct val="120000"/>
              </a:lnSpc>
            </a:pPr>
            <a:endParaRPr lang="en-GB" sz="2600" noProof="0" dirty="0">
              <a:solidFill>
                <a:schemeClr val="bg1">
                  <a:lumMod val="50000"/>
                </a:schemeClr>
              </a:solidFill>
              <a:latin typeface="Helvetica Neue Light"/>
              <a:cs typeface="Helvetica Neue Light"/>
            </a:endParaRPr>
          </a:p>
          <a:p>
            <a:pPr>
              <a:lnSpc>
                <a:spcPct val="120000"/>
              </a:lnSpc>
            </a:pPr>
            <a:r>
              <a:rPr lang="en-GB" sz="2600" noProof="0" dirty="0">
                <a:solidFill>
                  <a:schemeClr val="bg1">
                    <a:lumMod val="50000"/>
                  </a:schemeClr>
                </a:solidFill>
                <a:latin typeface="Helvetica Neue Light"/>
                <a:cs typeface="Helvetica Neue Light"/>
              </a:rPr>
              <a:t>A </a:t>
            </a:r>
            <a:r>
              <a:rPr lang="en-GB" sz="2600" noProof="0" dirty="0">
                <a:solidFill>
                  <a:srgbClr val="0D0D0D"/>
                </a:solidFill>
                <a:latin typeface="Helvetica Neue Light"/>
                <a:cs typeface="Helvetica Neue Light"/>
              </a:rPr>
              <a:t>string</a:t>
            </a:r>
            <a:r>
              <a:rPr lang="en-GB" sz="2600" noProof="0" dirty="0">
                <a:solidFill>
                  <a:schemeClr val="bg1">
                    <a:lumMod val="50000"/>
                  </a:schemeClr>
                </a:solidFill>
                <a:latin typeface="Helvetica Neue Light"/>
                <a:cs typeface="Helvetica Neue Light"/>
              </a:rPr>
              <a:t> consists of one or more </a:t>
            </a:r>
            <a:r>
              <a:rPr lang="en-GB" sz="2600" noProof="0" dirty="0">
                <a:solidFill>
                  <a:srgbClr val="0D0D0D"/>
                </a:solidFill>
                <a:latin typeface="Helvetica Neue Light"/>
                <a:cs typeface="Helvetica Neue Light"/>
              </a:rPr>
              <a:t>characters</a:t>
            </a:r>
            <a:r>
              <a:rPr lang="en-GB" sz="2600" noProof="0" dirty="0">
                <a:solidFill>
                  <a:schemeClr val="bg1">
                    <a:lumMod val="50000"/>
                  </a:schemeClr>
                </a:solidFill>
                <a:latin typeface="Helvetica Neue Light"/>
                <a:cs typeface="Helvetica Neue Light"/>
              </a:rPr>
              <a:t>, which can include letters, numbers, or other types of characters. You can think of a </a:t>
            </a:r>
            <a:r>
              <a:rPr lang="en-GB" sz="2600" noProof="0" dirty="0">
                <a:solidFill>
                  <a:srgbClr val="0D0D0D"/>
                </a:solidFill>
                <a:latin typeface="Helvetica Neue Light"/>
                <a:cs typeface="Helvetica Neue Light"/>
              </a:rPr>
              <a:t>string as plain text</a:t>
            </a:r>
            <a:r>
              <a:rPr lang="en-GB" sz="2600" noProof="0" dirty="0">
                <a:solidFill>
                  <a:schemeClr val="bg1">
                    <a:lumMod val="50000"/>
                  </a:schemeClr>
                </a:solidFill>
                <a:latin typeface="Helvetica Neue Light"/>
                <a:cs typeface="Helvetica Neue Light"/>
              </a:rPr>
              <a:t>.</a:t>
            </a:r>
          </a:p>
          <a:p>
            <a:pPr>
              <a:lnSpc>
                <a:spcPct val="120000"/>
              </a:lnSpc>
            </a:pPr>
            <a:endParaRPr lang="en-GB" sz="2600" noProof="0" dirty="0">
              <a:solidFill>
                <a:schemeClr val="bg1">
                  <a:lumMod val="50000"/>
                </a:schemeClr>
              </a:solidFill>
              <a:latin typeface="Helvetica Neue Light"/>
              <a:cs typeface="Helvetica Neue Light"/>
            </a:endParaRPr>
          </a:p>
          <a:p>
            <a:pPr>
              <a:lnSpc>
                <a:spcPct val="120000"/>
              </a:lnSpc>
            </a:pPr>
            <a:r>
              <a:rPr lang="en-GB" sz="2600" noProof="0" dirty="0">
                <a:solidFill>
                  <a:schemeClr val="bg1">
                    <a:lumMod val="50000"/>
                  </a:schemeClr>
                </a:solidFill>
                <a:latin typeface="Helvetica Neue Light"/>
                <a:cs typeface="Helvetica Neue Light"/>
              </a:rPr>
              <a:t>A string represents </a:t>
            </a:r>
            <a:r>
              <a:rPr lang="en-GB" sz="2600" noProof="0" dirty="0">
                <a:solidFill>
                  <a:srgbClr val="0D0D0D"/>
                </a:solidFill>
                <a:latin typeface="Helvetica Neue Light"/>
                <a:cs typeface="Helvetica Neue Light"/>
              </a:rPr>
              <a:t>alphanumeric</a:t>
            </a:r>
            <a:r>
              <a:rPr lang="en-GB" sz="2600" noProof="0" dirty="0">
                <a:solidFill>
                  <a:schemeClr val="bg1">
                    <a:lumMod val="50000"/>
                  </a:schemeClr>
                </a:solidFill>
                <a:latin typeface="Helvetica Neue Light"/>
                <a:cs typeface="Helvetica Neue Light"/>
              </a:rPr>
              <a:t> data. This means that a string can contain many different characters, but they are all considered as if they were text, even if the characters are numbers. A string can also contain spaces.</a:t>
            </a:r>
          </a:p>
        </p:txBody>
      </p:sp>
      <p:sp>
        <p:nvSpPr>
          <p:cNvPr id="4" name="Rectangle 3"/>
          <p:cNvSpPr/>
          <p:nvPr/>
        </p:nvSpPr>
        <p:spPr>
          <a:xfrm>
            <a:off x="614324" y="6258657"/>
            <a:ext cx="8003228" cy="307777"/>
          </a:xfrm>
          <a:prstGeom prst="rect">
            <a:avLst/>
          </a:prstGeom>
        </p:spPr>
        <p:txBody>
          <a:bodyPr wrap="square">
            <a:spAutoFit/>
          </a:bodyPr>
          <a:lstStyle/>
          <a:p>
            <a:r>
              <a:rPr lang="en-GB" sz="1400" noProof="0" dirty="0">
                <a:latin typeface="Helvetica Neue Light"/>
                <a:cs typeface="Helvetica Neue Light"/>
              </a:rPr>
              <a:t>http://study.com/academy/lesson/data-types-in-programming-numbers-strings-and-others.html</a:t>
            </a:r>
          </a:p>
        </p:txBody>
      </p:sp>
    </p:spTree>
    <p:extLst>
      <p:ext uri="{BB962C8B-B14F-4D97-AF65-F5344CB8AC3E}">
        <p14:creationId xmlns:p14="http://schemas.microsoft.com/office/powerpoint/2010/main" val="39359830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0144" y="2511602"/>
            <a:ext cx="8074025" cy="1477645"/>
          </a:xfrm>
          <a:prstGeom prst="rect">
            <a:avLst/>
          </a:prstGeom>
        </p:spPr>
        <p:txBody>
          <a:bodyPr vert="horz" wrap="square" lIns="0" tIns="0" rIns="0" bIns="0" rtlCol="0">
            <a:spAutoFit/>
          </a:bodyPr>
          <a:lstStyle/>
          <a:p>
            <a:pPr marL="561340" marR="5080" indent="-549275">
              <a:lnSpc>
                <a:spcPts val="5700"/>
              </a:lnSpc>
              <a:tabLst>
                <a:tab pos="1475740" algn="l"/>
                <a:tab pos="2024380" algn="l"/>
                <a:tab pos="4219575" algn="l"/>
                <a:tab pos="5133975" algn="l"/>
                <a:tab pos="6048375" algn="l"/>
              </a:tabLst>
            </a:pPr>
            <a:r>
              <a:rPr lang="en-GB" sz="4800" noProof="0" dirty="0">
                <a:latin typeface="Courier New"/>
                <a:cs typeface="Courier New"/>
              </a:rPr>
              <a:t>var	</a:t>
            </a:r>
            <a:r>
              <a:rPr lang="en-GB" sz="4800" spc="-5" noProof="0" dirty="0">
                <a:latin typeface="Courier New"/>
                <a:cs typeface="Courier New"/>
              </a:rPr>
              <a:t>messag</a:t>
            </a:r>
            <a:r>
              <a:rPr lang="en-GB" sz="4800" noProof="0" dirty="0">
                <a:latin typeface="Courier New"/>
                <a:cs typeface="Courier New"/>
              </a:rPr>
              <a:t>e =	“Hello”;  var	</a:t>
            </a:r>
            <a:r>
              <a:rPr lang="en-GB" sz="4800" spc="-5" noProof="0" dirty="0">
                <a:latin typeface="Courier New"/>
                <a:cs typeface="Courier New"/>
              </a:rPr>
              <a:t>tag</a:t>
            </a:r>
            <a:r>
              <a:rPr lang="en-GB" sz="4800" spc="2720" noProof="0" dirty="0">
                <a:latin typeface="Courier New"/>
                <a:cs typeface="Courier New"/>
              </a:rPr>
              <a:t> </a:t>
            </a:r>
            <a:r>
              <a:rPr lang="en-GB" sz="4800" noProof="0" dirty="0">
                <a:latin typeface="Courier New"/>
                <a:cs typeface="Courier New"/>
              </a:rPr>
              <a:t>=	'&lt;</a:t>
            </a:r>
            <a:r>
              <a:rPr lang="en-GB" sz="4800" noProof="0" dirty="0" err="1">
                <a:latin typeface="Courier New"/>
                <a:cs typeface="Courier New"/>
              </a:rPr>
              <a:t>br</a:t>
            </a:r>
            <a:r>
              <a:rPr lang="en-GB" sz="4800" noProof="0" dirty="0">
                <a:latin typeface="Courier New"/>
                <a:cs typeface="Courier New"/>
              </a:rPr>
              <a:t>	/&gt;';</a:t>
            </a:r>
          </a:p>
        </p:txBody>
      </p:sp>
      <p:sp>
        <p:nvSpPr>
          <p:cNvPr id="4" name="Rounded Rectangular Callout 3"/>
          <p:cNvSpPr/>
          <p:nvPr/>
        </p:nvSpPr>
        <p:spPr>
          <a:xfrm>
            <a:off x="307340" y="336906"/>
            <a:ext cx="7895533" cy="1438333"/>
          </a:xfrm>
          <a:prstGeom prst="wedgeRoundRectCallout">
            <a:avLst>
              <a:gd name="adj1" fmla="val 21931"/>
              <a:gd name="adj2" fmla="val 103956"/>
              <a:gd name="adj3" fmla="val 16667"/>
            </a:avLst>
          </a:prstGeom>
          <a:gradFill flip="none" rotWithShape="1">
            <a:gsLst>
              <a:gs pos="0">
                <a:schemeClr val="dk1">
                  <a:tint val="50000"/>
                  <a:satMod val="300000"/>
                  <a:alpha val="31000"/>
                </a:schemeClr>
              </a:gs>
              <a:gs pos="35000">
                <a:schemeClr val="dk1">
                  <a:tint val="37000"/>
                  <a:satMod val="300000"/>
                  <a:alpha val="31000"/>
                </a:schemeClr>
              </a:gs>
              <a:gs pos="100000">
                <a:schemeClr val="dk1">
                  <a:tint val="15000"/>
                  <a:satMod val="350000"/>
                  <a:alpha val="31000"/>
                </a:schemeClr>
              </a:gs>
            </a:gsLst>
            <a:lin ang="16200000" scaled="1"/>
            <a:tileRect/>
          </a:gradFill>
        </p:spPr>
        <p:style>
          <a:lnRef idx="1">
            <a:schemeClr val="dk1"/>
          </a:lnRef>
          <a:fillRef idx="2">
            <a:schemeClr val="dk1"/>
          </a:fillRef>
          <a:effectRef idx="1">
            <a:schemeClr val="dk1"/>
          </a:effectRef>
          <a:fontRef idx="minor">
            <a:schemeClr val="dk1"/>
          </a:fontRef>
        </p:style>
        <p:txBody>
          <a:bodyPr rtlCol="0" anchor="ctr"/>
          <a:lstStyle/>
          <a:p>
            <a:pPr>
              <a:lnSpc>
                <a:spcPct val="130000"/>
              </a:lnSpc>
            </a:pPr>
            <a:r>
              <a:rPr lang="en-GB" sz="2800" spc="-25" noProof="0" dirty="0">
                <a:solidFill>
                  <a:schemeClr val="tx1"/>
                </a:solidFill>
                <a:latin typeface="Helvetica Neue Light"/>
                <a:cs typeface="Helvetica Neue Light"/>
              </a:rPr>
              <a:t>To tell JavaScript the data is of type “string” the data must be enclosed in a pair of quotes.</a:t>
            </a:r>
            <a:endParaRPr lang="en-GB" sz="2800" noProof="0" dirty="0">
              <a:solidFill>
                <a:schemeClr val="tx1"/>
              </a:solidFill>
              <a:latin typeface="Helvetica Neue Light"/>
              <a:cs typeface="Helvetica Neue Light"/>
            </a:endParaRPr>
          </a:p>
        </p:txBody>
      </p:sp>
      <p:sp>
        <p:nvSpPr>
          <p:cNvPr id="5" name="Rounded Rectangular Callout 4"/>
          <p:cNvSpPr/>
          <p:nvPr/>
        </p:nvSpPr>
        <p:spPr>
          <a:xfrm>
            <a:off x="459740" y="4545147"/>
            <a:ext cx="7895533" cy="1438333"/>
          </a:xfrm>
          <a:prstGeom prst="wedgeRoundRectCallout">
            <a:avLst>
              <a:gd name="adj1" fmla="val 20618"/>
              <a:gd name="adj2" fmla="val -87035"/>
              <a:gd name="adj3" fmla="val 16667"/>
            </a:avLst>
          </a:prstGeom>
          <a:gradFill flip="none" rotWithShape="1">
            <a:gsLst>
              <a:gs pos="0">
                <a:schemeClr val="dk1">
                  <a:tint val="50000"/>
                  <a:satMod val="300000"/>
                  <a:alpha val="31000"/>
                </a:schemeClr>
              </a:gs>
              <a:gs pos="35000">
                <a:schemeClr val="dk1">
                  <a:tint val="37000"/>
                  <a:satMod val="300000"/>
                  <a:alpha val="31000"/>
                </a:schemeClr>
              </a:gs>
              <a:gs pos="100000">
                <a:schemeClr val="dk1">
                  <a:tint val="15000"/>
                  <a:satMod val="350000"/>
                  <a:alpha val="31000"/>
                </a:schemeClr>
              </a:gs>
            </a:gsLst>
            <a:lin ang="16200000" scaled="1"/>
            <a:tileRect/>
          </a:gradFill>
        </p:spPr>
        <p:style>
          <a:lnRef idx="1">
            <a:schemeClr val="dk1"/>
          </a:lnRef>
          <a:fillRef idx="2">
            <a:schemeClr val="dk1"/>
          </a:fillRef>
          <a:effectRef idx="1">
            <a:schemeClr val="dk1"/>
          </a:effectRef>
          <a:fontRef idx="minor">
            <a:schemeClr val="dk1"/>
          </a:fontRef>
        </p:style>
        <p:txBody>
          <a:bodyPr rtlCol="0" anchor="ctr"/>
          <a:lstStyle/>
          <a:p>
            <a:pPr>
              <a:lnSpc>
                <a:spcPct val="130000"/>
              </a:lnSpc>
            </a:pPr>
            <a:r>
              <a:rPr lang="en-GB" sz="2800" spc="-25" noProof="0" dirty="0">
                <a:solidFill>
                  <a:schemeClr val="tx1"/>
                </a:solidFill>
                <a:latin typeface="Helvetica Neue Light"/>
                <a:cs typeface="Helvetica Neue Light"/>
              </a:rPr>
              <a:t>They can be single or double quotes but the pair must match</a:t>
            </a:r>
            <a:endParaRPr lang="en-GB" sz="2800" noProof="0" dirty="0">
              <a:solidFill>
                <a:schemeClr val="tx1"/>
              </a:solidFill>
              <a:latin typeface="Helvetica Neue Light"/>
              <a:cs typeface="Helvetica Neue Light"/>
            </a:endParaRPr>
          </a:p>
        </p:txBody>
      </p:sp>
    </p:spTree>
    <p:extLst>
      <p:ext uri="{BB962C8B-B14F-4D97-AF65-F5344CB8AC3E}">
        <p14:creationId xmlns:p14="http://schemas.microsoft.com/office/powerpoint/2010/main" val="4178980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1673811"/>
            <a:ext cx="8074025" cy="691215"/>
          </a:xfrm>
          <a:prstGeom prst="rect">
            <a:avLst/>
          </a:prstGeom>
        </p:spPr>
        <p:txBody>
          <a:bodyPr vert="horz" wrap="square" lIns="0" tIns="0" rIns="0" bIns="0" rtlCol="0">
            <a:spAutoFit/>
          </a:bodyPr>
          <a:lstStyle/>
          <a:p>
            <a:pPr marL="561340" marR="5080" indent="-549275">
              <a:lnSpc>
                <a:spcPts val="5700"/>
              </a:lnSpc>
              <a:tabLst>
                <a:tab pos="1475740" algn="l"/>
                <a:tab pos="2024380" algn="l"/>
                <a:tab pos="4219575" algn="l"/>
                <a:tab pos="5133975" algn="l"/>
                <a:tab pos="6048375" algn="l"/>
              </a:tabLst>
            </a:pPr>
            <a:r>
              <a:rPr lang="en-GB" sz="3200" noProof="0" dirty="0">
                <a:latin typeface="Courier New"/>
                <a:cs typeface="Courier New"/>
              </a:rPr>
              <a:t>var message = ‘Mary’s house’;</a:t>
            </a:r>
          </a:p>
        </p:txBody>
      </p:sp>
      <p:sp>
        <p:nvSpPr>
          <p:cNvPr id="4" name="Rounded Rectangular Callout 3"/>
          <p:cNvSpPr/>
          <p:nvPr/>
        </p:nvSpPr>
        <p:spPr>
          <a:xfrm>
            <a:off x="307340" y="414655"/>
            <a:ext cx="7895533" cy="907056"/>
          </a:xfrm>
          <a:prstGeom prst="wedgeRoundRectCallout">
            <a:avLst>
              <a:gd name="adj1" fmla="val 12083"/>
              <a:gd name="adj2" fmla="val 102527"/>
              <a:gd name="adj3" fmla="val 16667"/>
            </a:avLst>
          </a:prstGeom>
          <a:gradFill flip="none" rotWithShape="1">
            <a:gsLst>
              <a:gs pos="0">
                <a:schemeClr val="dk1">
                  <a:tint val="50000"/>
                  <a:satMod val="300000"/>
                  <a:alpha val="31000"/>
                </a:schemeClr>
              </a:gs>
              <a:gs pos="35000">
                <a:schemeClr val="dk1">
                  <a:tint val="37000"/>
                  <a:satMod val="300000"/>
                  <a:alpha val="31000"/>
                </a:schemeClr>
              </a:gs>
              <a:gs pos="100000">
                <a:schemeClr val="dk1">
                  <a:tint val="15000"/>
                  <a:satMod val="350000"/>
                  <a:alpha val="31000"/>
                </a:schemeClr>
              </a:gs>
            </a:gsLst>
            <a:lin ang="16200000" scaled="1"/>
            <a:tileRect/>
          </a:gradFill>
        </p:spPr>
        <p:style>
          <a:lnRef idx="1">
            <a:schemeClr val="dk1"/>
          </a:lnRef>
          <a:fillRef idx="2">
            <a:schemeClr val="dk1"/>
          </a:fillRef>
          <a:effectRef idx="1">
            <a:schemeClr val="dk1"/>
          </a:effectRef>
          <a:fontRef idx="minor">
            <a:schemeClr val="dk1"/>
          </a:fontRef>
        </p:style>
        <p:txBody>
          <a:bodyPr rtlCol="0" anchor="ctr"/>
          <a:lstStyle/>
          <a:p>
            <a:pPr>
              <a:lnSpc>
                <a:spcPct val="130000"/>
              </a:lnSpc>
            </a:pPr>
            <a:r>
              <a:rPr lang="en-GB" sz="2800" spc="-25" noProof="0" dirty="0">
                <a:solidFill>
                  <a:schemeClr val="tx1"/>
                </a:solidFill>
                <a:latin typeface="Helvetica Neue Light"/>
                <a:cs typeface="Helvetica Neue Light"/>
              </a:rPr>
              <a:t>What if we what to use quotes in our string?</a:t>
            </a:r>
            <a:endParaRPr lang="en-GB" sz="2800" noProof="0" dirty="0">
              <a:solidFill>
                <a:schemeClr val="tx1"/>
              </a:solidFill>
              <a:latin typeface="Helvetica Neue Light"/>
              <a:cs typeface="Helvetica Neue Light"/>
            </a:endParaRPr>
          </a:p>
        </p:txBody>
      </p:sp>
      <p:sp>
        <p:nvSpPr>
          <p:cNvPr id="5" name="Rounded Rectangular Callout 4"/>
          <p:cNvSpPr/>
          <p:nvPr/>
        </p:nvSpPr>
        <p:spPr>
          <a:xfrm>
            <a:off x="307340" y="4379790"/>
            <a:ext cx="7895533" cy="1784944"/>
          </a:xfrm>
          <a:prstGeom prst="wedgeRoundRectCallout">
            <a:avLst>
              <a:gd name="adj1" fmla="val 12903"/>
              <a:gd name="adj2" fmla="val -88031"/>
              <a:gd name="adj3" fmla="val 16667"/>
            </a:avLst>
          </a:prstGeom>
          <a:gradFill flip="none" rotWithShape="1">
            <a:gsLst>
              <a:gs pos="0">
                <a:schemeClr val="dk1">
                  <a:tint val="50000"/>
                  <a:satMod val="300000"/>
                  <a:alpha val="31000"/>
                </a:schemeClr>
              </a:gs>
              <a:gs pos="35000">
                <a:schemeClr val="dk1">
                  <a:tint val="37000"/>
                  <a:satMod val="300000"/>
                  <a:alpha val="31000"/>
                </a:schemeClr>
              </a:gs>
              <a:gs pos="100000">
                <a:schemeClr val="dk1">
                  <a:tint val="15000"/>
                  <a:satMod val="350000"/>
                  <a:alpha val="31000"/>
                </a:schemeClr>
              </a:gs>
            </a:gsLst>
            <a:lin ang="16200000" scaled="1"/>
            <a:tileRect/>
          </a:gradFill>
        </p:spPr>
        <p:style>
          <a:lnRef idx="1">
            <a:schemeClr val="dk1"/>
          </a:lnRef>
          <a:fillRef idx="2">
            <a:schemeClr val="dk1"/>
          </a:fillRef>
          <a:effectRef idx="1">
            <a:schemeClr val="dk1"/>
          </a:effectRef>
          <a:fontRef idx="minor">
            <a:schemeClr val="dk1"/>
          </a:fontRef>
        </p:style>
        <p:txBody>
          <a:bodyPr rtlCol="0" anchor="ctr"/>
          <a:lstStyle/>
          <a:p>
            <a:pPr>
              <a:lnSpc>
                <a:spcPct val="130000"/>
              </a:lnSpc>
            </a:pPr>
            <a:r>
              <a:rPr lang="en-GB" sz="2800" spc="-25" noProof="0" dirty="0">
                <a:solidFill>
                  <a:schemeClr val="tx1"/>
                </a:solidFill>
                <a:latin typeface="Helvetica Neue Light"/>
                <a:cs typeface="Helvetica Neue Light"/>
              </a:rPr>
              <a:t>We need to ‘escape’ the quote with a backslash. This says the quote is part of the string not the end of it.</a:t>
            </a:r>
            <a:endParaRPr lang="en-GB" sz="2800" noProof="0" dirty="0">
              <a:solidFill>
                <a:schemeClr val="tx1"/>
              </a:solidFill>
              <a:latin typeface="Helvetica Neue Light"/>
              <a:cs typeface="Helvetica Neue Light"/>
            </a:endParaRPr>
          </a:p>
        </p:txBody>
      </p:sp>
      <p:sp>
        <p:nvSpPr>
          <p:cNvPr id="6" name="object 2"/>
          <p:cNvSpPr txBox="1">
            <a:spLocks/>
          </p:cNvSpPr>
          <p:nvPr/>
        </p:nvSpPr>
        <p:spPr>
          <a:xfrm>
            <a:off x="459740" y="2953553"/>
            <a:ext cx="8074025" cy="691215"/>
          </a:xfrm>
          <a:prstGeom prst="rect">
            <a:avLst/>
          </a:prstGeom>
        </p:spPr>
        <p:txBody>
          <a:bodyPr vert="horz" wrap="square" lIns="0" tIns="0" rIns="0" bIns="0" rtlCol="0" anchor="ctr">
            <a:spAutoFit/>
          </a:bodyPr>
          <a:lstStyle>
            <a:lvl1pPr algn="l" defTabSz="457200" rtl="0" eaLnBrk="1" latinLnBrk="0" hangingPunct="1">
              <a:spcBef>
                <a:spcPct val="0"/>
              </a:spcBef>
              <a:buNone/>
              <a:defRPr sz="4400" b="0" i="0" kern="1200">
                <a:solidFill>
                  <a:schemeClr val="tx1"/>
                </a:solidFill>
                <a:latin typeface="Helvetica Neue Light"/>
                <a:ea typeface="+mj-ea"/>
                <a:cs typeface="Helvetica Neue Light"/>
              </a:defRPr>
            </a:lvl1pPr>
          </a:lstStyle>
          <a:p>
            <a:pPr marL="561340" marR="5080" indent="-549275">
              <a:lnSpc>
                <a:spcPts val="5700"/>
              </a:lnSpc>
              <a:tabLst>
                <a:tab pos="1475740" algn="l"/>
                <a:tab pos="2024380" algn="l"/>
                <a:tab pos="4219575" algn="l"/>
                <a:tab pos="5133975" algn="l"/>
                <a:tab pos="6048375" algn="l"/>
              </a:tabLst>
            </a:pPr>
            <a:r>
              <a:rPr lang="en-GB" sz="3200" noProof="0" dirty="0">
                <a:latin typeface="Courier New"/>
                <a:cs typeface="Courier New"/>
              </a:rPr>
              <a:t>var message = ‘Mary\’s house’;</a:t>
            </a:r>
          </a:p>
        </p:txBody>
      </p:sp>
      <p:sp>
        <p:nvSpPr>
          <p:cNvPr id="3" name="TextBox 2"/>
          <p:cNvSpPr txBox="1"/>
          <p:nvPr/>
        </p:nvSpPr>
        <p:spPr>
          <a:xfrm>
            <a:off x="459740" y="6349697"/>
            <a:ext cx="2185401" cy="369332"/>
          </a:xfrm>
          <a:prstGeom prst="rect">
            <a:avLst/>
          </a:prstGeom>
          <a:noFill/>
        </p:spPr>
        <p:txBody>
          <a:bodyPr wrap="none" rtlCol="0">
            <a:spAutoFit/>
          </a:bodyPr>
          <a:lstStyle/>
          <a:p>
            <a:r>
              <a:rPr lang="en-GB" noProof="0" dirty="0"/>
              <a:t>Examples/string.html</a:t>
            </a:r>
          </a:p>
        </p:txBody>
      </p:sp>
      <p:pic>
        <p:nvPicPr>
          <p:cNvPr id="7" name="Picture 6">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657970" y="6254530"/>
            <a:ext cx="1115616" cy="557808"/>
          </a:xfrm>
          <a:prstGeom prst="rect">
            <a:avLst/>
          </a:prstGeom>
        </p:spPr>
      </p:pic>
    </p:spTree>
    <p:extLst>
      <p:ext uri="{BB962C8B-B14F-4D97-AF65-F5344CB8AC3E}">
        <p14:creationId xmlns:p14="http://schemas.microsoft.com/office/powerpoint/2010/main" val="1998816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txBox="1"/>
          <p:nvPr/>
        </p:nvSpPr>
        <p:spPr>
          <a:xfrm>
            <a:off x="0" y="0"/>
            <a:ext cx="9144000" cy="7009611"/>
          </a:xfrm>
          <a:prstGeom prst="rect">
            <a:avLst/>
          </a:prstGeom>
        </p:spPr>
        <p:txBody>
          <a:bodyPr vert="horz" wrap="square" lIns="0" tIns="0" rIns="0" bIns="0" rtlCol="0">
            <a:spAutoFit/>
          </a:bodyPr>
          <a:lstStyle/>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marL="320040">
              <a:lnSpc>
                <a:spcPct val="100000"/>
              </a:lnSpc>
              <a:spcBef>
                <a:spcPts val="855"/>
              </a:spcBef>
            </a:pPr>
            <a:endParaRPr lang="en-GB" sz="1400" noProof="0" dirty="0">
              <a:latin typeface="Calibri"/>
              <a:cs typeface="Calibri"/>
            </a:endParaRPr>
          </a:p>
        </p:txBody>
      </p:sp>
      <p:sp>
        <p:nvSpPr>
          <p:cNvPr id="5" name="object 5">
            <a:extLst>
              <a:ext uri="{C183D7F6-B498-43B3-948B-1728B52AA6E4}">
                <adec:decorative xmlns:adec="http://schemas.microsoft.com/office/drawing/2017/decorative" val="1"/>
              </a:ext>
            </a:extLst>
          </p:cNvPr>
          <p:cNvSpPr/>
          <p:nvPr/>
        </p:nvSpPr>
        <p:spPr>
          <a:xfrm>
            <a:off x="1783079" y="2015832"/>
            <a:ext cx="3254425" cy="2730728"/>
          </a:xfrm>
          <a:prstGeom prst="rect">
            <a:avLst/>
          </a:prstGeom>
          <a:blipFill>
            <a:blip r:embed="rId2" cstate="print"/>
            <a:stretch>
              <a:fillRect/>
            </a:stretch>
          </a:blipFill>
        </p:spPr>
        <p:txBody>
          <a:bodyPr wrap="square" lIns="0" tIns="0" rIns="0" bIns="0" rtlCol="0"/>
          <a:lstStyle/>
          <a:p>
            <a:endParaRPr lang="en-GB" noProof="0" dirty="0"/>
          </a:p>
        </p:txBody>
      </p:sp>
      <p:pic>
        <p:nvPicPr>
          <p:cNvPr id="8" name="Picture 7">
            <a:extLst>
              <a:ext uri="{FF2B5EF4-FFF2-40B4-BE49-F238E27FC236}">
                <a16:creationId xmlns:a16="http://schemas.microsoft.com/office/drawing/2014/main" id="{AEAD2356-809A-6041-BDE4-BFA753D402D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0" y="1939479"/>
            <a:ext cx="9144000" cy="2979041"/>
          </a:xfrm>
          <a:prstGeom prst="rect">
            <a:avLst/>
          </a:prstGeom>
        </p:spPr>
      </p:pic>
      <p:sp>
        <p:nvSpPr>
          <p:cNvPr id="9" name="Rectangle 8">
            <a:extLst>
              <a:ext uri="{FF2B5EF4-FFF2-40B4-BE49-F238E27FC236}">
                <a16:creationId xmlns:a16="http://schemas.microsoft.com/office/drawing/2014/main" id="{97F2288E-4EF5-0040-9501-FB85E9442485}"/>
              </a:ext>
            </a:extLst>
          </p:cNvPr>
          <p:cNvSpPr/>
          <p:nvPr/>
        </p:nvSpPr>
        <p:spPr>
          <a:xfrm>
            <a:off x="213621" y="5594733"/>
            <a:ext cx="4458656" cy="646331"/>
          </a:xfrm>
          <a:prstGeom prst="rect">
            <a:avLst/>
          </a:prstGeom>
        </p:spPr>
        <p:txBody>
          <a:bodyPr wrap="none">
            <a:spAutoFit/>
          </a:bodyPr>
          <a:lstStyle/>
          <a:p>
            <a:r>
              <a:rPr lang="en-GB" noProof="0" dirty="0">
                <a:hlinkClick r:id="rId4"/>
              </a:rPr>
              <a:t>https://www.w3schools.com/js/js_strings.asp</a:t>
            </a:r>
            <a:endParaRPr lang="en-GB" noProof="0" dirty="0"/>
          </a:p>
          <a:p>
            <a:endParaRPr lang="en-GB" noProof="0" dirty="0"/>
          </a:p>
        </p:txBody>
      </p:sp>
    </p:spTree>
    <p:extLst>
      <p:ext uri="{BB962C8B-B14F-4D97-AF65-F5344CB8AC3E}">
        <p14:creationId xmlns:p14="http://schemas.microsoft.com/office/powerpoint/2010/main" val="1036836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txBox="1"/>
          <p:nvPr/>
        </p:nvSpPr>
        <p:spPr>
          <a:xfrm>
            <a:off x="0" y="0"/>
            <a:ext cx="9144000" cy="7009611"/>
          </a:xfrm>
          <a:prstGeom prst="rect">
            <a:avLst/>
          </a:prstGeom>
        </p:spPr>
        <p:txBody>
          <a:bodyPr vert="horz" wrap="square" lIns="0" tIns="0" rIns="0" bIns="0" rtlCol="0">
            <a:spAutoFit/>
          </a:bodyPr>
          <a:lstStyle/>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marL="320040">
              <a:lnSpc>
                <a:spcPct val="100000"/>
              </a:lnSpc>
              <a:spcBef>
                <a:spcPts val="855"/>
              </a:spcBef>
            </a:pPr>
            <a:endParaRPr lang="en-GB" sz="1400" noProof="0" dirty="0">
              <a:latin typeface="Calibri"/>
              <a:cs typeface="Calibri"/>
            </a:endParaRPr>
          </a:p>
        </p:txBody>
      </p:sp>
      <p:sp>
        <p:nvSpPr>
          <p:cNvPr id="3" name="object 3">
            <a:extLst>
              <a:ext uri="{C183D7F6-B498-43B3-948B-1728B52AA6E4}">
                <adec:decorative xmlns:adec="http://schemas.microsoft.com/office/drawing/2017/decorative" val="1"/>
              </a:ext>
            </a:extLst>
          </p:cNvPr>
          <p:cNvSpPr/>
          <p:nvPr/>
        </p:nvSpPr>
        <p:spPr>
          <a:xfrm>
            <a:off x="0" y="0"/>
            <a:ext cx="9144000" cy="6857999"/>
          </a:xfrm>
          <a:prstGeom prst="rect">
            <a:avLst/>
          </a:prstGeom>
          <a:blipFill>
            <a:blip r:embed="rId2" cstate="print"/>
            <a:stretch>
              <a:fillRect/>
            </a:stretch>
          </a:blipFill>
        </p:spPr>
        <p:txBody>
          <a:bodyPr wrap="square" lIns="0" tIns="0" rIns="0" bIns="0" rtlCol="0"/>
          <a:lstStyle/>
          <a:p>
            <a:endParaRPr lang="en-GB" noProof="0" dirty="0"/>
          </a:p>
        </p:txBody>
      </p:sp>
      <p:sp>
        <p:nvSpPr>
          <p:cNvPr id="4" name="object 4">
            <a:extLst>
              <a:ext uri="{FF2B5EF4-FFF2-40B4-BE49-F238E27FC236}">
                <a16:creationId xmlns:a16="http://schemas.microsoft.com/office/drawing/2014/main" id="{3481F2B9-F154-3D9E-DA17-E57AF0BAD0CF}"/>
              </a:ext>
              <a:ext uri="{C183D7F6-B498-43B3-948B-1728B52AA6E4}">
                <adec:decorative xmlns:adec="http://schemas.microsoft.com/office/drawing/2017/decorative" val="1"/>
              </a:ext>
            </a:extLst>
          </p:cNvPr>
          <p:cNvSpPr/>
          <p:nvPr/>
        </p:nvSpPr>
        <p:spPr>
          <a:xfrm>
            <a:off x="0" y="5387974"/>
            <a:ext cx="9144000" cy="1470025"/>
          </a:xfrm>
          <a:custGeom>
            <a:avLst/>
            <a:gdLst/>
            <a:ahLst/>
            <a:cxnLst/>
            <a:rect l="l" t="t" r="r" b="b"/>
            <a:pathLst>
              <a:path w="9144000" h="1470025">
                <a:moveTo>
                  <a:pt x="0" y="0"/>
                </a:moveTo>
                <a:lnTo>
                  <a:pt x="9144000" y="0"/>
                </a:lnTo>
                <a:lnTo>
                  <a:pt x="9144000" y="1470025"/>
                </a:lnTo>
                <a:lnTo>
                  <a:pt x="0" y="1470025"/>
                </a:lnTo>
                <a:lnTo>
                  <a:pt x="0" y="0"/>
                </a:lnTo>
                <a:close/>
              </a:path>
            </a:pathLst>
          </a:custGeom>
          <a:solidFill>
            <a:srgbClr val="000000"/>
          </a:solidFill>
        </p:spPr>
        <p:txBody>
          <a:bodyPr wrap="square" lIns="0" tIns="0" rIns="0" bIns="0" rtlCol="0"/>
          <a:lstStyle/>
          <a:p>
            <a:endParaRPr lang="en-GB" noProof="0" dirty="0"/>
          </a:p>
        </p:txBody>
      </p:sp>
      <p:sp>
        <p:nvSpPr>
          <p:cNvPr id="5" name="object 5">
            <a:extLst>
              <a:ext uri="{FF2B5EF4-FFF2-40B4-BE49-F238E27FC236}">
                <a16:creationId xmlns:a16="http://schemas.microsoft.com/office/drawing/2014/main" id="{409E9436-E534-50A0-BA99-5B3CB036CD47}"/>
              </a:ext>
            </a:extLst>
          </p:cNvPr>
          <p:cNvSpPr txBox="1">
            <a:spLocks noGrp="1"/>
          </p:cNvSpPr>
          <p:nvPr>
            <p:ph type="title" idx="4294967295"/>
          </p:nvPr>
        </p:nvSpPr>
        <p:spPr>
          <a:xfrm>
            <a:off x="0" y="5718600"/>
            <a:ext cx="9144000" cy="830997"/>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457200" rtl="0" eaLnBrk="1" latinLnBrk="0" hangingPunct="1">
              <a:spcBef>
                <a:spcPct val="0"/>
              </a:spcBef>
              <a:buNone/>
              <a:defRPr sz="4400" b="0" i="0" kern="1200">
                <a:solidFill>
                  <a:schemeClr val="tx1"/>
                </a:solidFill>
                <a:latin typeface="Helvetica Neue Light"/>
                <a:ea typeface="+mj-ea"/>
                <a:cs typeface="Helvetica Neue Light"/>
              </a:defRPr>
            </a:lvl1pPr>
          </a:lstStyle>
          <a:p>
            <a:pPr marL="12700" marR="0" lvl="0" indent="0" algn="ctr" defTabSz="457200" rtl="0" eaLnBrk="1" fontAlgn="auto" latinLnBrk="0" hangingPunct="1">
              <a:lnSpc>
                <a:spcPct val="100000"/>
              </a:lnSpc>
              <a:spcBef>
                <a:spcPct val="0"/>
              </a:spcBef>
              <a:spcAft>
                <a:spcPts val="0"/>
              </a:spcAft>
              <a:buClrTx/>
              <a:buSzTx/>
              <a:buFontTx/>
              <a:buNone/>
              <a:tabLst/>
              <a:defRPr/>
            </a:pPr>
            <a:r>
              <a:rPr kumimoji="0" lang="en-GB" sz="5400" b="0" i="0" u="none" strike="noStrike" kern="1200" cap="none" spc="130" normalizeH="0" baseline="0" noProof="0" dirty="0">
                <a:ln>
                  <a:noFill/>
                </a:ln>
                <a:solidFill>
                  <a:schemeClr val="bg1"/>
                </a:solidFill>
                <a:effectLst/>
                <a:uLnTx/>
                <a:uFillTx/>
                <a:latin typeface="Helvetica Neue Light"/>
                <a:ea typeface="+mj-ea"/>
                <a:cs typeface="Helvetica Neue Light"/>
              </a:rPr>
              <a:t>Numbers</a:t>
            </a:r>
            <a:endParaRPr kumimoji="0" lang="en-GB" sz="5400" b="0" i="0" u="none" strike="noStrike" kern="1200" cap="none" spc="0" normalizeH="0" baseline="0" noProof="0" dirty="0">
              <a:ln>
                <a:noFill/>
              </a:ln>
              <a:solidFill>
                <a:schemeClr val="bg1"/>
              </a:solidFill>
              <a:effectLst/>
              <a:uLnTx/>
              <a:uFillTx/>
              <a:latin typeface="Helvetica Neue Light"/>
              <a:ea typeface="+mj-ea"/>
              <a:cs typeface="Helvetica Neue Light"/>
            </a:endParaRPr>
          </a:p>
        </p:txBody>
      </p:sp>
    </p:spTree>
    <p:extLst>
      <p:ext uri="{BB962C8B-B14F-4D97-AF65-F5344CB8AC3E}">
        <p14:creationId xmlns:p14="http://schemas.microsoft.com/office/powerpoint/2010/main" val="3640056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p:cNvSpPr txBox="1"/>
          <p:nvPr/>
        </p:nvSpPr>
        <p:spPr>
          <a:xfrm>
            <a:off x="307340" y="1618651"/>
            <a:ext cx="4384675" cy="677108"/>
          </a:xfrm>
          <a:prstGeom prst="rect">
            <a:avLst/>
          </a:prstGeom>
        </p:spPr>
        <p:txBody>
          <a:bodyPr vert="horz" wrap="square" lIns="0" tIns="0" rIns="0" bIns="0" rtlCol="0">
            <a:spAutoFit/>
          </a:bodyPr>
          <a:lstStyle/>
          <a:p>
            <a:pPr marL="12700">
              <a:lnSpc>
                <a:spcPct val="100000"/>
              </a:lnSpc>
              <a:tabLst>
                <a:tab pos="1353820" algn="l"/>
                <a:tab pos="3365500" algn="l"/>
              </a:tabLst>
            </a:pPr>
            <a:r>
              <a:rPr lang="en-GB" sz="4400" noProof="0" dirty="0">
                <a:solidFill>
                  <a:schemeClr val="bg1">
                    <a:lumMod val="50000"/>
                  </a:schemeClr>
                </a:solidFill>
                <a:latin typeface="Courier New"/>
                <a:cs typeface="Courier New"/>
              </a:rPr>
              <a:t>var	</a:t>
            </a:r>
            <a:r>
              <a:rPr lang="en-GB" sz="4400" spc="-5" noProof="0" dirty="0">
                <a:solidFill>
                  <a:schemeClr val="bg1">
                    <a:lumMod val="50000"/>
                  </a:schemeClr>
                </a:solidFill>
                <a:latin typeface="Courier New"/>
                <a:cs typeface="Courier New"/>
              </a:rPr>
              <a:t>ag</a:t>
            </a:r>
            <a:r>
              <a:rPr lang="en-GB" sz="4400" noProof="0" dirty="0">
                <a:solidFill>
                  <a:schemeClr val="bg1">
                    <a:lumMod val="50000"/>
                  </a:schemeClr>
                </a:solidFill>
                <a:latin typeface="Courier New"/>
                <a:cs typeface="Courier New"/>
              </a:rPr>
              <a:t>e =	</a:t>
            </a:r>
            <a:r>
              <a:rPr lang="en-GB" sz="4400" spc="-5" noProof="0" dirty="0">
                <a:solidFill>
                  <a:schemeClr val="bg1">
                    <a:lumMod val="50000"/>
                  </a:schemeClr>
                </a:solidFill>
                <a:latin typeface="Courier New"/>
                <a:cs typeface="Courier New"/>
              </a:rPr>
              <a:t>29;</a:t>
            </a:r>
            <a:endParaRPr lang="en-GB" sz="4400" noProof="0" dirty="0">
              <a:solidFill>
                <a:schemeClr val="bg1">
                  <a:lumMod val="50000"/>
                </a:schemeClr>
              </a:solidFill>
              <a:latin typeface="Courier New"/>
              <a:cs typeface="Courier New"/>
            </a:endParaRPr>
          </a:p>
        </p:txBody>
      </p:sp>
      <p:sp>
        <p:nvSpPr>
          <p:cNvPr id="6" name="object 2"/>
          <p:cNvSpPr txBox="1"/>
          <p:nvPr/>
        </p:nvSpPr>
        <p:spPr>
          <a:xfrm>
            <a:off x="307340" y="2839084"/>
            <a:ext cx="6688279" cy="677108"/>
          </a:xfrm>
          <a:prstGeom prst="rect">
            <a:avLst/>
          </a:prstGeom>
        </p:spPr>
        <p:txBody>
          <a:bodyPr vert="horz" wrap="square" lIns="0" tIns="0" rIns="0" bIns="0" rtlCol="0">
            <a:spAutoFit/>
          </a:bodyPr>
          <a:lstStyle/>
          <a:p>
            <a:pPr marL="12700">
              <a:lnSpc>
                <a:spcPct val="100000"/>
              </a:lnSpc>
              <a:tabLst>
                <a:tab pos="1353820" algn="l"/>
                <a:tab pos="3365500" algn="l"/>
              </a:tabLst>
            </a:pPr>
            <a:r>
              <a:rPr lang="en-GB" sz="4400" noProof="0" dirty="0">
                <a:solidFill>
                  <a:schemeClr val="bg1">
                    <a:lumMod val="50000"/>
                  </a:schemeClr>
                </a:solidFill>
                <a:latin typeface="Courier New"/>
                <a:cs typeface="Courier New"/>
              </a:rPr>
              <a:t>var	</a:t>
            </a:r>
            <a:r>
              <a:rPr lang="en-GB" sz="4400" spc="-5" noProof="0" dirty="0" err="1">
                <a:solidFill>
                  <a:schemeClr val="bg1">
                    <a:lumMod val="50000"/>
                  </a:schemeClr>
                </a:solidFill>
                <a:latin typeface="Courier New"/>
                <a:cs typeface="Courier New"/>
              </a:rPr>
              <a:t>awidth</a:t>
            </a:r>
            <a:r>
              <a:rPr lang="en-GB" sz="4400" noProof="0" dirty="0">
                <a:solidFill>
                  <a:schemeClr val="bg1">
                    <a:lumMod val="50000"/>
                  </a:schemeClr>
                </a:solidFill>
                <a:latin typeface="Courier New"/>
                <a:cs typeface="Courier New"/>
              </a:rPr>
              <a:t> =	</a:t>
            </a:r>
            <a:r>
              <a:rPr lang="en-GB" sz="4400" spc="-5" noProof="0" dirty="0">
                <a:solidFill>
                  <a:schemeClr val="bg1">
                    <a:lumMod val="50000"/>
                  </a:schemeClr>
                </a:solidFill>
                <a:latin typeface="Courier New"/>
                <a:cs typeface="Courier New"/>
              </a:rPr>
              <a:t>21.65;</a:t>
            </a:r>
            <a:endParaRPr lang="en-GB" sz="4400" noProof="0" dirty="0">
              <a:solidFill>
                <a:schemeClr val="bg1">
                  <a:lumMod val="50000"/>
                </a:schemeClr>
              </a:solidFill>
              <a:latin typeface="Courier New"/>
              <a:cs typeface="Courier New"/>
            </a:endParaRPr>
          </a:p>
        </p:txBody>
      </p:sp>
      <p:sp>
        <p:nvSpPr>
          <p:cNvPr id="7" name="object 2"/>
          <p:cNvSpPr txBox="1"/>
          <p:nvPr/>
        </p:nvSpPr>
        <p:spPr>
          <a:xfrm>
            <a:off x="307340" y="3881180"/>
            <a:ext cx="5726229" cy="677108"/>
          </a:xfrm>
          <a:prstGeom prst="rect">
            <a:avLst/>
          </a:prstGeom>
        </p:spPr>
        <p:txBody>
          <a:bodyPr vert="horz" wrap="square" lIns="0" tIns="0" rIns="0" bIns="0" rtlCol="0">
            <a:spAutoFit/>
          </a:bodyPr>
          <a:lstStyle/>
          <a:p>
            <a:pPr marL="12700">
              <a:lnSpc>
                <a:spcPct val="100000"/>
              </a:lnSpc>
              <a:tabLst>
                <a:tab pos="1353820" algn="l"/>
                <a:tab pos="3365500" algn="l"/>
              </a:tabLst>
            </a:pPr>
            <a:r>
              <a:rPr lang="en-GB" sz="4400" noProof="0" dirty="0">
                <a:solidFill>
                  <a:schemeClr val="bg1">
                    <a:lumMod val="50000"/>
                  </a:schemeClr>
                </a:solidFill>
                <a:latin typeface="Courier New"/>
                <a:cs typeface="Courier New"/>
              </a:rPr>
              <a:t>var	</a:t>
            </a:r>
            <a:r>
              <a:rPr lang="en-GB" sz="4400" spc="-5" noProof="0" dirty="0">
                <a:solidFill>
                  <a:schemeClr val="bg1">
                    <a:lumMod val="50000"/>
                  </a:schemeClr>
                </a:solidFill>
                <a:latin typeface="Courier New"/>
                <a:cs typeface="Courier New"/>
              </a:rPr>
              <a:t>cash</a:t>
            </a:r>
            <a:r>
              <a:rPr lang="en-GB" sz="4400" noProof="0" dirty="0">
                <a:solidFill>
                  <a:schemeClr val="bg1">
                    <a:lumMod val="50000"/>
                  </a:schemeClr>
                </a:solidFill>
                <a:latin typeface="Courier New"/>
                <a:cs typeface="Courier New"/>
              </a:rPr>
              <a:t> =	</a:t>
            </a:r>
            <a:r>
              <a:rPr lang="en-GB" sz="4400" spc="-5" noProof="0" dirty="0">
                <a:solidFill>
                  <a:schemeClr val="bg1">
                    <a:lumMod val="50000"/>
                  </a:schemeClr>
                </a:solidFill>
                <a:latin typeface="Courier New"/>
                <a:cs typeface="Courier New"/>
              </a:rPr>
              <a:t>15e5;</a:t>
            </a:r>
            <a:endParaRPr lang="en-GB" sz="4400" noProof="0" dirty="0">
              <a:solidFill>
                <a:schemeClr val="bg1">
                  <a:lumMod val="50000"/>
                </a:schemeClr>
              </a:solidFill>
              <a:latin typeface="Courier New"/>
              <a:cs typeface="Courier New"/>
            </a:endParaRPr>
          </a:p>
        </p:txBody>
      </p:sp>
      <p:sp>
        <p:nvSpPr>
          <p:cNvPr id="10" name="Rounded Rectangular Callout 9"/>
          <p:cNvSpPr>
            <a:spLocks noGrp="1"/>
          </p:cNvSpPr>
          <p:nvPr>
            <p:ph type="title" idx="4294967295"/>
          </p:nvPr>
        </p:nvSpPr>
        <p:spPr>
          <a:xfrm>
            <a:off x="307340" y="263964"/>
            <a:ext cx="8193583" cy="907056"/>
          </a:xfrm>
          <a:prstGeom prst="wedgeRoundRectCallout">
            <a:avLst>
              <a:gd name="adj1" fmla="val 27016"/>
              <a:gd name="adj2" fmla="val 49670"/>
              <a:gd name="adj3" fmla="val 16667"/>
            </a:avLst>
          </a:prstGeom>
          <a:gradFill flip="none" rotWithShape="1">
            <a:gsLst>
              <a:gs pos="0">
                <a:schemeClr val="dk1">
                  <a:tint val="50000"/>
                  <a:satMod val="300000"/>
                  <a:alpha val="31000"/>
                </a:schemeClr>
              </a:gs>
              <a:gs pos="35000">
                <a:schemeClr val="dk1">
                  <a:tint val="37000"/>
                  <a:satMod val="300000"/>
                  <a:alpha val="31000"/>
                </a:schemeClr>
              </a:gs>
              <a:gs pos="100000">
                <a:schemeClr val="dk1">
                  <a:tint val="15000"/>
                  <a:satMod val="350000"/>
                  <a:alpha val="31000"/>
                </a:schemeClr>
              </a:gs>
            </a:gsLst>
            <a:lin ang="16200000" scaled="1"/>
            <a:tileRect/>
          </a:gradFill>
          <a:ln w="9525" cap="flat" cmpd="sng" algn="ctr">
            <a:solidFill>
              <a:schemeClr val="dk1">
                <a:shade val="95000"/>
                <a:satMod val="105000"/>
              </a:schemeClr>
            </a:solidFill>
            <a:prstDash val="solid"/>
          </a:ln>
          <a:effectLst>
            <a:outerShdw blurRad="40000" dist="20000" dir="5400000" rotWithShape="0">
              <a:srgbClr val="000000">
                <a:alpha val="38000"/>
              </a:srgbClr>
            </a:outerShdw>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30000"/>
              </a:lnSpc>
              <a:spcBef>
                <a:spcPts val="0"/>
              </a:spcBef>
              <a:spcAft>
                <a:spcPts val="0"/>
              </a:spcAft>
              <a:buClrTx/>
              <a:buSzTx/>
              <a:buFontTx/>
              <a:buNone/>
              <a:tabLst/>
              <a:defRPr/>
            </a:pPr>
            <a:r>
              <a:rPr kumimoji="0" lang="en-GB" sz="3200" b="0" i="0" u="none" strike="noStrike" kern="1200" cap="none" spc="-25" normalizeH="0" baseline="0" noProof="0" dirty="0">
                <a:ln>
                  <a:noFill/>
                </a:ln>
                <a:solidFill>
                  <a:schemeClr val="tx1"/>
                </a:solidFill>
                <a:effectLst/>
                <a:uLnTx/>
                <a:uFillTx/>
                <a:latin typeface="Helvetica Neue Light"/>
                <a:ea typeface="+mn-ea"/>
                <a:cs typeface="Helvetica Neue Light"/>
              </a:rPr>
              <a:t>JavaScript has one number type</a:t>
            </a:r>
            <a:endParaRPr kumimoji="0" lang="en-GB" sz="3200" b="0" i="0" u="none" strike="noStrike" kern="1200" cap="none" spc="0" normalizeH="0" baseline="0" noProof="0" dirty="0">
              <a:ln>
                <a:noFill/>
              </a:ln>
              <a:solidFill>
                <a:schemeClr val="tx1"/>
              </a:solidFill>
              <a:effectLst/>
              <a:uLnTx/>
              <a:uFillTx/>
              <a:latin typeface="Helvetica Neue Light"/>
              <a:ea typeface="+mn-ea"/>
              <a:cs typeface="Helvetica Neue Light"/>
            </a:endParaRPr>
          </a:p>
        </p:txBody>
      </p:sp>
      <p:sp>
        <p:nvSpPr>
          <p:cNvPr id="11" name="Rounded Rectangular Callout 10"/>
          <p:cNvSpPr/>
          <p:nvPr/>
        </p:nvSpPr>
        <p:spPr>
          <a:xfrm>
            <a:off x="5591395" y="1372167"/>
            <a:ext cx="3552605" cy="608008"/>
          </a:xfrm>
          <a:prstGeom prst="wedgeRoundRectCallout">
            <a:avLst>
              <a:gd name="adj1" fmla="val -74660"/>
              <a:gd name="adj2" fmla="val 43957"/>
              <a:gd name="adj3" fmla="val 16667"/>
            </a:avLst>
          </a:prstGeom>
          <a:gradFill flip="none" rotWithShape="1">
            <a:gsLst>
              <a:gs pos="0">
                <a:schemeClr val="dk1">
                  <a:tint val="50000"/>
                  <a:satMod val="300000"/>
                  <a:alpha val="31000"/>
                </a:schemeClr>
              </a:gs>
              <a:gs pos="35000">
                <a:schemeClr val="dk1">
                  <a:tint val="37000"/>
                  <a:satMod val="300000"/>
                  <a:alpha val="31000"/>
                </a:schemeClr>
              </a:gs>
              <a:gs pos="100000">
                <a:schemeClr val="dk1">
                  <a:tint val="15000"/>
                  <a:satMod val="350000"/>
                  <a:alpha val="31000"/>
                </a:schemeClr>
              </a:gs>
            </a:gsLst>
            <a:lin ang="16200000" scaled="1"/>
            <a:tileRect/>
          </a:gradFill>
        </p:spPr>
        <p:style>
          <a:lnRef idx="1">
            <a:schemeClr val="dk1"/>
          </a:lnRef>
          <a:fillRef idx="2">
            <a:schemeClr val="dk1"/>
          </a:fillRef>
          <a:effectRef idx="1">
            <a:schemeClr val="dk1"/>
          </a:effectRef>
          <a:fontRef idx="minor">
            <a:schemeClr val="dk1"/>
          </a:fontRef>
        </p:style>
        <p:txBody>
          <a:bodyPr rtlCol="0" anchor="ctr"/>
          <a:lstStyle/>
          <a:p>
            <a:pPr>
              <a:lnSpc>
                <a:spcPct val="130000"/>
              </a:lnSpc>
            </a:pPr>
            <a:r>
              <a:rPr lang="en-GB" sz="2800" spc="-25" noProof="0" dirty="0">
                <a:solidFill>
                  <a:schemeClr val="tx1"/>
                </a:solidFill>
                <a:latin typeface="Helvetica Neue Light"/>
                <a:cs typeface="Helvetica Neue Light"/>
              </a:rPr>
              <a:t>It can hold integers</a:t>
            </a:r>
            <a:endParaRPr lang="en-GB" sz="2800" noProof="0" dirty="0">
              <a:solidFill>
                <a:schemeClr val="tx1"/>
              </a:solidFill>
              <a:latin typeface="Helvetica Neue Light"/>
              <a:cs typeface="Helvetica Neue Light"/>
            </a:endParaRPr>
          </a:p>
        </p:txBody>
      </p:sp>
      <p:sp>
        <p:nvSpPr>
          <p:cNvPr id="12" name="Rounded Rectangular Callout 11"/>
          <p:cNvSpPr/>
          <p:nvPr/>
        </p:nvSpPr>
        <p:spPr>
          <a:xfrm>
            <a:off x="4156483" y="2295759"/>
            <a:ext cx="4556611" cy="548861"/>
          </a:xfrm>
          <a:prstGeom prst="wedgeRoundRectCallout">
            <a:avLst>
              <a:gd name="adj1" fmla="val -26466"/>
              <a:gd name="adj2" fmla="val 71880"/>
              <a:gd name="adj3" fmla="val 16667"/>
            </a:avLst>
          </a:prstGeom>
          <a:gradFill flip="none" rotWithShape="1">
            <a:gsLst>
              <a:gs pos="0">
                <a:schemeClr val="dk1">
                  <a:tint val="50000"/>
                  <a:satMod val="300000"/>
                  <a:alpha val="31000"/>
                </a:schemeClr>
              </a:gs>
              <a:gs pos="35000">
                <a:schemeClr val="dk1">
                  <a:tint val="37000"/>
                  <a:satMod val="300000"/>
                  <a:alpha val="31000"/>
                </a:schemeClr>
              </a:gs>
              <a:gs pos="100000">
                <a:schemeClr val="dk1">
                  <a:tint val="15000"/>
                  <a:satMod val="350000"/>
                  <a:alpha val="31000"/>
                </a:schemeClr>
              </a:gs>
            </a:gsLst>
            <a:lin ang="16200000" scaled="1"/>
            <a:tileRect/>
          </a:gradFill>
        </p:spPr>
        <p:style>
          <a:lnRef idx="1">
            <a:schemeClr val="dk1"/>
          </a:lnRef>
          <a:fillRef idx="2">
            <a:schemeClr val="dk1"/>
          </a:fillRef>
          <a:effectRef idx="1">
            <a:schemeClr val="dk1"/>
          </a:effectRef>
          <a:fontRef idx="minor">
            <a:schemeClr val="dk1"/>
          </a:fontRef>
        </p:style>
        <p:txBody>
          <a:bodyPr rtlCol="0" anchor="ctr"/>
          <a:lstStyle/>
          <a:p>
            <a:pPr>
              <a:lnSpc>
                <a:spcPct val="130000"/>
              </a:lnSpc>
            </a:pPr>
            <a:r>
              <a:rPr lang="en-GB" sz="2800" spc="-25" noProof="0" dirty="0">
                <a:solidFill>
                  <a:schemeClr val="tx1"/>
                </a:solidFill>
                <a:latin typeface="Helvetica Neue Light"/>
                <a:cs typeface="Helvetica Neue Light"/>
              </a:rPr>
              <a:t>It can hold floats or decimals</a:t>
            </a:r>
            <a:endParaRPr lang="en-GB" sz="2800" noProof="0" dirty="0">
              <a:solidFill>
                <a:schemeClr val="tx1"/>
              </a:solidFill>
              <a:latin typeface="Helvetica Neue Light"/>
              <a:cs typeface="Helvetica Neue Light"/>
            </a:endParaRPr>
          </a:p>
        </p:txBody>
      </p:sp>
      <p:sp>
        <p:nvSpPr>
          <p:cNvPr id="13" name="Rounded Rectangular Callout 12"/>
          <p:cNvSpPr/>
          <p:nvPr/>
        </p:nvSpPr>
        <p:spPr>
          <a:xfrm>
            <a:off x="307340" y="4991906"/>
            <a:ext cx="7990674" cy="610164"/>
          </a:xfrm>
          <a:prstGeom prst="wedgeRoundRectCallout">
            <a:avLst>
              <a:gd name="adj1" fmla="val 4086"/>
              <a:gd name="adj2" fmla="val -108486"/>
              <a:gd name="adj3" fmla="val 16667"/>
            </a:avLst>
          </a:prstGeom>
          <a:gradFill flip="none" rotWithShape="1">
            <a:gsLst>
              <a:gs pos="0">
                <a:schemeClr val="dk1">
                  <a:tint val="50000"/>
                  <a:satMod val="300000"/>
                  <a:alpha val="31000"/>
                </a:schemeClr>
              </a:gs>
              <a:gs pos="35000">
                <a:schemeClr val="dk1">
                  <a:tint val="37000"/>
                  <a:satMod val="300000"/>
                  <a:alpha val="31000"/>
                </a:schemeClr>
              </a:gs>
              <a:gs pos="100000">
                <a:schemeClr val="dk1">
                  <a:tint val="15000"/>
                  <a:satMod val="350000"/>
                  <a:alpha val="31000"/>
                </a:schemeClr>
              </a:gs>
            </a:gsLst>
            <a:lin ang="16200000" scaled="1"/>
            <a:tileRect/>
          </a:gradFill>
        </p:spPr>
        <p:style>
          <a:lnRef idx="1">
            <a:schemeClr val="dk1"/>
          </a:lnRef>
          <a:fillRef idx="2">
            <a:schemeClr val="dk1"/>
          </a:fillRef>
          <a:effectRef idx="1">
            <a:schemeClr val="dk1"/>
          </a:effectRef>
          <a:fontRef idx="minor">
            <a:schemeClr val="dk1"/>
          </a:fontRef>
        </p:style>
        <p:txBody>
          <a:bodyPr rtlCol="0" anchor="ctr"/>
          <a:lstStyle/>
          <a:p>
            <a:pPr>
              <a:lnSpc>
                <a:spcPct val="130000"/>
              </a:lnSpc>
            </a:pPr>
            <a:r>
              <a:rPr lang="en-GB" sz="2800" spc="-25" noProof="0" dirty="0">
                <a:solidFill>
                  <a:schemeClr val="tx1"/>
                </a:solidFill>
                <a:latin typeface="Helvetica Neue Light"/>
                <a:cs typeface="Helvetica Neue Light"/>
              </a:rPr>
              <a:t>It can hold large number with scientific notation</a:t>
            </a:r>
            <a:endParaRPr lang="en-GB" sz="2800" noProof="0" dirty="0">
              <a:solidFill>
                <a:schemeClr val="tx1"/>
              </a:solidFill>
              <a:latin typeface="Helvetica Neue Light"/>
              <a:cs typeface="Helvetica Neue Light"/>
            </a:endParaRPr>
          </a:p>
        </p:txBody>
      </p:sp>
    </p:spTree>
    <p:extLst>
      <p:ext uri="{BB962C8B-B14F-4D97-AF65-F5344CB8AC3E}">
        <p14:creationId xmlns:p14="http://schemas.microsoft.com/office/powerpoint/2010/main" val="1100601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596101" y="1190366"/>
            <a:ext cx="7943698" cy="317009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2065" marR="5080" lvl="0" indent="-635" algn="l" defTabSz="457200" rtl="0" eaLnBrk="1" fontAlgn="auto" latinLnBrk="0" hangingPunct="1">
              <a:lnSpc>
                <a:spcPct val="130000"/>
              </a:lnSpc>
              <a:spcBef>
                <a:spcPts val="0"/>
              </a:spcBef>
              <a:spcAft>
                <a:spcPts val="0"/>
              </a:spcAft>
              <a:buClrTx/>
              <a:buSzTx/>
              <a:buFontTx/>
              <a:buNone/>
              <a:tabLst>
                <a:tab pos="2369185" algn="l"/>
                <a:tab pos="2476500" algn="l"/>
                <a:tab pos="2783205" algn="l"/>
                <a:tab pos="4833620" algn="l"/>
                <a:tab pos="5290185" algn="l"/>
                <a:tab pos="6676390" algn="l"/>
              </a:tabLst>
              <a:defRPr/>
            </a:pPr>
            <a:r>
              <a:rPr kumimoji="0" lang="en-GB" sz="4000" b="0" i="0" u="none" strike="noStrike" kern="1200" cap="none" spc="300" normalizeH="0" baseline="0" noProof="0" dirty="0">
                <a:ln>
                  <a:noFill/>
                </a:ln>
                <a:solidFill>
                  <a:schemeClr val="bg1">
                    <a:lumMod val="50000"/>
                  </a:schemeClr>
                </a:solidFill>
                <a:effectLst/>
                <a:uLnTx/>
                <a:uFillTx/>
                <a:latin typeface="Helvetica Neue Light"/>
                <a:ea typeface="+mn-ea"/>
                <a:cs typeface="Helvetica Neue Light"/>
              </a:rPr>
              <a:t>“different types are used to describe different data, and different types have different operations.”</a:t>
            </a:r>
          </a:p>
        </p:txBody>
      </p:sp>
    </p:spTree>
    <p:extLst>
      <p:ext uri="{BB962C8B-B14F-4D97-AF65-F5344CB8AC3E}">
        <p14:creationId xmlns:p14="http://schemas.microsoft.com/office/powerpoint/2010/main" val="27030101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783754729"/>
              </p:ext>
            </p:extLst>
          </p:nvPr>
        </p:nvGraphicFramePr>
        <p:xfrm>
          <a:off x="464751" y="1219484"/>
          <a:ext cx="4525563" cy="1054100"/>
        </p:xfrm>
        <a:graphic>
          <a:graphicData uri="http://schemas.openxmlformats.org/drawingml/2006/table">
            <a:tbl>
              <a:tblPr firstRow="1" bandRow="1">
                <a:tableStyleId>{2D5ABB26-0587-4C30-8999-92F81FD0307C}</a:tableStyleId>
              </a:tblPr>
              <a:tblGrid>
                <a:gridCol w="769107">
                  <a:extLst>
                    <a:ext uri="{9D8B030D-6E8A-4147-A177-3AD203B41FA5}">
                      <a16:colId xmlns:a16="http://schemas.microsoft.com/office/drawing/2014/main" val="20000"/>
                    </a:ext>
                  </a:extLst>
                </a:gridCol>
                <a:gridCol w="2133946">
                  <a:extLst>
                    <a:ext uri="{9D8B030D-6E8A-4147-A177-3AD203B41FA5}">
                      <a16:colId xmlns:a16="http://schemas.microsoft.com/office/drawing/2014/main" val="20001"/>
                    </a:ext>
                  </a:extLst>
                </a:gridCol>
                <a:gridCol w="426783">
                  <a:extLst>
                    <a:ext uri="{9D8B030D-6E8A-4147-A177-3AD203B41FA5}">
                      <a16:colId xmlns:a16="http://schemas.microsoft.com/office/drawing/2014/main" val="20002"/>
                    </a:ext>
                  </a:extLst>
                </a:gridCol>
                <a:gridCol w="1195727">
                  <a:extLst>
                    <a:ext uri="{9D8B030D-6E8A-4147-A177-3AD203B41FA5}">
                      <a16:colId xmlns:a16="http://schemas.microsoft.com/office/drawing/2014/main" val="20003"/>
                    </a:ext>
                  </a:extLst>
                </a:gridCol>
              </a:tblGrid>
              <a:tr h="527050">
                <a:tc>
                  <a:txBody>
                    <a:bodyPr/>
                    <a:lstStyle/>
                    <a:p>
                      <a:pPr marL="22225">
                        <a:lnSpc>
                          <a:spcPts val="3120"/>
                        </a:lnSpc>
                      </a:pPr>
                      <a:r>
                        <a:rPr lang="en-GB" sz="2800" noProof="0" dirty="0">
                          <a:solidFill>
                            <a:srgbClr val="FFFFFF"/>
                          </a:solidFill>
                          <a:latin typeface="Courier New"/>
                          <a:cs typeface="Courier New"/>
                        </a:rPr>
                        <a:t>var</a:t>
                      </a:r>
                      <a:endParaRPr lang="en-GB" sz="2800" noProof="0" dirty="0">
                        <a:latin typeface="Courier New"/>
                        <a:cs typeface="Courier New"/>
                      </a:endParaRPr>
                    </a:p>
                  </a:txBody>
                  <a:tcPr marL="0" marR="0" marT="0" marB="0"/>
                </a:tc>
                <a:tc>
                  <a:txBody>
                    <a:bodyPr/>
                    <a:lstStyle/>
                    <a:p>
                      <a:pPr algn="ctr">
                        <a:lnSpc>
                          <a:spcPts val="3120"/>
                        </a:lnSpc>
                      </a:pPr>
                      <a:r>
                        <a:rPr lang="en-GB" sz="2800" noProof="0" dirty="0" err="1">
                          <a:solidFill>
                            <a:srgbClr val="FFFFFF"/>
                          </a:solidFill>
                          <a:latin typeface="Courier New"/>
                          <a:cs typeface="Courier New"/>
                        </a:rPr>
                        <a:t>numberOne</a:t>
                      </a:r>
                      <a:endParaRPr lang="en-GB" sz="2800" noProof="0" dirty="0">
                        <a:latin typeface="Courier New"/>
                        <a:cs typeface="Courier New"/>
                      </a:endParaRPr>
                    </a:p>
                  </a:txBody>
                  <a:tcPr marL="0" marR="0" marT="0" marB="0"/>
                </a:tc>
                <a:tc>
                  <a:txBody>
                    <a:bodyPr/>
                    <a:lstStyle/>
                    <a:p>
                      <a:pPr algn="ctr">
                        <a:lnSpc>
                          <a:spcPts val="3120"/>
                        </a:lnSpc>
                      </a:pPr>
                      <a:r>
                        <a:rPr lang="en-GB" sz="2800" noProof="0" dirty="0">
                          <a:solidFill>
                            <a:srgbClr val="FFFFFF"/>
                          </a:solidFill>
                          <a:latin typeface="Courier New"/>
                          <a:cs typeface="Courier New"/>
                        </a:rPr>
                        <a:t>=</a:t>
                      </a:r>
                      <a:endParaRPr lang="en-GB" sz="2800" noProof="0" dirty="0">
                        <a:latin typeface="Courier New"/>
                        <a:cs typeface="Courier New"/>
                      </a:endParaRPr>
                    </a:p>
                  </a:txBody>
                  <a:tcPr marL="0" marR="0" marT="0" marB="0"/>
                </a:tc>
                <a:tc>
                  <a:txBody>
                    <a:bodyPr/>
                    <a:lstStyle/>
                    <a:p>
                      <a:pPr marL="106680">
                        <a:lnSpc>
                          <a:spcPts val="3120"/>
                        </a:lnSpc>
                      </a:pPr>
                      <a:r>
                        <a:rPr lang="en-GB" sz="2800" spc="-5" noProof="0" dirty="0">
                          <a:solidFill>
                            <a:srgbClr val="FFFFFF"/>
                          </a:solidFill>
                          <a:latin typeface="Courier New"/>
                          <a:cs typeface="Courier New"/>
                        </a:rPr>
                        <a:t>1;</a:t>
                      </a:r>
                      <a:endParaRPr lang="en-GB" sz="2800" noProof="0" dirty="0">
                        <a:latin typeface="Courier New"/>
                        <a:cs typeface="Courier New"/>
                      </a:endParaRPr>
                    </a:p>
                  </a:txBody>
                  <a:tcPr marL="0" marR="0" marT="0" marB="0"/>
                </a:tc>
                <a:extLst>
                  <a:ext uri="{0D108BD9-81ED-4DB2-BD59-A6C34878D82A}">
                    <a16:rowId xmlns:a16="http://schemas.microsoft.com/office/drawing/2014/main" val="10000"/>
                  </a:ext>
                </a:extLst>
              </a:tr>
              <a:tr h="527050">
                <a:tc>
                  <a:txBody>
                    <a:bodyPr/>
                    <a:lstStyle/>
                    <a:p>
                      <a:pPr marL="22225">
                        <a:lnSpc>
                          <a:spcPct val="100000"/>
                        </a:lnSpc>
                        <a:spcBef>
                          <a:spcPts val="105"/>
                        </a:spcBef>
                      </a:pPr>
                      <a:r>
                        <a:rPr lang="en-GB" sz="2800" noProof="0" dirty="0">
                          <a:solidFill>
                            <a:srgbClr val="FFFFFF"/>
                          </a:solidFill>
                          <a:latin typeface="Courier New"/>
                          <a:cs typeface="Courier New"/>
                        </a:rPr>
                        <a:t>var</a:t>
                      </a:r>
                      <a:endParaRPr lang="en-GB" sz="2800" noProof="0" dirty="0">
                        <a:latin typeface="Courier New"/>
                        <a:cs typeface="Courier New"/>
                      </a:endParaRPr>
                    </a:p>
                  </a:txBody>
                  <a:tcPr marL="0" marR="0" marT="0" marB="0"/>
                </a:tc>
                <a:tc>
                  <a:txBody>
                    <a:bodyPr/>
                    <a:lstStyle/>
                    <a:p>
                      <a:pPr algn="ctr">
                        <a:lnSpc>
                          <a:spcPct val="100000"/>
                        </a:lnSpc>
                        <a:spcBef>
                          <a:spcPts val="105"/>
                        </a:spcBef>
                      </a:pPr>
                      <a:r>
                        <a:rPr lang="en-GB" sz="2800" noProof="0" dirty="0" err="1">
                          <a:solidFill>
                            <a:srgbClr val="FFFFFF"/>
                          </a:solidFill>
                          <a:latin typeface="Courier New"/>
                          <a:cs typeface="Courier New"/>
                        </a:rPr>
                        <a:t>numberTwo</a:t>
                      </a:r>
                      <a:endParaRPr lang="en-GB" sz="2800" noProof="0" dirty="0">
                        <a:latin typeface="Courier New"/>
                        <a:cs typeface="Courier New"/>
                      </a:endParaRPr>
                    </a:p>
                  </a:txBody>
                  <a:tcPr marL="0" marR="0" marT="0" marB="0"/>
                </a:tc>
                <a:tc>
                  <a:txBody>
                    <a:bodyPr/>
                    <a:lstStyle/>
                    <a:p>
                      <a:pPr algn="ctr">
                        <a:lnSpc>
                          <a:spcPct val="100000"/>
                        </a:lnSpc>
                        <a:spcBef>
                          <a:spcPts val="105"/>
                        </a:spcBef>
                      </a:pPr>
                      <a:r>
                        <a:rPr lang="en-GB" sz="2800" noProof="0" dirty="0">
                          <a:solidFill>
                            <a:srgbClr val="FFFFFF"/>
                          </a:solidFill>
                          <a:latin typeface="Courier New"/>
                          <a:cs typeface="Courier New"/>
                        </a:rPr>
                        <a:t>=</a:t>
                      </a:r>
                      <a:endParaRPr lang="en-GB" sz="2800" noProof="0" dirty="0">
                        <a:latin typeface="Courier New"/>
                        <a:cs typeface="Courier New"/>
                      </a:endParaRPr>
                    </a:p>
                  </a:txBody>
                  <a:tcPr marL="0" marR="0" marT="0" marB="0"/>
                </a:tc>
                <a:tc>
                  <a:txBody>
                    <a:bodyPr/>
                    <a:lstStyle/>
                    <a:p>
                      <a:pPr marL="106680">
                        <a:lnSpc>
                          <a:spcPct val="100000"/>
                        </a:lnSpc>
                        <a:spcBef>
                          <a:spcPts val="105"/>
                        </a:spcBef>
                      </a:pPr>
                      <a:r>
                        <a:rPr lang="en-GB" sz="2800" spc="-5" noProof="0" dirty="0">
                          <a:solidFill>
                            <a:srgbClr val="FFFFFF"/>
                          </a:solidFill>
                          <a:latin typeface="Courier New"/>
                          <a:cs typeface="Courier New"/>
                        </a:rPr>
                        <a:t>2.00;</a:t>
                      </a:r>
                      <a:endParaRPr lang="en-GB" sz="2800" noProof="0" dirty="0">
                        <a:latin typeface="Courier New"/>
                        <a:cs typeface="Courier New"/>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a:spLocks noGrp="1"/>
          </p:cNvSpPr>
          <p:nvPr>
            <p:ph type="title"/>
          </p:nvPr>
        </p:nvSpPr>
        <p:spPr>
          <a:xfrm>
            <a:off x="464751" y="1024941"/>
            <a:ext cx="4933950" cy="3487672"/>
          </a:xfrm>
          <a:prstGeom prst="rect">
            <a:avLst/>
          </a:prstGeom>
        </p:spPr>
        <p:txBody>
          <a:bodyPr vert="horz" wrap="square" lIns="0" tIns="0" rIns="0" bIns="0" rtlCol="0">
            <a:spAutoFit/>
          </a:bodyPr>
          <a:lstStyle/>
          <a:p>
            <a:pPr marL="12700" marR="5080">
              <a:lnSpc>
                <a:spcPct val="135900"/>
              </a:lnSpc>
              <a:tabLst>
                <a:tab pos="866140" algn="l"/>
                <a:tab pos="3213100" algn="l"/>
                <a:tab pos="3426460" algn="l"/>
                <a:tab pos="3639820" algn="l"/>
                <a:tab pos="3853179" algn="l"/>
                <a:tab pos="4707255" algn="l"/>
              </a:tabLst>
            </a:pPr>
            <a:r>
              <a:rPr lang="en-GB" sz="2800" noProof="0" dirty="0">
                <a:solidFill>
                  <a:schemeClr val="bg1">
                    <a:lumMod val="50000"/>
                  </a:schemeClr>
                </a:solidFill>
                <a:latin typeface="Courier New"/>
                <a:cs typeface="Courier New"/>
              </a:rPr>
              <a:t>var </a:t>
            </a:r>
            <a:r>
              <a:rPr lang="en-GB" sz="2800" noProof="0" dirty="0" err="1">
                <a:solidFill>
                  <a:schemeClr val="bg1">
                    <a:lumMod val="50000"/>
                  </a:schemeClr>
                </a:solidFill>
                <a:latin typeface="Courier New"/>
                <a:cs typeface="Courier New"/>
              </a:rPr>
              <a:t>numberOne</a:t>
            </a:r>
            <a:r>
              <a:rPr lang="en-GB" sz="2800" noProof="0" dirty="0">
                <a:solidFill>
                  <a:schemeClr val="bg1">
                    <a:lumMod val="50000"/>
                  </a:schemeClr>
                </a:solidFill>
                <a:latin typeface="Courier New"/>
                <a:cs typeface="Courier New"/>
              </a:rPr>
              <a:t> = 1;</a:t>
            </a:r>
            <a:br>
              <a:rPr lang="en-GB" sz="2800" noProof="0" dirty="0">
                <a:solidFill>
                  <a:schemeClr val="bg1">
                    <a:lumMod val="50000"/>
                  </a:schemeClr>
                </a:solidFill>
                <a:latin typeface="Courier New"/>
                <a:cs typeface="Courier New"/>
              </a:rPr>
            </a:br>
            <a:r>
              <a:rPr lang="en-GB" sz="2800" noProof="0" dirty="0">
                <a:solidFill>
                  <a:schemeClr val="bg1">
                    <a:lumMod val="50000"/>
                  </a:schemeClr>
                </a:solidFill>
                <a:latin typeface="Courier New"/>
                <a:cs typeface="Courier New"/>
              </a:rPr>
              <a:t>var </a:t>
            </a:r>
            <a:r>
              <a:rPr lang="en-GB" sz="2800" noProof="0" dirty="0" err="1">
                <a:solidFill>
                  <a:schemeClr val="bg1">
                    <a:lumMod val="50000"/>
                  </a:schemeClr>
                </a:solidFill>
                <a:latin typeface="Courier New"/>
                <a:cs typeface="Courier New"/>
              </a:rPr>
              <a:t>numberTwo</a:t>
            </a:r>
            <a:r>
              <a:rPr lang="en-GB" sz="2800" noProof="0" dirty="0">
                <a:solidFill>
                  <a:schemeClr val="bg1">
                    <a:lumMod val="50000"/>
                  </a:schemeClr>
                </a:solidFill>
                <a:latin typeface="Courier New"/>
                <a:cs typeface="Courier New"/>
              </a:rPr>
              <a:t> = 2.00;</a:t>
            </a:r>
            <a:br>
              <a:rPr lang="en-GB" sz="2800" noProof="0" dirty="0">
                <a:solidFill>
                  <a:schemeClr val="bg1">
                    <a:lumMod val="50000"/>
                  </a:schemeClr>
                </a:solidFill>
                <a:latin typeface="Courier New"/>
                <a:cs typeface="Courier New"/>
              </a:rPr>
            </a:br>
            <a:r>
              <a:rPr lang="en-GB" sz="2800" noProof="0" dirty="0">
                <a:solidFill>
                  <a:schemeClr val="bg1">
                    <a:lumMod val="50000"/>
                  </a:schemeClr>
                </a:solidFill>
                <a:latin typeface="Courier New"/>
                <a:cs typeface="Courier New"/>
              </a:rPr>
              <a:t>var	</a:t>
            </a:r>
            <a:r>
              <a:rPr lang="en-GB" sz="2800" noProof="0" dirty="0" err="1">
                <a:solidFill>
                  <a:schemeClr val="bg1">
                    <a:lumMod val="50000"/>
                  </a:schemeClr>
                </a:solidFill>
                <a:latin typeface="Courier New"/>
                <a:cs typeface="Courier New"/>
              </a:rPr>
              <a:t>numberThree</a:t>
            </a:r>
            <a:r>
              <a:rPr lang="en-GB" sz="2800" noProof="0" dirty="0">
                <a:solidFill>
                  <a:schemeClr val="bg1">
                    <a:lumMod val="50000"/>
                  </a:schemeClr>
                </a:solidFill>
                <a:latin typeface="Courier New"/>
                <a:cs typeface="Courier New"/>
              </a:rPr>
              <a:t>	=	</a:t>
            </a:r>
            <a:r>
              <a:rPr lang="en-GB" sz="2800" spc="-5" noProof="0" dirty="0">
                <a:solidFill>
                  <a:schemeClr val="bg1">
                    <a:lumMod val="50000"/>
                  </a:schemeClr>
                </a:solidFill>
                <a:latin typeface="Courier New"/>
                <a:cs typeface="Courier New"/>
              </a:rPr>
              <a:t>“3”;  </a:t>
            </a:r>
            <a:r>
              <a:rPr lang="en-GB" sz="2800" noProof="0" dirty="0">
                <a:solidFill>
                  <a:schemeClr val="bg1">
                    <a:lumMod val="50000"/>
                  </a:schemeClr>
                </a:solidFill>
                <a:latin typeface="Courier New"/>
                <a:cs typeface="Courier New"/>
              </a:rPr>
              <a:t>var	</a:t>
            </a:r>
            <a:r>
              <a:rPr lang="en-GB" sz="2800" noProof="0" dirty="0" err="1">
                <a:solidFill>
                  <a:schemeClr val="bg1">
                    <a:lumMod val="50000"/>
                  </a:schemeClr>
                </a:solidFill>
                <a:latin typeface="Courier New"/>
                <a:cs typeface="Courier New"/>
              </a:rPr>
              <a:t>numberFour</a:t>
            </a:r>
            <a:r>
              <a:rPr lang="en-GB" sz="2800" noProof="0" dirty="0">
                <a:solidFill>
                  <a:schemeClr val="bg1">
                    <a:lumMod val="50000"/>
                  </a:schemeClr>
                </a:solidFill>
                <a:latin typeface="Courier New"/>
                <a:cs typeface="Courier New"/>
              </a:rPr>
              <a:t>	=	</a:t>
            </a:r>
            <a:r>
              <a:rPr lang="en-GB" sz="2800" spc="-5" noProof="0" dirty="0">
                <a:solidFill>
                  <a:schemeClr val="bg1">
                    <a:lumMod val="50000"/>
                  </a:schemeClr>
                </a:solidFill>
                <a:latin typeface="Courier New"/>
                <a:cs typeface="Courier New"/>
              </a:rPr>
              <a:t>“4”;  </a:t>
            </a:r>
            <a:r>
              <a:rPr lang="en-GB" sz="2800" noProof="0" dirty="0">
                <a:solidFill>
                  <a:schemeClr val="bg1">
                    <a:lumMod val="50000"/>
                  </a:schemeClr>
                </a:solidFill>
                <a:latin typeface="Courier New"/>
                <a:cs typeface="Courier New"/>
              </a:rPr>
              <a:t>console.log(</a:t>
            </a:r>
            <a:r>
              <a:rPr lang="en-GB" sz="2800" noProof="0" dirty="0" err="1">
                <a:solidFill>
                  <a:schemeClr val="bg1">
                    <a:lumMod val="50000"/>
                  </a:schemeClr>
                </a:solidFill>
                <a:latin typeface="Courier New"/>
                <a:cs typeface="Courier New"/>
              </a:rPr>
              <a:t>numberOne</a:t>
            </a:r>
            <a:r>
              <a:rPr lang="en-GB" sz="2800" noProof="0" dirty="0">
                <a:solidFill>
                  <a:schemeClr val="bg1">
                    <a:lumMod val="50000"/>
                  </a:schemeClr>
                </a:solidFill>
                <a:latin typeface="Courier New"/>
                <a:cs typeface="Courier New"/>
              </a:rPr>
              <a:t>	+  console.log(</a:t>
            </a:r>
            <a:r>
              <a:rPr lang="en-GB" sz="2800" noProof="0" dirty="0" err="1">
                <a:solidFill>
                  <a:schemeClr val="bg1">
                    <a:lumMod val="50000"/>
                  </a:schemeClr>
                </a:solidFill>
                <a:latin typeface="Courier New"/>
                <a:cs typeface="Courier New"/>
              </a:rPr>
              <a:t>numberThree</a:t>
            </a:r>
            <a:endParaRPr lang="en-GB" sz="2800" noProof="0" dirty="0">
              <a:solidFill>
                <a:schemeClr val="bg1">
                  <a:lumMod val="50000"/>
                </a:schemeClr>
              </a:solidFill>
              <a:latin typeface="Courier New"/>
              <a:cs typeface="Courier New"/>
            </a:endParaRPr>
          </a:p>
        </p:txBody>
      </p:sp>
      <p:sp>
        <p:nvSpPr>
          <p:cNvPr id="4" name="object 4"/>
          <p:cNvSpPr txBox="1"/>
          <p:nvPr/>
        </p:nvSpPr>
        <p:spPr>
          <a:xfrm>
            <a:off x="5595752" y="4084320"/>
            <a:ext cx="3013075" cy="430887"/>
          </a:xfrm>
          <a:prstGeom prst="rect">
            <a:avLst/>
          </a:prstGeom>
        </p:spPr>
        <p:txBody>
          <a:bodyPr vert="horz" wrap="square" lIns="0" tIns="0" rIns="0" bIns="0" rtlCol="0">
            <a:spAutoFit/>
          </a:bodyPr>
          <a:lstStyle/>
          <a:p>
            <a:pPr marL="12700">
              <a:lnSpc>
                <a:spcPct val="100000"/>
              </a:lnSpc>
              <a:tabLst>
                <a:tab pos="439420" algn="l"/>
              </a:tabLst>
            </a:pPr>
            <a:r>
              <a:rPr lang="en-GB" sz="2800" noProof="0" dirty="0">
                <a:solidFill>
                  <a:schemeClr val="bg1">
                    <a:lumMod val="50000"/>
                  </a:schemeClr>
                </a:solidFill>
                <a:latin typeface="Courier New"/>
                <a:cs typeface="Courier New"/>
              </a:rPr>
              <a:t>+	</a:t>
            </a:r>
            <a:r>
              <a:rPr lang="en-GB" sz="2800" noProof="0" dirty="0" err="1">
                <a:solidFill>
                  <a:schemeClr val="bg1">
                    <a:lumMod val="50000"/>
                  </a:schemeClr>
                </a:solidFill>
                <a:latin typeface="Courier New"/>
                <a:cs typeface="Courier New"/>
              </a:rPr>
              <a:t>numberFour</a:t>
            </a:r>
            <a:r>
              <a:rPr lang="en-GB" sz="2800" noProof="0" dirty="0">
                <a:solidFill>
                  <a:schemeClr val="bg1">
                    <a:lumMod val="50000"/>
                  </a:schemeClr>
                </a:solidFill>
                <a:latin typeface="Courier New"/>
                <a:cs typeface="Courier New"/>
              </a:rPr>
              <a:t>);</a:t>
            </a:r>
          </a:p>
        </p:txBody>
      </p:sp>
      <p:sp>
        <p:nvSpPr>
          <p:cNvPr id="5" name="object 5">
            <a:extLst>
              <a:ext uri="{C183D7F6-B498-43B3-948B-1728B52AA6E4}">
                <adec:decorative xmlns:adec="http://schemas.microsoft.com/office/drawing/2017/decorative" val="1"/>
              </a:ext>
            </a:extLst>
          </p:cNvPr>
          <p:cNvSpPr/>
          <p:nvPr/>
        </p:nvSpPr>
        <p:spPr>
          <a:xfrm>
            <a:off x="4546004" y="2177935"/>
            <a:ext cx="2819080" cy="1353515"/>
          </a:xfrm>
          <a:prstGeom prst="rect">
            <a:avLst/>
          </a:prstGeom>
          <a:blipFill>
            <a:blip r:embed="rId2" cstate="print"/>
            <a:stretch>
              <a:fillRect/>
            </a:stretch>
          </a:blipFill>
        </p:spPr>
        <p:txBody>
          <a:bodyPr wrap="square" lIns="0" tIns="0" rIns="0" bIns="0" rtlCol="0"/>
          <a:lstStyle/>
          <a:p>
            <a:endParaRPr lang="en-GB" noProof="0" dirty="0">
              <a:solidFill>
                <a:schemeClr val="bg1">
                  <a:lumMod val="50000"/>
                </a:schemeClr>
              </a:solidFill>
            </a:endParaRPr>
          </a:p>
        </p:txBody>
      </p:sp>
      <p:sp>
        <p:nvSpPr>
          <p:cNvPr id="6" name="object 6">
            <a:extLst>
              <a:ext uri="{C183D7F6-B498-43B3-948B-1728B52AA6E4}">
                <adec:decorative xmlns:adec="http://schemas.microsoft.com/office/drawing/2017/decorative" val="1"/>
              </a:ext>
            </a:extLst>
          </p:cNvPr>
          <p:cNvSpPr/>
          <p:nvPr/>
        </p:nvSpPr>
        <p:spPr>
          <a:xfrm>
            <a:off x="6625246" y="2248588"/>
            <a:ext cx="432262" cy="1018308"/>
          </a:xfrm>
          <a:prstGeom prst="rect">
            <a:avLst/>
          </a:prstGeom>
          <a:blipFill>
            <a:blip r:embed="rId3" cstate="print"/>
            <a:stretch>
              <a:fillRect/>
            </a:stretch>
          </a:blipFill>
        </p:spPr>
        <p:txBody>
          <a:bodyPr wrap="square" lIns="0" tIns="0" rIns="0" bIns="0" rtlCol="0"/>
          <a:lstStyle/>
          <a:p>
            <a:endParaRPr lang="en-GB" noProof="0" dirty="0">
              <a:solidFill>
                <a:schemeClr val="bg1">
                  <a:lumMod val="50000"/>
                </a:schemeClr>
              </a:solidFill>
            </a:endParaRPr>
          </a:p>
        </p:txBody>
      </p:sp>
      <p:sp>
        <p:nvSpPr>
          <p:cNvPr id="7" name="object 7">
            <a:extLst>
              <a:ext uri="{C183D7F6-B498-43B3-948B-1728B52AA6E4}">
                <adec:decorative xmlns:adec="http://schemas.microsoft.com/office/drawing/2017/decorative" val="1"/>
              </a:ext>
            </a:extLst>
          </p:cNvPr>
          <p:cNvSpPr/>
          <p:nvPr/>
        </p:nvSpPr>
        <p:spPr>
          <a:xfrm>
            <a:off x="4325873" y="2209800"/>
            <a:ext cx="2989326" cy="1321650"/>
          </a:xfrm>
          <a:prstGeom prst="rect">
            <a:avLst/>
          </a:prstGeom>
          <a:blipFill>
            <a:blip r:embed="rId4" cstate="print"/>
            <a:stretch>
              <a:fillRect/>
            </a:stretch>
          </a:blipFill>
        </p:spPr>
        <p:txBody>
          <a:bodyPr wrap="square" lIns="0" tIns="0" rIns="0" bIns="0" rtlCol="0"/>
          <a:lstStyle/>
          <a:p>
            <a:endParaRPr lang="en-GB" noProof="0" dirty="0">
              <a:solidFill>
                <a:schemeClr val="bg1">
                  <a:lumMod val="50000"/>
                </a:schemeClr>
              </a:solidFill>
            </a:endParaRPr>
          </a:p>
        </p:txBody>
      </p:sp>
      <p:sp>
        <p:nvSpPr>
          <p:cNvPr id="8" name="object 8">
            <a:extLst>
              <a:ext uri="{C183D7F6-B498-43B3-948B-1728B52AA6E4}">
                <adec:decorative xmlns:adec="http://schemas.microsoft.com/office/drawing/2017/decorative" val="1"/>
              </a:ext>
            </a:extLst>
          </p:cNvPr>
          <p:cNvSpPr/>
          <p:nvPr/>
        </p:nvSpPr>
        <p:spPr>
          <a:xfrm>
            <a:off x="4325881" y="2209800"/>
            <a:ext cx="2989580" cy="1322070"/>
          </a:xfrm>
          <a:custGeom>
            <a:avLst/>
            <a:gdLst/>
            <a:ahLst/>
            <a:cxnLst/>
            <a:rect l="l" t="t" r="r" b="b"/>
            <a:pathLst>
              <a:path w="2989579" h="1322070">
                <a:moveTo>
                  <a:pt x="2074918" y="0"/>
                </a:moveTo>
                <a:lnTo>
                  <a:pt x="2227318" y="0"/>
                </a:lnTo>
                <a:lnTo>
                  <a:pt x="2455918" y="0"/>
                </a:lnTo>
                <a:lnTo>
                  <a:pt x="2989317" y="0"/>
                </a:lnTo>
                <a:lnTo>
                  <a:pt x="2989317" y="533399"/>
                </a:lnTo>
                <a:lnTo>
                  <a:pt x="2989317" y="761999"/>
                </a:lnTo>
                <a:lnTo>
                  <a:pt x="2989317" y="914399"/>
                </a:lnTo>
                <a:lnTo>
                  <a:pt x="2455918" y="914399"/>
                </a:lnTo>
                <a:lnTo>
                  <a:pt x="2227318" y="914399"/>
                </a:lnTo>
                <a:lnTo>
                  <a:pt x="2074918" y="914399"/>
                </a:lnTo>
                <a:lnTo>
                  <a:pt x="2074918" y="761999"/>
                </a:lnTo>
                <a:lnTo>
                  <a:pt x="0" y="1321658"/>
                </a:lnTo>
                <a:lnTo>
                  <a:pt x="2074918" y="533399"/>
                </a:lnTo>
                <a:lnTo>
                  <a:pt x="2074918" y="0"/>
                </a:lnTo>
                <a:close/>
              </a:path>
            </a:pathLst>
          </a:custGeom>
          <a:ln w="9524">
            <a:solidFill>
              <a:srgbClr val="0045AA"/>
            </a:solidFill>
          </a:ln>
        </p:spPr>
        <p:txBody>
          <a:bodyPr wrap="square" lIns="0" tIns="0" rIns="0" bIns="0" rtlCol="0"/>
          <a:lstStyle/>
          <a:p>
            <a:endParaRPr lang="en-GB" noProof="0" dirty="0">
              <a:solidFill>
                <a:schemeClr val="bg1">
                  <a:lumMod val="50000"/>
                </a:schemeClr>
              </a:solidFill>
            </a:endParaRPr>
          </a:p>
        </p:txBody>
      </p:sp>
      <p:sp>
        <p:nvSpPr>
          <p:cNvPr id="9" name="object 9"/>
          <p:cNvSpPr txBox="1"/>
          <p:nvPr/>
        </p:nvSpPr>
        <p:spPr>
          <a:xfrm>
            <a:off x="5595754" y="2301240"/>
            <a:ext cx="2372995" cy="1661795"/>
          </a:xfrm>
          <a:prstGeom prst="rect">
            <a:avLst/>
          </a:prstGeom>
        </p:spPr>
        <p:txBody>
          <a:bodyPr vert="horz" wrap="square" lIns="0" tIns="0" rIns="0" bIns="0" rtlCol="0">
            <a:spAutoFit/>
          </a:bodyPr>
          <a:lstStyle/>
          <a:p>
            <a:pPr marL="156845" algn="ctr">
              <a:lnSpc>
                <a:spcPct val="100000"/>
              </a:lnSpc>
            </a:pPr>
            <a:r>
              <a:rPr lang="en-GB" sz="4800" spc="25" noProof="0" dirty="0">
                <a:solidFill>
                  <a:schemeClr val="bg1">
                    <a:lumMod val="50000"/>
                  </a:schemeClr>
                </a:solidFill>
                <a:latin typeface="Calibri"/>
                <a:cs typeface="Calibri"/>
              </a:rPr>
              <a:t>3</a:t>
            </a:r>
            <a:endParaRPr lang="en-GB" sz="4800" noProof="0" dirty="0">
              <a:solidFill>
                <a:schemeClr val="bg1">
                  <a:lumMod val="50000"/>
                </a:schemeClr>
              </a:solidFill>
              <a:latin typeface="Calibri"/>
              <a:cs typeface="Calibri"/>
            </a:endParaRPr>
          </a:p>
          <a:p>
            <a:pPr marL="12700">
              <a:lnSpc>
                <a:spcPct val="100000"/>
              </a:lnSpc>
              <a:spcBef>
                <a:spcPts val="3679"/>
              </a:spcBef>
            </a:pPr>
            <a:r>
              <a:rPr lang="en-GB" sz="2800" spc="-5" noProof="0" dirty="0" err="1">
                <a:solidFill>
                  <a:schemeClr val="bg1">
                    <a:lumMod val="50000"/>
                  </a:schemeClr>
                </a:solidFill>
                <a:latin typeface="Courier New"/>
                <a:cs typeface="Courier New"/>
              </a:rPr>
              <a:t>numberTwo</a:t>
            </a:r>
            <a:r>
              <a:rPr lang="en-GB" sz="2800" spc="-5" noProof="0" dirty="0">
                <a:solidFill>
                  <a:schemeClr val="bg1">
                    <a:lumMod val="50000"/>
                  </a:schemeClr>
                </a:solidFill>
                <a:latin typeface="Courier New"/>
                <a:cs typeface="Courier New"/>
              </a:rPr>
              <a:t>);</a:t>
            </a:r>
            <a:endParaRPr lang="en-GB" sz="2800" noProof="0" dirty="0">
              <a:solidFill>
                <a:schemeClr val="bg1">
                  <a:lumMod val="50000"/>
                </a:schemeClr>
              </a:solidFill>
              <a:latin typeface="Courier New"/>
              <a:cs typeface="Courier New"/>
            </a:endParaRPr>
          </a:p>
        </p:txBody>
      </p:sp>
      <p:sp>
        <p:nvSpPr>
          <p:cNvPr id="10" name="object 10">
            <a:extLst>
              <a:ext uri="{C183D7F6-B498-43B3-948B-1728B52AA6E4}">
                <adec:decorative xmlns:adec="http://schemas.microsoft.com/office/drawing/2017/decorative" val="1"/>
              </a:ext>
            </a:extLst>
          </p:cNvPr>
          <p:cNvSpPr/>
          <p:nvPr/>
        </p:nvSpPr>
        <p:spPr>
          <a:xfrm>
            <a:off x="1018308" y="4592780"/>
            <a:ext cx="3578631" cy="1267691"/>
          </a:xfrm>
          <a:prstGeom prst="rect">
            <a:avLst/>
          </a:prstGeom>
          <a:blipFill>
            <a:blip r:embed="rId5" cstate="print"/>
            <a:stretch>
              <a:fillRect/>
            </a:stretch>
          </a:blipFill>
        </p:spPr>
        <p:txBody>
          <a:bodyPr wrap="square" lIns="0" tIns="0" rIns="0" bIns="0" rtlCol="0"/>
          <a:lstStyle/>
          <a:p>
            <a:endParaRPr lang="en-GB" noProof="0" dirty="0">
              <a:solidFill>
                <a:schemeClr val="bg1">
                  <a:lumMod val="50000"/>
                </a:schemeClr>
              </a:solidFill>
            </a:endParaRPr>
          </a:p>
        </p:txBody>
      </p:sp>
      <p:sp>
        <p:nvSpPr>
          <p:cNvPr id="11" name="object 11">
            <a:extLst>
              <a:ext uri="{C183D7F6-B498-43B3-948B-1728B52AA6E4}">
                <adec:decorative xmlns:adec="http://schemas.microsoft.com/office/drawing/2017/decorative" val="1"/>
              </a:ext>
            </a:extLst>
          </p:cNvPr>
          <p:cNvSpPr/>
          <p:nvPr/>
        </p:nvSpPr>
        <p:spPr>
          <a:xfrm>
            <a:off x="1138843" y="4916977"/>
            <a:ext cx="777240" cy="1018308"/>
          </a:xfrm>
          <a:prstGeom prst="rect">
            <a:avLst/>
          </a:prstGeom>
          <a:blipFill>
            <a:blip r:embed="rId6" cstate="print"/>
            <a:stretch>
              <a:fillRect/>
            </a:stretch>
          </a:blipFill>
        </p:spPr>
        <p:txBody>
          <a:bodyPr wrap="square" lIns="0" tIns="0" rIns="0" bIns="0" rtlCol="0"/>
          <a:lstStyle/>
          <a:p>
            <a:endParaRPr lang="en-GB" noProof="0" dirty="0">
              <a:solidFill>
                <a:schemeClr val="bg1">
                  <a:lumMod val="50000"/>
                </a:schemeClr>
              </a:solidFill>
            </a:endParaRPr>
          </a:p>
        </p:txBody>
      </p:sp>
      <p:sp>
        <p:nvSpPr>
          <p:cNvPr id="12" name="object 12">
            <a:extLst>
              <a:ext uri="{C183D7F6-B498-43B3-948B-1728B52AA6E4}">
                <adec:decorative xmlns:adec="http://schemas.microsoft.com/office/drawing/2017/decorative" val="1"/>
              </a:ext>
            </a:extLst>
          </p:cNvPr>
          <p:cNvSpPr/>
          <p:nvPr/>
        </p:nvSpPr>
        <p:spPr>
          <a:xfrm>
            <a:off x="1066800" y="4623663"/>
            <a:ext cx="3479203" cy="1167536"/>
          </a:xfrm>
          <a:prstGeom prst="rect">
            <a:avLst/>
          </a:prstGeom>
          <a:blipFill>
            <a:blip r:embed="rId7" cstate="print"/>
            <a:stretch>
              <a:fillRect/>
            </a:stretch>
          </a:blipFill>
        </p:spPr>
        <p:txBody>
          <a:bodyPr wrap="square" lIns="0" tIns="0" rIns="0" bIns="0" rtlCol="0"/>
          <a:lstStyle/>
          <a:p>
            <a:endParaRPr lang="en-GB" noProof="0" dirty="0">
              <a:solidFill>
                <a:schemeClr val="bg1">
                  <a:lumMod val="50000"/>
                </a:schemeClr>
              </a:solidFill>
            </a:endParaRPr>
          </a:p>
        </p:txBody>
      </p:sp>
      <p:sp>
        <p:nvSpPr>
          <p:cNvPr id="13" name="object 13">
            <a:extLst>
              <a:ext uri="{C183D7F6-B498-43B3-948B-1728B52AA6E4}">
                <adec:decorative xmlns:adec="http://schemas.microsoft.com/office/drawing/2017/decorative" val="1"/>
              </a:ext>
            </a:extLst>
          </p:cNvPr>
          <p:cNvSpPr/>
          <p:nvPr/>
        </p:nvSpPr>
        <p:spPr>
          <a:xfrm>
            <a:off x="1066800" y="4623658"/>
            <a:ext cx="3479800" cy="1167765"/>
          </a:xfrm>
          <a:custGeom>
            <a:avLst/>
            <a:gdLst/>
            <a:ahLst/>
            <a:cxnLst/>
            <a:rect l="l" t="t" r="r" b="b"/>
            <a:pathLst>
              <a:path w="3479800" h="1167764">
                <a:moveTo>
                  <a:pt x="0" y="253141"/>
                </a:moveTo>
                <a:lnTo>
                  <a:pt x="533399" y="253141"/>
                </a:lnTo>
                <a:lnTo>
                  <a:pt x="761999" y="253141"/>
                </a:lnTo>
                <a:lnTo>
                  <a:pt x="914399" y="253141"/>
                </a:lnTo>
                <a:lnTo>
                  <a:pt x="914399" y="405541"/>
                </a:lnTo>
                <a:lnTo>
                  <a:pt x="3479207" y="0"/>
                </a:lnTo>
                <a:lnTo>
                  <a:pt x="914399" y="634141"/>
                </a:lnTo>
                <a:lnTo>
                  <a:pt x="914399" y="1167541"/>
                </a:lnTo>
                <a:lnTo>
                  <a:pt x="761999" y="1167541"/>
                </a:lnTo>
                <a:lnTo>
                  <a:pt x="533399" y="1167541"/>
                </a:lnTo>
                <a:lnTo>
                  <a:pt x="0" y="1167541"/>
                </a:lnTo>
                <a:lnTo>
                  <a:pt x="0" y="634141"/>
                </a:lnTo>
                <a:lnTo>
                  <a:pt x="0" y="405541"/>
                </a:lnTo>
                <a:lnTo>
                  <a:pt x="0" y="253141"/>
                </a:lnTo>
                <a:close/>
              </a:path>
            </a:pathLst>
          </a:custGeom>
          <a:ln w="9524">
            <a:solidFill>
              <a:srgbClr val="0045AA"/>
            </a:solidFill>
          </a:ln>
        </p:spPr>
        <p:txBody>
          <a:bodyPr wrap="square" lIns="0" tIns="0" rIns="0" bIns="0" rtlCol="0"/>
          <a:lstStyle/>
          <a:p>
            <a:endParaRPr lang="en-GB" noProof="0" dirty="0">
              <a:solidFill>
                <a:schemeClr val="bg1">
                  <a:lumMod val="50000"/>
                </a:schemeClr>
              </a:solidFill>
            </a:endParaRPr>
          </a:p>
        </p:txBody>
      </p:sp>
      <p:sp>
        <p:nvSpPr>
          <p:cNvPr id="14" name="object 14"/>
          <p:cNvSpPr txBox="1"/>
          <p:nvPr/>
        </p:nvSpPr>
        <p:spPr>
          <a:xfrm>
            <a:off x="1201115" y="4968240"/>
            <a:ext cx="650875" cy="749300"/>
          </a:xfrm>
          <a:prstGeom prst="rect">
            <a:avLst/>
          </a:prstGeom>
        </p:spPr>
        <p:txBody>
          <a:bodyPr vert="horz" wrap="square" lIns="0" tIns="0" rIns="0" bIns="0" rtlCol="0">
            <a:spAutoFit/>
          </a:bodyPr>
          <a:lstStyle/>
          <a:p>
            <a:pPr marL="12700">
              <a:lnSpc>
                <a:spcPct val="100000"/>
              </a:lnSpc>
            </a:pPr>
            <a:r>
              <a:rPr lang="en-GB" sz="4800" spc="25" noProof="0" dirty="0">
                <a:solidFill>
                  <a:schemeClr val="bg1">
                    <a:lumMod val="50000"/>
                  </a:schemeClr>
                </a:solidFill>
                <a:latin typeface="Calibri"/>
                <a:cs typeface="Calibri"/>
              </a:rPr>
              <a:t>34</a:t>
            </a:r>
            <a:endParaRPr lang="en-GB" sz="4800" noProof="0" dirty="0">
              <a:solidFill>
                <a:schemeClr val="bg1">
                  <a:lumMod val="50000"/>
                </a:schemeClr>
              </a:solidFill>
              <a:latin typeface="Calibri"/>
              <a:cs typeface="Calibri"/>
            </a:endParaRPr>
          </a:p>
        </p:txBody>
      </p:sp>
      <p:sp>
        <p:nvSpPr>
          <p:cNvPr id="15" name="TextBox 14">
            <a:extLst>
              <a:ext uri="{FF2B5EF4-FFF2-40B4-BE49-F238E27FC236}">
                <a16:creationId xmlns:a16="http://schemas.microsoft.com/office/drawing/2014/main" id="{F491BC00-AFE0-997A-4DBA-59AD50915274}"/>
              </a:ext>
            </a:extLst>
          </p:cNvPr>
          <p:cNvSpPr txBox="1"/>
          <p:nvPr/>
        </p:nvSpPr>
        <p:spPr>
          <a:xfrm>
            <a:off x="5116969" y="6192042"/>
            <a:ext cx="2310761" cy="369332"/>
          </a:xfrm>
          <a:prstGeom prst="rect">
            <a:avLst/>
          </a:prstGeom>
          <a:noFill/>
        </p:spPr>
        <p:txBody>
          <a:bodyPr wrap="none" rtlCol="0">
            <a:spAutoFit/>
          </a:bodyPr>
          <a:lstStyle/>
          <a:p>
            <a:r>
              <a:rPr lang="en-GB" noProof="0" dirty="0"/>
              <a:t>Examples/slide13.html</a:t>
            </a:r>
          </a:p>
        </p:txBody>
      </p:sp>
      <p:pic>
        <p:nvPicPr>
          <p:cNvPr id="16" name="Picture 15">
            <a:extLst>
              <a:ext uri="{FF2B5EF4-FFF2-40B4-BE49-F238E27FC236}">
                <a16:creationId xmlns:a16="http://schemas.microsoft.com/office/drawing/2014/main" id="{3FE62B25-FD2B-C7CD-0C57-7907A74A2D85}"/>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7315199" y="6096875"/>
            <a:ext cx="1115616" cy="557808"/>
          </a:xfrm>
          <a:prstGeom prst="rect">
            <a:avLst/>
          </a:prstGeom>
        </p:spPr>
      </p:pic>
    </p:spTree>
    <p:extLst>
      <p:ext uri="{BB962C8B-B14F-4D97-AF65-F5344CB8AC3E}">
        <p14:creationId xmlns:p14="http://schemas.microsoft.com/office/powerpoint/2010/main" val="19739986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596101" y="555426"/>
            <a:ext cx="7943698" cy="1658916"/>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2065" marR="5080" lvl="0" indent="-635" algn="l" defTabSz="457200" rtl="0" eaLnBrk="1" fontAlgn="auto" latinLnBrk="0" hangingPunct="1">
              <a:lnSpc>
                <a:spcPct val="130000"/>
              </a:lnSpc>
              <a:spcBef>
                <a:spcPts val="0"/>
              </a:spcBef>
              <a:spcAft>
                <a:spcPts val="0"/>
              </a:spcAft>
              <a:buClrTx/>
              <a:buSzTx/>
              <a:buFontTx/>
              <a:buNone/>
              <a:tabLst>
                <a:tab pos="2369185" algn="l"/>
                <a:tab pos="2476500" algn="l"/>
                <a:tab pos="2783205" algn="l"/>
                <a:tab pos="4833620" algn="l"/>
                <a:tab pos="5290185" algn="l"/>
                <a:tab pos="6676390" algn="l"/>
              </a:tabLst>
              <a:defRPr/>
            </a:pPr>
            <a:r>
              <a:rPr kumimoji="0" lang="en-GB" sz="2800" b="0" i="0" u="none" strike="noStrike" kern="1200" cap="none" spc="300" normalizeH="0" baseline="0" noProof="0" dirty="0">
                <a:ln>
                  <a:noFill/>
                </a:ln>
                <a:solidFill>
                  <a:schemeClr val="bg1">
                    <a:lumMod val="50000"/>
                  </a:schemeClr>
                </a:solidFill>
                <a:effectLst/>
                <a:uLnTx/>
                <a:uFillTx/>
                <a:latin typeface="Helvetica Neue Light"/>
                <a:ea typeface="+mn-ea"/>
                <a:cs typeface="Helvetica Neue Light"/>
              </a:rPr>
              <a:t>“JavaScript has dynamic data types, This means the same variable can be used as different types.”</a:t>
            </a:r>
          </a:p>
        </p:txBody>
      </p:sp>
      <p:sp>
        <p:nvSpPr>
          <p:cNvPr id="4" name="object 3"/>
          <p:cNvSpPr txBox="1"/>
          <p:nvPr/>
        </p:nvSpPr>
        <p:spPr>
          <a:xfrm>
            <a:off x="596101" y="6071746"/>
            <a:ext cx="5831426" cy="276999"/>
          </a:xfrm>
          <a:prstGeom prst="rect">
            <a:avLst/>
          </a:prstGeom>
        </p:spPr>
        <p:txBody>
          <a:bodyPr vert="horz" wrap="square" lIns="0" tIns="0" rIns="0" bIns="0" rtlCol="0">
            <a:spAutoFit/>
          </a:bodyPr>
          <a:lstStyle/>
          <a:p>
            <a:pPr marL="12700">
              <a:lnSpc>
                <a:spcPct val="100000"/>
              </a:lnSpc>
            </a:pPr>
            <a:r>
              <a:rPr lang="en-GB" noProof="0" dirty="0">
                <a:solidFill>
                  <a:srgbClr val="FFFFFF"/>
                </a:solidFill>
                <a:latin typeface="Helvetica Neue Light"/>
                <a:cs typeface="Helvetica Neue Light"/>
                <a:hlinkClick r:id="rId2"/>
              </a:rPr>
              <a:t>http://www.w3schools.com/js/js_datatypes.asp</a:t>
            </a:r>
            <a:endParaRPr lang="en-GB" noProof="0" dirty="0">
              <a:latin typeface="Helvetica Neue Light"/>
              <a:cs typeface="Helvetica Neue Light"/>
            </a:endParaRPr>
          </a:p>
        </p:txBody>
      </p:sp>
      <p:pic>
        <p:nvPicPr>
          <p:cNvPr id="5" name="Picture 4">
            <a:extLs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101" y="2661006"/>
            <a:ext cx="7463548" cy="2586967"/>
          </a:xfrm>
          <a:prstGeom prst="rect">
            <a:avLst/>
          </a:prstGeom>
        </p:spPr>
      </p:pic>
    </p:spTree>
    <p:extLst>
      <p:ext uri="{BB962C8B-B14F-4D97-AF65-F5344CB8AC3E}">
        <p14:creationId xmlns:p14="http://schemas.microsoft.com/office/powerpoint/2010/main" val="3047527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txBox="1"/>
          <p:nvPr/>
        </p:nvSpPr>
        <p:spPr>
          <a:xfrm>
            <a:off x="0" y="0"/>
            <a:ext cx="9144000" cy="7009611"/>
          </a:xfrm>
          <a:prstGeom prst="rect">
            <a:avLst/>
          </a:prstGeom>
        </p:spPr>
        <p:txBody>
          <a:bodyPr vert="horz" wrap="square" lIns="0" tIns="0" rIns="0" bIns="0" rtlCol="0">
            <a:spAutoFit/>
          </a:bodyPr>
          <a:lstStyle/>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marL="320040">
              <a:lnSpc>
                <a:spcPct val="100000"/>
              </a:lnSpc>
              <a:spcBef>
                <a:spcPts val="855"/>
              </a:spcBef>
            </a:pPr>
            <a:endParaRPr lang="en-GB" sz="1400" noProof="0" dirty="0">
              <a:latin typeface="Calibri"/>
              <a:cs typeface="Calibri"/>
            </a:endParaRPr>
          </a:p>
        </p:txBody>
      </p:sp>
      <p:sp>
        <p:nvSpPr>
          <p:cNvPr id="3" name="object 3">
            <a:extLst>
              <a:ext uri="{C183D7F6-B498-43B3-948B-1728B52AA6E4}">
                <adec:decorative xmlns:adec="http://schemas.microsoft.com/office/drawing/2017/decorative" val="1"/>
              </a:ext>
            </a:extLst>
          </p:cNvPr>
          <p:cNvSpPr/>
          <p:nvPr/>
        </p:nvSpPr>
        <p:spPr>
          <a:xfrm>
            <a:off x="0" y="0"/>
            <a:ext cx="9144000" cy="6857999"/>
          </a:xfrm>
          <a:prstGeom prst="rect">
            <a:avLst/>
          </a:prstGeom>
          <a:blipFill>
            <a:blip r:embed="rId2" cstate="print"/>
            <a:stretch>
              <a:fillRect/>
            </a:stretch>
          </a:blipFill>
        </p:spPr>
        <p:txBody>
          <a:bodyPr wrap="square" lIns="0" tIns="0" rIns="0" bIns="0" rtlCol="0"/>
          <a:lstStyle/>
          <a:p>
            <a:endParaRPr lang="en-GB" noProof="0" dirty="0"/>
          </a:p>
        </p:txBody>
      </p:sp>
      <p:sp>
        <p:nvSpPr>
          <p:cNvPr id="4" name="object 4"/>
          <p:cNvSpPr txBox="1">
            <a:spLocks noGrp="1"/>
          </p:cNvSpPr>
          <p:nvPr>
            <p:ph type="title"/>
          </p:nvPr>
        </p:nvSpPr>
        <p:spPr>
          <a:xfrm>
            <a:off x="2539910" y="2556827"/>
            <a:ext cx="4159751" cy="1363345"/>
          </a:xfrm>
          <a:prstGeom prst="rect">
            <a:avLst/>
          </a:prstGeom>
        </p:spPr>
        <p:txBody>
          <a:bodyPr vert="horz" wrap="square" lIns="0" tIns="0" rIns="0" bIns="0" rtlCol="0">
            <a:spAutoFit/>
          </a:bodyPr>
          <a:lstStyle/>
          <a:p>
            <a:pPr marL="12700">
              <a:lnSpc>
                <a:spcPct val="100000"/>
              </a:lnSpc>
            </a:pPr>
            <a:r>
              <a:rPr lang="en-GB" sz="8800" spc="105" noProof="0" dirty="0"/>
              <a:t>Boolean</a:t>
            </a:r>
            <a:endParaRPr lang="en-GB" sz="8800" noProof="0" dirty="0"/>
          </a:p>
        </p:txBody>
      </p:sp>
    </p:spTree>
    <p:extLst>
      <p:ext uri="{BB962C8B-B14F-4D97-AF65-F5344CB8AC3E}">
        <p14:creationId xmlns:p14="http://schemas.microsoft.com/office/powerpoint/2010/main" val="10346604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73592" y="2796552"/>
            <a:ext cx="6396990" cy="1350010"/>
          </a:xfrm>
          <a:prstGeom prst="rect">
            <a:avLst/>
          </a:prstGeom>
        </p:spPr>
        <p:txBody>
          <a:bodyPr vert="horz" wrap="square" lIns="0" tIns="0" rIns="0" bIns="0" rtlCol="0">
            <a:spAutoFit/>
          </a:bodyPr>
          <a:lstStyle/>
          <a:p>
            <a:pPr marL="12700" marR="5080">
              <a:lnSpc>
                <a:spcPts val="5200"/>
              </a:lnSpc>
              <a:tabLst>
                <a:tab pos="1353820" algn="l"/>
                <a:tab pos="4036060" algn="l"/>
                <a:tab pos="4707255" algn="l"/>
              </a:tabLst>
            </a:pPr>
            <a:r>
              <a:rPr lang="en-GB" sz="4400" noProof="0" dirty="0">
                <a:solidFill>
                  <a:schemeClr val="bg1">
                    <a:lumMod val="50000"/>
                  </a:schemeClr>
                </a:solidFill>
                <a:latin typeface="Courier New"/>
                <a:cs typeface="Courier New"/>
              </a:rPr>
              <a:t>var	</a:t>
            </a:r>
            <a:r>
              <a:rPr lang="en-GB" sz="4400" spc="-5" noProof="0" dirty="0">
                <a:solidFill>
                  <a:schemeClr val="bg1">
                    <a:lumMod val="50000"/>
                  </a:schemeClr>
                </a:solidFill>
                <a:latin typeface="Courier New"/>
                <a:cs typeface="Courier New"/>
              </a:rPr>
              <a:t>correc</a:t>
            </a:r>
            <a:r>
              <a:rPr lang="en-GB" sz="4400" noProof="0" dirty="0">
                <a:solidFill>
                  <a:schemeClr val="bg1">
                    <a:lumMod val="50000"/>
                  </a:schemeClr>
                </a:solidFill>
                <a:latin typeface="Courier New"/>
                <a:cs typeface="Courier New"/>
              </a:rPr>
              <a:t>t =	true;  var	</a:t>
            </a:r>
            <a:r>
              <a:rPr lang="en-GB" sz="4400" spc="-5" noProof="0" dirty="0">
                <a:solidFill>
                  <a:schemeClr val="bg1">
                    <a:lumMod val="50000"/>
                  </a:schemeClr>
                </a:solidFill>
                <a:latin typeface="Courier New"/>
                <a:cs typeface="Courier New"/>
              </a:rPr>
              <a:t>wrong</a:t>
            </a:r>
            <a:r>
              <a:rPr lang="en-GB" sz="4400" spc="2495" noProof="0" dirty="0">
                <a:solidFill>
                  <a:schemeClr val="bg1">
                    <a:lumMod val="50000"/>
                  </a:schemeClr>
                </a:solidFill>
                <a:latin typeface="Courier New"/>
                <a:cs typeface="Courier New"/>
              </a:rPr>
              <a:t> </a:t>
            </a:r>
            <a:r>
              <a:rPr lang="en-GB" sz="4400" noProof="0" dirty="0">
                <a:solidFill>
                  <a:schemeClr val="bg1">
                    <a:lumMod val="50000"/>
                  </a:schemeClr>
                </a:solidFill>
                <a:latin typeface="Courier New"/>
                <a:cs typeface="Courier New"/>
              </a:rPr>
              <a:t>=	 </a:t>
            </a:r>
            <a:r>
              <a:rPr lang="en-GB" sz="4400" spc="-5" noProof="0" dirty="0">
                <a:solidFill>
                  <a:schemeClr val="bg1">
                    <a:lumMod val="50000"/>
                  </a:schemeClr>
                </a:solidFill>
                <a:latin typeface="Courier New"/>
                <a:cs typeface="Courier New"/>
              </a:rPr>
              <a:t>false;</a:t>
            </a:r>
            <a:endParaRPr lang="en-GB" sz="4400" noProof="0" dirty="0">
              <a:solidFill>
                <a:schemeClr val="bg1">
                  <a:lumMod val="50000"/>
                </a:schemeClr>
              </a:solidFill>
              <a:latin typeface="Courier New"/>
              <a:cs typeface="Courier New"/>
            </a:endParaRPr>
          </a:p>
        </p:txBody>
      </p:sp>
      <p:sp>
        <p:nvSpPr>
          <p:cNvPr id="8" name="object 8"/>
          <p:cNvSpPr txBox="1"/>
          <p:nvPr/>
        </p:nvSpPr>
        <p:spPr>
          <a:xfrm>
            <a:off x="673592" y="5304720"/>
            <a:ext cx="6116780" cy="276999"/>
          </a:xfrm>
          <a:prstGeom prst="rect">
            <a:avLst/>
          </a:prstGeom>
        </p:spPr>
        <p:txBody>
          <a:bodyPr vert="horz" wrap="square" lIns="0" tIns="0" rIns="0" bIns="0" rtlCol="0">
            <a:spAutoFit/>
          </a:bodyPr>
          <a:lstStyle/>
          <a:p>
            <a:pPr marL="12700">
              <a:lnSpc>
                <a:spcPct val="100000"/>
              </a:lnSpc>
            </a:pPr>
            <a:r>
              <a:rPr lang="en-GB" u="heavy" noProof="0" dirty="0">
                <a:solidFill>
                  <a:schemeClr val="bg1">
                    <a:lumMod val="50000"/>
                  </a:schemeClr>
                </a:solidFill>
                <a:latin typeface="Helvetica Neue Light"/>
                <a:cs typeface="Helvetica Neue Light"/>
                <a:hlinkClick r:id="rId2"/>
              </a:rPr>
              <a:t>http://www.w3schools.com/jsref/jsref_obj_boolean.asp</a:t>
            </a:r>
            <a:endParaRPr lang="en-GB" noProof="0" dirty="0">
              <a:solidFill>
                <a:schemeClr val="bg1">
                  <a:lumMod val="50000"/>
                </a:schemeClr>
              </a:solidFill>
              <a:latin typeface="Helvetica Neue Light"/>
              <a:cs typeface="Helvetica Neue Light"/>
            </a:endParaRPr>
          </a:p>
        </p:txBody>
      </p:sp>
      <p:sp>
        <p:nvSpPr>
          <p:cNvPr id="10" name="Rounded Rectangular Callout 9"/>
          <p:cNvSpPr>
            <a:spLocks noGrp="1"/>
          </p:cNvSpPr>
          <p:nvPr>
            <p:ph type="title" idx="4294967295"/>
          </p:nvPr>
        </p:nvSpPr>
        <p:spPr>
          <a:xfrm>
            <a:off x="673592" y="427613"/>
            <a:ext cx="7827331" cy="1632702"/>
          </a:xfrm>
          <a:prstGeom prst="wedgeRoundRectCallout">
            <a:avLst>
              <a:gd name="adj1" fmla="val 20214"/>
              <a:gd name="adj2" fmla="val 94249"/>
              <a:gd name="adj3" fmla="val 16667"/>
            </a:avLst>
          </a:prstGeom>
          <a:gradFill flip="none" rotWithShape="1">
            <a:gsLst>
              <a:gs pos="0">
                <a:schemeClr val="dk1">
                  <a:tint val="50000"/>
                  <a:satMod val="300000"/>
                  <a:alpha val="31000"/>
                </a:schemeClr>
              </a:gs>
              <a:gs pos="35000">
                <a:schemeClr val="dk1">
                  <a:tint val="37000"/>
                  <a:satMod val="300000"/>
                  <a:alpha val="31000"/>
                </a:schemeClr>
              </a:gs>
              <a:gs pos="100000">
                <a:schemeClr val="dk1">
                  <a:tint val="15000"/>
                  <a:satMod val="350000"/>
                  <a:alpha val="31000"/>
                </a:schemeClr>
              </a:gs>
            </a:gsLst>
            <a:lin ang="16200000" scaled="1"/>
            <a:tileRect/>
          </a:gradFill>
          <a:ln w="9525" cap="flat" cmpd="sng" algn="ctr">
            <a:solidFill>
              <a:schemeClr val="dk1">
                <a:shade val="95000"/>
                <a:satMod val="105000"/>
              </a:schemeClr>
            </a:solidFill>
            <a:prstDash val="solid"/>
          </a:ln>
          <a:effectLst>
            <a:outerShdw blurRad="40000" dist="20000" dir="5400000" rotWithShape="0">
              <a:srgbClr val="000000">
                <a:alpha val="38000"/>
              </a:srgbClr>
            </a:outerShdw>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30000"/>
              </a:lnSpc>
              <a:spcBef>
                <a:spcPts val="0"/>
              </a:spcBef>
              <a:spcAft>
                <a:spcPts val="0"/>
              </a:spcAft>
              <a:buClrTx/>
              <a:buSzTx/>
              <a:buFontTx/>
              <a:buNone/>
              <a:tabLst/>
              <a:defRPr/>
            </a:pPr>
            <a:r>
              <a:rPr kumimoji="0" lang="en-GB" sz="2800" b="0" i="0" u="none" strike="noStrike" kern="1200" cap="none" spc="0" normalizeH="0" baseline="0" noProof="0" dirty="0">
                <a:ln>
                  <a:noFill/>
                </a:ln>
                <a:solidFill>
                  <a:schemeClr val="dk1"/>
                </a:solidFill>
                <a:effectLst/>
                <a:uLnTx/>
                <a:uFillTx/>
                <a:latin typeface="Helvetica Neue Light"/>
                <a:ea typeface="+mn-ea"/>
                <a:cs typeface="Helvetica Neue Light"/>
              </a:rPr>
              <a:t>The Boolean data type can only represent two values: true or false.</a:t>
            </a:r>
          </a:p>
        </p:txBody>
      </p:sp>
    </p:spTree>
    <p:extLst>
      <p:ext uri="{BB962C8B-B14F-4D97-AF65-F5344CB8AC3E}">
        <p14:creationId xmlns:p14="http://schemas.microsoft.com/office/powerpoint/2010/main" val="4139142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txBox="1"/>
          <p:nvPr/>
        </p:nvSpPr>
        <p:spPr>
          <a:xfrm>
            <a:off x="0" y="0"/>
            <a:ext cx="9144000" cy="7009611"/>
          </a:xfrm>
          <a:prstGeom prst="rect">
            <a:avLst/>
          </a:prstGeom>
        </p:spPr>
        <p:txBody>
          <a:bodyPr vert="horz" wrap="square" lIns="0" tIns="0" rIns="0" bIns="0" rtlCol="0">
            <a:spAutoFit/>
          </a:bodyPr>
          <a:lstStyle/>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marL="320040">
              <a:lnSpc>
                <a:spcPct val="100000"/>
              </a:lnSpc>
              <a:spcBef>
                <a:spcPts val="855"/>
              </a:spcBef>
            </a:pPr>
            <a:endParaRPr lang="en-GB" sz="1400" noProof="0" dirty="0">
              <a:latin typeface="Calibri"/>
              <a:cs typeface="Calibri"/>
            </a:endParaRPr>
          </a:p>
        </p:txBody>
      </p:sp>
      <p:sp>
        <p:nvSpPr>
          <p:cNvPr id="3" name="object 3">
            <a:extLst>
              <a:ext uri="{C183D7F6-B498-43B3-948B-1728B52AA6E4}">
                <adec:decorative xmlns:adec="http://schemas.microsoft.com/office/drawing/2017/decorative" val="1"/>
              </a:ext>
            </a:extLst>
          </p:cNvPr>
          <p:cNvSpPr/>
          <p:nvPr/>
        </p:nvSpPr>
        <p:spPr>
          <a:xfrm>
            <a:off x="0" y="0"/>
            <a:ext cx="9144000" cy="6857999"/>
          </a:xfrm>
          <a:prstGeom prst="rect">
            <a:avLst/>
          </a:prstGeom>
          <a:blipFill>
            <a:blip r:embed="rId2" cstate="print"/>
            <a:stretch>
              <a:fillRect/>
            </a:stretch>
          </a:blipFill>
        </p:spPr>
        <p:txBody>
          <a:bodyPr wrap="square" lIns="0" tIns="0" rIns="0" bIns="0" rtlCol="0"/>
          <a:lstStyle/>
          <a:p>
            <a:endParaRPr lang="en-GB" noProof="0" dirty="0"/>
          </a:p>
        </p:txBody>
      </p:sp>
      <p:sp>
        <p:nvSpPr>
          <p:cNvPr id="4" name="object 4">
            <a:extLst>
              <a:ext uri="{C183D7F6-B498-43B3-948B-1728B52AA6E4}">
                <adec:decorative xmlns:adec="http://schemas.microsoft.com/office/drawing/2017/decorative" val="1"/>
              </a:ext>
            </a:extLst>
          </p:cNvPr>
          <p:cNvSpPr/>
          <p:nvPr/>
        </p:nvSpPr>
        <p:spPr>
          <a:xfrm>
            <a:off x="0" y="5791200"/>
            <a:ext cx="9144000" cy="1066800"/>
          </a:xfrm>
          <a:custGeom>
            <a:avLst/>
            <a:gdLst/>
            <a:ahLst/>
            <a:cxnLst/>
            <a:rect l="l" t="t" r="r" b="b"/>
            <a:pathLst>
              <a:path w="9144000" h="1066800">
                <a:moveTo>
                  <a:pt x="0" y="0"/>
                </a:moveTo>
                <a:lnTo>
                  <a:pt x="9144000" y="0"/>
                </a:lnTo>
                <a:lnTo>
                  <a:pt x="9144000" y="1066800"/>
                </a:lnTo>
                <a:lnTo>
                  <a:pt x="0" y="1066800"/>
                </a:lnTo>
                <a:lnTo>
                  <a:pt x="0" y="0"/>
                </a:lnTo>
                <a:close/>
              </a:path>
            </a:pathLst>
          </a:custGeom>
          <a:solidFill>
            <a:srgbClr val="000000"/>
          </a:solidFill>
        </p:spPr>
        <p:txBody>
          <a:bodyPr wrap="square" lIns="0" tIns="0" rIns="0" bIns="0" rtlCol="0"/>
          <a:lstStyle/>
          <a:p>
            <a:endParaRPr lang="en-GB" noProof="0" dirty="0"/>
          </a:p>
        </p:txBody>
      </p:sp>
      <p:sp>
        <p:nvSpPr>
          <p:cNvPr id="5" name="object 5"/>
          <p:cNvSpPr txBox="1">
            <a:spLocks noGrp="1"/>
          </p:cNvSpPr>
          <p:nvPr>
            <p:ph type="title" idx="4294967295"/>
          </p:nvPr>
        </p:nvSpPr>
        <p:spPr>
          <a:xfrm>
            <a:off x="1912734" y="5836920"/>
            <a:ext cx="5323840" cy="88773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2700" marR="0" lvl="0" indent="0" algn="l" defTabSz="457200" rtl="0" eaLnBrk="1" fontAlgn="auto" latinLnBrk="0" hangingPunct="1">
              <a:lnSpc>
                <a:spcPct val="100000"/>
              </a:lnSpc>
              <a:spcBef>
                <a:spcPts val="0"/>
              </a:spcBef>
              <a:spcAft>
                <a:spcPts val="0"/>
              </a:spcAft>
              <a:buClrTx/>
              <a:buSzTx/>
              <a:buFontTx/>
              <a:buNone/>
              <a:tabLst/>
              <a:defRPr/>
            </a:pPr>
            <a:r>
              <a:rPr kumimoji="0" lang="en-GB" sz="5700" b="0" i="0" u="none" strike="noStrike" kern="1200" cap="none" spc="160" normalizeH="0" baseline="0" noProof="0" dirty="0">
                <a:ln>
                  <a:noFill/>
                </a:ln>
                <a:solidFill>
                  <a:srgbClr val="FFFFFF"/>
                </a:solidFill>
                <a:effectLst/>
                <a:uLnTx/>
                <a:uFillTx/>
                <a:latin typeface="Calibri"/>
                <a:ea typeface="+mn-ea"/>
                <a:cs typeface="Calibri"/>
              </a:rPr>
              <a:t>Naming</a:t>
            </a:r>
            <a:r>
              <a:rPr kumimoji="0" lang="en-GB" sz="5700" b="0" i="0" u="none" strike="noStrike" kern="1200" cap="none" spc="-125" normalizeH="0" baseline="0" noProof="0" dirty="0">
                <a:ln>
                  <a:noFill/>
                </a:ln>
                <a:solidFill>
                  <a:srgbClr val="FFFFFF"/>
                </a:solidFill>
                <a:effectLst/>
                <a:uLnTx/>
                <a:uFillTx/>
                <a:latin typeface="Calibri"/>
                <a:ea typeface="+mn-ea"/>
                <a:cs typeface="Calibri"/>
              </a:rPr>
              <a:t> </a:t>
            </a:r>
            <a:r>
              <a:rPr kumimoji="0" lang="en-GB" sz="5700" b="0" i="0" u="none" strike="noStrike" kern="1200" cap="none" spc="20" normalizeH="0" baseline="0" noProof="0" dirty="0">
                <a:ln>
                  <a:noFill/>
                </a:ln>
                <a:solidFill>
                  <a:srgbClr val="FFFFFF"/>
                </a:solidFill>
                <a:effectLst/>
                <a:uLnTx/>
                <a:uFillTx/>
                <a:latin typeface="Calibri"/>
                <a:ea typeface="+mn-ea"/>
                <a:cs typeface="Calibri"/>
              </a:rPr>
              <a:t>Variables</a:t>
            </a:r>
            <a:endParaRPr kumimoji="0" lang="en-GB" sz="5700" b="0" i="0" u="none" strike="noStrike" kern="1200" cap="none" spc="0" normalizeH="0" baseline="0" noProof="0" dirty="0">
              <a:ln>
                <a:noFill/>
              </a:ln>
              <a:solidFill>
                <a:schemeClr val="tx1"/>
              </a:solidFill>
              <a:effectLst/>
              <a:uLnTx/>
              <a:uFillTx/>
              <a:latin typeface="Calibri"/>
              <a:ea typeface="+mn-ea"/>
              <a:cs typeface="Calibri"/>
            </a:endParaRPr>
          </a:p>
        </p:txBody>
      </p:sp>
      <p:sp>
        <p:nvSpPr>
          <p:cNvPr id="6" name="object 6">
            <a:extLst>
              <a:ext uri="{C183D7F6-B498-43B3-948B-1728B52AA6E4}">
                <adec:decorative xmlns:adec="http://schemas.microsoft.com/office/drawing/2017/decorative" val="1"/>
              </a:ext>
            </a:extLst>
          </p:cNvPr>
          <p:cNvSpPr/>
          <p:nvPr/>
        </p:nvSpPr>
        <p:spPr>
          <a:xfrm>
            <a:off x="7518400" y="304800"/>
            <a:ext cx="1625600" cy="1625600"/>
          </a:xfrm>
          <a:prstGeom prst="rect">
            <a:avLst/>
          </a:prstGeom>
          <a:blipFill>
            <a:blip r:embed="rId3" cstate="print"/>
            <a:stretch>
              <a:fillRect/>
            </a:stretch>
          </a:blipFill>
        </p:spPr>
        <p:txBody>
          <a:bodyPr wrap="square" lIns="0" tIns="0" rIns="0" bIns="0" rtlCol="0"/>
          <a:lstStyle/>
          <a:p>
            <a:endParaRPr lang="en-GB" noProof="0" dirty="0"/>
          </a:p>
        </p:txBody>
      </p:sp>
    </p:spTree>
    <p:extLst>
      <p:ext uri="{BB962C8B-B14F-4D97-AF65-F5344CB8AC3E}">
        <p14:creationId xmlns:p14="http://schemas.microsoft.com/office/powerpoint/2010/main" val="38463714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txBox="1"/>
          <p:nvPr/>
        </p:nvSpPr>
        <p:spPr>
          <a:xfrm>
            <a:off x="0" y="0"/>
            <a:ext cx="9144000" cy="7009611"/>
          </a:xfrm>
          <a:prstGeom prst="rect">
            <a:avLst/>
          </a:prstGeom>
        </p:spPr>
        <p:txBody>
          <a:bodyPr vert="horz" wrap="square" lIns="0" tIns="0" rIns="0" bIns="0" rtlCol="0">
            <a:spAutoFit/>
          </a:bodyPr>
          <a:lstStyle/>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marL="320040">
              <a:lnSpc>
                <a:spcPct val="100000"/>
              </a:lnSpc>
              <a:spcBef>
                <a:spcPts val="855"/>
              </a:spcBef>
            </a:pPr>
            <a:endParaRPr lang="en-GB" sz="1400" noProof="0" dirty="0">
              <a:latin typeface="Calibri"/>
              <a:cs typeface="Calibri"/>
            </a:endParaRPr>
          </a:p>
        </p:txBody>
      </p:sp>
      <p:sp>
        <p:nvSpPr>
          <p:cNvPr id="3" name="object 3">
            <a:extLst>
              <a:ext uri="{C183D7F6-B498-43B3-948B-1728B52AA6E4}">
                <adec:decorative xmlns:adec="http://schemas.microsoft.com/office/drawing/2017/decorative" val="1"/>
              </a:ext>
            </a:extLst>
          </p:cNvPr>
          <p:cNvSpPr/>
          <p:nvPr/>
        </p:nvSpPr>
        <p:spPr>
          <a:xfrm>
            <a:off x="0" y="0"/>
            <a:ext cx="9144000" cy="6857999"/>
          </a:xfrm>
          <a:prstGeom prst="rect">
            <a:avLst/>
          </a:prstGeom>
          <a:blipFill>
            <a:blip r:embed="rId2" cstate="print"/>
            <a:stretch>
              <a:fillRect/>
            </a:stretch>
          </a:blipFill>
        </p:spPr>
        <p:txBody>
          <a:bodyPr wrap="square" lIns="0" tIns="0" rIns="0" bIns="0" rtlCol="0"/>
          <a:lstStyle/>
          <a:p>
            <a:endParaRPr lang="en-GB" noProof="0" dirty="0"/>
          </a:p>
        </p:txBody>
      </p:sp>
      <p:sp>
        <p:nvSpPr>
          <p:cNvPr id="4" name="object 4">
            <a:extLst>
              <a:ext uri="{C183D7F6-B498-43B3-948B-1728B52AA6E4}">
                <adec:decorative xmlns:adec="http://schemas.microsoft.com/office/drawing/2017/decorative" val="1"/>
              </a:ext>
            </a:extLst>
          </p:cNvPr>
          <p:cNvSpPr/>
          <p:nvPr/>
        </p:nvSpPr>
        <p:spPr>
          <a:xfrm>
            <a:off x="0" y="5867400"/>
            <a:ext cx="9144000" cy="990600"/>
          </a:xfrm>
          <a:custGeom>
            <a:avLst/>
            <a:gdLst/>
            <a:ahLst/>
            <a:cxnLst/>
            <a:rect l="l" t="t" r="r" b="b"/>
            <a:pathLst>
              <a:path w="9144000" h="990600">
                <a:moveTo>
                  <a:pt x="0" y="0"/>
                </a:moveTo>
                <a:lnTo>
                  <a:pt x="9144000" y="0"/>
                </a:lnTo>
                <a:lnTo>
                  <a:pt x="9144000" y="990599"/>
                </a:lnTo>
                <a:lnTo>
                  <a:pt x="0" y="990599"/>
                </a:lnTo>
                <a:lnTo>
                  <a:pt x="0" y="0"/>
                </a:lnTo>
                <a:close/>
              </a:path>
            </a:pathLst>
          </a:custGeom>
          <a:solidFill>
            <a:srgbClr val="000000"/>
          </a:solidFill>
        </p:spPr>
        <p:txBody>
          <a:bodyPr wrap="square" lIns="0" tIns="0" rIns="0" bIns="0" rtlCol="0"/>
          <a:lstStyle/>
          <a:p>
            <a:endParaRPr lang="en-GB" noProof="0" dirty="0"/>
          </a:p>
        </p:txBody>
      </p:sp>
      <p:sp>
        <p:nvSpPr>
          <p:cNvPr id="5" name="object 5"/>
          <p:cNvSpPr txBox="1">
            <a:spLocks noGrp="1"/>
          </p:cNvSpPr>
          <p:nvPr>
            <p:ph type="title" idx="4294967295"/>
          </p:nvPr>
        </p:nvSpPr>
        <p:spPr>
          <a:xfrm>
            <a:off x="175614" y="5990868"/>
            <a:ext cx="8798560" cy="55399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2700" marR="0" lvl="0" indent="0" algn="ctr" defTabSz="457200" rtl="0" eaLnBrk="1" fontAlgn="auto" latinLnBrk="0" hangingPunct="1">
              <a:lnSpc>
                <a:spcPct val="100000"/>
              </a:lnSpc>
              <a:spcBef>
                <a:spcPts val="0"/>
              </a:spcBef>
              <a:spcAft>
                <a:spcPts val="0"/>
              </a:spcAft>
              <a:buClrTx/>
              <a:buSzTx/>
              <a:buFontTx/>
              <a:buNone/>
              <a:tabLst>
                <a:tab pos="4034154" algn="l"/>
                <a:tab pos="5873115" algn="l"/>
              </a:tabLst>
              <a:defRPr/>
            </a:pPr>
            <a:r>
              <a:rPr kumimoji="0" lang="en-GB" sz="3600" b="0" i="0" u="none" strike="noStrike" kern="1200" cap="none" spc="0" normalizeH="0" baseline="0" noProof="0" dirty="0">
                <a:ln>
                  <a:noFill/>
                </a:ln>
                <a:solidFill>
                  <a:srgbClr val="FFFFFF"/>
                </a:solidFill>
                <a:effectLst/>
                <a:uLnTx/>
                <a:uFillTx/>
                <a:latin typeface="Helvetica Neue Light"/>
                <a:ea typeface="+mn-ea"/>
                <a:cs typeface="Helvetica Neue Light"/>
              </a:rPr>
              <a:t>“a variable’s name is called its identifier.”</a:t>
            </a:r>
            <a:endParaRPr kumimoji="0" lang="en-GB" sz="3600" b="0" i="0" u="none" strike="noStrike" kern="1200" cap="none" spc="0" normalizeH="0" baseline="0" noProof="0" dirty="0">
              <a:ln>
                <a:noFill/>
              </a:ln>
              <a:solidFill>
                <a:schemeClr val="tx1"/>
              </a:solidFill>
              <a:effectLst/>
              <a:uLnTx/>
              <a:uFillTx/>
              <a:latin typeface="Helvetica Neue Light"/>
              <a:ea typeface="+mn-ea"/>
              <a:cs typeface="Helvetica Neue Light"/>
            </a:endParaRPr>
          </a:p>
        </p:txBody>
      </p:sp>
    </p:spTree>
    <p:extLst>
      <p:ext uri="{BB962C8B-B14F-4D97-AF65-F5344CB8AC3E}">
        <p14:creationId xmlns:p14="http://schemas.microsoft.com/office/powerpoint/2010/main" val="15782535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txBox="1"/>
          <p:nvPr/>
        </p:nvSpPr>
        <p:spPr>
          <a:xfrm>
            <a:off x="0" y="0"/>
            <a:ext cx="9144000" cy="7009611"/>
          </a:xfrm>
          <a:prstGeom prst="rect">
            <a:avLst/>
          </a:prstGeom>
        </p:spPr>
        <p:txBody>
          <a:bodyPr vert="horz" wrap="square" lIns="0" tIns="0" rIns="0" bIns="0" rtlCol="0">
            <a:spAutoFit/>
          </a:bodyPr>
          <a:lstStyle/>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marL="320040">
              <a:lnSpc>
                <a:spcPct val="100000"/>
              </a:lnSpc>
              <a:spcBef>
                <a:spcPts val="855"/>
              </a:spcBef>
            </a:pPr>
            <a:endParaRPr lang="en-GB" sz="1400" noProof="0" dirty="0">
              <a:latin typeface="Calibri"/>
              <a:cs typeface="Calibri"/>
            </a:endParaRPr>
          </a:p>
        </p:txBody>
      </p:sp>
      <p:sp>
        <p:nvSpPr>
          <p:cNvPr id="3" name="object 3">
            <a:extLst>
              <a:ext uri="{C183D7F6-B498-43B3-948B-1728B52AA6E4}">
                <adec:decorative xmlns:adec="http://schemas.microsoft.com/office/drawing/2017/decorative" val="1"/>
              </a:ext>
            </a:extLst>
          </p:cNvPr>
          <p:cNvSpPr/>
          <p:nvPr/>
        </p:nvSpPr>
        <p:spPr>
          <a:xfrm>
            <a:off x="0" y="0"/>
            <a:ext cx="9144000" cy="6857999"/>
          </a:xfrm>
          <a:prstGeom prst="rect">
            <a:avLst/>
          </a:prstGeom>
          <a:blipFill>
            <a:blip r:embed="rId2" cstate="print"/>
            <a:stretch>
              <a:fillRect/>
            </a:stretch>
          </a:blipFill>
        </p:spPr>
        <p:txBody>
          <a:bodyPr wrap="square" lIns="0" tIns="0" rIns="0" bIns="0" rtlCol="0"/>
          <a:lstStyle/>
          <a:p>
            <a:endParaRPr lang="en-GB" noProof="0" dirty="0"/>
          </a:p>
        </p:txBody>
      </p:sp>
      <p:sp>
        <p:nvSpPr>
          <p:cNvPr id="4" name="object 4">
            <a:extLst>
              <a:ext uri="{C183D7F6-B498-43B3-948B-1728B52AA6E4}">
                <adec:decorative xmlns:adec="http://schemas.microsoft.com/office/drawing/2017/decorative" val="1"/>
              </a:ext>
            </a:extLst>
          </p:cNvPr>
          <p:cNvSpPr/>
          <p:nvPr/>
        </p:nvSpPr>
        <p:spPr>
          <a:xfrm>
            <a:off x="0" y="5334000"/>
            <a:ext cx="9144000" cy="1524000"/>
          </a:xfrm>
          <a:custGeom>
            <a:avLst/>
            <a:gdLst/>
            <a:ahLst/>
            <a:cxnLst/>
            <a:rect l="l" t="t" r="r" b="b"/>
            <a:pathLst>
              <a:path w="9144000" h="1524000">
                <a:moveTo>
                  <a:pt x="0" y="0"/>
                </a:moveTo>
                <a:lnTo>
                  <a:pt x="9144000" y="0"/>
                </a:lnTo>
                <a:lnTo>
                  <a:pt x="9144000" y="1523999"/>
                </a:lnTo>
                <a:lnTo>
                  <a:pt x="0" y="1523999"/>
                </a:lnTo>
                <a:lnTo>
                  <a:pt x="0" y="0"/>
                </a:lnTo>
                <a:close/>
              </a:path>
            </a:pathLst>
          </a:custGeom>
          <a:solidFill>
            <a:srgbClr val="000000"/>
          </a:solidFill>
        </p:spPr>
        <p:txBody>
          <a:bodyPr wrap="square" lIns="0" tIns="0" rIns="0" bIns="0" rtlCol="0"/>
          <a:lstStyle/>
          <a:p>
            <a:endParaRPr lang="en-GB" noProof="0" dirty="0"/>
          </a:p>
        </p:txBody>
      </p:sp>
      <p:sp>
        <p:nvSpPr>
          <p:cNvPr id="5" name="object 5"/>
          <p:cNvSpPr txBox="1">
            <a:spLocks noGrp="1"/>
          </p:cNvSpPr>
          <p:nvPr>
            <p:ph type="title" idx="4294967295"/>
          </p:nvPr>
        </p:nvSpPr>
        <p:spPr>
          <a:xfrm>
            <a:off x="989712" y="5410200"/>
            <a:ext cx="7288530" cy="131826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2700" marR="5080" lvl="0" indent="666750" algn="l" defTabSz="457200" rtl="0" eaLnBrk="1" fontAlgn="auto" latinLnBrk="0" hangingPunct="1">
              <a:lnSpc>
                <a:spcPts val="5200"/>
              </a:lnSpc>
              <a:spcBef>
                <a:spcPts val="0"/>
              </a:spcBef>
              <a:spcAft>
                <a:spcPts val="0"/>
              </a:spcAft>
              <a:buClrTx/>
              <a:buSzTx/>
              <a:buFontTx/>
              <a:buNone/>
              <a:tabLst/>
              <a:defRPr/>
            </a:pPr>
            <a:r>
              <a:rPr kumimoji="0" lang="en-GB" sz="4400" b="0" i="0" u="none" strike="noStrike" kern="1200" cap="none" spc="-15" normalizeH="0" baseline="0" noProof="0" dirty="0">
                <a:ln>
                  <a:noFill/>
                </a:ln>
                <a:solidFill>
                  <a:srgbClr val="FFFFFF"/>
                </a:solidFill>
                <a:effectLst/>
                <a:uLnTx/>
                <a:uFillTx/>
                <a:latin typeface="Calibri"/>
                <a:ea typeface="+mn-ea"/>
                <a:cs typeface="Calibri"/>
              </a:rPr>
              <a:t>letters </a:t>
            </a:r>
            <a:r>
              <a:rPr kumimoji="0" lang="en-GB" sz="4400" b="0" i="0" u="none" strike="noStrike" kern="1200" cap="none" spc="100" normalizeH="0" baseline="0" noProof="0" dirty="0">
                <a:ln>
                  <a:noFill/>
                </a:ln>
                <a:solidFill>
                  <a:srgbClr val="FFFFFF"/>
                </a:solidFill>
                <a:effectLst/>
                <a:uLnTx/>
                <a:uFillTx/>
                <a:latin typeface="Calibri"/>
                <a:ea typeface="+mn-ea"/>
                <a:cs typeface="Calibri"/>
              </a:rPr>
              <a:t>and </a:t>
            </a:r>
            <a:r>
              <a:rPr kumimoji="0" lang="en-GB" sz="4400" b="0" i="0" u="none" strike="noStrike" kern="1200" cap="none" spc="75" normalizeH="0" baseline="0" noProof="0" dirty="0">
                <a:ln>
                  <a:noFill/>
                </a:ln>
                <a:solidFill>
                  <a:srgbClr val="FFFFFF"/>
                </a:solidFill>
                <a:effectLst/>
                <a:uLnTx/>
                <a:uFillTx/>
                <a:latin typeface="Calibri"/>
                <a:ea typeface="+mn-ea"/>
                <a:cs typeface="Calibri"/>
              </a:rPr>
              <a:t>numbers </a:t>
            </a:r>
            <a:r>
              <a:rPr kumimoji="0" lang="en-GB" sz="4400" b="0" i="0" u="none" strike="noStrike" kern="1200" cap="none" spc="80" normalizeH="0" baseline="0" noProof="0" dirty="0">
                <a:ln>
                  <a:noFill/>
                </a:ln>
                <a:solidFill>
                  <a:srgbClr val="FFFFFF"/>
                </a:solidFill>
                <a:effectLst/>
                <a:uLnTx/>
                <a:uFillTx/>
                <a:latin typeface="Calibri"/>
                <a:ea typeface="+mn-ea"/>
                <a:cs typeface="Calibri"/>
              </a:rPr>
              <a:t>only  </a:t>
            </a:r>
            <a:r>
              <a:rPr kumimoji="0" lang="en-GB" sz="4400" b="0" i="0" u="none" strike="noStrike" kern="1200" cap="none" spc="95" normalizeH="0" baseline="0" noProof="0" dirty="0">
                <a:ln>
                  <a:noFill/>
                </a:ln>
                <a:solidFill>
                  <a:srgbClr val="FFFFFF"/>
                </a:solidFill>
                <a:effectLst/>
                <a:uLnTx/>
                <a:uFillTx/>
                <a:latin typeface="Calibri"/>
                <a:ea typeface="+mn-ea"/>
                <a:cs typeface="Calibri"/>
              </a:rPr>
              <a:t>but </a:t>
            </a:r>
            <a:r>
              <a:rPr kumimoji="0" lang="en-GB" sz="4400" b="0" i="0" u="none" strike="noStrike" kern="1200" cap="none" spc="75" normalizeH="0" baseline="0" noProof="0" dirty="0">
                <a:ln>
                  <a:noFill/>
                </a:ln>
                <a:solidFill>
                  <a:srgbClr val="FFFFFF"/>
                </a:solidFill>
                <a:effectLst/>
                <a:uLnTx/>
                <a:uFillTx/>
                <a:latin typeface="Calibri"/>
                <a:ea typeface="+mn-ea"/>
                <a:cs typeface="Calibri"/>
              </a:rPr>
              <a:t>cannot </a:t>
            </a:r>
            <a:r>
              <a:rPr kumimoji="0" lang="en-GB" sz="4400" b="0" i="0" u="none" strike="noStrike" kern="1200" cap="none" spc="0" normalizeH="0" baseline="0" noProof="0" dirty="0">
                <a:ln>
                  <a:noFill/>
                </a:ln>
                <a:solidFill>
                  <a:srgbClr val="FFFFFF"/>
                </a:solidFill>
                <a:effectLst/>
                <a:uLnTx/>
                <a:uFillTx/>
                <a:latin typeface="Calibri"/>
                <a:ea typeface="+mn-ea"/>
                <a:cs typeface="Calibri"/>
              </a:rPr>
              <a:t>start </a:t>
            </a:r>
            <a:r>
              <a:rPr kumimoji="0" lang="en-GB" sz="4400" b="0" i="0" u="none" strike="noStrike" kern="1200" cap="none" spc="55" normalizeH="0" baseline="0" noProof="0" dirty="0">
                <a:ln>
                  <a:noFill/>
                </a:ln>
                <a:solidFill>
                  <a:srgbClr val="FFFFFF"/>
                </a:solidFill>
                <a:effectLst/>
                <a:uLnTx/>
                <a:uFillTx/>
                <a:latin typeface="Calibri"/>
                <a:ea typeface="+mn-ea"/>
                <a:cs typeface="Calibri"/>
              </a:rPr>
              <a:t>with </a:t>
            </a:r>
            <a:r>
              <a:rPr kumimoji="0" lang="en-GB" sz="4400" b="0" i="0" u="none" strike="noStrike" kern="1200" cap="none" spc="10" normalizeH="0" baseline="0" noProof="0" dirty="0">
                <a:ln>
                  <a:noFill/>
                </a:ln>
                <a:solidFill>
                  <a:srgbClr val="FFFFFF"/>
                </a:solidFill>
                <a:effectLst/>
                <a:uLnTx/>
                <a:uFillTx/>
                <a:latin typeface="Calibri"/>
                <a:ea typeface="+mn-ea"/>
                <a:cs typeface="Calibri"/>
              </a:rPr>
              <a:t>a</a:t>
            </a:r>
            <a:r>
              <a:rPr kumimoji="0" lang="en-GB" sz="4400" b="0" i="0" u="none" strike="noStrike" kern="1200" cap="none" spc="-620" normalizeH="0" baseline="0" noProof="0" dirty="0">
                <a:ln>
                  <a:noFill/>
                </a:ln>
                <a:solidFill>
                  <a:srgbClr val="FFFFFF"/>
                </a:solidFill>
                <a:effectLst/>
                <a:uLnTx/>
                <a:uFillTx/>
                <a:latin typeface="Calibri"/>
                <a:ea typeface="+mn-ea"/>
                <a:cs typeface="Calibri"/>
              </a:rPr>
              <a:t> </a:t>
            </a:r>
            <a:r>
              <a:rPr kumimoji="0" lang="en-GB" sz="4400" b="0" i="0" u="none" strike="noStrike" kern="1200" cap="none" spc="85" normalizeH="0" baseline="0" noProof="0" dirty="0">
                <a:ln>
                  <a:noFill/>
                </a:ln>
                <a:solidFill>
                  <a:srgbClr val="FFFFFF"/>
                </a:solidFill>
                <a:effectLst/>
                <a:uLnTx/>
                <a:uFillTx/>
                <a:latin typeface="Calibri"/>
                <a:ea typeface="+mn-ea"/>
                <a:cs typeface="Calibri"/>
              </a:rPr>
              <a:t>number</a:t>
            </a:r>
            <a:endParaRPr kumimoji="0" lang="en-GB" sz="4400" b="0" i="0" u="none" strike="noStrike" kern="1200" cap="none" spc="0" normalizeH="0" baseline="0" noProof="0" dirty="0">
              <a:ln>
                <a:noFill/>
              </a:ln>
              <a:solidFill>
                <a:schemeClr val="tx1"/>
              </a:solidFill>
              <a:effectLst/>
              <a:uLnTx/>
              <a:uFillTx/>
              <a:latin typeface="Calibri"/>
              <a:ea typeface="+mn-ea"/>
              <a:cs typeface="Calibri"/>
            </a:endParaRPr>
          </a:p>
        </p:txBody>
      </p:sp>
    </p:spTree>
    <p:extLst>
      <p:ext uri="{BB962C8B-B14F-4D97-AF65-F5344CB8AC3E}">
        <p14:creationId xmlns:p14="http://schemas.microsoft.com/office/powerpoint/2010/main" val="14985840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24496" y="1096028"/>
            <a:ext cx="6700088" cy="2547364"/>
          </a:xfrm>
          <a:prstGeom prst="rect">
            <a:avLst/>
          </a:prstGeom>
        </p:spPr>
        <p:txBody>
          <a:bodyPr vert="horz" wrap="square" lIns="0" tIns="0" rIns="0" bIns="0" rtlCol="0">
            <a:spAutoFit/>
          </a:bodyPr>
          <a:lstStyle/>
          <a:p>
            <a:pPr algn="ctr">
              <a:lnSpc>
                <a:spcPts val="3329"/>
              </a:lnSpc>
            </a:pPr>
            <a:r>
              <a:rPr lang="en-GB" sz="2800" spc="45" noProof="0" dirty="0"/>
              <a:t>Also</a:t>
            </a:r>
            <a:r>
              <a:rPr lang="en-GB" sz="2800" spc="-135" noProof="0" dirty="0"/>
              <a:t> </a:t>
            </a:r>
            <a:r>
              <a:rPr lang="en-GB" sz="2800" spc="40" noProof="0" dirty="0"/>
              <a:t>allowed</a:t>
            </a:r>
            <a:endParaRPr lang="en-GB" sz="2800" noProof="0" dirty="0"/>
          </a:p>
          <a:p>
            <a:pPr algn="ctr">
              <a:lnSpc>
                <a:spcPts val="16530"/>
              </a:lnSpc>
            </a:pPr>
            <a:r>
              <a:rPr lang="en-GB" sz="13800" spc="85" noProof="0" dirty="0"/>
              <a:t>$</a:t>
            </a:r>
            <a:r>
              <a:rPr lang="en-GB" sz="13800" spc="-260" noProof="0" dirty="0"/>
              <a:t> </a:t>
            </a:r>
            <a:r>
              <a:rPr lang="en-GB" sz="7200" spc="10" noProof="0" dirty="0"/>
              <a:t>(dollar)</a:t>
            </a:r>
            <a:endParaRPr lang="en-GB" sz="7200" noProof="0" dirty="0"/>
          </a:p>
        </p:txBody>
      </p:sp>
      <p:sp>
        <p:nvSpPr>
          <p:cNvPr id="3" name="object 3"/>
          <p:cNvSpPr txBox="1"/>
          <p:nvPr/>
        </p:nvSpPr>
        <p:spPr>
          <a:xfrm>
            <a:off x="1673972" y="4265434"/>
            <a:ext cx="6108065" cy="1846659"/>
          </a:xfrm>
          <a:prstGeom prst="rect">
            <a:avLst/>
          </a:prstGeom>
        </p:spPr>
        <p:txBody>
          <a:bodyPr vert="horz" wrap="square" lIns="0" tIns="0" rIns="0" bIns="0" rtlCol="0">
            <a:spAutoFit/>
          </a:bodyPr>
          <a:lstStyle/>
          <a:p>
            <a:pPr marL="12700">
              <a:lnSpc>
                <a:spcPct val="100000"/>
              </a:lnSpc>
            </a:pPr>
            <a:r>
              <a:rPr lang="en-GB" sz="7200" spc="25" noProof="0" dirty="0">
                <a:solidFill>
                  <a:schemeClr val="tx1">
                    <a:lumMod val="95000"/>
                    <a:lumOff val="5000"/>
                  </a:schemeClr>
                </a:solidFill>
                <a:latin typeface="Helvetica Neue Light"/>
                <a:cs typeface="Helvetica Neue Light"/>
              </a:rPr>
              <a:t>_</a:t>
            </a:r>
            <a:r>
              <a:rPr lang="en-GB" sz="7200" spc="-265" noProof="0" dirty="0">
                <a:solidFill>
                  <a:schemeClr val="tx1">
                    <a:lumMod val="95000"/>
                    <a:lumOff val="5000"/>
                  </a:schemeClr>
                </a:solidFill>
                <a:latin typeface="Helvetica Neue Light"/>
                <a:cs typeface="Helvetica Neue Light"/>
              </a:rPr>
              <a:t> </a:t>
            </a:r>
            <a:r>
              <a:rPr lang="en-GB" sz="7200" spc="40" noProof="0" dirty="0">
                <a:solidFill>
                  <a:schemeClr val="tx1">
                    <a:lumMod val="95000"/>
                    <a:lumOff val="5000"/>
                  </a:schemeClr>
                </a:solidFill>
                <a:latin typeface="Helvetica Neue Light"/>
                <a:cs typeface="Helvetica Neue Light"/>
              </a:rPr>
              <a:t>(underscore)</a:t>
            </a:r>
          </a:p>
          <a:p>
            <a:pPr marL="12700">
              <a:lnSpc>
                <a:spcPct val="100000"/>
              </a:lnSpc>
            </a:pPr>
            <a:r>
              <a:rPr lang="en-GB" sz="4800" spc="40" noProof="0" dirty="0">
                <a:solidFill>
                  <a:srgbClr val="FFFFFF"/>
                </a:solidFill>
                <a:latin typeface="Helvetica Neue Light"/>
                <a:cs typeface="Helvetica Neue Light"/>
              </a:rPr>
              <a:t>)</a:t>
            </a:r>
            <a:endParaRPr lang="en-GB" sz="4800" noProof="0" dirty="0">
              <a:latin typeface="Helvetica Neue Light"/>
              <a:cs typeface="Helvetica Neue Light"/>
            </a:endParaRPr>
          </a:p>
        </p:txBody>
      </p:sp>
    </p:spTree>
    <p:extLst>
      <p:ext uri="{BB962C8B-B14F-4D97-AF65-F5344CB8AC3E}">
        <p14:creationId xmlns:p14="http://schemas.microsoft.com/office/powerpoint/2010/main" val="29193977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2140" y="539178"/>
            <a:ext cx="4598035" cy="2484755"/>
          </a:xfrm>
          <a:prstGeom prst="rect">
            <a:avLst/>
          </a:prstGeom>
        </p:spPr>
        <p:txBody>
          <a:bodyPr vert="horz" wrap="square" lIns="0" tIns="0" rIns="0" bIns="0" rtlCol="0">
            <a:spAutoFit/>
          </a:bodyPr>
          <a:lstStyle/>
          <a:p>
            <a:pPr marL="12700" marR="5080">
              <a:lnSpc>
                <a:spcPct val="100000"/>
              </a:lnSpc>
              <a:tabLst>
                <a:tab pos="1231900" algn="l"/>
              </a:tabLst>
            </a:pPr>
            <a:r>
              <a:rPr lang="en-GB" sz="4000" noProof="0" dirty="0">
                <a:latin typeface="Courier New"/>
                <a:cs typeface="Courier New"/>
              </a:rPr>
              <a:t>var	</a:t>
            </a:r>
            <a:r>
              <a:rPr lang="en-GB" sz="4000" spc="-5" noProof="0" dirty="0">
                <a:latin typeface="Courier New"/>
                <a:cs typeface="Courier New"/>
              </a:rPr>
              <a:t>employee  </a:t>
            </a:r>
            <a:r>
              <a:rPr lang="en-GB" sz="4000" noProof="0" dirty="0">
                <a:latin typeface="Courier New"/>
                <a:cs typeface="Courier New"/>
              </a:rPr>
              <a:t>var	</a:t>
            </a:r>
            <a:r>
              <a:rPr lang="en-GB" sz="4000" spc="-5" noProof="0" dirty="0">
                <a:latin typeface="Courier New"/>
                <a:cs typeface="Courier New"/>
              </a:rPr>
              <a:t>employee001  </a:t>
            </a:r>
            <a:r>
              <a:rPr lang="en-GB" sz="4000" noProof="0" dirty="0">
                <a:latin typeface="Courier New"/>
                <a:cs typeface="Courier New"/>
              </a:rPr>
              <a:t>var	</a:t>
            </a:r>
            <a:r>
              <a:rPr lang="en-GB" sz="4000" spc="-5" noProof="0" dirty="0">
                <a:latin typeface="Courier New"/>
                <a:cs typeface="Courier New"/>
              </a:rPr>
              <a:t>_employee  </a:t>
            </a:r>
            <a:r>
              <a:rPr lang="en-GB" sz="4000" noProof="0" dirty="0">
                <a:latin typeface="Courier New"/>
                <a:cs typeface="Courier New"/>
              </a:rPr>
              <a:t>var	</a:t>
            </a:r>
            <a:r>
              <a:rPr lang="en-GB" sz="4000" spc="-5" noProof="0" dirty="0">
                <a:latin typeface="Courier New"/>
                <a:cs typeface="Courier New"/>
              </a:rPr>
              <a:t>$employee</a:t>
            </a:r>
            <a:endParaRPr lang="en-GB" sz="4000" noProof="0" dirty="0">
              <a:latin typeface="Courier New"/>
              <a:cs typeface="Courier New"/>
            </a:endParaRPr>
          </a:p>
        </p:txBody>
      </p:sp>
      <p:sp>
        <p:nvSpPr>
          <p:cNvPr id="3" name="object 3"/>
          <p:cNvSpPr txBox="1"/>
          <p:nvPr/>
        </p:nvSpPr>
        <p:spPr>
          <a:xfrm>
            <a:off x="556107" y="3362494"/>
            <a:ext cx="5208270" cy="3693319"/>
          </a:xfrm>
          <a:prstGeom prst="rect">
            <a:avLst/>
          </a:prstGeom>
        </p:spPr>
        <p:txBody>
          <a:bodyPr vert="horz" wrap="square" lIns="0" tIns="0" rIns="0" bIns="0" rtlCol="0">
            <a:spAutoFit/>
          </a:bodyPr>
          <a:lstStyle/>
          <a:p>
            <a:pPr marL="12700" marR="614680">
              <a:lnSpc>
                <a:spcPct val="100000"/>
              </a:lnSpc>
              <a:tabLst>
                <a:tab pos="1231900" algn="l"/>
              </a:tabLst>
            </a:pPr>
            <a:r>
              <a:rPr lang="en-GB" sz="4000" noProof="0" dirty="0">
                <a:solidFill>
                  <a:schemeClr val="tx1">
                    <a:lumMod val="95000"/>
                    <a:lumOff val="5000"/>
                  </a:schemeClr>
                </a:solidFill>
                <a:latin typeface="Courier New"/>
                <a:cs typeface="Courier New"/>
              </a:rPr>
              <a:t>var	</a:t>
            </a:r>
            <a:r>
              <a:rPr lang="en-GB" sz="4000" spc="-5" noProof="0" dirty="0">
                <a:solidFill>
                  <a:schemeClr val="tx1">
                    <a:lumMod val="95000"/>
                    <a:lumOff val="5000"/>
                  </a:schemeClr>
                </a:solidFill>
                <a:latin typeface="Courier New"/>
                <a:cs typeface="Courier New"/>
              </a:rPr>
              <a:t>1employee  </a:t>
            </a:r>
            <a:r>
              <a:rPr lang="en-GB" sz="4000" noProof="0" dirty="0">
                <a:solidFill>
                  <a:schemeClr val="tx1">
                    <a:lumMod val="95000"/>
                    <a:lumOff val="5000"/>
                  </a:schemeClr>
                </a:solidFill>
                <a:latin typeface="Courier New"/>
                <a:cs typeface="Courier New"/>
              </a:rPr>
              <a:t>var	</a:t>
            </a:r>
            <a:r>
              <a:rPr lang="en-GB" sz="4000" spc="-5" noProof="0" dirty="0">
                <a:solidFill>
                  <a:schemeClr val="tx1">
                    <a:lumMod val="95000"/>
                    <a:lumOff val="5000"/>
                  </a:schemeClr>
                </a:solidFill>
                <a:latin typeface="Courier New"/>
                <a:cs typeface="Courier New"/>
              </a:rPr>
              <a:t>employee</a:t>
            </a:r>
            <a:r>
              <a:rPr lang="en-GB" sz="4000" spc="-95" noProof="0" dirty="0">
                <a:solidFill>
                  <a:schemeClr val="tx1">
                    <a:lumMod val="95000"/>
                    <a:lumOff val="5000"/>
                  </a:schemeClr>
                </a:solidFill>
                <a:latin typeface="Courier New"/>
                <a:cs typeface="Courier New"/>
              </a:rPr>
              <a:t> </a:t>
            </a:r>
            <a:r>
              <a:rPr lang="en-GB" sz="4000" spc="-5" noProof="0" dirty="0">
                <a:solidFill>
                  <a:schemeClr val="tx1">
                    <a:lumMod val="95000"/>
                    <a:lumOff val="5000"/>
                  </a:schemeClr>
                </a:solidFill>
                <a:latin typeface="Courier New"/>
                <a:cs typeface="Courier New"/>
              </a:rPr>
              <a:t>01  </a:t>
            </a:r>
            <a:r>
              <a:rPr lang="en-GB" sz="4000" noProof="0" dirty="0">
                <a:solidFill>
                  <a:schemeClr val="tx1">
                    <a:lumMod val="95000"/>
                    <a:lumOff val="5000"/>
                  </a:schemeClr>
                </a:solidFill>
                <a:latin typeface="Courier New"/>
                <a:cs typeface="Courier New"/>
              </a:rPr>
              <a:t>var	</a:t>
            </a:r>
            <a:r>
              <a:rPr lang="en-GB" sz="4000" spc="-5" noProof="0" dirty="0">
                <a:solidFill>
                  <a:schemeClr val="tx1">
                    <a:lumMod val="95000"/>
                    <a:lumOff val="5000"/>
                  </a:schemeClr>
                </a:solidFill>
                <a:latin typeface="Courier New"/>
                <a:cs typeface="Courier New"/>
              </a:rPr>
              <a:t>#employee</a:t>
            </a:r>
            <a:endParaRPr lang="en-GB" sz="4000" noProof="0" dirty="0">
              <a:solidFill>
                <a:schemeClr val="tx1">
                  <a:lumMod val="95000"/>
                  <a:lumOff val="5000"/>
                </a:schemeClr>
              </a:solidFill>
              <a:latin typeface="Courier New"/>
              <a:cs typeface="Courier New"/>
            </a:endParaRPr>
          </a:p>
          <a:p>
            <a:pPr marL="12700">
              <a:lnSpc>
                <a:spcPct val="100000"/>
              </a:lnSpc>
              <a:tabLst>
                <a:tab pos="1231900" algn="l"/>
              </a:tabLst>
            </a:pPr>
            <a:r>
              <a:rPr lang="en-GB" sz="4000" noProof="0" dirty="0">
                <a:solidFill>
                  <a:schemeClr val="tx1">
                    <a:lumMod val="95000"/>
                    <a:lumOff val="5000"/>
                  </a:schemeClr>
                </a:solidFill>
                <a:latin typeface="Courier New"/>
                <a:cs typeface="Courier New"/>
              </a:rPr>
              <a:t>var	employee.name</a:t>
            </a:r>
          </a:p>
          <a:p>
            <a:pPr marL="12700">
              <a:tabLst>
                <a:tab pos="1231900" algn="l"/>
              </a:tabLst>
            </a:pPr>
            <a:r>
              <a:rPr lang="en-GB" sz="4000" noProof="0" dirty="0">
                <a:solidFill>
                  <a:schemeClr val="tx1">
                    <a:lumMod val="95000"/>
                    <a:lumOff val="5000"/>
                  </a:schemeClr>
                </a:solidFill>
                <a:latin typeface="Courier New"/>
                <a:cs typeface="Courier New"/>
              </a:rPr>
              <a:t>var	employee-name</a:t>
            </a:r>
          </a:p>
          <a:p>
            <a:pPr marL="12700">
              <a:lnSpc>
                <a:spcPct val="100000"/>
              </a:lnSpc>
              <a:tabLst>
                <a:tab pos="1231900" algn="l"/>
              </a:tabLst>
            </a:pPr>
            <a:endParaRPr lang="en-GB" sz="4000" noProof="0" dirty="0">
              <a:solidFill>
                <a:schemeClr val="tx1">
                  <a:lumMod val="95000"/>
                  <a:lumOff val="5000"/>
                </a:schemeClr>
              </a:solidFill>
              <a:latin typeface="Courier New"/>
              <a:cs typeface="Courier New"/>
            </a:endParaRPr>
          </a:p>
        </p:txBody>
      </p:sp>
      <p:sp>
        <p:nvSpPr>
          <p:cNvPr id="4" name="object 4">
            <a:extLst>
              <a:ext uri="{C183D7F6-B498-43B3-948B-1728B52AA6E4}">
                <adec:decorative xmlns:adec="http://schemas.microsoft.com/office/drawing/2017/decorative" val="1"/>
              </a:ext>
            </a:extLst>
          </p:cNvPr>
          <p:cNvSpPr/>
          <p:nvPr/>
        </p:nvSpPr>
        <p:spPr>
          <a:xfrm>
            <a:off x="6097384" y="195343"/>
            <a:ext cx="1529537" cy="6334302"/>
          </a:xfrm>
          <a:prstGeom prst="rect">
            <a:avLst/>
          </a:prstGeom>
          <a:blipFill>
            <a:blip r:embed="rId2" cstate="print"/>
            <a:stretch>
              <a:fillRect/>
            </a:stretch>
          </a:blipFill>
        </p:spPr>
        <p:txBody>
          <a:bodyPr wrap="square" lIns="0" tIns="0" rIns="0" bIns="0" rtlCol="0"/>
          <a:lstStyle/>
          <a:p>
            <a:endParaRPr lang="en-GB" noProof="0" dirty="0"/>
          </a:p>
        </p:txBody>
      </p:sp>
      <p:sp>
        <p:nvSpPr>
          <p:cNvPr id="5" name="object 5">
            <a:extLst>
              <a:ext uri="{C183D7F6-B498-43B3-948B-1728B52AA6E4}">
                <adec:decorative xmlns:adec="http://schemas.microsoft.com/office/drawing/2017/decorative" val="1"/>
              </a:ext>
            </a:extLst>
          </p:cNvPr>
          <p:cNvSpPr/>
          <p:nvPr/>
        </p:nvSpPr>
        <p:spPr>
          <a:xfrm>
            <a:off x="6163881" y="216141"/>
            <a:ext cx="2298471" cy="3192081"/>
          </a:xfrm>
          <a:prstGeom prst="rect">
            <a:avLst/>
          </a:prstGeom>
          <a:blipFill>
            <a:blip r:embed="rId3" cstate="print"/>
            <a:stretch>
              <a:fillRect/>
            </a:stretch>
          </a:blipFill>
        </p:spPr>
        <p:txBody>
          <a:bodyPr wrap="square" lIns="0" tIns="0" rIns="0" bIns="0" rtlCol="0"/>
          <a:lstStyle/>
          <a:p>
            <a:endParaRPr lang="en-GB" noProof="0" dirty="0"/>
          </a:p>
        </p:txBody>
      </p:sp>
      <p:sp>
        <p:nvSpPr>
          <p:cNvPr id="6" name="object 6">
            <a:extLst>
              <a:ext uri="{C183D7F6-B498-43B3-948B-1728B52AA6E4}">
                <adec:decorative xmlns:adec="http://schemas.microsoft.com/office/drawing/2017/decorative" val="1"/>
              </a:ext>
            </a:extLst>
          </p:cNvPr>
          <p:cNvSpPr/>
          <p:nvPr/>
        </p:nvSpPr>
        <p:spPr>
          <a:xfrm>
            <a:off x="6217920" y="3092329"/>
            <a:ext cx="2244432" cy="3271062"/>
          </a:xfrm>
          <a:prstGeom prst="rect">
            <a:avLst/>
          </a:prstGeom>
          <a:blipFill>
            <a:blip r:embed="rId4" cstate="print"/>
            <a:stretch>
              <a:fillRect/>
            </a:stretch>
          </a:blipFill>
        </p:spPr>
        <p:txBody>
          <a:bodyPr wrap="square" lIns="0" tIns="0" rIns="0" bIns="0" rtlCol="0"/>
          <a:lstStyle/>
          <a:p>
            <a:endParaRPr lang="en-GB" noProof="0" dirty="0"/>
          </a:p>
        </p:txBody>
      </p:sp>
      <p:sp>
        <p:nvSpPr>
          <p:cNvPr id="7" name="object 7">
            <a:extLst>
              <a:ext uri="{C183D7F6-B498-43B3-948B-1728B52AA6E4}">
                <adec:decorative xmlns:adec="http://schemas.microsoft.com/office/drawing/2017/decorative" val="1"/>
              </a:ext>
            </a:extLst>
          </p:cNvPr>
          <p:cNvSpPr/>
          <p:nvPr/>
        </p:nvSpPr>
        <p:spPr>
          <a:xfrm>
            <a:off x="6284417" y="3113117"/>
            <a:ext cx="2082342" cy="3187928"/>
          </a:xfrm>
          <a:prstGeom prst="rect">
            <a:avLst/>
          </a:prstGeom>
          <a:blipFill>
            <a:blip r:embed="rId5" cstate="print"/>
            <a:stretch>
              <a:fillRect/>
            </a:stretch>
          </a:blipFill>
        </p:spPr>
        <p:txBody>
          <a:bodyPr wrap="square" lIns="0" tIns="0" rIns="0" bIns="0" rtlCol="0"/>
          <a:lstStyle/>
          <a:p>
            <a:endParaRPr lang="en-GB" noProof="0" dirty="0"/>
          </a:p>
        </p:txBody>
      </p:sp>
      <p:sp>
        <p:nvSpPr>
          <p:cNvPr id="8" name="object 8"/>
          <p:cNvSpPr txBox="1"/>
          <p:nvPr/>
        </p:nvSpPr>
        <p:spPr>
          <a:xfrm>
            <a:off x="6206185" y="274320"/>
            <a:ext cx="2164080" cy="5997796"/>
          </a:xfrm>
          <a:prstGeom prst="rect">
            <a:avLst/>
          </a:prstGeom>
        </p:spPr>
        <p:txBody>
          <a:bodyPr vert="horz" wrap="square" lIns="0" tIns="0" rIns="0" bIns="0" rtlCol="0">
            <a:spAutoFit/>
          </a:bodyPr>
          <a:lstStyle/>
          <a:p>
            <a:pPr algn="ctr">
              <a:lnSpc>
                <a:spcPts val="23340"/>
              </a:lnSpc>
            </a:pPr>
            <a:r>
              <a:rPr lang="en-GB" sz="19900" spc="-3065" noProof="0" dirty="0">
                <a:solidFill>
                  <a:srgbClr val="468A4B"/>
                </a:solidFill>
                <a:latin typeface="MS UI Gothic"/>
                <a:cs typeface="MS UI Gothic"/>
              </a:rPr>
              <a:t>✔</a:t>
            </a:r>
            <a:r>
              <a:rPr lang="en-GB" sz="19900" spc="-4755" noProof="0" dirty="0">
                <a:solidFill>
                  <a:srgbClr val="FF0000"/>
                </a:solidFill>
                <a:latin typeface="MS UI Gothic"/>
                <a:cs typeface="MS UI Gothic"/>
              </a:rPr>
              <a:t>✖</a:t>
            </a:r>
            <a:endParaRPr lang="en-GB" sz="19900" noProof="0" dirty="0">
              <a:latin typeface="MS UI Gothic"/>
              <a:cs typeface="MS UI Gothic"/>
            </a:endParaRPr>
          </a:p>
        </p:txBody>
      </p:sp>
    </p:spTree>
    <p:extLst>
      <p:ext uri="{BB962C8B-B14F-4D97-AF65-F5344CB8AC3E}">
        <p14:creationId xmlns:p14="http://schemas.microsoft.com/office/powerpoint/2010/main" val="12263509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title" idx="4294967295"/>
          </p:nvPr>
        </p:nvSpPr>
        <p:spPr>
          <a:xfrm>
            <a:off x="447675" y="2011363"/>
            <a:ext cx="8229600" cy="283845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a:bodyPr>
          <a:lstStyle/>
          <a:p>
            <a:pPr marL="0" marR="0" lvl="0" indent="0" algn="ctr" defTabSz="457200" rtl="0" eaLnBrk="1" fontAlgn="auto" latinLnBrk="0" hangingPunct="1">
              <a:lnSpc>
                <a:spcPct val="100000"/>
              </a:lnSpc>
              <a:spcBef>
                <a:spcPct val="20000"/>
              </a:spcBef>
              <a:spcAft>
                <a:spcPts val="0"/>
              </a:spcAft>
              <a:buClrTx/>
              <a:buSzTx/>
              <a:buFont typeface="Arial"/>
              <a:buNone/>
              <a:tabLst/>
              <a:defRPr/>
            </a:pPr>
            <a:r>
              <a:rPr kumimoji="0" lang="en-GB" sz="5400" b="0" i="0" u="none" strike="noStrike" kern="1200" cap="none" spc="0" normalizeH="0" baseline="0" noProof="0" dirty="0">
                <a:ln>
                  <a:noFill/>
                </a:ln>
                <a:solidFill>
                  <a:schemeClr val="bg1">
                    <a:lumMod val="50000"/>
                  </a:schemeClr>
                </a:solidFill>
                <a:effectLst/>
                <a:uLnTx/>
                <a:uFillTx/>
                <a:latin typeface="Helvetica Neue Light"/>
                <a:ea typeface="+mn-ea"/>
                <a:cs typeface="Helvetica Neue Light"/>
              </a:rPr>
              <a:t>Pick variable names that mean something in the context of your program !</a:t>
            </a:r>
          </a:p>
        </p:txBody>
      </p:sp>
    </p:spTree>
    <p:extLst>
      <p:ext uri="{BB962C8B-B14F-4D97-AF65-F5344CB8AC3E}">
        <p14:creationId xmlns:p14="http://schemas.microsoft.com/office/powerpoint/2010/main" val="27564247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599837"/>
            <a:ext cx="7590168" cy="2462213"/>
          </a:xfrm>
          <a:prstGeom prst="rect">
            <a:avLst/>
          </a:prstGeom>
        </p:spPr>
        <p:txBody>
          <a:bodyPr vert="horz" wrap="square" lIns="0" tIns="0" rIns="0" bIns="0" rtlCol="0">
            <a:spAutoFit/>
          </a:bodyPr>
          <a:lstStyle/>
          <a:p>
            <a:pPr marL="12700" marR="5080">
              <a:lnSpc>
                <a:spcPct val="100000"/>
              </a:lnSpc>
              <a:tabLst>
                <a:tab pos="1231900" algn="l"/>
              </a:tabLst>
            </a:pPr>
            <a:r>
              <a:rPr lang="en-GB" sz="4000" noProof="0" dirty="0">
                <a:solidFill>
                  <a:schemeClr val="tx1">
                    <a:lumMod val="95000"/>
                    <a:lumOff val="5000"/>
                  </a:schemeClr>
                </a:solidFill>
                <a:latin typeface="Courier New"/>
                <a:cs typeface="Courier New"/>
              </a:rPr>
              <a:t>var	</a:t>
            </a:r>
            <a:r>
              <a:rPr lang="en-GB" sz="4000" noProof="0" dirty="0" err="1">
                <a:solidFill>
                  <a:schemeClr val="tx1">
                    <a:lumMod val="95000"/>
                    <a:lumOff val="5000"/>
                  </a:schemeClr>
                </a:solidFill>
                <a:latin typeface="Courier New"/>
                <a:cs typeface="Courier New"/>
              </a:rPr>
              <a:t>employeeID</a:t>
            </a:r>
            <a:r>
              <a:rPr lang="en-GB" sz="4000" noProof="0" dirty="0">
                <a:solidFill>
                  <a:schemeClr val="tx1">
                    <a:lumMod val="95000"/>
                    <a:lumOff val="5000"/>
                  </a:schemeClr>
                </a:solidFill>
                <a:latin typeface="Courier New"/>
                <a:cs typeface="Courier New"/>
              </a:rPr>
              <a:t>  </a:t>
            </a:r>
            <a:br>
              <a:rPr lang="en-GB" sz="4000" noProof="0" dirty="0">
                <a:solidFill>
                  <a:schemeClr val="tx1">
                    <a:lumMod val="95000"/>
                    <a:lumOff val="5000"/>
                  </a:schemeClr>
                </a:solidFill>
                <a:latin typeface="Courier New"/>
                <a:cs typeface="Courier New"/>
              </a:rPr>
            </a:br>
            <a:r>
              <a:rPr lang="en-GB" sz="4000" noProof="0" dirty="0">
                <a:solidFill>
                  <a:schemeClr val="tx1">
                    <a:lumMod val="95000"/>
                    <a:lumOff val="5000"/>
                  </a:schemeClr>
                </a:solidFill>
                <a:latin typeface="Courier New"/>
                <a:cs typeface="Courier New"/>
              </a:rPr>
              <a:t>var	</a:t>
            </a:r>
            <a:r>
              <a:rPr lang="en-GB" sz="4000" noProof="0" dirty="0" err="1">
                <a:solidFill>
                  <a:schemeClr val="tx1">
                    <a:lumMod val="95000"/>
                    <a:lumOff val="5000"/>
                  </a:schemeClr>
                </a:solidFill>
                <a:latin typeface="Courier New"/>
                <a:cs typeface="Courier New"/>
              </a:rPr>
              <a:t>employeeName</a:t>
            </a:r>
            <a:r>
              <a:rPr lang="en-GB" sz="4000" noProof="0" dirty="0">
                <a:solidFill>
                  <a:schemeClr val="tx1">
                    <a:lumMod val="95000"/>
                    <a:lumOff val="5000"/>
                  </a:schemeClr>
                </a:solidFill>
                <a:latin typeface="Courier New"/>
                <a:cs typeface="Courier New"/>
              </a:rPr>
              <a:t>  </a:t>
            </a:r>
            <a:br>
              <a:rPr lang="en-GB" sz="4000" noProof="0" dirty="0">
                <a:solidFill>
                  <a:schemeClr val="tx1">
                    <a:lumMod val="95000"/>
                    <a:lumOff val="5000"/>
                  </a:schemeClr>
                </a:solidFill>
                <a:latin typeface="Courier New"/>
                <a:cs typeface="Courier New"/>
              </a:rPr>
            </a:br>
            <a:r>
              <a:rPr lang="en-GB" sz="4000" noProof="0" dirty="0">
                <a:solidFill>
                  <a:schemeClr val="tx1">
                    <a:lumMod val="95000"/>
                    <a:lumOff val="5000"/>
                  </a:schemeClr>
                </a:solidFill>
                <a:latin typeface="Courier New"/>
                <a:cs typeface="Courier New"/>
              </a:rPr>
              <a:t>var	</a:t>
            </a:r>
            <a:r>
              <a:rPr lang="en-GB" sz="4000" noProof="0" dirty="0" err="1">
                <a:solidFill>
                  <a:schemeClr val="tx1">
                    <a:lumMod val="95000"/>
                    <a:lumOff val="5000"/>
                  </a:schemeClr>
                </a:solidFill>
                <a:latin typeface="Courier New"/>
                <a:cs typeface="Courier New"/>
              </a:rPr>
              <a:t>employee_id</a:t>
            </a:r>
            <a:r>
              <a:rPr lang="en-GB" sz="4000" noProof="0" dirty="0">
                <a:solidFill>
                  <a:schemeClr val="tx1">
                    <a:lumMod val="95000"/>
                    <a:lumOff val="5000"/>
                  </a:schemeClr>
                </a:solidFill>
                <a:latin typeface="Courier New"/>
                <a:cs typeface="Courier New"/>
              </a:rPr>
              <a:t>  </a:t>
            </a:r>
            <a:br>
              <a:rPr lang="en-GB" sz="4000" noProof="0" dirty="0">
                <a:solidFill>
                  <a:schemeClr val="tx1">
                    <a:lumMod val="95000"/>
                    <a:lumOff val="5000"/>
                  </a:schemeClr>
                </a:solidFill>
                <a:latin typeface="Courier New"/>
                <a:cs typeface="Courier New"/>
              </a:rPr>
            </a:br>
            <a:r>
              <a:rPr lang="en-GB" sz="4000" noProof="0" dirty="0">
                <a:solidFill>
                  <a:schemeClr val="tx1">
                    <a:lumMod val="95000"/>
                    <a:lumOff val="5000"/>
                  </a:schemeClr>
                </a:solidFill>
                <a:latin typeface="Courier New"/>
                <a:cs typeface="Courier New"/>
              </a:rPr>
              <a:t>var	</a:t>
            </a:r>
            <a:r>
              <a:rPr lang="en-GB" sz="4000" noProof="0" dirty="0" err="1">
                <a:solidFill>
                  <a:schemeClr val="tx1">
                    <a:lumMod val="95000"/>
                    <a:lumOff val="5000"/>
                  </a:schemeClr>
                </a:solidFill>
                <a:latin typeface="Courier New"/>
                <a:cs typeface="Courier New"/>
              </a:rPr>
              <a:t>employee_name</a:t>
            </a:r>
            <a:endParaRPr lang="en-GB" sz="4000" noProof="0" dirty="0">
              <a:solidFill>
                <a:schemeClr val="tx1">
                  <a:lumMod val="95000"/>
                  <a:lumOff val="5000"/>
                </a:schemeClr>
              </a:solidFill>
              <a:latin typeface="Courier New"/>
              <a:cs typeface="Courier New"/>
            </a:endParaRPr>
          </a:p>
        </p:txBody>
      </p:sp>
      <p:sp>
        <p:nvSpPr>
          <p:cNvPr id="3" name="object 3"/>
          <p:cNvSpPr txBox="1"/>
          <p:nvPr/>
        </p:nvSpPr>
        <p:spPr>
          <a:xfrm>
            <a:off x="612140" y="4084320"/>
            <a:ext cx="3989070" cy="1875155"/>
          </a:xfrm>
          <a:prstGeom prst="rect">
            <a:avLst/>
          </a:prstGeom>
        </p:spPr>
        <p:txBody>
          <a:bodyPr vert="horz" wrap="square" lIns="0" tIns="0" rIns="0" bIns="0" rtlCol="0">
            <a:spAutoFit/>
          </a:bodyPr>
          <a:lstStyle/>
          <a:p>
            <a:pPr marL="12700" marR="5080">
              <a:lnSpc>
                <a:spcPct val="100000"/>
              </a:lnSpc>
              <a:tabLst>
                <a:tab pos="1231900" algn="l"/>
              </a:tabLst>
            </a:pPr>
            <a:r>
              <a:rPr lang="en-GB" sz="4000" noProof="0" dirty="0">
                <a:solidFill>
                  <a:schemeClr val="bg1">
                    <a:lumMod val="50000"/>
                  </a:schemeClr>
                </a:solidFill>
                <a:latin typeface="Courier New"/>
                <a:cs typeface="Courier New"/>
              </a:rPr>
              <a:t>var	</a:t>
            </a:r>
            <a:r>
              <a:rPr lang="en-GB" sz="4000" noProof="0" dirty="0" err="1">
                <a:solidFill>
                  <a:schemeClr val="bg1">
                    <a:lumMod val="50000"/>
                  </a:schemeClr>
                </a:solidFill>
                <a:latin typeface="Courier New"/>
                <a:cs typeface="Courier New"/>
              </a:rPr>
              <a:t>avariable</a:t>
            </a:r>
            <a:r>
              <a:rPr lang="en-GB" sz="4000" noProof="0" dirty="0">
                <a:solidFill>
                  <a:schemeClr val="bg1">
                    <a:lumMod val="50000"/>
                  </a:schemeClr>
                </a:solidFill>
                <a:latin typeface="Courier New"/>
                <a:cs typeface="Courier New"/>
              </a:rPr>
              <a:t>  var	</a:t>
            </a:r>
            <a:r>
              <a:rPr lang="en-GB" sz="4000" spc="-5" noProof="0" dirty="0">
                <a:solidFill>
                  <a:schemeClr val="bg1">
                    <a:lumMod val="50000"/>
                  </a:schemeClr>
                </a:solidFill>
                <a:latin typeface="Courier New"/>
                <a:cs typeface="Courier New"/>
              </a:rPr>
              <a:t>rover</a:t>
            </a:r>
            <a:endParaRPr lang="en-GB" sz="4000" noProof="0" dirty="0">
              <a:solidFill>
                <a:schemeClr val="bg1">
                  <a:lumMod val="50000"/>
                </a:schemeClr>
              </a:solidFill>
              <a:latin typeface="Courier New"/>
              <a:cs typeface="Courier New"/>
            </a:endParaRPr>
          </a:p>
          <a:p>
            <a:pPr marL="12700">
              <a:lnSpc>
                <a:spcPct val="100000"/>
              </a:lnSpc>
              <a:tabLst>
                <a:tab pos="1231900" algn="l"/>
              </a:tabLst>
            </a:pPr>
            <a:r>
              <a:rPr lang="en-GB" sz="4000" noProof="0" dirty="0">
                <a:solidFill>
                  <a:schemeClr val="bg1">
                    <a:lumMod val="50000"/>
                  </a:schemeClr>
                </a:solidFill>
                <a:latin typeface="Courier New"/>
                <a:cs typeface="Courier New"/>
              </a:rPr>
              <a:t>var	</a:t>
            </a:r>
            <a:r>
              <a:rPr lang="en-GB" sz="4000" noProof="0" dirty="0" err="1">
                <a:solidFill>
                  <a:schemeClr val="bg1">
                    <a:lumMod val="50000"/>
                  </a:schemeClr>
                </a:solidFill>
                <a:latin typeface="Courier New"/>
                <a:cs typeface="Courier New"/>
              </a:rPr>
              <a:t>gfhdsfgj</a:t>
            </a:r>
            <a:endParaRPr lang="en-GB" sz="4000" noProof="0" dirty="0">
              <a:solidFill>
                <a:schemeClr val="bg1">
                  <a:lumMod val="50000"/>
                </a:schemeClr>
              </a:solidFill>
              <a:latin typeface="Courier New"/>
              <a:cs typeface="Courier New"/>
            </a:endParaRPr>
          </a:p>
        </p:txBody>
      </p:sp>
      <p:sp>
        <p:nvSpPr>
          <p:cNvPr id="4" name="object 4">
            <a:extLst>
              <a:ext uri="{C183D7F6-B498-43B3-948B-1728B52AA6E4}">
                <adec:decorative xmlns:adec="http://schemas.microsoft.com/office/drawing/2017/decorative" val="1"/>
              </a:ext>
            </a:extLst>
          </p:cNvPr>
          <p:cNvSpPr/>
          <p:nvPr/>
        </p:nvSpPr>
        <p:spPr>
          <a:xfrm>
            <a:off x="6097384" y="74809"/>
            <a:ext cx="1529537" cy="6334302"/>
          </a:xfrm>
          <a:prstGeom prst="rect">
            <a:avLst/>
          </a:prstGeom>
          <a:blipFill>
            <a:blip r:embed="rId2" cstate="print"/>
            <a:stretch>
              <a:fillRect/>
            </a:stretch>
          </a:blipFill>
        </p:spPr>
        <p:txBody>
          <a:bodyPr wrap="square" lIns="0" tIns="0" rIns="0" bIns="0" rtlCol="0"/>
          <a:lstStyle/>
          <a:p>
            <a:endParaRPr lang="en-GB" noProof="0" dirty="0"/>
          </a:p>
        </p:txBody>
      </p:sp>
      <p:sp>
        <p:nvSpPr>
          <p:cNvPr id="5" name="object 5">
            <a:extLst>
              <a:ext uri="{C183D7F6-B498-43B3-948B-1728B52AA6E4}">
                <adec:decorative xmlns:adec="http://schemas.microsoft.com/office/drawing/2017/decorative" val="1"/>
              </a:ext>
            </a:extLst>
          </p:cNvPr>
          <p:cNvSpPr/>
          <p:nvPr/>
        </p:nvSpPr>
        <p:spPr>
          <a:xfrm>
            <a:off x="6163881" y="95605"/>
            <a:ext cx="2298471" cy="3192081"/>
          </a:xfrm>
          <a:prstGeom prst="rect">
            <a:avLst/>
          </a:prstGeom>
          <a:blipFill>
            <a:blip r:embed="rId3" cstate="print"/>
            <a:stretch>
              <a:fillRect/>
            </a:stretch>
          </a:blipFill>
        </p:spPr>
        <p:txBody>
          <a:bodyPr wrap="square" lIns="0" tIns="0" rIns="0" bIns="0" rtlCol="0"/>
          <a:lstStyle/>
          <a:p>
            <a:endParaRPr lang="en-GB" noProof="0" dirty="0"/>
          </a:p>
        </p:txBody>
      </p:sp>
      <p:sp>
        <p:nvSpPr>
          <p:cNvPr id="6" name="object 6"/>
          <p:cNvSpPr txBox="1"/>
          <p:nvPr/>
        </p:nvSpPr>
        <p:spPr>
          <a:xfrm>
            <a:off x="6206185" y="153238"/>
            <a:ext cx="2164080" cy="2991485"/>
          </a:xfrm>
          <a:prstGeom prst="rect">
            <a:avLst/>
          </a:prstGeom>
        </p:spPr>
        <p:txBody>
          <a:bodyPr vert="horz" wrap="square" lIns="0" tIns="0" rIns="0" bIns="0" rtlCol="0">
            <a:spAutoFit/>
          </a:bodyPr>
          <a:lstStyle/>
          <a:p>
            <a:pPr marL="12700">
              <a:lnSpc>
                <a:spcPts val="23550"/>
              </a:lnSpc>
            </a:pPr>
            <a:r>
              <a:rPr lang="en-GB" sz="19900" spc="-3065" noProof="0" dirty="0">
                <a:solidFill>
                  <a:srgbClr val="468A4B"/>
                </a:solidFill>
                <a:latin typeface="MS UI Gothic"/>
                <a:cs typeface="MS UI Gothic"/>
              </a:rPr>
              <a:t>✔</a:t>
            </a:r>
            <a:endParaRPr lang="en-GB" sz="19900" noProof="0" dirty="0">
              <a:latin typeface="MS UI Gothic"/>
              <a:cs typeface="MS UI Gothic"/>
            </a:endParaRPr>
          </a:p>
        </p:txBody>
      </p:sp>
      <p:sp>
        <p:nvSpPr>
          <p:cNvPr id="7" name="object 7">
            <a:extLst>
              <a:ext uri="{C183D7F6-B498-43B3-948B-1728B52AA6E4}">
                <adec:decorative xmlns:adec="http://schemas.microsoft.com/office/drawing/2017/decorative" val="1"/>
              </a:ext>
            </a:extLst>
          </p:cNvPr>
          <p:cNvSpPr/>
          <p:nvPr/>
        </p:nvSpPr>
        <p:spPr>
          <a:xfrm>
            <a:off x="6217920" y="3320929"/>
            <a:ext cx="2244432" cy="3271062"/>
          </a:xfrm>
          <a:prstGeom prst="rect">
            <a:avLst/>
          </a:prstGeom>
          <a:blipFill>
            <a:blip r:embed="rId4" cstate="print"/>
            <a:stretch>
              <a:fillRect/>
            </a:stretch>
          </a:blipFill>
        </p:spPr>
        <p:txBody>
          <a:bodyPr wrap="square" lIns="0" tIns="0" rIns="0" bIns="0" rtlCol="0"/>
          <a:lstStyle/>
          <a:p>
            <a:endParaRPr lang="en-GB" noProof="0" dirty="0"/>
          </a:p>
        </p:txBody>
      </p:sp>
      <p:sp>
        <p:nvSpPr>
          <p:cNvPr id="8" name="object 8">
            <a:extLst>
              <a:ext uri="{C183D7F6-B498-43B3-948B-1728B52AA6E4}">
                <adec:decorative xmlns:adec="http://schemas.microsoft.com/office/drawing/2017/decorative" val="1"/>
              </a:ext>
            </a:extLst>
          </p:cNvPr>
          <p:cNvSpPr/>
          <p:nvPr/>
        </p:nvSpPr>
        <p:spPr>
          <a:xfrm>
            <a:off x="6284417" y="3341718"/>
            <a:ext cx="2082342" cy="3187928"/>
          </a:xfrm>
          <a:prstGeom prst="rect">
            <a:avLst/>
          </a:prstGeom>
          <a:blipFill>
            <a:blip r:embed="rId5" cstate="print"/>
            <a:stretch>
              <a:fillRect/>
            </a:stretch>
          </a:blipFill>
        </p:spPr>
        <p:txBody>
          <a:bodyPr wrap="square" lIns="0" tIns="0" rIns="0" bIns="0" rtlCol="0"/>
          <a:lstStyle/>
          <a:p>
            <a:endParaRPr lang="en-GB" noProof="0" dirty="0"/>
          </a:p>
        </p:txBody>
      </p:sp>
      <p:sp>
        <p:nvSpPr>
          <p:cNvPr id="9" name="object 9"/>
          <p:cNvSpPr txBox="1"/>
          <p:nvPr/>
        </p:nvSpPr>
        <p:spPr>
          <a:xfrm>
            <a:off x="6327140" y="3398520"/>
            <a:ext cx="1949450" cy="2991485"/>
          </a:xfrm>
          <a:prstGeom prst="rect">
            <a:avLst/>
          </a:prstGeom>
        </p:spPr>
        <p:txBody>
          <a:bodyPr vert="horz" wrap="square" lIns="0" tIns="0" rIns="0" bIns="0" rtlCol="0">
            <a:spAutoFit/>
          </a:bodyPr>
          <a:lstStyle/>
          <a:p>
            <a:pPr marL="12700">
              <a:lnSpc>
                <a:spcPts val="23550"/>
              </a:lnSpc>
            </a:pPr>
            <a:r>
              <a:rPr lang="en-GB" sz="19900" spc="-4755" noProof="0" dirty="0">
                <a:solidFill>
                  <a:srgbClr val="FF0000"/>
                </a:solidFill>
                <a:latin typeface="MS UI Gothic"/>
                <a:cs typeface="MS UI Gothic"/>
              </a:rPr>
              <a:t>✖</a:t>
            </a:r>
            <a:endParaRPr lang="en-GB" sz="19900" noProof="0" dirty="0">
              <a:latin typeface="MS UI Gothic"/>
              <a:cs typeface="MS UI Gothic"/>
            </a:endParaRPr>
          </a:p>
        </p:txBody>
      </p:sp>
      <p:sp>
        <p:nvSpPr>
          <p:cNvPr id="10" name="object 10">
            <a:extLst>
              <a:ext uri="{C183D7F6-B498-43B3-948B-1728B52AA6E4}">
                <adec:decorative xmlns:adec="http://schemas.microsoft.com/office/drawing/2017/decorative" val="1"/>
              </a:ext>
            </a:extLst>
          </p:cNvPr>
          <p:cNvSpPr/>
          <p:nvPr/>
        </p:nvSpPr>
        <p:spPr>
          <a:xfrm>
            <a:off x="482137" y="2892831"/>
            <a:ext cx="8179727" cy="1292631"/>
          </a:xfrm>
          <a:prstGeom prst="rect">
            <a:avLst/>
          </a:prstGeom>
          <a:blipFill>
            <a:blip r:embed="rId6" cstate="print"/>
            <a:stretch>
              <a:fillRect/>
            </a:stretch>
          </a:blipFill>
        </p:spPr>
        <p:txBody>
          <a:bodyPr wrap="square" lIns="0" tIns="0" rIns="0" bIns="0" rtlCol="0"/>
          <a:lstStyle/>
          <a:p>
            <a:endParaRPr lang="en-GB" noProof="0" dirty="0"/>
          </a:p>
        </p:txBody>
      </p:sp>
      <p:sp>
        <p:nvSpPr>
          <p:cNvPr id="11" name="object 11">
            <a:extLst>
              <a:ext uri="{C183D7F6-B498-43B3-948B-1728B52AA6E4}">
                <adec:decorative xmlns:adec="http://schemas.microsoft.com/office/drawing/2017/decorative" val="1"/>
              </a:ext>
            </a:extLst>
          </p:cNvPr>
          <p:cNvSpPr/>
          <p:nvPr/>
        </p:nvSpPr>
        <p:spPr>
          <a:xfrm>
            <a:off x="577734" y="3196249"/>
            <a:ext cx="7930337" cy="926868"/>
          </a:xfrm>
          <a:prstGeom prst="rect">
            <a:avLst/>
          </a:prstGeom>
          <a:blipFill>
            <a:blip r:embed="rId7" cstate="print"/>
            <a:stretch>
              <a:fillRect/>
            </a:stretch>
          </a:blipFill>
        </p:spPr>
        <p:txBody>
          <a:bodyPr wrap="square" lIns="0" tIns="0" rIns="0" bIns="0" rtlCol="0"/>
          <a:lstStyle/>
          <a:p>
            <a:endParaRPr lang="en-GB" noProof="0" dirty="0"/>
          </a:p>
        </p:txBody>
      </p:sp>
      <p:sp>
        <p:nvSpPr>
          <p:cNvPr id="12" name="object 12">
            <a:extLst>
              <a:ext uri="{C183D7F6-B498-43B3-948B-1728B52AA6E4}">
                <adec:decorative xmlns:adec="http://schemas.microsoft.com/office/drawing/2017/decorative" val="1"/>
              </a:ext>
            </a:extLst>
          </p:cNvPr>
          <p:cNvSpPr/>
          <p:nvPr/>
        </p:nvSpPr>
        <p:spPr>
          <a:xfrm>
            <a:off x="533400" y="2924594"/>
            <a:ext cx="8077200" cy="1190205"/>
          </a:xfrm>
          <a:prstGeom prst="rect">
            <a:avLst/>
          </a:prstGeom>
          <a:blipFill>
            <a:blip r:embed="rId8" cstate="print"/>
            <a:stretch>
              <a:fillRect/>
            </a:stretch>
          </a:blipFill>
        </p:spPr>
        <p:txBody>
          <a:bodyPr wrap="square" lIns="0" tIns="0" rIns="0" bIns="0" rtlCol="0"/>
          <a:lstStyle/>
          <a:p>
            <a:endParaRPr lang="en-GB" noProof="0" dirty="0"/>
          </a:p>
        </p:txBody>
      </p:sp>
      <p:sp>
        <p:nvSpPr>
          <p:cNvPr id="13" name="object 13">
            <a:extLst>
              <a:ext uri="{C183D7F6-B498-43B3-948B-1728B52AA6E4}">
                <adec:decorative xmlns:adec="http://schemas.microsoft.com/office/drawing/2017/decorative" val="1"/>
              </a:ext>
            </a:extLst>
          </p:cNvPr>
          <p:cNvSpPr/>
          <p:nvPr/>
        </p:nvSpPr>
        <p:spPr>
          <a:xfrm>
            <a:off x="533400" y="2924590"/>
            <a:ext cx="8077200" cy="1190625"/>
          </a:xfrm>
          <a:custGeom>
            <a:avLst/>
            <a:gdLst/>
            <a:ahLst/>
            <a:cxnLst/>
            <a:rect l="l" t="t" r="r" b="b"/>
            <a:pathLst>
              <a:path w="8077200" h="1190625">
                <a:moveTo>
                  <a:pt x="0" y="275809"/>
                </a:moveTo>
                <a:lnTo>
                  <a:pt x="4711696" y="275809"/>
                </a:lnTo>
                <a:lnTo>
                  <a:pt x="4441806" y="0"/>
                </a:lnTo>
                <a:lnTo>
                  <a:pt x="6730995" y="275809"/>
                </a:lnTo>
                <a:lnTo>
                  <a:pt x="8077194" y="275809"/>
                </a:lnTo>
                <a:lnTo>
                  <a:pt x="8077194" y="428209"/>
                </a:lnTo>
                <a:lnTo>
                  <a:pt x="8077194" y="656809"/>
                </a:lnTo>
                <a:lnTo>
                  <a:pt x="8077194" y="1190209"/>
                </a:lnTo>
                <a:lnTo>
                  <a:pt x="6730995" y="1190209"/>
                </a:lnTo>
                <a:lnTo>
                  <a:pt x="4711696" y="1190209"/>
                </a:lnTo>
                <a:lnTo>
                  <a:pt x="0" y="1190209"/>
                </a:lnTo>
                <a:lnTo>
                  <a:pt x="0" y="656809"/>
                </a:lnTo>
                <a:lnTo>
                  <a:pt x="0" y="428209"/>
                </a:lnTo>
                <a:lnTo>
                  <a:pt x="0" y="275809"/>
                </a:lnTo>
                <a:close/>
              </a:path>
            </a:pathLst>
          </a:custGeom>
          <a:ln w="9524">
            <a:solidFill>
              <a:srgbClr val="0045AA"/>
            </a:solidFill>
          </a:ln>
        </p:spPr>
        <p:txBody>
          <a:bodyPr wrap="square" lIns="0" tIns="0" rIns="0" bIns="0" rtlCol="0"/>
          <a:lstStyle/>
          <a:p>
            <a:endParaRPr lang="en-GB" noProof="0" dirty="0"/>
          </a:p>
        </p:txBody>
      </p:sp>
      <p:sp>
        <p:nvSpPr>
          <p:cNvPr id="14" name="object 14"/>
          <p:cNvSpPr txBox="1"/>
          <p:nvPr/>
        </p:nvSpPr>
        <p:spPr>
          <a:xfrm>
            <a:off x="644247" y="3266440"/>
            <a:ext cx="7796530" cy="716280"/>
          </a:xfrm>
          <a:prstGeom prst="rect">
            <a:avLst/>
          </a:prstGeom>
        </p:spPr>
        <p:txBody>
          <a:bodyPr vert="horz" wrap="square" lIns="0" tIns="0" rIns="0" bIns="0" rtlCol="0">
            <a:spAutoFit/>
          </a:bodyPr>
          <a:lstStyle/>
          <a:p>
            <a:pPr marL="1605915" marR="5080" indent="-1593850">
              <a:lnSpc>
                <a:spcPts val="2800"/>
              </a:lnSpc>
            </a:pPr>
            <a:r>
              <a:rPr lang="en-GB" sz="2400" spc="10" noProof="0" dirty="0">
                <a:solidFill>
                  <a:srgbClr val="336699"/>
                </a:solidFill>
                <a:latin typeface="Calibri"/>
                <a:cs typeface="Calibri"/>
              </a:rPr>
              <a:t>lowercase </a:t>
            </a:r>
            <a:r>
              <a:rPr lang="en-GB" sz="2400" spc="-20" noProof="0" dirty="0">
                <a:solidFill>
                  <a:srgbClr val="336699"/>
                </a:solidFill>
                <a:latin typeface="Calibri"/>
                <a:cs typeface="Calibri"/>
              </a:rPr>
              <a:t>first </a:t>
            </a:r>
            <a:r>
              <a:rPr lang="en-GB" sz="2400" spc="-10" noProof="0" dirty="0">
                <a:solidFill>
                  <a:srgbClr val="336699"/>
                </a:solidFill>
                <a:latin typeface="Calibri"/>
                <a:cs typeface="Calibri"/>
              </a:rPr>
              <a:t>letter </a:t>
            </a:r>
            <a:r>
              <a:rPr lang="en-GB" sz="2400" spc="35" noProof="0" dirty="0">
                <a:solidFill>
                  <a:srgbClr val="336699"/>
                </a:solidFill>
                <a:latin typeface="Calibri"/>
                <a:cs typeface="Calibri"/>
              </a:rPr>
              <a:t>then </a:t>
            </a:r>
            <a:r>
              <a:rPr lang="en-GB" sz="2400" spc="40" noProof="0" dirty="0">
                <a:solidFill>
                  <a:srgbClr val="336699"/>
                </a:solidFill>
                <a:latin typeface="Calibri"/>
                <a:cs typeface="Calibri"/>
              </a:rPr>
              <a:t>following </a:t>
            </a:r>
            <a:r>
              <a:rPr lang="en-GB" sz="2400" spc="20" noProof="0" dirty="0">
                <a:solidFill>
                  <a:srgbClr val="336699"/>
                </a:solidFill>
                <a:latin typeface="Calibri"/>
                <a:cs typeface="Calibri"/>
              </a:rPr>
              <a:t>words </a:t>
            </a:r>
            <a:r>
              <a:rPr lang="en-GB" sz="2400" spc="30" noProof="0" dirty="0">
                <a:solidFill>
                  <a:srgbClr val="336699"/>
                </a:solidFill>
                <a:latin typeface="Calibri"/>
                <a:cs typeface="Calibri"/>
              </a:rPr>
              <a:t>uppercase</a:t>
            </a:r>
            <a:r>
              <a:rPr lang="en-GB" sz="2400" spc="-350" noProof="0" dirty="0">
                <a:solidFill>
                  <a:srgbClr val="336699"/>
                </a:solidFill>
                <a:latin typeface="Calibri"/>
                <a:cs typeface="Calibri"/>
              </a:rPr>
              <a:t> </a:t>
            </a:r>
            <a:r>
              <a:rPr lang="en-GB" sz="2400" spc="-10" noProof="0" dirty="0">
                <a:solidFill>
                  <a:srgbClr val="336699"/>
                </a:solidFill>
                <a:latin typeface="Calibri"/>
                <a:cs typeface="Calibri"/>
              </a:rPr>
              <a:t>letter </a:t>
            </a:r>
            <a:r>
              <a:rPr lang="en-GB" sz="2400" noProof="0" dirty="0">
                <a:solidFill>
                  <a:srgbClr val="336699"/>
                </a:solidFill>
                <a:latin typeface="Calibri"/>
                <a:cs typeface="Calibri"/>
              </a:rPr>
              <a:t>or  </a:t>
            </a:r>
            <a:r>
              <a:rPr lang="en-GB" sz="2400" spc="25" noProof="0" dirty="0">
                <a:solidFill>
                  <a:srgbClr val="336699"/>
                </a:solidFill>
                <a:latin typeface="Calibri"/>
                <a:cs typeface="Calibri"/>
              </a:rPr>
              <a:t>use </a:t>
            </a:r>
            <a:r>
              <a:rPr lang="en-GB" sz="2400" spc="35" noProof="0" dirty="0">
                <a:solidFill>
                  <a:srgbClr val="336699"/>
                </a:solidFill>
                <a:latin typeface="Calibri"/>
                <a:cs typeface="Calibri"/>
              </a:rPr>
              <a:t>an </a:t>
            </a:r>
            <a:r>
              <a:rPr lang="en-GB" sz="2400" spc="20" noProof="0" dirty="0">
                <a:solidFill>
                  <a:srgbClr val="336699"/>
                </a:solidFill>
                <a:latin typeface="Calibri"/>
                <a:cs typeface="Calibri"/>
              </a:rPr>
              <a:t>underscore </a:t>
            </a:r>
            <a:r>
              <a:rPr lang="en-GB" sz="2400" spc="10" noProof="0" dirty="0">
                <a:solidFill>
                  <a:srgbClr val="336699"/>
                </a:solidFill>
                <a:latin typeface="Calibri"/>
                <a:cs typeface="Calibri"/>
              </a:rPr>
              <a:t>to </a:t>
            </a:r>
            <a:r>
              <a:rPr lang="en-GB" sz="2400" spc="5" noProof="0" dirty="0">
                <a:solidFill>
                  <a:srgbClr val="336699"/>
                </a:solidFill>
                <a:latin typeface="Calibri"/>
                <a:cs typeface="Calibri"/>
              </a:rPr>
              <a:t>separate</a:t>
            </a:r>
            <a:r>
              <a:rPr lang="en-GB" sz="2400" spc="-310" noProof="0" dirty="0">
                <a:solidFill>
                  <a:srgbClr val="336699"/>
                </a:solidFill>
                <a:latin typeface="Calibri"/>
                <a:cs typeface="Calibri"/>
              </a:rPr>
              <a:t> </a:t>
            </a:r>
            <a:r>
              <a:rPr lang="en-GB" sz="2400" spc="20" noProof="0" dirty="0">
                <a:solidFill>
                  <a:srgbClr val="336699"/>
                </a:solidFill>
                <a:latin typeface="Calibri"/>
                <a:cs typeface="Calibri"/>
              </a:rPr>
              <a:t>words</a:t>
            </a:r>
            <a:endParaRPr lang="en-GB" sz="2400" noProof="0" dirty="0">
              <a:latin typeface="Calibri"/>
              <a:cs typeface="Calibri"/>
            </a:endParaRPr>
          </a:p>
        </p:txBody>
      </p:sp>
    </p:spTree>
    <p:extLst>
      <p:ext uri="{BB962C8B-B14F-4D97-AF65-F5344CB8AC3E}">
        <p14:creationId xmlns:p14="http://schemas.microsoft.com/office/powerpoint/2010/main" val="27247356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6209"/>
            <a:ext cx="8229600" cy="1143000"/>
          </a:xfrm>
        </p:spPr>
        <p:txBody>
          <a:bodyPr/>
          <a:lstStyle/>
          <a:p>
            <a:r>
              <a:rPr lang="en-GB" noProof="0" dirty="0"/>
              <a:t>Variable names - summary</a:t>
            </a:r>
          </a:p>
        </p:txBody>
      </p:sp>
      <p:sp>
        <p:nvSpPr>
          <p:cNvPr id="3" name="Content Placeholder 2"/>
          <p:cNvSpPr>
            <a:spLocks noGrp="1"/>
          </p:cNvSpPr>
          <p:nvPr>
            <p:ph idx="1"/>
          </p:nvPr>
        </p:nvSpPr>
        <p:spPr>
          <a:xfrm>
            <a:off x="457200" y="1110533"/>
            <a:ext cx="8229600" cy="5267518"/>
          </a:xfrm>
        </p:spPr>
        <p:txBody>
          <a:bodyPr>
            <a:normAutofit/>
          </a:bodyPr>
          <a:lstStyle/>
          <a:p>
            <a:pPr marL="514350" indent="-514350">
              <a:lnSpc>
                <a:spcPct val="130000"/>
              </a:lnSpc>
              <a:buFont typeface="+mj-lt"/>
              <a:buAutoNum type="arabicPeriod"/>
            </a:pPr>
            <a:r>
              <a:rPr lang="en-GB" sz="2200" noProof="0" dirty="0"/>
              <a:t>Must begin with a letter, $ or _ Can’t start with a number.</a:t>
            </a:r>
          </a:p>
          <a:p>
            <a:pPr marL="514350" indent="-514350">
              <a:lnSpc>
                <a:spcPct val="130000"/>
              </a:lnSpc>
              <a:buFont typeface="+mj-lt"/>
              <a:buAutoNum type="arabicPeriod"/>
            </a:pPr>
            <a:r>
              <a:rPr lang="en-GB" sz="2200" noProof="0" dirty="0"/>
              <a:t>Can contain letters, numbers, $ and _ Can’t contain a hyphen (-) or full stop (.) or space.</a:t>
            </a:r>
          </a:p>
          <a:p>
            <a:pPr marL="514350" indent="-514350">
              <a:lnSpc>
                <a:spcPct val="130000"/>
              </a:lnSpc>
              <a:buFont typeface="+mj-lt"/>
              <a:buAutoNum type="arabicPeriod"/>
            </a:pPr>
            <a:r>
              <a:rPr lang="en-GB" sz="2200" noProof="0" dirty="0"/>
              <a:t>Cannot use reserved words as they  ‘do something’ in the language – full list:</a:t>
            </a:r>
          </a:p>
          <a:p>
            <a:pPr marL="400050" lvl="1" indent="0">
              <a:lnSpc>
                <a:spcPct val="130000"/>
              </a:lnSpc>
              <a:buNone/>
            </a:pPr>
            <a:r>
              <a:rPr lang="en-GB" sz="2200" noProof="0" dirty="0">
                <a:hlinkClick r:id="rId2"/>
              </a:rPr>
              <a:t>http://www.w3schools.com/js/js_reserved.asp</a:t>
            </a:r>
            <a:endParaRPr lang="en-GB" sz="2200" noProof="0" dirty="0"/>
          </a:p>
          <a:p>
            <a:pPr marL="514350" indent="-514350">
              <a:lnSpc>
                <a:spcPct val="130000"/>
              </a:lnSpc>
              <a:buFont typeface="+mj-lt"/>
              <a:buAutoNum type="arabicPeriod"/>
            </a:pPr>
            <a:r>
              <a:rPr lang="en-GB" sz="2200" b="1" noProof="0" dirty="0">
                <a:solidFill>
                  <a:srgbClr val="FF0000"/>
                </a:solidFill>
              </a:rPr>
              <a:t>Variable names are case sensitive </a:t>
            </a:r>
            <a:r>
              <a:rPr lang="en-GB" sz="2200" noProof="0" dirty="0"/>
              <a:t>‘dog’ and Dog’ are different.</a:t>
            </a:r>
          </a:p>
          <a:p>
            <a:pPr marL="514350" indent="-514350">
              <a:lnSpc>
                <a:spcPct val="130000"/>
              </a:lnSpc>
              <a:buFont typeface="+mj-lt"/>
              <a:buAutoNum type="arabicPeriod"/>
            </a:pPr>
            <a:r>
              <a:rPr lang="en-GB" sz="2200" noProof="0" dirty="0"/>
              <a:t>Use names that describe the information the variable stores.</a:t>
            </a:r>
          </a:p>
          <a:p>
            <a:pPr marL="514350" indent="-514350">
              <a:lnSpc>
                <a:spcPct val="130000"/>
              </a:lnSpc>
              <a:buFont typeface="+mj-lt"/>
              <a:buAutoNum type="arabicPeriod"/>
            </a:pPr>
            <a:r>
              <a:rPr lang="en-GB" sz="2200" noProof="0" dirty="0"/>
              <a:t>If using more than one word use a Capital letter for each word after the first ( </a:t>
            </a:r>
            <a:r>
              <a:rPr lang="en-GB" sz="2200" noProof="0" dirty="0">
                <a:hlinkClick r:id="rId3"/>
              </a:rPr>
              <a:t>camelCase</a:t>
            </a:r>
            <a:r>
              <a:rPr lang="en-GB" sz="2200" noProof="0" dirty="0"/>
              <a:t> – </a:t>
            </a:r>
            <a:r>
              <a:rPr lang="en-GB" sz="2200" noProof="0" dirty="0" err="1"/>
              <a:t>camelCaps</a:t>
            </a:r>
            <a:r>
              <a:rPr lang="en-GB" sz="2200" noProof="0" dirty="0"/>
              <a:t> ) or use underscores (not hyphens) to join words.</a:t>
            </a:r>
          </a:p>
        </p:txBody>
      </p:sp>
    </p:spTree>
    <p:extLst>
      <p:ext uri="{BB962C8B-B14F-4D97-AF65-F5344CB8AC3E}">
        <p14:creationId xmlns:p14="http://schemas.microsoft.com/office/powerpoint/2010/main" val="41002094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Concatenation</a:t>
            </a:r>
          </a:p>
        </p:txBody>
      </p:sp>
      <p:sp>
        <p:nvSpPr>
          <p:cNvPr id="3" name="Content Placeholder 2"/>
          <p:cNvSpPr>
            <a:spLocks noGrp="1"/>
          </p:cNvSpPr>
          <p:nvPr>
            <p:ph idx="1"/>
          </p:nvPr>
        </p:nvSpPr>
        <p:spPr>
          <a:xfrm>
            <a:off x="457200" y="1417638"/>
            <a:ext cx="8229600" cy="3983037"/>
          </a:xfrm>
        </p:spPr>
        <p:txBody>
          <a:bodyPr>
            <a:normAutofit/>
          </a:bodyPr>
          <a:lstStyle/>
          <a:p>
            <a:pPr marL="0" indent="0">
              <a:lnSpc>
                <a:spcPct val="120000"/>
              </a:lnSpc>
              <a:buNone/>
            </a:pPr>
            <a:r>
              <a:rPr lang="en-GB" sz="2400" noProof="0" dirty="0"/>
              <a:t>“Concatenation (from Latin </a:t>
            </a:r>
            <a:r>
              <a:rPr lang="en-GB" sz="2400" noProof="0" dirty="0" err="1"/>
              <a:t>concatenare</a:t>
            </a:r>
            <a:r>
              <a:rPr lang="en-GB" sz="2400" noProof="0" dirty="0"/>
              <a:t>, to link together) is taking two or more separately located things and placing them side-by-side next to each other so that they can now be treated as one thing.</a:t>
            </a:r>
          </a:p>
          <a:p>
            <a:pPr marL="0" indent="0">
              <a:lnSpc>
                <a:spcPct val="120000"/>
              </a:lnSpc>
              <a:buNone/>
            </a:pPr>
            <a:r>
              <a:rPr lang="en-GB" sz="2400" noProof="0" dirty="0"/>
              <a:t>In computer programming two or more character strings can be concatenated for the purpose of saving space or so that they can be addressed as a single item.”</a:t>
            </a:r>
          </a:p>
          <a:p>
            <a:pPr marL="0" indent="0">
              <a:lnSpc>
                <a:spcPct val="120000"/>
              </a:lnSpc>
              <a:buNone/>
            </a:pPr>
            <a:r>
              <a:rPr lang="en-GB" sz="2400" noProof="0" dirty="0"/>
              <a:t>In JavaScript you use the </a:t>
            </a:r>
            <a:r>
              <a:rPr lang="en-GB" b="1" noProof="0" dirty="0">
                <a:solidFill>
                  <a:schemeClr val="tx1"/>
                </a:solidFill>
              </a:rPr>
              <a:t>+</a:t>
            </a:r>
            <a:r>
              <a:rPr lang="en-GB" sz="2400" noProof="0" dirty="0"/>
              <a:t> symbol (same as Python)</a:t>
            </a:r>
          </a:p>
        </p:txBody>
      </p:sp>
      <p:sp>
        <p:nvSpPr>
          <p:cNvPr id="4" name="TextBox 3"/>
          <p:cNvSpPr txBox="1"/>
          <p:nvPr/>
        </p:nvSpPr>
        <p:spPr>
          <a:xfrm>
            <a:off x="457200" y="6382588"/>
            <a:ext cx="7439055" cy="338554"/>
          </a:xfrm>
          <a:prstGeom prst="rect">
            <a:avLst/>
          </a:prstGeom>
          <a:noFill/>
        </p:spPr>
        <p:txBody>
          <a:bodyPr wrap="none" rtlCol="0">
            <a:spAutoFit/>
          </a:bodyPr>
          <a:lstStyle/>
          <a:p>
            <a:r>
              <a:rPr lang="en-GB" sz="1600" noProof="0" dirty="0">
                <a:solidFill>
                  <a:schemeClr val="bg1">
                    <a:lumMod val="50000"/>
                  </a:schemeClr>
                </a:solidFill>
                <a:latin typeface="Helvetica"/>
                <a:cs typeface="Helvetica"/>
              </a:rPr>
              <a:t>http://whatis.techtarget.com/definition/concatenation-concatenate-concatenating</a:t>
            </a:r>
          </a:p>
        </p:txBody>
      </p:sp>
      <p:pic>
        <p:nvPicPr>
          <p:cNvPr id="5" name="Picture 4">
            <a:extLst>
              <a:ext uri="{FF2B5EF4-FFF2-40B4-BE49-F238E27FC236}">
                <a16:creationId xmlns:a16="http://schemas.microsoft.com/office/drawing/2014/main" id="{874D9676-2A26-2AD3-D444-A82BA97770A1}"/>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57200" y="5400675"/>
            <a:ext cx="7713429" cy="744119"/>
          </a:xfrm>
          <a:prstGeom prst="rect">
            <a:avLst/>
          </a:prstGeom>
        </p:spPr>
      </p:pic>
    </p:spTree>
    <p:extLst>
      <p:ext uri="{BB962C8B-B14F-4D97-AF65-F5344CB8AC3E}">
        <p14:creationId xmlns:p14="http://schemas.microsoft.com/office/powerpoint/2010/main" val="26741534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88533" y="2257174"/>
            <a:ext cx="7140257" cy="1382857"/>
          </a:xfrm>
          <a:prstGeom prst="rect">
            <a:avLst/>
          </a:prstGeom>
        </p:spPr>
        <p:txBody>
          <a:bodyPr vert="horz" wrap="square" lIns="0" tIns="0" rIns="0" bIns="0" rtlCol="0">
            <a:spAutoFit/>
          </a:bodyPr>
          <a:lstStyle/>
          <a:p>
            <a:pPr marL="120014" marR="5080" indent="-107950">
              <a:lnSpc>
                <a:spcPts val="11500"/>
              </a:lnSpc>
            </a:pPr>
            <a:r>
              <a:rPr lang="en-GB" sz="6000" spc="65" noProof="0" dirty="0"/>
              <a:t>Methods</a:t>
            </a:r>
            <a:r>
              <a:rPr lang="en-GB" sz="6000" spc="-225" noProof="0" dirty="0"/>
              <a:t> </a:t>
            </a:r>
            <a:r>
              <a:rPr lang="en-GB" sz="6000" spc="-415" noProof="0" dirty="0"/>
              <a:t>/  </a:t>
            </a:r>
            <a:r>
              <a:rPr lang="en-GB" sz="6000" spc="150" noProof="0" dirty="0"/>
              <a:t>Functions</a:t>
            </a:r>
            <a:endParaRPr lang="en-GB" sz="6000" noProof="0" dirty="0"/>
          </a:p>
        </p:txBody>
      </p:sp>
    </p:spTree>
    <p:extLst>
      <p:ext uri="{BB962C8B-B14F-4D97-AF65-F5344CB8AC3E}">
        <p14:creationId xmlns:p14="http://schemas.microsoft.com/office/powerpoint/2010/main" val="9361706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126594"/>
          </a:xfrm>
        </p:spPr>
        <p:txBody>
          <a:bodyPr anchor="t">
            <a:normAutofit/>
          </a:bodyPr>
          <a:lstStyle/>
          <a:p>
            <a:pPr>
              <a:lnSpc>
                <a:spcPct val="120000"/>
              </a:lnSpc>
            </a:pPr>
            <a:r>
              <a:rPr lang="en-GB" noProof="0" dirty="0">
                <a:solidFill>
                  <a:schemeClr val="tx1">
                    <a:lumMod val="95000"/>
                    <a:lumOff val="5000"/>
                  </a:schemeClr>
                </a:solidFill>
              </a:rPr>
              <a:t>Functions</a:t>
            </a:r>
            <a:r>
              <a:rPr lang="en-GB" noProof="0" dirty="0">
                <a:solidFill>
                  <a:schemeClr val="bg1">
                    <a:lumMod val="50000"/>
                  </a:schemeClr>
                </a:solidFill>
              </a:rPr>
              <a:t> consist of a series of statements that have been grouped together because they perform a specific task.</a:t>
            </a:r>
            <a:br>
              <a:rPr lang="en-GB" noProof="0" dirty="0">
                <a:solidFill>
                  <a:schemeClr val="bg1">
                    <a:lumMod val="50000"/>
                  </a:schemeClr>
                </a:solidFill>
              </a:rPr>
            </a:br>
            <a:br>
              <a:rPr lang="en-GB" noProof="0" dirty="0">
                <a:solidFill>
                  <a:schemeClr val="bg1">
                    <a:lumMod val="50000"/>
                  </a:schemeClr>
                </a:solidFill>
              </a:rPr>
            </a:br>
            <a:r>
              <a:rPr lang="en-GB" noProof="0" dirty="0">
                <a:solidFill>
                  <a:schemeClr val="bg1">
                    <a:lumMod val="50000"/>
                  </a:schemeClr>
                </a:solidFill>
              </a:rPr>
              <a:t>A </a:t>
            </a:r>
            <a:r>
              <a:rPr lang="en-GB" noProof="0" dirty="0">
                <a:solidFill>
                  <a:srgbClr val="0D0D0D"/>
                </a:solidFill>
              </a:rPr>
              <a:t>method</a:t>
            </a:r>
            <a:r>
              <a:rPr lang="en-GB" noProof="0" dirty="0">
                <a:solidFill>
                  <a:schemeClr val="bg1">
                    <a:lumMod val="50000"/>
                  </a:schemeClr>
                </a:solidFill>
              </a:rPr>
              <a:t> is a set of instructions that are associated with an </a:t>
            </a:r>
            <a:r>
              <a:rPr lang="en-GB" b="1" noProof="0" dirty="0"/>
              <a:t>object</a:t>
            </a:r>
          </a:p>
        </p:txBody>
      </p:sp>
    </p:spTree>
    <p:extLst>
      <p:ext uri="{BB962C8B-B14F-4D97-AF65-F5344CB8AC3E}">
        <p14:creationId xmlns:p14="http://schemas.microsoft.com/office/powerpoint/2010/main" val="1225008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Make a cup of tea</a:t>
            </a:r>
          </a:p>
        </p:txBody>
      </p:sp>
      <p:pic>
        <p:nvPicPr>
          <p:cNvPr id="3" name="Picture 2">
            <a:extLst>
              <a:ext uri="{C183D7F6-B498-43B3-948B-1728B52AA6E4}">
                <adec:decorative xmlns:adec="http://schemas.microsoft.com/office/drawing/2017/decorative" val="1"/>
              </a:ext>
            </a:extLst>
          </p:cNvPr>
          <p:cNvPicPr>
            <a:picLocks noChangeAspect="1"/>
          </p:cNvPicPr>
          <p:nvPr/>
        </p:nvPicPr>
        <p:blipFill rotWithShape="1">
          <a:blip r:embed="rId2"/>
          <a:srcRect b="25759"/>
          <a:stretch/>
        </p:blipFill>
        <p:spPr>
          <a:xfrm>
            <a:off x="181422" y="1796586"/>
            <a:ext cx="8686800" cy="3392562"/>
          </a:xfrm>
          <a:prstGeom prst="rect">
            <a:avLst/>
          </a:prstGeom>
        </p:spPr>
      </p:pic>
    </p:spTree>
    <p:extLst>
      <p:ext uri="{BB962C8B-B14F-4D97-AF65-F5344CB8AC3E}">
        <p14:creationId xmlns:p14="http://schemas.microsoft.com/office/powerpoint/2010/main" val="29184917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Possible list of steps</a:t>
            </a:r>
          </a:p>
        </p:txBody>
      </p:sp>
      <p:pic>
        <p:nvPicPr>
          <p:cNvPr id="3" name="Picture 2">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17571" y="1417638"/>
            <a:ext cx="6803874" cy="4438611"/>
          </a:xfrm>
          <a:prstGeom prst="rect">
            <a:avLst/>
          </a:prstGeom>
        </p:spPr>
      </p:pic>
      <p:sp>
        <p:nvSpPr>
          <p:cNvPr id="4" name="Rectangle 3"/>
          <p:cNvSpPr/>
          <p:nvPr/>
        </p:nvSpPr>
        <p:spPr>
          <a:xfrm>
            <a:off x="617571" y="6334740"/>
            <a:ext cx="8038864" cy="338554"/>
          </a:xfrm>
          <a:prstGeom prst="rect">
            <a:avLst/>
          </a:prstGeom>
        </p:spPr>
        <p:txBody>
          <a:bodyPr wrap="square">
            <a:spAutoFit/>
          </a:bodyPr>
          <a:lstStyle/>
          <a:p>
            <a:r>
              <a:rPr lang="en-GB" sz="1600" noProof="0" dirty="0">
                <a:latin typeface="Helvetica Neue Light"/>
                <a:cs typeface="Helvetica Neue Light"/>
              </a:rPr>
              <a:t>http://www.porchester.notts.sch.uk/.a/6a00d83513e5a153ef01676405194f970b-pi</a:t>
            </a:r>
          </a:p>
        </p:txBody>
      </p:sp>
    </p:spTree>
    <p:extLst>
      <p:ext uri="{BB962C8B-B14F-4D97-AF65-F5344CB8AC3E}">
        <p14:creationId xmlns:p14="http://schemas.microsoft.com/office/powerpoint/2010/main" val="2494592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Create a function</a:t>
            </a:r>
          </a:p>
        </p:txBody>
      </p:sp>
      <p:sp>
        <p:nvSpPr>
          <p:cNvPr id="3" name="TextBox 2"/>
          <p:cNvSpPr txBox="1"/>
          <p:nvPr/>
        </p:nvSpPr>
        <p:spPr>
          <a:xfrm>
            <a:off x="457200" y="1561403"/>
            <a:ext cx="7470274" cy="3625608"/>
          </a:xfrm>
          <a:prstGeom prst="rect">
            <a:avLst/>
          </a:prstGeom>
          <a:noFill/>
        </p:spPr>
        <p:txBody>
          <a:bodyPr wrap="square" rtlCol="0">
            <a:spAutoFit/>
          </a:bodyPr>
          <a:lstStyle/>
          <a:p>
            <a:pPr>
              <a:lnSpc>
                <a:spcPct val="120000"/>
              </a:lnSpc>
            </a:pPr>
            <a:r>
              <a:rPr lang="en-GB" sz="2400" noProof="0" dirty="0">
                <a:latin typeface="Helvetica Neue Light"/>
                <a:cs typeface="Helvetica Neue Light"/>
              </a:rPr>
              <a:t>If we group all those steps together and call them “make a cup of tea” it would be a lot easier to just say “make a cup of tea” rather than have to list all of the steps each time.</a:t>
            </a:r>
          </a:p>
          <a:p>
            <a:pPr>
              <a:lnSpc>
                <a:spcPct val="120000"/>
              </a:lnSpc>
            </a:pPr>
            <a:endParaRPr lang="en-GB" sz="2400" noProof="0" dirty="0">
              <a:latin typeface="Helvetica Neue Light"/>
              <a:cs typeface="Helvetica Neue Light"/>
            </a:endParaRPr>
          </a:p>
          <a:p>
            <a:pPr>
              <a:lnSpc>
                <a:spcPct val="120000"/>
              </a:lnSpc>
            </a:pPr>
            <a:r>
              <a:rPr lang="en-GB" sz="2400" noProof="0" dirty="0">
                <a:latin typeface="Helvetica Neue Light"/>
                <a:cs typeface="Helvetica Neue Light"/>
              </a:rPr>
              <a:t>Also, once we have grouped all the steps together into  our “make a cup of tea” function, we can reuse it when ever we want by just saying “make a cup of tea”.</a:t>
            </a:r>
          </a:p>
        </p:txBody>
      </p:sp>
    </p:spTree>
    <p:extLst>
      <p:ext uri="{BB962C8B-B14F-4D97-AF65-F5344CB8AC3E}">
        <p14:creationId xmlns:p14="http://schemas.microsoft.com/office/powerpoint/2010/main" val="7584430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txBox="1"/>
          <p:nvPr/>
        </p:nvSpPr>
        <p:spPr>
          <a:xfrm>
            <a:off x="0" y="0"/>
            <a:ext cx="9144000" cy="7009611"/>
          </a:xfrm>
          <a:prstGeom prst="rect">
            <a:avLst/>
          </a:prstGeom>
        </p:spPr>
        <p:txBody>
          <a:bodyPr vert="horz" wrap="square" lIns="0" tIns="0" rIns="0" bIns="0" rtlCol="0">
            <a:spAutoFit/>
          </a:bodyPr>
          <a:lstStyle/>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marL="320040">
              <a:lnSpc>
                <a:spcPct val="100000"/>
              </a:lnSpc>
              <a:spcBef>
                <a:spcPts val="855"/>
              </a:spcBef>
            </a:pPr>
            <a:endParaRPr lang="en-GB" sz="1400" noProof="0" dirty="0">
              <a:latin typeface="Calibri"/>
              <a:cs typeface="Calibri"/>
            </a:endParaRPr>
          </a:p>
        </p:txBody>
      </p:sp>
      <p:sp>
        <p:nvSpPr>
          <p:cNvPr id="3" name="object 3">
            <a:extLst>
              <a:ext uri="{C183D7F6-B498-43B3-948B-1728B52AA6E4}">
                <adec:decorative xmlns:adec="http://schemas.microsoft.com/office/drawing/2017/decorative" val="1"/>
              </a:ext>
            </a:extLst>
          </p:cNvPr>
          <p:cNvSpPr/>
          <p:nvPr/>
        </p:nvSpPr>
        <p:spPr>
          <a:xfrm>
            <a:off x="0" y="1"/>
            <a:ext cx="9144000" cy="6857999"/>
          </a:xfrm>
          <a:prstGeom prst="rect">
            <a:avLst/>
          </a:prstGeom>
          <a:blipFill>
            <a:blip r:embed="rId2" cstate="print"/>
            <a:stretch>
              <a:fillRect/>
            </a:stretch>
          </a:blipFill>
        </p:spPr>
        <p:txBody>
          <a:bodyPr wrap="square" lIns="0" tIns="0" rIns="0" bIns="0" rtlCol="0"/>
          <a:lstStyle/>
          <a:p>
            <a:endParaRPr lang="en-GB" noProof="0" dirty="0"/>
          </a:p>
        </p:txBody>
      </p:sp>
      <p:pic>
        <p:nvPicPr>
          <p:cNvPr id="11" name="Picture 10">
            <a:extLst>
              <a:ext uri="{FF2B5EF4-FFF2-40B4-BE49-F238E27FC236}">
                <a16:creationId xmlns:a16="http://schemas.microsoft.com/office/drawing/2014/main" id="{64CA5D33-E2DA-FA4A-9BEE-B34202863B2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0" y="1151908"/>
            <a:ext cx="9144000" cy="1158726"/>
          </a:xfrm>
          <a:prstGeom prst="rect">
            <a:avLst/>
          </a:prstGeom>
        </p:spPr>
      </p:pic>
      <p:sp>
        <p:nvSpPr>
          <p:cNvPr id="4" name="TextBox 3">
            <a:extLst>
              <a:ext uri="{FF2B5EF4-FFF2-40B4-BE49-F238E27FC236}">
                <a16:creationId xmlns:a16="http://schemas.microsoft.com/office/drawing/2014/main" id="{1BC4AEA5-5E95-9BF8-0564-A81ADC696AC9}"/>
              </a:ext>
            </a:extLst>
          </p:cNvPr>
          <p:cNvSpPr txBox="1"/>
          <p:nvPr/>
        </p:nvSpPr>
        <p:spPr>
          <a:xfrm>
            <a:off x="179057" y="6438833"/>
            <a:ext cx="2678105" cy="369332"/>
          </a:xfrm>
          <a:prstGeom prst="rect">
            <a:avLst/>
          </a:prstGeom>
          <a:noFill/>
        </p:spPr>
        <p:txBody>
          <a:bodyPr wrap="none" rtlCol="0">
            <a:spAutoFit/>
          </a:bodyPr>
          <a:lstStyle/>
          <a:p>
            <a:r>
              <a:rPr lang="en-GB" noProof="0" dirty="0"/>
              <a:t>Examples/convertBot.html</a:t>
            </a:r>
          </a:p>
        </p:txBody>
      </p:sp>
      <p:pic>
        <p:nvPicPr>
          <p:cNvPr id="5" name="Picture 4">
            <a:extLst>
              <a:ext uri="{FF2B5EF4-FFF2-40B4-BE49-F238E27FC236}">
                <a16:creationId xmlns:a16="http://schemas.microsoft.com/office/drawing/2014/main" id="{8582BDB0-156B-2E49-16D1-CABAEEE4F7E0}"/>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74842" y="5779993"/>
            <a:ext cx="1115616" cy="557808"/>
          </a:xfrm>
          <a:prstGeom prst="rect">
            <a:avLst/>
          </a:prstGeom>
        </p:spPr>
      </p:pic>
    </p:spTree>
    <p:extLst>
      <p:ext uri="{BB962C8B-B14F-4D97-AF65-F5344CB8AC3E}">
        <p14:creationId xmlns:p14="http://schemas.microsoft.com/office/powerpoint/2010/main" val="40829421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85411"/>
            <a:ext cx="9253658" cy="721453"/>
          </a:xfrm>
          <a:prstGeom prst="rect">
            <a:avLst/>
          </a:prstGeom>
        </p:spPr>
        <p:txBody>
          <a:bodyPr vert="horz" wrap="square" lIns="0" tIns="43916" rIns="0" bIns="0" rtlCol="0">
            <a:spAutoFit/>
          </a:bodyPr>
          <a:lstStyle/>
          <a:p>
            <a:pPr marL="1287780">
              <a:lnSpc>
                <a:spcPct val="100000"/>
              </a:lnSpc>
            </a:pPr>
            <a:r>
              <a:rPr lang="en-GB" sz="4400" spc="90" noProof="0" dirty="0">
                <a:solidFill>
                  <a:schemeClr val="bg1">
                    <a:lumMod val="50000"/>
                  </a:schemeClr>
                </a:solidFill>
              </a:rPr>
              <a:t>Simple </a:t>
            </a:r>
            <a:r>
              <a:rPr lang="en-GB" sz="4400" spc="85" noProof="0" dirty="0">
                <a:solidFill>
                  <a:schemeClr val="bg1">
                    <a:lumMod val="50000"/>
                  </a:schemeClr>
                </a:solidFill>
              </a:rPr>
              <a:t>Function</a:t>
            </a:r>
            <a:r>
              <a:rPr lang="en-GB" sz="4400" spc="-280" noProof="0" dirty="0">
                <a:solidFill>
                  <a:schemeClr val="bg1">
                    <a:lumMod val="50000"/>
                  </a:schemeClr>
                </a:solidFill>
              </a:rPr>
              <a:t> </a:t>
            </a:r>
            <a:r>
              <a:rPr lang="en-GB" sz="4400" spc="70" noProof="0" dirty="0">
                <a:solidFill>
                  <a:schemeClr val="bg1">
                    <a:lumMod val="50000"/>
                  </a:schemeClr>
                </a:solidFill>
              </a:rPr>
              <a:t>Types</a:t>
            </a:r>
            <a:endParaRPr lang="en-GB" sz="4400" noProof="0" dirty="0">
              <a:solidFill>
                <a:schemeClr val="bg1">
                  <a:lumMod val="50000"/>
                </a:schemeClr>
              </a:solidFill>
            </a:endParaRPr>
          </a:p>
        </p:txBody>
      </p:sp>
      <p:sp>
        <p:nvSpPr>
          <p:cNvPr id="3" name="object 3">
            <a:extLst>
              <a:ext uri="{C183D7F6-B498-43B3-948B-1728B52AA6E4}">
                <adec:decorative xmlns:adec="http://schemas.microsoft.com/office/drawing/2017/decorative" val="1"/>
              </a:ext>
            </a:extLst>
          </p:cNvPr>
          <p:cNvSpPr/>
          <p:nvPr/>
        </p:nvSpPr>
        <p:spPr>
          <a:xfrm>
            <a:off x="407323" y="2963481"/>
            <a:ext cx="2509697" cy="1396542"/>
          </a:xfrm>
          <a:prstGeom prst="rect">
            <a:avLst/>
          </a:prstGeom>
          <a:blipFill>
            <a:blip r:embed="rId2" cstate="print"/>
            <a:stretch>
              <a:fillRect/>
            </a:stretch>
          </a:blip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4" name="object 4">
            <a:extLst>
              <a:ext uri="{C183D7F6-B498-43B3-948B-1728B52AA6E4}">
                <adec:decorative xmlns:adec="http://schemas.microsoft.com/office/drawing/2017/decorative" val="1"/>
              </a:ext>
            </a:extLst>
          </p:cNvPr>
          <p:cNvSpPr/>
          <p:nvPr/>
        </p:nvSpPr>
        <p:spPr>
          <a:xfrm>
            <a:off x="457200" y="2995129"/>
            <a:ext cx="2399096" cy="1295412"/>
          </a:xfrm>
          <a:prstGeom prst="rect">
            <a:avLst/>
          </a:prstGeom>
          <a:blipFill>
            <a:blip r:embed="rId3" cstate="print"/>
            <a:stretch>
              <a:fillRect/>
            </a:stretch>
          </a:blip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5" name="object 5"/>
          <p:cNvSpPr txBox="1"/>
          <p:nvPr/>
        </p:nvSpPr>
        <p:spPr>
          <a:xfrm>
            <a:off x="457200" y="2995129"/>
            <a:ext cx="2399096" cy="925894"/>
          </a:xfrm>
          <a:prstGeom prst="rect">
            <a:avLst/>
          </a:prstGeom>
          <a:ln w="9524">
            <a:noFill/>
          </a:ln>
        </p:spPr>
        <p:txBody>
          <a:bodyPr vert="horz" wrap="square" lIns="0" tIns="368300" rIns="0" bIns="0" rtlCol="0">
            <a:spAutoFit/>
          </a:bodyPr>
          <a:lstStyle/>
          <a:p>
            <a:pPr marL="251460">
              <a:lnSpc>
                <a:spcPct val="100000"/>
              </a:lnSpc>
              <a:spcBef>
                <a:spcPts val="2900"/>
              </a:spcBef>
            </a:pPr>
            <a:r>
              <a:rPr lang="en-GB" sz="3600" spc="55" noProof="0" dirty="0">
                <a:solidFill>
                  <a:schemeClr val="bg1">
                    <a:lumMod val="50000"/>
                  </a:schemeClr>
                </a:solidFill>
                <a:latin typeface="Helvetica Neue Light"/>
                <a:cs typeface="Helvetica Neue Light"/>
              </a:rPr>
              <a:t>function</a:t>
            </a:r>
            <a:endParaRPr lang="en-GB" sz="3600" noProof="0" dirty="0">
              <a:solidFill>
                <a:schemeClr val="bg1">
                  <a:lumMod val="50000"/>
                </a:schemeClr>
              </a:solidFill>
              <a:latin typeface="Helvetica Neue Light"/>
              <a:cs typeface="Helvetica Neue Light"/>
            </a:endParaRPr>
          </a:p>
        </p:txBody>
      </p:sp>
      <p:sp>
        <p:nvSpPr>
          <p:cNvPr id="7" name="object 7">
            <a:extLst>
              <a:ext uri="{C183D7F6-B498-43B3-948B-1728B52AA6E4}">
                <adec:decorative xmlns:adec="http://schemas.microsoft.com/office/drawing/2017/decorative" val="1"/>
              </a:ext>
            </a:extLst>
          </p:cNvPr>
          <p:cNvSpPr/>
          <p:nvPr/>
        </p:nvSpPr>
        <p:spPr>
          <a:xfrm>
            <a:off x="1431924" y="2853778"/>
            <a:ext cx="142803" cy="127000"/>
          </a:xfrm>
          <a:custGeom>
            <a:avLst/>
            <a:gdLst/>
            <a:ahLst/>
            <a:cxnLst/>
            <a:rect l="l" t="t" r="r" b="b"/>
            <a:pathLst>
              <a:path w="127000" h="127000">
                <a:moveTo>
                  <a:pt x="127000" y="0"/>
                </a:moveTo>
                <a:lnTo>
                  <a:pt x="0" y="0"/>
                </a:lnTo>
                <a:lnTo>
                  <a:pt x="63500" y="127000"/>
                </a:lnTo>
                <a:lnTo>
                  <a:pt x="127000" y="0"/>
                </a:lnTo>
                <a:close/>
              </a:path>
            </a:pathLst>
          </a:custGeom>
          <a:solidFill>
            <a:srgbClr val="FFFFFF"/>
          </a:solid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8" name="object 8"/>
          <p:cNvSpPr txBox="1"/>
          <p:nvPr/>
        </p:nvSpPr>
        <p:spPr>
          <a:xfrm>
            <a:off x="535940" y="1729320"/>
            <a:ext cx="2211310" cy="369332"/>
          </a:xfrm>
          <a:prstGeom prst="rect">
            <a:avLst/>
          </a:prstGeom>
        </p:spPr>
        <p:txBody>
          <a:bodyPr vert="horz" wrap="square" lIns="0" tIns="0" rIns="0" bIns="0" rtlCol="0">
            <a:spAutoFit/>
          </a:bodyPr>
          <a:lstStyle/>
          <a:p>
            <a:pPr marL="12700">
              <a:lnSpc>
                <a:spcPct val="100000"/>
              </a:lnSpc>
            </a:pPr>
            <a:r>
              <a:rPr lang="en-GB" sz="2400" spc="40" noProof="0" dirty="0">
                <a:solidFill>
                  <a:schemeClr val="bg1">
                    <a:lumMod val="50000"/>
                  </a:schemeClr>
                </a:solidFill>
                <a:latin typeface="Helvetica Neue Light"/>
                <a:cs typeface="Helvetica Neue Light"/>
              </a:rPr>
              <a:t>Function</a:t>
            </a:r>
            <a:r>
              <a:rPr lang="en-GB" sz="2400" spc="-110" noProof="0" dirty="0">
                <a:solidFill>
                  <a:schemeClr val="bg1">
                    <a:lumMod val="50000"/>
                  </a:schemeClr>
                </a:solidFill>
                <a:latin typeface="Helvetica Neue Light"/>
                <a:cs typeface="Helvetica Neue Light"/>
              </a:rPr>
              <a:t> </a:t>
            </a:r>
            <a:r>
              <a:rPr lang="en-GB" sz="2400" spc="30" noProof="0" dirty="0">
                <a:solidFill>
                  <a:schemeClr val="bg1">
                    <a:lumMod val="50000"/>
                  </a:schemeClr>
                </a:solidFill>
                <a:latin typeface="Helvetica Neue Light"/>
                <a:cs typeface="Helvetica Neue Light"/>
              </a:rPr>
              <a:t>called</a:t>
            </a:r>
            <a:endParaRPr lang="en-GB" sz="2400" noProof="0" dirty="0">
              <a:solidFill>
                <a:schemeClr val="bg1">
                  <a:lumMod val="50000"/>
                </a:schemeClr>
              </a:solidFill>
              <a:latin typeface="Helvetica Neue Light"/>
              <a:cs typeface="Helvetica Neue Light"/>
            </a:endParaRPr>
          </a:p>
        </p:txBody>
      </p:sp>
      <p:sp>
        <p:nvSpPr>
          <p:cNvPr id="9" name="object 9">
            <a:extLst>
              <a:ext uri="{C183D7F6-B498-43B3-948B-1728B52AA6E4}">
                <adec:decorative xmlns:adec="http://schemas.microsoft.com/office/drawing/2017/decorative" val="1"/>
              </a:ext>
            </a:extLst>
          </p:cNvPr>
          <p:cNvSpPr/>
          <p:nvPr/>
        </p:nvSpPr>
        <p:spPr>
          <a:xfrm>
            <a:off x="4495799" y="2260853"/>
            <a:ext cx="45719" cy="694690"/>
          </a:xfrm>
          <a:custGeom>
            <a:avLst/>
            <a:gdLst/>
            <a:ahLst/>
            <a:cxnLst/>
            <a:rect l="l" t="t" r="r" b="b"/>
            <a:pathLst>
              <a:path h="694689">
                <a:moveTo>
                  <a:pt x="0" y="0"/>
                </a:moveTo>
                <a:lnTo>
                  <a:pt x="0" y="694530"/>
                </a:lnTo>
              </a:path>
            </a:pathLst>
          </a:custGeom>
          <a:ln w="9524">
            <a:solidFill>
              <a:srgbClr val="FFFFFF"/>
            </a:solidFill>
          </a:ln>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0" name="object 10">
            <a:extLst>
              <a:ext uri="{C183D7F6-B498-43B3-948B-1728B52AA6E4}">
                <adec:decorative xmlns:adec="http://schemas.microsoft.com/office/drawing/2017/decorative" val="1"/>
              </a:ext>
            </a:extLst>
          </p:cNvPr>
          <p:cNvSpPr/>
          <p:nvPr/>
        </p:nvSpPr>
        <p:spPr>
          <a:xfrm>
            <a:off x="4432299" y="2853778"/>
            <a:ext cx="142803" cy="127000"/>
          </a:xfrm>
          <a:custGeom>
            <a:avLst/>
            <a:gdLst/>
            <a:ahLst/>
            <a:cxnLst/>
            <a:rect l="l" t="t" r="r" b="b"/>
            <a:pathLst>
              <a:path w="127000" h="127000">
                <a:moveTo>
                  <a:pt x="127000" y="0"/>
                </a:moveTo>
                <a:lnTo>
                  <a:pt x="0" y="0"/>
                </a:lnTo>
                <a:lnTo>
                  <a:pt x="63500" y="127000"/>
                </a:lnTo>
                <a:lnTo>
                  <a:pt x="127000" y="0"/>
                </a:lnTo>
                <a:close/>
              </a:path>
            </a:pathLst>
          </a:custGeom>
          <a:solidFill>
            <a:srgbClr val="FFFFFF"/>
          </a:solid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1" name="object 11"/>
          <p:cNvSpPr txBox="1"/>
          <p:nvPr/>
        </p:nvSpPr>
        <p:spPr>
          <a:xfrm>
            <a:off x="3484803" y="1521040"/>
            <a:ext cx="2314128" cy="719855"/>
          </a:xfrm>
          <a:prstGeom prst="rect">
            <a:avLst/>
          </a:prstGeom>
        </p:spPr>
        <p:txBody>
          <a:bodyPr vert="horz" wrap="square" lIns="0" tIns="0" rIns="0" bIns="0" rtlCol="0">
            <a:spAutoFit/>
          </a:bodyPr>
          <a:lstStyle/>
          <a:p>
            <a:pPr marL="12700" marR="5080" indent="38100">
              <a:lnSpc>
                <a:spcPts val="2800"/>
              </a:lnSpc>
            </a:pPr>
            <a:r>
              <a:rPr lang="en-GB" sz="2400" spc="40" noProof="0" dirty="0">
                <a:solidFill>
                  <a:schemeClr val="bg1">
                    <a:lumMod val="50000"/>
                  </a:schemeClr>
                </a:solidFill>
                <a:latin typeface="Helvetica Neue Light"/>
                <a:cs typeface="Helvetica Neue Light"/>
              </a:rPr>
              <a:t>Function </a:t>
            </a:r>
            <a:r>
              <a:rPr lang="en-GB" sz="2400" spc="30" noProof="0" dirty="0">
                <a:solidFill>
                  <a:schemeClr val="bg1">
                    <a:lumMod val="50000"/>
                  </a:schemeClr>
                </a:solidFill>
                <a:latin typeface="Helvetica Neue Light"/>
                <a:cs typeface="Helvetica Neue Light"/>
              </a:rPr>
              <a:t>called  </a:t>
            </a:r>
            <a:r>
              <a:rPr lang="en-GB" sz="2400" spc="-5" noProof="0" dirty="0">
                <a:solidFill>
                  <a:schemeClr val="bg1">
                    <a:lumMod val="50000"/>
                  </a:schemeClr>
                </a:solidFill>
                <a:latin typeface="Helvetica Neue Light"/>
                <a:cs typeface="Helvetica Neue Light"/>
              </a:rPr>
              <a:t>Parameters</a:t>
            </a:r>
            <a:r>
              <a:rPr lang="en-GB" sz="2400" spc="-120" noProof="0" dirty="0">
                <a:solidFill>
                  <a:schemeClr val="bg1">
                    <a:lumMod val="50000"/>
                  </a:schemeClr>
                </a:solidFill>
                <a:latin typeface="Helvetica Neue Light"/>
                <a:cs typeface="Helvetica Neue Light"/>
              </a:rPr>
              <a:t> </a:t>
            </a:r>
            <a:r>
              <a:rPr lang="en-GB" sz="2400" spc="15" noProof="0" dirty="0">
                <a:solidFill>
                  <a:schemeClr val="bg1">
                    <a:lumMod val="50000"/>
                  </a:schemeClr>
                </a:solidFill>
                <a:latin typeface="Helvetica Neue Light"/>
                <a:cs typeface="Helvetica Neue Light"/>
              </a:rPr>
              <a:t>sent</a:t>
            </a:r>
            <a:endParaRPr lang="en-GB" sz="2400" noProof="0" dirty="0">
              <a:solidFill>
                <a:schemeClr val="bg1">
                  <a:lumMod val="50000"/>
                </a:schemeClr>
              </a:solidFill>
              <a:latin typeface="Helvetica Neue Light"/>
              <a:cs typeface="Helvetica Neue Light"/>
            </a:endParaRPr>
          </a:p>
        </p:txBody>
      </p:sp>
      <p:sp>
        <p:nvSpPr>
          <p:cNvPr id="12" name="object 12">
            <a:extLst>
              <a:ext uri="{C183D7F6-B498-43B3-948B-1728B52AA6E4}">
                <adec:decorative xmlns:adec="http://schemas.microsoft.com/office/drawing/2017/decorative" val="1"/>
              </a:ext>
            </a:extLst>
          </p:cNvPr>
          <p:cNvSpPr/>
          <p:nvPr/>
        </p:nvSpPr>
        <p:spPr>
          <a:xfrm>
            <a:off x="3379127" y="2963481"/>
            <a:ext cx="2509697" cy="1396542"/>
          </a:xfrm>
          <a:prstGeom prst="rect">
            <a:avLst/>
          </a:prstGeom>
          <a:blipFill>
            <a:blip r:embed="rId2" cstate="print"/>
            <a:stretch>
              <a:fillRect/>
            </a:stretch>
          </a:blipFill>
          <a:ln>
            <a:noFill/>
          </a:ln>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3" name="object 13">
            <a:extLst>
              <a:ext uri="{C183D7F6-B498-43B3-948B-1728B52AA6E4}">
                <adec:decorative xmlns:adec="http://schemas.microsoft.com/office/drawing/2017/decorative" val="1"/>
              </a:ext>
            </a:extLst>
          </p:cNvPr>
          <p:cNvSpPr/>
          <p:nvPr/>
        </p:nvSpPr>
        <p:spPr>
          <a:xfrm>
            <a:off x="3429000" y="2995129"/>
            <a:ext cx="2399096" cy="1295412"/>
          </a:xfrm>
          <a:prstGeom prst="rect">
            <a:avLst/>
          </a:prstGeom>
          <a:blipFill>
            <a:blip r:embed="rId3" cstate="print"/>
            <a:stretch>
              <a:fillRect/>
            </a:stretch>
          </a:blip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4" name="object 14"/>
          <p:cNvSpPr txBox="1"/>
          <p:nvPr/>
        </p:nvSpPr>
        <p:spPr>
          <a:xfrm>
            <a:off x="3429000" y="2995129"/>
            <a:ext cx="2399096" cy="925894"/>
          </a:xfrm>
          <a:prstGeom prst="rect">
            <a:avLst/>
          </a:prstGeom>
          <a:ln w="9524">
            <a:noFill/>
          </a:ln>
        </p:spPr>
        <p:txBody>
          <a:bodyPr vert="horz" wrap="square" lIns="0" tIns="368300" rIns="0" bIns="0" rtlCol="0">
            <a:spAutoFit/>
          </a:bodyPr>
          <a:lstStyle/>
          <a:p>
            <a:pPr marL="251460">
              <a:lnSpc>
                <a:spcPct val="100000"/>
              </a:lnSpc>
              <a:spcBef>
                <a:spcPts val="2900"/>
              </a:spcBef>
            </a:pPr>
            <a:r>
              <a:rPr lang="en-GB" sz="3600" spc="55" noProof="0" dirty="0">
                <a:solidFill>
                  <a:schemeClr val="bg1">
                    <a:lumMod val="50000"/>
                  </a:schemeClr>
                </a:solidFill>
                <a:latin typeface="Helvetica Neue Light"/>
                <a:cs typeface="Helvetica Neue Light"/>
              </a:rPr>
              <a:t>function</a:t>
            </a:r>
          </a:p>
        </p:txBody>
      </p:sp>
      <p:sp>
        <p:nvSpPr>
          <p:cNvPr id="15" name="object 15">
            <a:extLst>
              <a:ext uri="{C183D7F6-B498-43B3-948B-1728B52AA6E4}">
                <adec:decorative xmlns:adec="http://schemas.microsoft.com/office/drawing/2017/decorative" val="1"/>
              </a:ext>
            </a:extLst>
          </p:cNvPr>
          <p:cNvSpPr/>
          <p:nvPr/>
        </p:nvSpPr>
        <p:spPr>
          <a:xfrm>
            <a:off x="7391399" y="2308948"/>
            <a:ext cx="45719" cy="694690"/>
          </a:xfrm>
          <a:custGeom>
            <a:avLst/>
            <a:gdLst/>
            <a:ahLst/>
            <a:cxnLst/>
            <a:rect l="l" t="t" r="r" b="b"/>
            <a:pathLst>
              <a:path h="694689">
                <a:moveTo>
                  <a:pt x="0" y="0"/>
                </a:moveTo>
                <a:lnTo>
                  <a:pt x="0" y="694530"/>
                </a:lnTo>
              </a:path>
            </a:pathLst>
          </a:custGeom>
          <a:ln w="9524">
            <a:solidFill>
              <a:srgbClr val="FFFFFF"/>
            </a:solidFill>
          </a:ln>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6" name="object 16">
            <a:extLst>
              <a:ext uri="{C183D7F6-B498-43B3-948B-1728B52AA6E4}">
                <adec:decorative xmlns:adec="http://schemas.microsoft.com/office/drawing/2017/decorative" val="1"/>
              </a:ext>
            </a:extLst>
          </p:cNvPr>
          <p:cNvSpPr/>
          <p:nvPr/>
        </p:nvSpPr>
        <p:spPr>
          <a:xfrm>
            <a:off x="7327899" y="2901886"/>
            <a:ext cx="142803" cy="127000"/>
          </a:xfrm>
          <a:custGeom>
            <a:avLst/>
            <a:gdLst/>
            <a:ahLst/>
            <a:cxnLst/>
            <a:rect l="l" t="t" r="r" b="b"/>
            <a:pathLst>
              <a:path w="127000" h="127000">
                <a:moveTo>
                  <a:pt x="127000" y="0"/>
                </a:moveTo>
                <a:lnTo>
                  <a:pt x="0" y="0"/>
                </a:lnTo>
                <a:lnTo>
                  <a:pt x="63500" y="127000"/>
                </a:lnTo>
                <a:lnTo>
                  <a:pt x="127000" y="0"/>
                </a:lnTo>
                <a:close/>
              </a:path>
            </a:pathLst>
          </a:custGeom>
          <a:solidFill>
            <a:srgbClr val="FFFFFF"/>
          </a:solid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7" name="object 17">
            <a:extLst>
              <a:ext uri="{C183D7F6-B498-43B3-948B-1728B52AA6E4}">
                <adec:decorative xmlns:adec="http://schemas.microsoft.com/office/drawing/2017/decorative" val="1"/>
              </a:ext>
            </a:extLst>
          </p:cNvPr>
          <p:cNvSpPr/>
          <p:nvPr/>
        </p:nvSpPr>
        <p:spPr>
          <a:xfrm>
            <a:off x="7391399" y="4343400"/>
            <a:ext cx="45719" cy="694690"/>
          </a:xfrm>
          <a:custGeom>
            <a:avLst/>
            <a:gdLst/>
            <a:ahLst/>
            <a:cxnLst/>
            <a:rect l="l" t="t" r="r" b="b"/>
            <a:pathLst>
              <a:path h="694689">
                <a:moveTo>
                  <a:pt x="0" y="0"/>
                </a:moveTo>
                <a:lnTo>
                  <a:pt x="0" y="694530"/>
                </a:lnTo>
              </a:path>
            </a:pathLst>
          </a:custGeom>
          <a:ln w="9524">
            <a:solidFill>
              <a:srgbClr val="FFFFFF"/>
            </a:solidFill>
          </a:ln>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8" name="object 18">
            <a:extLst>
              <a:ext uri="{C183D7F6-B498-43B3-948B-1728B52AA6E4}">
                <adec:decorative xmlns:adec="http://schemas.microsoft.com/office/drawing/2017/decorative" val="1"/>
              </a:ext>
            </a:extLst>
          </p:cNvPr>
          <p:cNvSpPr/>
          <p:nvPr/>
        </p:nvSpPr>
        <p:spPr>
          <a:xfrm>
            <a:off x="7327899" y="4936325"/>
            <a:ext cx="142803" cy="127000"/>
          </a:xfrm>
          <a:custGeom>
            <a:avLst/>
            <a:gdLst/>
            <a:ahLst/>
            <a:cxnLst/>
            <a:rect l="l" t="t" r="r" b="b"/>
            <a:pathLst>
              <a:path w="127000" h="127000">
                <a:moveTo>
                  <a:pt x="127000" y="0"/>
                </a:moveTo>
                <a:lnTo>
                  <a:pt x="0" y="0"/>
                </a:lnTo>
                <a:lnTo>
                  <a:pt x="63500" y="127012"/>
                </a:lnTo>
                <a:lnTo>
                  <a:pt x="127000" y="0"/>
                </a:lnTo>
                <a:close/>
              </a:path>
            </a:pathLst>
          </a:custGeom>
          <a:solidFill>
            <a:srgbClr val="FFFFFF"/>
          </a:solid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9" name="object 19"/>
          <p:cNvSpPr txBox="1"/>
          <p:nvPr/>
        </p:nvSpPr>
        <p:spPr>
          <a:xfrm>
            <a:off x="6381115" y="1521040"/>
            <a:ext cx="2314128" cy="719855"/>
          </a:xfrm>
          <a:prstGeom prst="rect">
            <a:avLst/>
          </a:prstGeom>
        </p:spPr>
        <p:txBody>
          <a:bodyPr vert="horz" wrap="square" lIns="0" tIns="0" rIns="0" bIns="0" rtlCol="0">
            <a:spAutoFit/>
          </a:bodyPr>
          <a:lstStyle/>
          <a:p>
            <a:pPr marL="12700" marR="5080" indent="38100">
              <a:lnSpc>
                <a:spcPts val="2800"/>
              </a:lnSpc>
            </a:pPr>
            <a:r>
              <a:rPr lang="en-GB" sz="2400" spc="40" noProof="0" dirty="0">
                <a:solidFill>
                  <a:schemeClr val="bg1">
                    <a:lumMod val="50000"/>
                  </a:schemeClr>
                </a:solidFill>
                <a:latin typeface="Helvetica Neue Light"/>
                <a:cs typeface="Helvetica Neue Light"/>
              </a:rPr>
              <a:t>Function </a:t>
            </a:r>
            <a:r>
              <a:rPr lang="en-GB" sz="2400" spc="30" noProof="0" dirty="0">
                <a:solidFill>
                  <a:schemeClr val="bg1">
                    <a:lumMod val="50000"/>
                  </a:schemeClr>
                </a:solidFill>
                <a:latin typeface="Helvetica Neue Light"/>
                <a:cs typeface="Helvetica Neue Light"/>
              </a:rPr>
              <a:t>called  </a:t>
            </a:r>
            <a:r>
              <a:rPr lang="en-GB" sz="2400" spc="-5" noProof="0" dirty="0">
                <a:solidFill>
                  <a:schemeClr val="bg1">
                    <a:lumMod val="50000"/>
                  </a:schemeClr>
                </a:solidFill>
                <a:latin typeface="Helvetica Neue Light"/>
                <a:cs typeface="Helvetica Neue Light"/>
              </a:rPr>
              <a:t>Parameters</a:t>
            </a:r>
            <a:r>
              <a:rPr lang="en-GB" sz="2400" spc="-120" noProof="0" dirty="0">
                <a:solidFill>
                  <a:schemeClr val="bg1">
                    <a:lumMod val="50000"/>
                  </a:schemeClr>
                </a:solidFill>
                <a:latin typeface="Helvetica Neue Light"/>
                <a:cs typeface="Helvetica Neue Light"/>
              </a:rPr>
              <a:t> </a:t>
            </a:r>
            <a:r>
              <a:rPr lang="en-GB" sz="2400" spc="15" noProof="0" dirty="0">
                <a:solidFill>
                  <a:schemeClr val="bg1">
                    <a:lumMod val="50000"/>
                  </a:schemeClr>
                </a:solidFill>
                <a:latin typeface="Helvetica Neue Light"/>
                <a:cs typeface="Helvetica Neue Light"/>
              </a:rPr>
              <a:t>sent</a:t>
            </a:r>
            <a:endParaRPr lang="en-GB" sz="2400" noProof="0" dirty="0">
              <a:solidFill>
                <a:schemeClr val="bg1">
                  <a:lumMod val="50000"/>
                </a:schemeClr>
              </a:solidFill>
              <a:latin typeface="Helvetica Neue Light"/>
              <a:cs typeface="Helvetica Neue Light"/>
            </a:endParaRPr>
          </a:p>
        </p:txBody>
      </p:sp>
      <p:sp>
        <p:nvSpPr>
          <p:cNvPr id="20" name="object 20">
            <a:extLst>
              <a:ext uri="{C183D7F6-B498-43B3-948B-1728B52AA6E4}">
                <adec:decorative xmlns:adec="http://schemas.microsoft.com/office/drawing/2017/decorative" val="1"/>
              </a:ext>
            </a:extLst>
          </p:cNvPr>
          <p:cNvSpPr/>
          <p:nvPr/>
        </p:nvSpPr>
        <p:spPr>
          <a:xfrm>
            <a:off x="6276111" y="3013354"/>
            <a:ext cx="2509697" cy="1396542"/>
          </a:xfrm>
          <a:prstGeom prst="rect">
            <a:avLst/>
          </a:prstGeom>
          <a:blipFill>
            <a:blip r:embed="rId4" cstate="print"/>
            <a:stretch>
              <a:fillRect/>
            </a:stretch>
          </a:blip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21" name="object 21">
            <a:extLst>
              <a:ext uri="{C183D7F6-B498-43B3-948B-1728B52AA6E4}">
                <adec:decorative xmlns:adec="http://schemas.microsoft.com/office/drawing/2017/decorative" val="1"/>
              </a:ext>
            </a:extLst>
          </p:cNvPr>
          <p:cNvSpPr/>
          <p:nvPr/>
        </p:nvSpPr>
        <p:spPr>
          <a:xfrm>
            <a:off x="6324600" y="3043237"/>
            <a:ext cx="2399096" cy="1295400"/>
          </a:xfrm>
          <a:prstGeom prst="rect">
            <a:avLst/>
          </a:prstGeom>
          <a:blipFill>
            <a:blip r:embed="rId3" cstate="print"/>
            <a:stretch>
              <a:fillRect/>
            </a:stretch>
          </a:blip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22" name="object 22">
            <a:extLst>
              <a:ext uri="{C183D7F6-B498-43B3-948B-1728B52AA6E4}">
                <adec:decorative xmlns:adec="http://schemas.microsoft.com/office/drawing/2017/decorative" val="1"/>
              </a:ext>
            </a:extLst>
          </p:cNvPr>
          <p:cNvSpPr/>
          <p:nvPr/>
        </p:nvSpPr>
        <p:spPr>
          <a:xfrm>
            <a:off x="6324600" y="3043237"/>
            <a:ext cx="2399096" cy="1295400"/>
          </a:xfrm>
          <a:custGeom>
            <a:avLst/>
            <a:gdLst/>
            <a:ahLst/>
            <a:cxnLst/>
            <a:rect l="l" t="t" r="r" b="b"/>
            <a:pathLst>
              <a:path w="2133600" h="1295400">
                <a:moveTo>
                  <a:pt x="0" y="0"/>
                </a:moveTo>
                <a:lnTo>
                  <a:pt x="2133598" y="0"/>
                </a:lnTo>
                <a:lnTo>
                  <a:pt x="2133598" y="1295398"/>
                </a:lnTo>
                <a:lnTo>
                  <a:pt x="0" y="1295398"/>
                </a:lnTo>
                <a:lnTo>
                  <a:pt x="0" y="0"/>
                </a:lnTo>
                <a:close/>
              </a:path>
            </a:pathLst>
          </a:custGeom>
          <a:ln w="9524">
            <a:noFill/>
          </a:ln>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23" name="object 23"/>
          <p:cNvSpPr txBox="1"/>
          <p:nvPr/>
        </p:nvSpPr>
        <p:spPr>
          <a:xfrm>
            <a:off x="6568440" y="3416617"/>
            <a:ext cx="1842877" cy="565150"/>
          </a:xfrm>
          <a:prstGeom prst="rect">
            <a:avLst/>
          </a:prstGeom>
        </p:spPr>
        <p:txBody>
          <a:bodyPr vert="horz" wrap="square" lIns="0" tIns="0" rIns="0" bIns="0" rtlCol="0">
            <a:spAutoFit/>
          </a:bodyPr>
          <a:lstStyle/>
          <a:p>
            <a:pPr marL="12700">
              <a:lnSpc>
                <a:spcPct val="100000"/>
              </a:lnSpc>
            </a:pPr>
            <a:r>
              <a:rPr lang="en-GB" sz="3600" spc="55" noProof="0" dirty="0">
                <a:solidFill>
                  <a:schemeClr val="bg1">
                    <a:lumMod val="50000"/>
                  </a:schemeClr>
                </a:solidFill>
                <a:latin typeface="Helvetica Neue Light"/>
                <a:cs typeface="Helvetica Neue Light"/>
              </a:rPr>
              <a:t>function</a:t>
            </a:r>
            <a:endParaRPr lang="en-GB" sz="3600" noProof="0" dirty="0">
              <a:solidFill>
                <a:schemeClr val="bg1">
                  <a:lumMod val="50000"/>
                </a:schemeClr>
              </a:solidFill>
              <a:latin typeface="Helvetica Neue Light"/>
              <a:cs typeface="Helvetica Neue Light"/>
            </a:endParaRPr>
          </a:p>
        </p:txBody>
      </p:sp>
      <p:sp>
        <p:nvSpPr>
          <p:cNvPr id="24" name="object 24"/>
          <p:cNvSpPr txBox="1"/>
          <p:nvPr/>
        </p:nvSpPr>
        <p:spPr>
          <a:xfrm>
            <a:off x="459740" y="5494489"/>
            <a:ext cx="2202742" cy="415925"/>
          </a:xfrm>
          <a:prstGeom prst="rect">
            <a:avLst/>
          </a:prstGeom>
        </p:spPr>
        <p:txBody>
          <a:bodyPr vert="horz" wrap="square" lIns="0" tIns="0" rIns="0" bIns="0" rtlCol="0">
            <a:spAutoFit/>
          </a:bodyPr>
          <a:lstStyle/>
          <a:p>
            <a:pPr marL="717550" marR="5080" indent="-705485">
              <a:lnSpc>
                <a:spcPts val="1600"/>
              </a:lnSpc>
            </a:pPr>
            <a:r>
              <a:rPr lang="en-GB" sz="1400" spc="-45" noProof="0" dirty="0">
                <a:solidFill>
                  <a:schemeClr val="bg1">
                    <a:lumMod val="50000"/>
                  </a:schemeClr>
                </a:solidFill>
                <a:latin typeface="Helvetica Neue Light"/>
                <a:cs typeface="Helvetica Neue Light"/>
              </a:rPr>
              <a:t>e.g. </a:t>
            </a:r>
            <a:r>
              <a:rPr lang="en-GB" sz="1400" spc="-5" noProof="0" dirty="0">
                <a:solidFill>
                  <a:schemeClr val="bg1">
                    <a:lumMod val="50000"/>
                  </a:schemeClr>
                </a:solidFill>
                <a:latin typeface="Helvetica Neue Light"/>
                <a:cs typeface="Helvetica Neue Light"/>
              </a:rPr>
              <a:t>Formatting </a:t>
            </a:r>
            <a:r>
              <a:rPr lang="en-GB" sz="1400" spc="15" noProof="0" dirty="0">
                <a:solidFill>
                  <a:schemeClr val="bg1">
                    <a:lumMod val="50000"/>
                  </a:schemeClr>
                </a:solidFill>
                <a:latin typeface="Helvetica Neue Light"/>
                <a:cs typeface="Helvetica Neue Light"/>
              </a:rPr>
              <a:t>and</a:t>
            </a:r>
            <a:r>
              <a:rPr lang="en-GB" sz="1400" spc="-195" noProof="0" dirty="0">
                <a:solidFill>
                  <a:schemeClr val="bg1">
                    <a:lumMod val="50000"/>
                  </a:schemeClr>
                </a:solidFill>
                <a:latin typeface="Helvetica Neue Light"/>
                <a:cs typeface="Helvetica Neue Light"/>
              </a:rPr>
              <a:t> </a:t>
            </a:r>
            <a:r>
              <a:rPr lang="en-GB" sz="1400" spc="-10" noProof="0" dirty="0">
                <a:solidFill>
                  <a:schemeClr val="bg1">
                    <a:lumMod val="50000"/>
                  </a:schemeClr>
                </a:solidFill>
                <a:latin typeface="Helvetica Neue Light"/>
                <a:cs typeface="Helvetica Neue Light"/>
              </a:rPr>
              <a:t>writing  </a:t>
            </a:r>
            <a:r>
              <a:rPr lang="en-GB" sz="1400" spc="-5" noProof="0" dirty="0">
                <a:solidFill>
                  <a:schemeClr val="bg1">
                    <a:lumMod val="50000"/>
                  </a:schemeClr>
                </a:solidFill>
                <a:latin typeface="Helvetica Neue Light"/>
                <a:cs typeface="Helvetica Neue Light"/>
              </a:rPr>
              <a:t>out</a:t>
            </a:r>
            <a:r>
              <a:rPr lang="en-GB" sz="1400" spc="-140" noProof="0" dirty="0">
                <a:solidFill>
                  <a:schemeClr val="bg1">
                    <a:lumMod val="50000"/>
                  </a:schemeClr>
                </a:solidFill>
                <a:latin typeface="Helvetica Neue Light"/>
                <a:cs typeface="Helvetica Neue Light"/>
              </a:rPr>
              <a:t> </a:t>
            </a:r>
            <a:r>
              <a:rPr lang="en-GB" sz="1400" spc="-25" noProof="0" dirty="0">
                <a:solidFill>
                  <a:schemeClr val="bg1">
                    <a:lumMod val="50000"/>
                  </a:schemeClr>
                </a:solidFill>
                <a:latin typeface="Helvetica Neue Light"/>
                <a:cs typeface="Helvetica Neue Light"/>
              </a:rPr>
              <a:t>text</a:t>
            </a:r>
            <a:endParaRPr lang="en-GB" sz="1400" noProof="0" dirty="0">
              <a:solidFill>
                <a:schemeClr val="bg1">
                  <a:lumMod val="50000"/>
                </a:schemeClr>
              </a:solidFill>
              <a:latin typeface="Helvetica Neue Light"/>
              <a:cs typeface="Helvetica Neue Light"/>
            </a:endParaRPr>
          </a:p>
        </p:txBody>
      </p:sp>
      <p:sp>
        <p:nvSpPr>
          <p:cNvPr id="25" name="object 25"/>
          <p:cNvSpPr txBox="1"/>
          <p:nvPr/>
        </p:nvSpPr>
        <p:spPr>
          <a:xfrm>
            <a:off x="3583940" y="5494489"/>
            <a:ext cx="2202742" cy="412079"/>
          </a:xfrm>
          <a:prstGeom prst="rect">
            <a:avLst/>
          </a:prstGeom>
        </p:spPr>
        <p:txBody>
          <a:bodyPr vert="horz" wrap="square" lIns="0" tIns="0" rIns="0" bIns="0" rtlCol="0">
            <a:spAutoFit/>
          </a:bodyPr>
          <a:lstStyle/>
          <a:p>
            <a:pPr marL="397510" marR="5080" indent="-385445">
              <a:lnSpc>
                <a:spcPts val="1600"/>
              </a:lnSpc>
            </a:pPr>
            <a:r>
              <a:rPr lang="en-GB" sz="1400" spc="-45" noProof="0" dirty="0">
                <a:solidFill>
                  <a:schemeClr val="bg1">
                    <a:lumMod val="50000"/>
                  </a:schemeClr>
                </a:solidFill>
                <a:latin typeface="Helvetica Neue Light"/>
                <a:cs typeface="Helvetica Neue Light"/>
              </a:rPr>
              <a:t>e.g. </a:t>
            </a:r>
            <a:r>
              <a:rPr lang="en-GB" sz="1400" spc="-5" noProof="0" dirty="0">
                <a:solidFill>
                  <a:schemeClr val="bg1">
                    <a:lumMod val="50000"/>
                  </a:schemeClr>
                </a:solidFill>
                <a:latin typeface="Helvetica Neue Light"/>
                <a:cs typeface="Helvetica Neue Light"/>
              </a:rPr>
              <a:t>Formatting </a:t>
            </a:r>
            <a:r>
              <a:rPr lang="en-GB" sz="1400" spc="15" noProof="0" dirty="0">
                <a:solidFill>
                  <a:schemeClr val="bg1">
                    <a:lumMod val="50000"/>
                  </a:schemeClr>
                </a:solidFill>
                <a:latin typeface="Helvetica Neue Light"/>
                <a:cs typeface="Helvetica Neue Light"/>
              </a:rPr>
              <a:t>and</a:t>
            </a:r>
            <a:r>
              <a:rPr lang="en-GB" sz="1400" spc="-195" noProof="0" dirty="0">
                <a:solidFill>
                  <a:schemeClr val="bg1">
                    <a:lumMod val="50000"/>
                  </a:schemeClr>
                </a:solidFill>
                <a:latin typeface="Helvetica Neue Light"/>
                <a:cs typeface="Helvetica Neue Light"/>
              </a:rPr>
              <a:t> </a:t>
            </a:r>
            <a:r>
              <a:rPr lang="en-GB" sz="1400" spc="-10" noProof="0" dirty="0">
                <a:solidFill>
                  <a:schemeClr val="bg1">
                    <a:lumMod val="50000"/>
                  </a:schemeClr>
                </a:solidFill>
                <a:latin typeface="Helvetica Neue Light"/>
                <a:cs typeface="Helvetica Neue Light"/>
              </a:rPr>
              <a:t>writing  </a:t>
            </a:r>
            <a:r>
              <a:rPr lang="en-GB" sz="1400" spc="-5" noProof="0" dirty="0">
                <a:solidFill>
                  <a:schemeClr val="bg1">
                    <a:lumMod val="50000"/>
                  </a:schemeClr>
                </a:solidFill>
                <a:latin typeface="Helvetica Neue Light"/>
                <a:cs typeface="Helvetica Neue Light"/>
              </a:rPr>
              <a:t>out inputted</a:t>
            </a:r>
            <a:r>
              <a:rPr lang="en-GB" sz="1400" spc="-190" noProof="0" dirty="0">
                <a:solidFill>
                  <a:schemeClr val="bg1">
                    <a:lumMod val="50000"/>
                  </a:schemeClr>
                </a:solidFill>
                <a:latin typeface="Helvetica Neue Light"/>
                <a:cs typeface="Helvetica Neue Light"/>
              </a:rPr>
              <a:t> </a:t>
            </a:r>
            <a:r>
              <a:rPr lang="en-GB" sz="1400" spc="-25" noProof="0" dirty="0">
                <a:solidFill>
                  <a:schemeClr val="bg1">
                    <a:lumMod val="50000"/>
                  </a:schemeClr>
                </a:solidFill>
                <a:latin typeface="Helvetica Neue Light"/>
                <a:cs typeface="Helvetica Neue Light"/>
              </a:rPr>
              <a:t>text</a:t>
            </a:r>
            <a:endParaRPr lang="en-GB" sz="1400" noProof="0" dirty="0">
              <a:solidFill>
                <a:schemeClr val="bg1">
                  <a:lumMod val="50000"/>
                </a:schemeClr>
              </a:solidFill>
              <a:latin typeface="Helvetica Neue Light"/>
              <a:cs typeface="Helvetica Neue Light"/>
            </a:endParaRPr>
          </a:p>
        </p:txBody>
      </p:sp>
      <p:sp>
        <p:nvSpPr>
          <p:cNvPr id="26" name="object 26"/>
          <p:cNvSpPr txBox="1"/>
          <p:nvPr/>
        </p:nvSpPr>
        <p:spPr>
          <a:xfrm>
            <a:off x="6401752" y="5070157"/>
            <a:ext cx="2199886" cy="1051869"/>
          </a:xfrm>
          <a:prstGeom prst="rect">
            <a:avLst/>
          </a:prstGeom>
        </p:spPr>
        <p:txBody>
          <a:bodyPr vert="horz" wrap="square" lIns="0" tIns="0" rIns="0" bIns="0" rtlCol="0">
            <a:spAutoFit/>
          </a:bodyPr>
          <a:lstStyle/>
          <a:p>
            <a:pPr algn="ctr">
              <a:lnSpc>
                <a:spcPct val="100000"/>
              </a:lnSpc>
            </a:pPr>
            <a:r>
              <a:rPr lang="en-GB" sz="2400" spc="20" noProof="0" dirty="0">
                <a:solidFill>
                  <a:schemeClr val="bg1">
                    <a:lumMod val="50000"/>
                  </a:schemeClr>
                </a:solidFill>
                <a:latin typeface="Helvetica Neue Light"/>
                <a:cs typeface="Helvetica Neue Light"/>
              </a:rPr>
              <a:t>Returned</a:t>
            </a:r>
            <a:r>
              <a:rPr lang="en-GB" sz="2400" spc="-114" noProof="0" dirty="0">
                <a:solidFill>
                  <a:schemeClr val="bg1">
                    <a:lumMod val="50000"/>
                  </a:schemeClr>
                </a:solidFill>
                <a:latin typeface="Helvetica Neue Light"/>
                <a:cs typeface="Helvetica Neue Light"/>
              </a:rPr>
              <a:t> </a:t>
            </a:r>
            <a:r>
              <a:rPr lang="en-GB" sz="2400" spc="30" noProof="0" dirty="0">
                <a:solidFill>
                  <a:schemeClr val="bg1">
                    <a:lumMod val="50000"/>
                  </a:schemeClr>
                </a:solidFill>
                <a:latin typeface="Helvetica Neue Light"/>
                <a:cs typeface="Helvetica Neue Light"/>
              </a:rPr>
              <a:t>value</a:t>
            </a:r>
            <a:endParaRPr lang="en-GB" sz="2400" noProof="0" dirty="0">
              <a:solidFill>
                <a:schemeClr val="bg1">
                  <a:lumMod val="50000"/>
                </a:schemeClr>
              </a:solidFill>
              <a:latin typeface="Helvetica Neue Light"/>
              <a:cs typeface="Helvetica Neue Light"/>
            </a:endParaRPr>
          </a:p>
          <a:p>
            <a:pPr marL="107950" marR="104775" indent="74930">
              <a:lnSpc>
                <a:spcPts val="1600"/>
              </a:lnSpc>
              <a:spcBef>
                <a:spcPts val="459"/>
              </a:spcBef>
            </a:pPr>
            <a:r>
              <a:rPr lang="en-GB" sz="1400" spc="-45" noProof="0" dirty="0">
                <a:solidFill>
                  <a:schemeClr val="bg1">
                    <a:lumMod val="50000"/>
                  </a:schemeClr>
                </a:solidFill>
                <a:latin typeface="Helvetica Neue Light"/>
                <a:cs typeface="Helvetica Neue Light"/>
              </a:rPr>
              <a:t>e.g. </a:t>
            </a:r>
            <a:r>
              <a:rPr lang="en-GB" sz="1400" spc="-5" noProof="0" dirty="0">
                <a:solidFill>
                  <a:schemeClr val="bg1">
                    <a:lumMod val="50000"/>
                  </a:schemeClr>
                </a:solidFill>
                <a:latin typeface="Helvetica Neue Light"/>
                <a:cs typeface="Helvetica Neue Light"/>
              </a:rPr>
              <a:t>Date </a:t>
            </a:r>
            <a:r>
              <a:rPr lang="en-GB" sz="1400" noProof="0" dirty="0">
                <a:solidFill>
                  <a:schemeClr val="bg1">
                    <a:lumMod val="50000"/>
                  </a:schemeClr>
                </a:solidFill>
                <a:latin typeface="Helvetica Neue Light"/>
                <a:cs typeface="Helvetica Neue Light"/>
              </a:rPr>
              <a:t>function </a:t>
            </a:r>
            <a:r>
              <a:rPr lang="en-GB" sz="1400" spc="-10" noProof="0" dirty="0">
                <a:solidFill>
                  <a:schemeClr val="bg1">
                    <a:lumMod val="50000"/>
                  </a:schemeClr>
                </a:solidFill>
                <a:latin typeface="Helvetica Neue Light"/>
                <a:cs typeface="Helvetica Neue Light"/>
              </a:rPr>
              <a:t>that  </a:t>
            </a:r>
            <a:r>
              <a:rPr lang="en-GB" sz="1400" spc="-20" noProof="0" dirty="0">
                <a:solidFill>
                  <a:schemeClr val="bg1">
                    <a:lumMod val="50000"/>
                  </a:schemeClr>
                </a:solidFill>
                <a:latin typeface="Helvetica Neue Light"/>
                <a:cs typeface="Helvetica Neue Light"/>
              </a:rPr>
              <a:t>returns</a:t>
            </a:r>
            <a:r>
              <a:rPr lang="en-GB" sz="1400" spc="-80" noProof="0" dirty="0">
                <a:solidFill>
                  <a:schemeClr val="bg1">
                    <a:lumMod val="50000"/>
                  </a:schemeClr>
                </a:solidFill>
                <a:latin typeface="Helvetica Neue Light"/>
                <a:cs typeface="Helvetica Neue Light"/>
              </a:rPr>
              <a:t> </a:t>
            </a:r>
            <a:r>
              <a:rPr lang="en-GB" sz="1400" spc="10" noProof="0" dirty="0">
                <a:solidFill>
                  <a:schemeClr val="bg1">
                    <a:lumMod val="50000"/>
                  </a:schemeClr>
                </a:solidFill>
                <a:latin typeface="Helvetica Neue Light"/>
                <a:cs typeface="Helvetica Neue Light"/>
              </a:rPr>
              <a:t>a</a:t>
            </a:r>
            <a:r>
              <a:rPr lang="en-GB" sz="1400" spc="-80" noProof="0" dirty="0">
                <a:solidFill>
                  <a:schemeClr val="bg1">
                    <a:lumMod val="50000"/>
                  </a:schemeClr>
                </a:solidFill>
                <a:latin typeface="Helvetica Neue Light"/>
                <a:cs typeface="Helvetica Neue Light"/>
              </a:rPr>
              <a:t> </a:t>
            </a:r>
            <a:r>
              <a:rPr lang="en-GB" sz="1400" spc="-15" noProof="0" dirty="0">
                <a:solidFill>
                  <a:schemeClr val="bg1">
                    <a:lumMod val="50000"/>
                  </a:schemeClr>
                </a:solidFill>
                <a:latin typeface="Helvetica Neue Light"/>
                <a:cs typeface="Helvetica Neue Light"/>
              </a:rPr>
              <a:t>date</a:t>
            </a:r>
            <a:r>
              <a:rPr lang="en-GB" sz="1400" spc="-80" noProof="0" dirty="0">
                <a:solidFill>
                  <a:schemeClr val="bg1">
                    <a:lumMod val="50000"/>
                  </a:schemeClr>
                </a:solidFill>
                <a:latin typeface="Helvetica Neue Light"/>
                <a:cs typeface="Helvetica Neue Light"/>
              </a:rPr>
              <a:t> </a:t>
            </a:r>
            <a:r>
              <a:rPr lang="en-GB" sz="1400" spc="-15" noProof="0" dirty="0">
                <a:solidFill>
                  <a:schemeClr val="bg1">
                    <a:lumMod val="50000"/>
                  </a:schemeClr>
                </a:solidFill>
                <a:latin typeface="Helvetica Neue Light"/>
                <a:cs typeface="Helvetica Neue Light"/>
              </a:rPr>
              <a:t>to</a:t>
            </a:r>
            <a:r>
              <a:rPr lang="en-GB" sz="1400" spc="-80" noProof="0" dirty="0">
                <a:solidFill>
                  <a:schemeClr val="bg1">
                    <a:lumMod val="50000"/>
                  </a:schemeClr>
                </a:solidFill>
                <a:latin typeface="Helvetica Neue Light"/>
                <a:cs typeface="Helvetica Neue Light"/>
              </a:rPr>
              <a:t> </a:t>
            </a:r>
            <a:r>
              <a:rPr lang="en-GB" sz="1400" spc="-10" noProof="0" dirty="0">
                <a:solidFill>
                  <a:schemeClr val="bg1">
                    <a:lumMod val="50000"/>
                  </a:schemeClr>
                </a:solidFill>
                <a:latin typeface="Helvetica Neue Light"/>
                <a:cs typeface="Helvetica Neue Light"/>
              </a:rPr>
              <a:t>be</a:t>
            </a:r>
            <a:r>
              <a:rPr lang="en-GB" sz="1400" spc="-80" noProof="0" dirty="0">
                <a:solidFill>
                  <a:schemeClr val="bg1">
                    <a:lumMod val="50000"/>
                  </a:schemeClr>
                </a:solidFill>
                <a:latin typeface="Helvetica Neue Light"/>
                <a:cs typeface="Helvetica Neue Light"/>
              </a:rPr>
              <a:t> </a:t>
            </a:r>
            <a:r>
              <a:rPr lang="en-GB" sz="1400" spc="-10" noProof="0" dirty="0">
                <a:solidFill>
                  <a:schemeClr val="bg1">
                    <a:lumMod val="50000"/>
                  </a:schemeClr>
                </a:solidFill>
                <a:latin typeface="Helvetica Neue Light"/>
                <a:cs typeface="Helvetica Neue Light"/>
              </a:rPr>
              <a:t>used</a:t>
            </a:r>
            <a:endParaRPr lang="en-GB" sz="1400" noProof="0" dirty="0">
              <a:solidFill>
                <a:schemeClr val="bg1">
                  <a:lumMod val="50000"/>
                </a:schemeClr>
              </a:solidFill>
              <a:latin typeface="Helvetica Neue Light"/>
              <a:cs typeface="Helvetica Neue Light"/>
            </a:endParaRPr>
          </a:p>
          <a:p>
            <a:pPr marL="27940" algn="ctr">
              <a:lnSpc>
                <a:spcPts val="1660"/>
              </a:lnSpc>
            </a:pPr>
            <a:r>
              <a:rPr lang="en-GB" sz="1400" spc="-20" noProof="0" dirty="0">
                <a:solidFill>
                  <a:schemeClr val="bg1">
                    <a:lumMod val="50000"/>
                  </a:schemeClr>
                </a:solidFill>
                <a:latin typeface="Helvetica Neue Light"/>
                <a:cs typeface="Helvetica Neue Light"/>
              </a:rPr>
              <a:t>later </a:t>
            </a:r>
            <a:r>
              <a:rPr lang="en-GB" sz="1400" spc="10" noProof="0" dirty="0">
                <a:solidFill>
                  <a:schemeClr val="bg1">
                    <a:lumMod val="50000"/>
                  </a:schemeClr>
                </a:solidFill>
                <a:latin typeface="Helvetica Neue Light"/>
                <a:cs typeface="Helvetica Neue Light"/>
              </a:rPr>
              <a:t>in</a:t>
            </a:r>
            <a:r>
              <a:rPr lang="en-GB" sz="1400" spc="-200" noProof="0" dirty="0">
                <a:solidFill>
                  <a:schemeClr val="bg1">
                    <a:lumMod val="50000"/>
                  </a:schemeClr>
                </a:solidFill>
                <a:latin typeface="Helvetica Neue Light"/>
                <a:cs typeface="Helvetica Neue Light"/>
              </a:rPr>
              <a:t> </a:t>
            </a:r>
            <a:r>
              <a:rPr lang="en-GB" sz="1400" spc="-5" noProof="0" dirty="0">
                <a:solidFill>
                  <a:schemeClr val="bg1">
                    <a:lumMod val="50000"/>
                  </a:schemeClr>
                </a:solidFill>
                <a:latin typeface="Helvetica Neue Light"/>
                <a:cs typeface="Helvetica Neue Light"/>
              </a:rPr>
              <a:t>program</a:t>
            </a:r>
            <a:endParaRPr lang="en-GB" sz="1400" noProof="0" dirty="0">
              <a:solidFill>
                <a:schemeClr val="bg1">
                  <a:lumMod val="50000"/>
                </a:schemeClr>
              </a:solidFill>
              <a:latin typeface="Helvetica Neue Light"/>
              <a:cs typeface="Helvetica Neue Light"/>
            </a:endParaRPr>
          </a:p>
        </p:txBody>
      </p:sp>
      <p:cxnSp>
        <p:nvCxnSpPr>
          <p:cNvPr id="31" name="Straight Arrow Connector 30">
            <a:extLst>
              <a:ext uri="{C183D7F6-B498-43B3-948B-1728B52AA6E4}">
                <adec:decorative xmlns:adec="http://schemas.microsoft.com/office/drawing/2017/decorative" val="1"/>
              </a:ext>
            </a:extLst>
          </p:cNvPr>
          <p:cNvCxnSpPr/>
          <p:nvPr/>
        </p:nvCxnSpPr>
        <p:spPr>
          <a:xfrm>
            <a:off x="1574727" y="2098652"/>
            <a:ext cx="0" cy="80323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C183D7F6-B498-43B3-948B-1728B52AA6E4}">
                <adec:decorative xmlns:adec="http://schemas.microsoft.com/office/drawing/2017/decorative" val="1"/>
              </a:ext>
            </a:extLst>
          </p:cNvPr>
          <p:cNvCxnSpPr/>
          <p:nvPr/>
        </p:nvCxnSpPr>
        <p:spPr>
          <a:xfrm>
            <a:off x="1578344" y="4409896"/>
            <a:ext cx="0" cy="80323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C183D7F6-B498-43B3-948B-1728B52AA6E4}">
                <adec:decorative xmlns:adec="http://schemas.microsoft.com/office/drawing/2017/decorative" val="1"/>
              </a:ext>
            </a:extLst>
          </p:cNvPr>
          <p:cNvCxnSpPr/>
          <p:nvPr/>
        </p:nvCxnSpPr>
        <p:spPr>
          <a:xfrm>
            <a:off x="4575102" y="2200404"/>
            <a:ext cx="0" cy="80323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C183D7F6-B498-43B3-948B-1728B52AA6E4}">
                <adec:decorative xmlns:adec="http://schemas.microsoft.com/office/drawing/2017/decorative" val="1"/>
              </a:ext>
            </a:extLst>
          </p:cNvPr>
          <p:cNvCxnSpPr/>
          <p:nvPr/>
        </p:nvCxnSpPr>
        <p:spPr>
          <a:xfrm>
            <a:off x="4541518" y="4409896"/>
            <a:ext cx="0" cy="80323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C183D7F6-B498-43B3-948B-1728B52AA6E4}">
                <adec:decorative xmlns:adec="http://schemas.microsoft.com/office/drawing/2017/decorative" val="1"/>
              </a:ext>
            </a:extLst>
          </p:cNvPr>
          <p:cNvCxnSpPr/>
          <p:nvPr/>
        </p:nvCxnSpPr>
        <p:spPr>
          <a:xfrm>
            <a:off x="7487277" y="2210120"/>
            <a:ext cx="0" cy="80323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C183D7F6-B498-43B3-948B-1728B52AA6E4}">
                <adec:decorative xmlns:adec="http://schemas.microsoft.com/office/drawing/2017/decorative" val="1"/>
              </a:ext>
            </a:extLst>
          </p:cNvPr>
          <p:cNvCxnSpPr>
            <a:endCxn id="26" idx="0"/>
          </p:cNvCxnSpPr>
          <p:nvPr/>
        </p:nvCxnSpPr>
        <p:spPr>
          <a:xfrm flipH="1">
            <a:off x="7501695" y="4409896"/>
            <a:ext cx="2157" cy="66026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52446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9B77ED3-447C-A7C2-0C97-D9CC213F2D95}"/>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57200" y="3237705"/>
            <a:ext cx="8229600" cy="1371600"/>
          </a:xfrm>
          <a:prstGeom prst="rect">
            <a:avLst/>
          </a:prstGeom>
        </p:spPr>
      </p:pic>
      <p:sp>
        <p:nvSpPr>
          <p:cNvPr id="2" name="Title 1"/>
          <p:cNvSpPr>
            <a:spLocks noGrp="1"/>
          </p:cNvSpPr>
          <p:nvPr>
            <p:ph type="title"/>
          </p:nvPr>
        </p:nvSpPr>
        <p:spPr/>
        <p:txBody>
          <a:bodyPr/>
          <a:lstStyle/>
          <a:p>
            <a:r>
              <a:rPr lang="en-GB" noProof="0" dirty="0"/>
              <a:t>Declaring a simple function</a:t>
            </a:r>
          </a:p>
        </p:txBody>
      </p:sp>
      <p:sp>
        <p:nvSpPr>
          <p:cNvPr id="4" name="Rounded Rectangular Callout 3"/>
          <p:cNvSpPr/>
          <p:nvPr/>
        </p:nvSpPr>
        <p:spPr>
          <a:xfrm>
            <a:off x="457200" y="1417637"/>
            <a:ext cx="3834063" cy="1229310"/>
          </a:xfrm>
          <a:prstGeom prst="wedgeRoundRectCallout">
            <a:avLst>
              <a:gd name="adj1" fmla="val -7790"/>
              <a:gd name="adj2" fmla="val 99178"/>
              <a:gd name="adj3" fmla="val 16667"/>
            </a:avLst>
          </a:prstGeom>
          <a:gradFill flip="none" rotWithShape="1">
            <a:gsLst>
              <a:gs pos="0">
                <a:schemeClr val="dk1">
                  <a:tint val="50000"/>
                  <a:satMod val="300000"/>
                  <a:alpha val="31000"/>
                </a:schemeClr>
              </a:gs>
              <a:gs pos="35000">
                <a:schemeClr val="dk1">
                  <a:tint val="37000"/>
                  <a:satMod val="300000"/>
                  <a:alpha val="31000"/>
                </a:schemeClr>
              </a:gs>
              <a:gs pos="100000">
                <a:schemeClr val="dk1">
                  <a:tint val="15000"/>
                  <a:satMod val="350000"/>
                  <a:alpha val="31000"/>
                </a:schemeClr>
              </a:gs>
            </a:gsLst>
            <a:lin ang="16200000" scaled="1"/>
            <a:tileRect/>
          </a:gradFill>
        </p:spPr>
        <p:style>
          <a:lnRef idx="1">
            <a:schemeClr val="dk1"/>
          </a:lnRef>
          <a:fillRef idx="2">
            <a:schemeClr val="dk1"/>
          </a:fillRef>
          <a:effectRef idx="1">
            <a:schemeClr val="dk1"/>
          </a:effectRef>
          <a:fontRef idx="minor">
            <a:schemeClr val="dk1"/>
          </a:fontRef>
        </p:style>
        <p:txBody>
          <a:bodyPr rtlCol="0" anchor="ctr"/>
          <a:lstStyle/>
          <a:p>
            <a:pPr>
              <a:lnSpc>
                <a:spcPct val="130000"/>
              </a:lnSpc>
            </a:pPr>
            <a:r>
              <a:rPr lang="en-GB" sz="2200" noProof="0" dirty="0">
                <a:latin typeface="Helvetica Neue Light"/>
                <a:cs typeface="Helvetica Neue Light"/>
              </a:rPr>
              <a:t>Use the ’function’ keyword to declare a function</a:t>
            </a:r>
          </a:p>
        </p:txBody>
      </p:sp>
      <p:sp>
        <p:nvSpPr>
          <p:cNvPr id="5" name="Rounded Rectangular Callout 4"/>
          <p:cNvSpPr/>
          <p:nvPr/>
        </p:nvSpPr>
        <p:spPr>
          <a:xfrm>
            <a:off x="4852737" y="1417638"/>
            <a:ext cx="4064000" cy="1109578"/>
          </a:xfrm>
          <a:prstGeom prst="wedgeRoundRectCallout">
            <a:avLst>
              <a:gd name="adj1" fmla="val -66345"/>
              <a:gd name="adj2" fmla="val 114624"/>
              <a:gd name="adj3" fmla="val 16667"/>
            </a:avLst>
          </a:prstGeom>
          <a:gradFill flip="none" rotWithShape="1">
            <a:gsLst>
              <a:gs pos="0">
                <a:schemeClr val="dk1">
                  <a:tint val="50000"/>
                  <a:satMod val="300000"/>
                  <a:alpha val="31000"/>
                </a:schemeClr>
              </a:gs>
              <a:gs pos="35000">
                <a:schemeClr val="dk1">
                  <a:tint val="37000"/>
                  <a:satMod val="300000"/>
                  <a:alpha val="31000"/>
                </a:schemeClr>
              </a:gs>
              <a:gs pos="100000">
                <a:schemeClr val="dk1">
                  <a:tint val="15000"/>
                  <a:satMod val="350000"/>
                  <a:alpha val="31000"/>
                </a:schemeClr>
              </a:gs>
            </a:gsLst>
            <a:lin ang="16200000" scaled="1"/>
            <a:tileRect/>
          </a:gradFill>
        </p:spPr>
        <p:style>
          <a:lnRef idx="1">
            <a:schemeClr val="dk1"/>
          </a:lnRef>
          <a:fillRef idx="2">
            <a:schemeClr val="dk1"/>
          </a:fillRef>
          <a:effectRef idx="1">
            <a:schemeClr val="dk1"/>
          </a:effectRef>
          <a:fontRef idx="minor">
            <a:schemeClr val="dk1"/>
          </a:fontRef>
        </p:style>
        <p:txBody>
          <a:bodyPr rtlCol="0" anchor="ctr"/>
          <a:lstStyle/>
          <a:p>
            <a:pPr>
              <a:lnSpc>
                <a:spcPct val="130000"/>
              </a:lnSpc>
            </a:pPr>
            <a:r>
              <a:rPr lang="en-GB" sz="2200" noProof="0" dirty="0">
                <a:latin typeface="Helvetica Neue Light"/>
                <a:cs typeface="Helvetica Neue Light"/>
              </a:rPr>
              <a:t>Give the function a name (use variable naming conventions)</a:t>
            </a:r>
          </a:p>
        </p:txBody>
      </p:sp>
      <p:sp>
        <p:nvSpPr>
          <p:cNvPr id="6" name="Rounded Rectangular Callout 5"/>
          <p:cNvSpPr/>
          <p:nvPr/>
        </p:nvSpPr>
        <p:spPr>
          <a:xfrm>
            <a:off x="4973053" y="5168733"/>
            <a:ext cx="3834063" cy="1482725"/>
          </a:xfrm>
          <a:prstGeom prst="wedgeRoundRectCallout">
            <a:avLst>
              <a:gd name="adj1" fmla="val -55674"/>
              <a:gd name="adj2" fmla="val -156626"/>
              <a:gd name="adj3" fmla="val 16667"/>
            </a:avLst>
          </a:prstGeom>
          <a:gradFill flip="none" rotWithShape="1">
            <a:gsLst>
              <a:gs pos="0">
                <a:schemeClr val="dk1">
                  <a:tint val="50000"/>
                  <a:satMod val="300000"/>
                  <a:alpha val="30000"/>
                </a:schemeClr>
              </a:gs>
              <a:gs pos="35000">
                <a:schemeClr val="dk1">
                  <a:tint val="37000"/>
                  <a:satMod val="300000"/>
                  <a:alpha val="30000"/>
                </a:schemeClr>
              </a:gs>
              <a:gs pos="100000">
                <a:schemeClr val="dk1">
                  <a:tint val="15000"/>
                  <a:satMod val="350000"/>
                  <a:alpha val="30000"/>
                </a:schemeClr>
              </a:gs>
            </a:gsLst>
            <a:lin ang="16200000" scaled="1"/>
            <a:tileRect/>
          </a:gradFill>
        </p:spPr>
        <p:style>
          <a:lnRef idx="1">
            <a:schemeClr val="dk1"/>
          </a:lnRef>
          <a:fillRef idx="2">
            <a:schemeClr val="dk1"/>
          </a:fillRef>
          <a:effectRef idx="1">
            <a:schemeClr val="dk1"/>
          </a:effectRef>
          <a:fontRef idx="minor">
            <a:schemeClr val="dk1"/>
          </a:fontRef>
        </p:style>
        <p:txBody>
          <a:bodyPr rtlCol="0" anchor="ctr"/>
          <a:lstStyle/>
          <a:p>
            <a:pPr>
              <a:lnSpc>
                <a:spcPct val="130000"/>
              </a:lnSpc>
            </a:pPr>
            <a:r>
              <a:rPr lang="en-GB" sz="2200" noProof="0" dirty="0">
                <a:latin typeface="Helvetica Neue Light"/>
                <a:cs typeface="Helvetica Neue Light"/>
              </a:rPr>
              <a:t>All functions must have a pair of brackets after the name</a:t>
            </a:r>
          </a:p>
        </p:txBody>
      </p:sp>
      <p:sp>
        <p:nvSpPr>
          <p:cNvPr id="7" name="Rounded Rectangular Callout 6"/>
          <p:cNvSpPr/>
          <p:nvPr/>
        </p:nvSpPr>
        <p:spPr>
          <a:xfrm>
            <a:off x="901032" y="5168733"/>
            <a:ext cx="3834063" cy="1482725"/>
          </a:xfrm>
          <a:prstGeom prst="wedgeRoundRectCallout">
            <a:avLst>
              <a:gd name="adj1" fmla="val -44077"/>
              <a:gd name="adj2" fmla="val -96905"/>
              <a:gd name="adj3" fmla="val 16667"/>
            </a:avLst>
          </a:prstGeom>
          <a:gradFill flip="none" rotWithShape="1">
            <a:gsLst>
              <a:gs pos="0">
                <a:schemeClr val="dk1">
                  <a:tint val="50000"/>
                  <a:satMod val="300000"/>
                  <a:alpha val="30000"/>
                </a:schemeClr>
              </a:gs>
              <a:gs pos="35000">
                <a:schemeClr val="dk1">
                  <a:tint val="37000"/>
                  <a:satMod val="300000"/>
                  <a:alpha val="30000"/>
                </a:schemeClr>
              </a:gs>
              <a:gs pos="100000">
                <a:schemeClr val="dk1">
                  <a:tint val="15000"/>
                  <a:satMod val="350000"/>
                  <a:alpha val="30000"/>
                </a:schemeClr>
              </a:gs>
            </a:gsLst>
            <a:lin ang="16200000" scaled="1"/>
            <a:tileRect/>
          </a:gradFill>
        </p:spPr>
        <p:style>
          <a:lnRef idx="1">
            <a:schemeClr val="dk1"/>
          </a:lnRef>
          <a:fillRef idx="2">
            <a:schemeClr val="dk1"/>
          </a:fillRef>
          <a:effectRef idx="1">
            <a:schemeClr val="dk1"/>
          </a:effectRef>
          <a:fontRef idx="minor">
            <a:schemeClr val="dk1"/>
          </a:fontRef>
        </p:style>
        <p:txBody>
          <a:bodyPr rtlCol="0" anchor="ctr"/>
          <a:lstStyle/>
          <a:p>
            <a:pPr>
              <a:lnSpc>
                <a:spcPct val="130000"/>
              </a:lnSpc>
            </a:pPr>
            <a:r>
              <a:rPr lang="en-GB" sz="2200" noProof="0" dirty="0">
                <a:latin typeface="Helvetica Neue Light"/>
                <a:cs typeface="Helvetica Neue Light"/>
              </a:rPr>
              <a:t>The statements that perform the task sit in the code block in curly braces.</a:t>
            </a:r>
          </a:p>
        </p:txBody>
      </p:sp>
    </p:spTree>
    <p:extLst>
      <p:ext uri="{BB962C8B-B14F-4D97-AF65-F5344CB8AC3E}">
        <p14:creationId xmlns:p14="http://schemas.microsoft.com/office/powerpoint/2010/main" val="3639936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BC9D8E8-C6C3-7B8A-0249-1B03EE587B33}"/>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74842" y="3370264"/>
            <a:ext cx="4703382" cy="1461503"/>
          </a:xfrm>
          <a:prstGeom prst="rect">
            <a:avLst/>
          </a:prstGeom>
        </p:spPr>
      </p:pic>
      <p:sp>
        <p:nvSpPr>
          <p:cNvPr id="2" name="Title 1"/>
          <p:cNvSpPr>
            <a:spLocks noGrp="1"/>
          </p:cNvSpPr>
          <p:nvPr>
            <p:ph type="title"/>
          </p:nvPr>
        </p:nvSpPr>
        <p:spPr/>
        <p:txBody>
          <a:bodyPr/>
          <a:lstStyle/>
          <a:p>
            <a:r>
              <a:rPr lang="en-GB" noProof="0" dirty="0"/>
              <a:t>Calling a simple function</a:t>
            </a:r>
          </a:p>
        </p:txBody>
      </p:sp>
      <p:sp>
        <p:nvSpPr>
          <p:cNvPr id="4" name="Rounded Rectangular Callout 3"/>
          <p:cNvSpPr/>
          <p:nvPr/>
        </p:nvSpPr>
        <p:spPr>
          <a:xfrm>
            <a:off x="457200" y="1417637"/>
            <a:ext cx="7243011" cy="1229310"/>
          </a:xfrm>
          <a:prstGeom prst="wedgeRoundRectCallout">
            <a:avLst>
              <a:gd name="adj1" fmla="val -23441"/>
              <a:gd name="adj2" fmla="val 99178"/>
              <a:gd name="adj3" fmla="val 16667"/>
            </a:avLst>
          </a:prstGeom>
          <a:gradFill flip="none" rotWithShape="1">
            <a:gsLst>
              <a:gs pos="0">
                <a:schemeClr val="dk1">
                  <a:tint val="50000"/>
                  <a:satMod val="300000"/>
                  <a:alpha val="31000"/>
                </a:schemeClr>
              </a:gs>
              <a:gs pos="35000">
                <a:schemeClr val="dk1">
                  <a:tint val="37000"/>
                  <a:satMod val="300000"/>
                  <a:alpha val="31000"/>
                </a:schemeClr>
              </a:gs>
              <a:gs pos="100000">
                <a:schemeClr val="dk1">
                  <a:tint val="15000"/>
                  <a:satMod val="350000"/>
                  <a:alpha val="31000"/>
                </a:schemeClr>
              </a:gs>
            </a:gsLst>
            <a:lin ang="16200000" scaled="1"/>
            <a:tileRect/>
          </a:gradFill>
        </p:spPr>
        <p:style>
          <a:lnRef idx="1">
            <a:schemeClr val="dk1"/>
          </a:lnRef>
          <a:fillRef idx="2">
            <a:schemeClr val="dk1"/>
          </a:fillRef>
          <a:effectRef idx="1">
            <a:schemeClr val="dk1"/>
          </a:effectRef>
          <a:fontRef idx="minor">
            <a:schemeClr val="dk1"/>
          </a:fontRef>
        </p:style>
        <p:txBody>
          <a:bodyPr rtlCol="0" anchor="ctr"/>
          <a:lstStyle/>
          <a:p>
            <a:pPr>
              <a:lnSpc>
                <a:spcPct val="130000"/>
              </a:lnSpc>
            </a:pPr>
            <a:r>
              <a:rPr lang="en-GB" sz="2200" noProof="0" dirty="0">
                <a:latin typeface="Helvetica Neue Light"/>
                <a:cs typeface="Helvetica Neue Light"/>
              </a:rPr>
              <a:t>To run or </a:t>
            </a:r>
            <a:r>
              <a:rPr lang="en-GB" sz="2200" b="1" i="1" noProof="0" dirty="0">
                <a:solidFill>
                  <a:schemeClr val="tx1"/>
                </a:solidFill>
                <a:latin typeface="Helvetica Neue Light"/>
                <a:cs typeface="Helvetica Neue Light"/>
              </a:rPr>
              <a:t>call</a:t>
            </a:r>
            <a:r>
              <a:rPr lang="en-GB" sz="2200" noProof="0" dirty="0">
                <a:latin typeface="Helvetica Neue Light"/>
                <a:cs typeface="Helvetica Neue Light"/>
              </a:rPr>
              <a:t> the function simply use the function name followed by  parentheses (brackets)</a:t>
            </a:r>
          </a:p>
        </p:txBody>
      </p:sp>
      <p:sp>
        <p:nvSpPr>
          <p:cNvPr id="5" name="Rounded Rectangular Callout 4"/>
          <p:cNvSpPr/>
          <p:nvPr/>
        </p:nvSpPr>
        <p:spPr>
          <a:xfrm>
            <a:off x="4064000" y="5228223"/>
            <a:ext cx="4622800" cy="1109578"/>
          </a:xfrm>
          <a:prstGeom prst="wedgeRoundRectCallout">
            <a:avLst>
              <a:gd name="adj1" fmla="val -45375"/>
              <a:gd name="adj2" fmla="val -86333"/>
              <a:gd name="adj3" fmla="val 16667"/>
            </a:avLst>
          </a:prstGeom>
          <a:gradFill flip="none" rotWithShape="1">
            <a:gsLst>
              <a:gs pos="0">
                <a:schemeClr val="dk1">
                  <a:tint val="50000"/>
                  <a:satMod val="300000"/>
                  <a:alpha val="31000"/>
                </a:schemeClr>
              </a:gs>
              <a:gs pos="35000">
                <a:schemeClr val="dk1">
                  <a:tint val="37000"/>
                  <a:satMod val="300000"/>
                  <a:alpha val="31000"/>
                </a:schemeClr>
              </a:gs>
              <a:gs pos="100000">
                <a:schemeClr val="dk1">
                  <a:tint val="15000"/>
                  <a:satMod val="350000"/>
                  <a:alpha val="31000"/>
                </a:schemeClr>
              </a:gs>
            </a:gsLst>
            <a:lin ang="16200000" scaled="1"/>
            <a:tileRect/>
          </a:gradFill>
        </p:spPr>
        <p:style>
          <a:lnRef idx="1">
            <a:schemeClr val="dk1"/>
          </a:lnRef>
          <a:fillRef idx="2">
            <a:schemeClr val="dk1"/>
          </a:fillRef>
          <a:effectRef idx="1">
            <a:schemeClr val="dk1"/>
          </a:effectRef>
          <a:fontRef idx="minor">
            <a:schemeClr val="dk1"/>
          </a:fontRef>
        </p:style>
        <p:txBody>
          <a:bodyPr rtlCol="0" anchor="ctr"/>
          <a:lstStyle/>
          <a:p>
            <a:pPr>
              <a:lnSpc>
                <a:spcPct val="130000"/>
              </a:lnSpc>
            </a:pPr>
            <a:r>
              <a:rPr lang="en-GB" sz="2200" noProof="0" dirty="0">
                <a:latin typeface="Helvetica Neue Light"/>
                <a:cs typeface="Helvetica Neue Light"/>
              </a:rPr>
              <a:t>You can call or reuse the function as many times as you like.</a:t>
            </a:r>
          </a:p>
        </p:txBody>
      </p:sp>
      <p:sp>
        <p:nvSpPr>
          <p:cNvPr id="8" name="TextBox 7"/>
          <p:cNvSpPr txBox="1"/>
          <p:nvPr/>
        </p:nvSpPr>
        <p:spPr>
          <a:xfrm>
            <a:off x="574842" y="6363368"/>
            <a:ext cx="3343959" cy="369332"/>
          </a:xfrm>
          <a:prstGeom prst="rect">
            <a:avLst/>
          </a:prstGeom>
          <a:noFill/>
        </p:spPr>
        <p:txBody>
          <a:bodyPr wrap="none" rtlCol="0">
            <a:spAutoFit/>
          </a:bodyPr>
          <a:lstStyle/>
          <a:p>
            <a:r>
              <a:rPr lang="en-GB" noProof="0" dirty="0"/>
              <a:t>Examples/sayHello_function.html</a:t>
            </a:r>
          </a:p>
        </p:txBody>
      </p:sp>
      <p:pic>
        <p:nvPicPr>
          <p:cNvPr id="7" name="Picture 6">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74842" y="5779993"/>
            <a:ext cx="1115616" cy="557808"/>
          </a:xfrm>
          <a:prstGeom prst="rect">
            <a:avLst/>
          </a:prstGeom>
        </p:spPr>
      </p:pic>
    </p:spTree>
    <p:extLst>
      <p:ext uri="{BB962C8B-B14F-4D97-AF65-F5344CB8AC3E}">
        <p14:creationId xmlns:p14="http://schemas.microsoft.com/office/powerpoint/2010/main" val="4286613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Same function into a &lt;p&gt;</a:t>
            </a:r>
          </a:p>
        </p:txBody>
      </p:sp>
      <p:sp>
        <p:nvSpPr>
          <p:cNvPr id="5" name="TextBox 4"/>
          <p:cNvSpPr txBox="1"/>
          <p:nvPr/>
        </p:nvSpPr>
        <p:spPr>
          <a:xfrm>
            <a:off x="574842" y="6363368"/>
            <a:ext cx="3460954" cy="369332"/>
          </a:xfrm>
          <a:prstGeom prst="rect">
            <a:avLst/>
          </a:prstGeom>
          <a:noFill/>
        </p:spPr>
        <p:txBody>
          <a:bodyPr wrap="none" rtlCol="0">
            <a:spAutoFit/>
          </a:bodyPr>
          <a:lstStyle/>
          <a:p>
            <a:r>
              <a:rPr lang="en-GB" noProof="0" dirty="0"/>
              <a:t>Examples/sayHello_function2.html</a:t>
            </a:r>
          </a:p>
        </p:txBody>
      </p:sp>
      <p:pic>
        <p:nvPicPr>
          <p:cNvPr id="6" name="Picture 5">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232288" y="6189579"/>
            <a:ext cx="1115616" cy="557808"/>
          </a:xfrm>
          <a:prstGeom prst="rect">
            <a:avLst/>
          </a:prstGeom>
        </p:spPr>
      </p:pic>
      <p:pic>
        <p:nvPicPr>
          <p:cNvPr id="8" name="Picture 7">
            <a:extLst>
              <a:ext uri="{FF2B5EF4-FFF2-40B4-BE49-F238E27FC236}">
                <a16:creationId xmlns:a16="http://schemas.microsoft.com/office/drawing/2014/main" id="{374175D6-EF49-6D2D-9814-41953D760BA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57200" y="2425157"/>
            <a:ext cx="8463280" cy="3454400"/>
          </a:xfrm>
          <a:prstGeom prst="rect">
            <a:avLst/>
          </a:prstGeom>
        </p:spPr>
      </p:pic>
      <p:sp>
        <p:nvSpPr>
          <p:cNvPr id="9" name="Rounded Rectangular Callout 8">
            <a:extLst>
              <a:ext uri="{FF2B5EF4-FFF2-40B4-BE49-F238E27FC236}">
                <a16:creationId xmlns:a16="http://schemas.microsoft.com/office/drawing/2014/main" id="{CEA5E39A-6073-6AB0-0036-3A941D7D6FB5}"/>
              </a:ext>
            </a:extLst>
          </p:cNvPr>
          <p:cNvSpPr/>
          <p:nvPr/>
        </p:nvSpPr>
        <p:spPr>
          <a:xfrm>
            <a:off x="5157787" y="1417638"/>
            <a:ext cx="3176905" cy="848225"/>
          </a:xfrm>
          <a:prstGeom prst="wedgeRoundRectCallout">
            <a:avLst>
              <a:gd name="adj1" fmla="val 4274"/>
              <a:gd name="adj2" fmla="val 197653"/>
              <a:gd name="adj3" fmla="val 16667"/>
            </a:avLst>
          </a:prstGeom>
          <a:gradFill flip="none" rotWithShape="1">
            <a:gsLst>
              <a:gs pos="0">
                <a:schemeClr val="dk1">
                  <a:tint val="50000"/>
                  <a:satMod val="300000"/>
                  <a:alpha val="31000"/>
                </a:schemeClr>
              </a:gs>
              <a:gs pos="35000">
                <a:schemeClr val="dk1">
                  <a:tint val="37000"/>
                  <a:satMod val="300000"/>
                  <a:alpha val="31000"/>
                </a:schemeClr>
              </a:gs>
              <a:gs pos="100000">
                <a:schemeClr val="dk1">
                  <a:tint val="15000"/>
                  <a:satMod val="350000"/>
                  <a:alpha val="31000"/>
                </a:schemeClr>
              </a:gs>
            </a:gsLst>
            <a:lin ang="16200000" scaled="1"/>
            <a:tileRect/>
          </a:gradFill>
        </p:spPr>
        <p:style>
          <a:lnRef idx="1">
            <a:schemeClr val="dk1"/>
          </a:lnRef>
          <a:fillRef idx="2">
            <a:schemeClr val="dk1"/>
          </a:fillRef>
          <a:effectRef idx="1">
            <a:schemeClr val="dk1"/>
          </a:effectRef>
          <a:fontRef idx="minor">
            <a:schemeClr val="dk1"/>
          </a:fontRef>
        </p:style>
        <p:txBody>
          <a:bodyPr rtlCol="0" anchor="ctr"/>
          <a:lstStyle/>
          <a:p>
            <a:pPr algn="ctr">
              <a:lnSpc>
                <a:spcPct val="130000"/>
              </a:lnSpc>
            </a:pPr>
            <a:r>
              <a:rPr lang="en-GB" sz="2800" noProof="0" dirty="0">
                <a:latin typeface="Helvetica Neue Light"/>
                <a:cs typeface="Helvetica Neue Light"/>
              </a:rPr>
              <a:t>Notice the +=</a:t>
            </a:r>
          </a:p>
        </p:txBody>
      </p:sp>
    </p:spTree>
    <p:extLst>
      <p:ext uri="{BB962C8B-B14F-4D97-AF65-F5344CB8AC3E}">
        <p14:creationId xmlns:p14="http://schemas.microsoft.com/office/powerpoint/2010/main" val="4098734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85411"/>
            <a:ext cx="9253658" cy="721453"/>
          </a:xfrm>
          <a:prstGeom prst="rect">
            <a:avLst/>
          </a:prstGeom>
        </p:spPr>
        <p:txBody>
          <a:bodyPr vert="horz" wrap="square" lIns="0" tIns="43916" rIns="0" bIns="0" rtlCol="0">
            <a:spAutoFit/>
          </a:bodyPr>
          <a:lstStyle/>
          <a:p>
            <a:pPr marL="1287780">
              <a:lnSpc>
                <a:spcPct val="100000"/>
              </a:lnSpc>
            </a:pPr>
            <a:r>
              <a:rPr lang="en-GB" sz="4400" spc="90" noProof="0" dirty="0">
                <a:solidFill>
                  <a:schemeClr val="bg1">
                    <a:lumMod val="50000"/>
                  </a:schemeClr>
                </a:solidFill>
              </a:rPr>
              <a:t>Simple </a:t>
            </a:r>
            <a:r>
              <a:rPr lang="en-GB" sz="4400" spc="85" noProof="0" dirty="0">
                <a:solidFill>
                  <a:schemeClr val="bg1">
                    <a:lumMod val="50000"/>
                  </a:schemeClr>
                </a:solidFill>
              </a:rPr>
              <a:t>Function</a:t>
            </a:r>
            <a:r>
              <a:rPr lang="en-GB" sz="4400" spc="-280" noProof="0" dirty="0">
                <a:solidFill>
                  <a:schemeClr val="bg1">
                    <a:lumMod val="50000"/>
                  </a:schemeClr>
                </a:solidFill>
              </a:rPr>
              <a:t> </a:t>
            </a:r>
            <a:r>
              <a:rPr lang="en-GB" sz="4400" spc="70" noProof="0" dirty="0">
                <a:solidFill>
                  <a:schemeClr val="bg1">
                    <a:lumMod val="50000"/>
                  </a:schemeClr>
                </a:solidFill>
              </a:rPr>
              <a:t>Types</a:t>
            </a:r>
            <a:endParaRPr lang="en-GB" sz="4400" noProof="0" dirty="0">
              <a:solidFill>
                <a:schemeClr val="bg1">
                  <a:lumMod val="50000"/>
                </a:schemeClr>
              </a:solidFill>
            </a:endParaRPr>
          </a:p>
        </p:txBody>
      </p:sp>
      <p:sp>
        <p:nvSpPr>
          <p:cNvPr id="3" name="object 3">
            <a:extLst>
              <a:ext uri="{C183D7F6-B498-43B3-948B-1728B52AA6E4}">
                <adec:decorative xmlns:adec="http://schemas.microsoft.com/office/drawing/2017/decorative" val="1"/>
              </a:ext>
            </a:extLst>
          </p:cNvPr>
          <p:cNvSpPr/>
          <p:nvPr/>
        </p:nvSpPr>
        <p:spPr>
          <a:xfrm>
            <a:off x="407323" y="2963481"/>
            <a:ext cx="2509697" cy="1396542"/>
          </a:xfrm>
          <a:prstGeom prst="rect">
            <a:avLst/>
          </a:prstGeom>
          <a:blipFill>
            <a:blip r:embed="rId2" cstate="print"/>
            <a:stretch>
              <a:fillRect/>
            </a:stretch>
          </a:blip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4" name="object 4">
            <a:extLst>
              <a:ext uri="{C183D7F6-B498-43B3-948B-1728B52AA6E4}">
                <adec:decorative xmlns:adec="http://schemas.microsoft.com/office/drawing/2017/decorative" val="1"/>
              </a:ext>
            </a:extLst>
          </p:cNvPr>
          <p:cNvSpPr/>
          <p:nvPr/>
        </p:nvSpPr>
        <p:spPr>
          <a:xfrm>
            <a:off x="457200" y="2995129"/>
            <a:ext cx="2399096" cy="1295412"/>
          </a:xfrm>
          <a:prstGeom prst="rect">
            <a:avLst/>
          </a:prstGeom>
          <a:solidFill>
            <a:schemeClr val="tx2">
              <a:lumMod val="60000"/>
              <a:lumOff val="40000"/>
            </a:schemeClr>
          </a:solid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5" name="object 5"/>
          <p:cNvSpPr txBox="1"/>
          <p:nvPr/>
        </p:nvSpPr>
        <p:spPr>
          <a:xfrm>
            <a:off x="457200" y="2995129"/>
            <a:ext cx="2399096" cy="925894"/>
          </a:xfrm>
          <a:prstGeom prst="rect">
            <a:avLst/>
          </a:prstGeom>
          <a:ln w="9524">
            <a:noFill/>
          </a:ln>
        </p:spPr>
        <p:txBody>
          <a:bodyPr vert="horz" wrap="square" lIns="0" tIns="368300" rIns="0" bIns="0" rtlCol="0">
            <a:spAutoFit/>
          </a:bodyPr>
          <a:lstStyle/>
          <a:p>
            <a:pPr marL="251460">
              <a:lnSpc>
                <a:spcPct val="100000"/>
              </a:lnSpc>
              <a:spcBef>
                <a:spcPts val="2900"/>
              </a:spcBef>
            </a:pPr>
            <a:r>
              <a:rPr lang="en-GB" sz="3600" spc="55" noProof="0" dirty="0">
                <a:solidFill>
                  <a:schemeClr val="bg1"/>
                </a:solidFill>
                <a:latin typeface="Helvetica Neue Light"/>
                <a:cs typeface="Helvetica Neue Light"/>
              </a:rPr>
              <a:t>function</a:t>
            </a:r>
            <a:endParaRPr lang="en-GB" sz="3600" noProof="0" dirty="0">
              <a:solidFill>
                <a:schemeClr val="bg1"/>
              </a:solidFill>
              <a:latin typeface="Helvetica Neue Light"/>
              <a:cs typeface="Helvetica Neue Light"/>
            </a:endParaRPr>
          </a:p>
        </p:txBody>
      </p:sp>
      <p:sp>
        <p:nvSpPr>
          <p:cNvPr id="7" name="object 7">
            <a:extLst>
              <a:ext uri="{C183D7F6-B498-43B3-948B-1728B52AA6E4}">
                <adec:decorative xmlns:adec="http://schemas.microsoft.com/office/drawing/2017/decorative" val="1"/>
              </a:ext>
            </a:extLst>
          </p:cNvPr>
          <p:cNvSpPr/>
          <p:nvPr/>
        </p:nvSpPr>
        <p:spPr>
          <a:xfrm>
            <a:off x="1431924" y="2853778"/>
            <a:ext cx="142803" cy="127000"/>
          </a:xfrm>
          <a:custGeom>
            <a:avLst/>
            <a:gdLst/>
            <a:ahLst/>
            <a:cxnLst/>
            <a:rect l="l" t="t" r="r" b="b"/>
            <a:pathLst>
              <a:path w="127000" h="127000">
                <a:moveTo>
                  <a:pt x="127000" y="0"/>
                </a:moveTo>
                <a:lnTo>
                  <a:pt x="0" y="0"/>
                </a:lnTo>
                <a:lnTo>
                  <a:pt x="63500" y="127000"/>
                </a:lnTo>
                <a:lnTo>
                  <a:pt x="127000" y="0"/>
                </a:lnTo>
                <a:close/>
              </a:path>
            </a:pathLst>
          </a:custGeom>
          <a:solidFill>
            <a:srgbClr val="FFFFFF"/>
          </a:solid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8" name="object 8"/>
          <p:cNvSpPr txBox="1"/>
          <p:nvPr/>
        </p:nvSpPr>
        <p:spPr>
          <a:xfrm>
            <a:off x="535940" y="1729320"/>
            <a:ext cx="2211310" cy="369332"/>
          </a:xfrm>
          <a:prstGeom prst="rect">
            <a:avLst/>
          </a:prstGeom>
        </p:spPr>
        <p:txBody>
          <a:bodyPr vert="horz" wrap="square" lIns="0" tIns="0" rIns="0" bIns="0" rtlCol="0">
            <a:spAutoFit/>
          </a:bodyPr>
          <a:lstStyle/>
          <a:p>
            <a:pPr marL="12700">
              <a:lnSpc>
                <a:spcPct val="100000"/>
              </a:lnSpc>
            </a:pPr>
            <a:r>
              <a:rPr lang="en-GB" sz="2400" spc="40" noProof="0" dirty="0">
                <a:solidFill>
                  <a:schemeClr val="bg1">
                    <a:lumMod val="50000"/>
                  </a:schemeClr>
                </a:solidFill>
                <a:latin typeface="Helvetica Neue Light"/>
                <a:cs typeface="Helvetica Neue Light"/>
              </a:rPr>
              <a:t>Function</a:t>
            </a:r>
            <a:r>
              <a:rPr lang="en-GB" sz="2400" spc="-110" noProof="0" dirty="0">
                <a:solidFill>
                  <a:schemeClr val="bg1">
                    <a:lumMod val="50000"/>
                  </a:schemeClr>
                </a:solidFill>
                <a:latin typeface="Helvetica Neue Light"/>
                <a:cs typeface="Helvetica Neue Light"/>
              </a:rPr>
              <a:t> </a:t>
            </a:r>
            <a:r>
              <a:rPr lang="en-GB" sz="2400" spc="30" noProof="0" dirty="0">
                <a:solidFill>
                  <a:schemeClr val="bg1">
                    <a:lumMod val="50000"/>
                  </a:schemeClr>
                </a:solidFill>
                <a:latin typeface="Helvetica Neue Light"/>
                <a:cs typeface="Helvetica Neue Light"/>
              </a:rPr>
              <a:t>called</a:t>
            </a:r>
            <a:endParaRPr lang="en-GB" sz="2400" noProof="0" dirty="0">
              <a:solidFill>
                <a:schemeClr val="bg1">
                  <a:lumMod val="50000"/>
                </a:schemeClr>
              </a:solidFill>
              <a:latin typeface="Helvetica Neue Light"/>
              <a:cs typeface="Helvetica Neue Light"/>
            </a:endParaRPr>
          </a:p>
        </p:txBody>
      </p:sp>
      <p:sp>
        <p:nvSpPr>
          <p:cNvPr id="9" name="object 9">
            <a:extLst>
              <a:ext uri="{C183D7F6-B498-43B3-948B-1728B52AA6E4}">
                <adec:decorative xmlns:adec="http://schemas.microsoft.com/office/drawing/2017/decorative" val="1"/>
              </a:ext>
            </a:extLst>
          </p:cNvPr>
          <p:cNvSpPr/>
          <p:nvPr/>
        </p:nvSpPr>
        <p:spPr>
          <a:xfrm>
            <a:off x="4495799" y="2260853"/>
            <a:ext cx="45719" cy="694690"/>
          </a:xfrm>
          <a:custGeom>
            <a:avLst/>
            <a:gdLst/>
            <a:ahLst/>
            <a:cxnLst/>
            <a:rect l="l" t="t" r="r" b="b"/>
            <a:pathLst>
              <a:path h="694689">
                <a:moveTo>
                  <a:pt x="0" y="0"/>
                </a:moveTo>
                <a:lnTo>
                  <a:pt x="0" y="694530"/>
                </a:lnTo>
              </a:path>
            </a:pathLst>
          </a:custGeom>
          <a:ln w="9524">
            <a:solidFill>
              <a:srgbClr val="FFFFFF"/>
            </a:solidFill>
          </a:ln>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0" name="object 10">
            <a:extLst>
              <a:ext uri="{C183D7F6-B498-43B3-948B-1728B52AA6E4}">
                <adec:decorative xmlns:adec="http://schemas.microsoft.com/office/drawing/2017/decorative" val="1"/>
              </a:ext>
            </a:extLst>
          </p:cNvPr>
          <p:cNvSpPr/>
          <p:nvPr/>
        </p:nvSpPr>
        <p:spPr>
          <a:xfrm>
            <a:off x="4432299" y="2853778"/>
            <a:ext cx="142803" cy="127000"/>
          </a:xfrm>
          <a:custGeom>
            <a:avLst/>
            <a:gdLst/>
            <a:ahLst/>
            <a:cxnLst/>
            <a:rect l="l" t="t" r="r" b="b"/>
            <a:pathLst>
              <a:path w="127000" h="127000">
                <a:moveTo>
                  <a:pt x="127000" y="0"/>
                </a:moveTo>
                <a:lnTo>
                  <a:pt x="0" y="0"/>
                </a:lnTo>
                <a:lnTo>
                  <a:pt x="63500" y="127000"/>
                </a:lnTo>
                <a:lnTo>
                  <a:pt x="127000" y="0"/>
                </a:lnTo>
                <a:close/>
              </a:path>
            </a:pathLst>
          </a:custGeom>
          <a:solidFill>
            <a:srgbClr val="FFFFFF"/>
          </a:solid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1" name="object 11"/>
          <p:cNvSpPr txBox="1"/>
          <p:nvPr/>
        </p:nvSpPr>
        <p:spPr>
          <a:xfrm>
            <a:off x="3484803" y="1521040"/>
            <a:ext cx="2314128" cy="719855"/>
          </a:xfrm>
          <a:prstGeom prst="rect">
            <a:avLst/>
          </a:prstGeom>
        </p:spPr>
        <p:txBody>
          <a:bodyPr vert="horz" wrap="square" lIns="0" tIns="0" rIns="0" bIns="0" rtlCol="0">
            <a:spAutoFit/>
          </a:bodyPr>
          <a:lstStyle/>
          <a:p>
            <a:pPr marL="12700" marR="5080" indent="38100">
              <a:lnSpc>
                <a:spcPts val="2800"/>
              </a:lnSpc>
            </a:pPr>
            <a:r>
              <a:rPr lang="en-GB" sz="2400" spc="40" noProof="0" dirty="0">
                <a:solidFill>
                  <a:schemeClr val="bg1">
                    <a:lumMod val="50000"/>
                  </a:schemeClr>
                </a:solidFill>
                <a:latin typeface="Helvetica Neue Light"/>
                <a:cs typeface="Helvetica Neue Light"/>
              </a:rPr>
              <a:t>Function </a:t>
            </a:r>
            <a:r>
              <a:rPr lang="en-GB" sz="2400" spc="30" noProof="0" dirty="0">
                <a:solidFill>
                  <a:schemeClr val="bg1">
                    <a:lumMod val="50000"/>
                  </a:schemeClr>
                </a:solidFill>
                <a:latin typeface="Helvetica Neue Light"/>
                <a:cs typeface="Helvetica Neue Light"/>
              </a:rPr>
              <a:t>called  </a:t>
            </a:r>
            <a:r>
              <a:rPr lang="en-GB" sz="2400" spc="-5" noProof="0" dirty="0">
                <a:solidFill>
                  <a:schemeClr val="bg1">
                    <a:lumMod val="50000"/>
                  </a:schemeClr>
                </a:solidFill>
                <a:latin typeface="Helvetica Neue Light"/>
                <a:cs typeface="Helvetica Neue Light"/>
              </a:rPr>
              <a:t>Parameters</a:t>
            </a:r>
            <a:r>
              <a:rPr lang="en-GB" sz="2400" spc="-120" noProof="0" dirty="0">
                <a:solidFill>
                  <a:schemeClr val="bg1">
                    <a:lumMod val="50000"/>
                  </a:schemeClr>
                </a:solidFill>
                <a:latin typeface="Helvetica Neue Light"/>
                <a:cs typeface="Helvetica Neue Light"/>
              </a:rPr>
              <a:t> </a:t>
            </a:r>
            <a:r>
              <a:rPr lang="en-GB" sz="2400" spc="15" noProof="0" dirty="0">
                <a:solidFill>
                  <a:schemeClr val="bg1">
                    <a:lumMod val="50000"/>
                  </a:schemeClr>
                </a:solidFill>
                <a:latin typeface="Helvetica Neue Light"/>
                <a:cs typeface="Helvetica Neue Light"/>
              </a:rPr>
              <a:t>sent</a:t>
            </a:r>
            <a:endParaRPr lang="en-GB" sz="2400" noProof="0" dirty="0">
              <a:solidFill>
                <a:schemeClr val="bg1">
                  <a:lumMod val="50000"/>
                </a:schemeClr>
              </a:solidFill>
              <a:latin typeface="Helvetica Neue Light"/>
              <a:cs typeface="Helvetica Neue Light"/>
            </a:endParaRPr>
          </a:p>
        </p:txBody>
      </p:sp>
      <p:sp>
        <p:nvSpPr>
          <p:cNvPr id="12" name="object 12">
            <a:extLst>
              <a:ext uri="{C183D7F6-B498-43B3-948B-1728B52AA6E4}">
                <adec:decorative xmlns:adec="http://schemas.microsoft.com/office/drawing/2017/decorative" val="1"/>
              </a:ext>
            </a:extLst>
          </p:cNvPr>
          <p:cNvSpPr/>
          <p:nvPr/>
        </p:nvSpPr>
        <p:spPr>
          <a:xfrm>
            <a:off x="3379127" y="2963481"/>
            <a:ext cx="2509697" cy="1396542"/>
          </a:xfrm>
          <a:prstGeom prst="rect">
            <a:avLst/>
          </a:prstGeom>
          <a:blipFill>
            <a:blip r:embed="rId2" cstate="print"/>
            <a:stretch>
              <a:fillRect/>
            </a:stretch>
          </a:blipFill>
          <a:ln>
            <a:noFill/>
          </a:ln>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3" name="object 13">
            <a:extLst>
              <a:ext uri="{C183D7F6-B498-43B3-948B-1728B52AA6E4}">
                <adec:decorative xmlns:adec="http://schemas.microsoft.com/office/drawing/2017/decorative" val="1"/>
              </a:ext>
            </a:extLst>
          </p:cNvPr>
          <p:cNvSpPr/>
          <p:nvPr/>
        </p:nvSpPr>
        <p:spPr>
          <a:xfrm>
            <a:off x="3429000" y="2995129"/>
            <a:ext cx="2399096" cy="1295412"/>
          </a:xfrm>
          <a:prstGeom prst="rect">
            <a:avLst/>
          </a:prstGeom>
          <a:blipFill>
            <a:blip r:embed="rId3" cstate="print"/>
            <a:stretch>
              <a:fillRect/>
            </a:stretch>
          </a:blip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4" name="object 14"/>
          <p:cNvSpPr txBox="1"/>
          <p:nvPr/>
        </p:nvSpPr>
        <p:spPr>
          <a:xfrm>
            <a:off x="3429000" y="2995129"/>
            <a:ext cx="2399096" cy="925894"/>
          </a:xfrm>
          <a:prstGeom prst="rect">
            <a:avLst/>
          </a:prstGeom>
          <a:ln w="9524">
            <a:noFill/>
          </a:ln>
        </p:spPr>
        <p:txBody>
          <a:bodyPr vert="horz" wrap="square" lIns="0" tIns="368300" rIns="0" bIns="0" rtlCol="0">
            <a:spAutoFit/>
          </a:bodyPr>
          <a:lstStyle/>
          <a:p>
            <a:pPr marL="251460">
              <a:lnSpc>
                <a:spcPct val="100000"/>
              </a:lnSpc>
              <a:spcBef>
                <a:spcPts val="2900"/>
              </a:spcBef>
            </a:pPr>
            <a:r>
              <a:rPr lang="en-GB" sz="3600" spc="55" noProof="0" dirty="0">
                <a:solidFill>
                  <a:schemeClr val="bg1">
                    <a:lumMod val="50000"/>
                  </a:schemeClr>
                </a:solidFill>
                <a:latin typeface="Helvetica Neue Light"/>
                <a:cs typeface="Helvetica Neue Light"/>
              </a:rPr>
              <a:t>function</a:t>
            </a:r>
          </a:p>
        </p:txBody>
      </p:sp>
      <p:sp>
        <p:nvSpPr>
          <p:cNvPr id="15" name="object 15">
            <a:extLst>
              <a:ext uri="{C183D7F6-B498-43B3-948B-1728B52AA6E4}">
                <adec:decorative xmlns:adec="http://schemas.microsoft.com/office/drawing/2017/decorative" val="1"/>
              </a:ext>
            </a:extLst>
          </p:cNvPr>
          <p:cNvSpPr/>
          <p:nvPr/>
        </p:nvSpPr>
        <p:spPr>
          <a:xfrm>
            <a:off x="7391399" y="2308948"/>
            <a:ext cx="45719" cy="694690"/>
          </a:xfrm>
          <a:custGeom>
            <a:avLst/>
            <a:gdLst/>
            <a:ahLst/>
            <a:cxnLst/>
            <a:rect l="l" t="t" r="r" b="b"/>
            <a:pathLst>
              <a:path h="694689">
                <a:moveTo>
                  <a:pt x="0" y="0"/>
                </a:moveTo>
                <a:lnTo>
                  <a:pt x="0" y="694530"/>
                </a:lnTo>
              </a:path>
            </a:pathLst>
          </a:custGeom>
          <a:ln w="9524">
            <a:solidFill>
              <a:srgbClr val="FFFFFF"/>
            </a:solidFill>
          </a:ln>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6" name="object 16">
            <a:extLst>
              <a:ext uri="{C183D7F6-B498-43B3-948B-1728B52AA6E4}">
                <adec:decorative xmlns:adec="http://schemas.microsoft.com/office/drawing/2017/decorative" val="1"/>
              </a:ext>
            </a:extLst>
          </p:cNvPr>
          <p:cNvSpPr/>
          <p:nvPr/>
        </p:nvSpPr>
        <p:spPr>
          <a:xfrm>
            <a:off x="7327899" y="2901886"/>
            <a:ext cx="142803" cy="127000"/>
          </a:xfrm>
          <a:custGeom>
            <a:avLst/>
            <a:gdLst/>
            <a:ahLst/>
            <a:cxnLst/>
            <a:rect l="l" t="t" r="r" b="b"/>
            <a:pathLst>
              <a:path w="127000" h="127000">
                <a:moveTo>
                  <a:pt x="127000" y="0"/>
                </a:moveTo>
                <a:lnTo>
                  <a:pt x="0" y="0"/>
                </a:lnTo>
                <a:lnTo>
                  <a:pt x="63500" y="127000"/>
                </a:lnTo>
                <a:lnTo>
                  <a:pt x="127000" y="0"/>
                </a:lnTo>
                <a:close/>
              </a:path>
            </a:pathLst>
          </a:custGeom>
          <a:solidFill>
            <a:srgbClr val="FFFFFF"/>
          </a:solid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7" name="object 17">
            <a:extLst>
              <a:ext uri="{C183D7F6-B498-43B3-948B-1728B52AA6E4}">
                <adec:decorative xmlns:adec="http://schemas.microsoft.com/office/drawing/2017/decorative" val="1"/>
              </a:ext>
            </a:extLst>
          </p:cNvPr>
          <p:cNvSpPr/>
          <p:nvPr/>
        </p:nvSpPr>
        <p:spPr>
          <a:xfrm>
            <a:off x="7391399" y="4343400"/>
            <a:ext cx="45719" cy="694690"/>
          </a:xfrm>
          <a:custGeom>
            <a:avLst/>
            <a:gdLst/>
            <a:ahLst/>
            <a:cxnLst/>
            <a:rect l="l" t="t" r="r" b="b"/>
            <a:pathLst>
              <a:path h="694689">
                <a:moveTo>
                  <a:pt x="0" y="0"/>
                </a:moveTo>
                <a:lnTo>
                  <a:pt x="0" y="694530"/>
                </a:lnTo>
              </a:path>
            </a:pathLst>
          </a:custGeom>
          <a:ln w="9524">
            <a:solidFill>
              <a:srgbClr val="FFFFFF"/>
            </a:solidFill>
          </a:ln>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8" name="object 18">
            <a:extLst>
              <a:ext uri="{C183D7F6-B498-43B3-948B-1728B52AA6E4}">
                <adec:decorative xmlns:adec="http://schemas.microsoft.com/office/drawing/2017/decorative" val="1"/>
              </a:ext>
            </a:extLst>
          </p:cNvPr>
          <p:cNvSpPr/>
          <p:nvPr/>
        </p:nvSpPr>
        <p:spPr>
          <a:xfrm>
            <a:off x="7327899" y="4936325"/>
            <a:ext cx="142803" cy="127000"/>
          </a:xfrm>
          <a:custGeom>
            <a:avLst/>
            <a:gdLst/>
            <a:ahLst/>
            <a:cxnLst/>
            <a:rect l="l" t="t" r="r" b="b"/>
            <a:pathLst>
              <a:path w="127000" h="127000">
                <a:moveTo>
                  <a:pt x="127000" y="0"/>
                </a:moveTo>
                <a:lnTo>
                  <a:pt x="0" y="0"/>
                </a:lnTo>
                <a:lnTo>
                  <a:pt x="63500" y="127012"/>
                </a:lnTo>
                <a:lnTo>
                  <a:pt x="127000" y="0"/>
                </a:lnTo>
                <a:close/>
              </a:path>
            </a:pathLst>
          </a:custGeom>
          <a:solidFill>
            <a:srgbClr val="FFFFFF"/>
          </a:solid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9" name="object 19"/>
          <p:cNvSpPr txBox="1"/>
          <p:nvPr/>
        </p:nvSpPr>
        <p:spPr>
          <a:xfrm>
            <a:off x="6381115" y="1521040"/>
            <a:ext cx="2314128" cy="719855"/>
          </a:xfrm>
          <a:prstGeom prst="rect">
            <a:avLst/>
          </a:prstGeom>
        </p:spPr>
        <p:txBody>
          <a:bodyPr vert="horz" wrap="square" lIns="0" tIns="0" rIns="0" bIns="0" rtlCol="0">
            <a:spAutoFit/>
          </a:bodyPr>
          <a:lstStyle/>
          <a:p>
            <a:pPr marL="12700" marR="5080" indent="38100">
              <a:lnSpc>
                <a:spcPts val="2800"/>
              </a:lnSpc>
            </a:pPr>
            <a:r>
              <a:rPr lang="en-GB" sz="2400" spc="40" noProof="0" dirty="0">
                <a:solidFill>
                  <a:schemeClr val="bg1">
                    <a:lumMod val="50000"/>
                  </a:schemeClr>
                </a:solidFill>
                <a:latin typeface="Helvetica Neue Light"/>
                <a:cs typeface="Helvetica Neue Light"/>
              </a:rPr>
              <a:t>Function </a:t>
            </a:r>
            <a:r>
              <a:rPr lang="en-GB" sz="2400" spc="30" noProof="0" dirty="0">
                <a:solidFill>
                  <a:schemeClr val="bg1">
                    <a:lumMod val="50000"/>
                  </a:schemeClr>
                </a:solidFill>
                <a:latin typeface="Helvetica Neue Light"/>
                <a:cs typeface="Helvetica Neue Light"/>
              </a:rPr>
              <a:t>called  </a:t>
            </a:r>
            <a:r>
              <a:rPr lang="en-GB" sz="2400" spc="-5" noProof="0" dirty="0">
                <a:solidFill>
                  <a:schemeClr val="bg1">
                    <a:lumMod val="50000"/>
                  </a:schemeClr>
                </a:solidFill>
                <a:latin typeface="Helvetica Neue Light"/>
                <a:cs typeface="Helvetica Neue Light"/>
              </a:rPr>
              <a:t>Parameters</a:t>
            </a:r>
            <a:r>
              <a:rPr lang="en-GB" sz="2400" spc="-120" noProof="0" dirty="0">
                <a:solidFill>
                  <a:schemeClr val="bg1">
                    <a:lumMod val="50000"/>
                  </a:schemeClr>
                </a:solidFill>
                <a:latin typeface="Helvetica Neue Light"/>
                <a:cs typeface="Helvetica Neue Light"/>
              </a:rPr>
              <a:t> </a:t>
            </a:r>
            <a:r>
              <a:rPr lang="en-GB" sz="2400" spc="15" noProof="0" dirty="0">
                <a:solidFill>
                  <a:schemeClr val="bg1">
                    <a:lumMod val="50000"/>
                  </a:schemeClr>
                </a:solidFill>
                <a:latin typeface="Helvetica Neue Light"/>
                <a:cs typeface="Helvetica Neue Light"/>
              </a:rPr>
              <a:t>sent</a:t>
            </a:r>
            <a:endParaRPr lang="en-GB" sz="2400" noProof="0" dirty="0">
              <a:solidFill>
                <a:schemeClr val="bg1">
                  <a:lumMod val="50000"/>
                </a:schemeClr>
              </a:solidFill>
              <a:latin typeface="Helvetica Neue Light"/>
              <a:cs typeface="Helvetica Neue Light"/>
            </a:endParaRPr>
          </a:p>
        </p:txBody>
      </p:sp>
      <p:sp>
        <p:nvSpPr>
          <p:cNvPr id="20" name="object 20">
            <a:extLst>
              <a:ext uri="{C183D7F6-B498-43B3-948B-1728B52AA6E4}">
                <adec:decorative xmlns:adec="http://schemas.microsoft.com/office/drawing/2017/decorative" val="1"/>
              </a:ext>
            </a:extLst>
          </p:cNvPr>
          <p:cNvSpPr/>
          <p:nvPr/>
        </p:nvSpPr>
        <p:spPr>
          <a:xfrm>
            <a:off x="6276111" y="3013354"/>
            <a:ext cx="2509697" cy="1396542"/>
          </a:xfrm>
          <a:prstGeom prst="rect">
            <a:avLst/>
          </a:prstGeom>
          <a:blipFill>
            <a:blip r:embed="rId4" cstate="print"/>
            <a:stretch>
              <a:fillRect/>
            </a:stretch>
          </a:blip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21" name="object 21">
            <a:extLst>
              <a:ext uri="{C183D7F6-B498-43B3-948B-1728B52AA6E4}">
                <adec:decorative xmlns:adec="http://schemas.microsoft.com/office/drawing/2017/decorative" val="1"/>
              </a:ext>
            </a:extLst>
          </p:cNvPr>
          <p:cNvSpPr/>
          <p:nvPr/>
        </p:nvSpPr>
        <p:spPr>
          <a:xfrm>
            <a:off x="6324600" y="3043237"/>
            <a:ext cx="2399096" cy="1295400"/>
          </a:xfrm>
          <a:prstGeom prst="rect">
            <a:avLst/>
          </a:prstGeom>
          <a:blipFill>
            <a:blip r:embed="rId3" cstate="print"/>
            <a:stretch>
              <a:fillRect/>
            </a:stretch>
          </a:blip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22" name="object 22">
            <a:extLst>
              <a:ext uri="{C183D7F6-B498-43B3-948B-1728B52AA6E4}">
                <adec:decorative xmlns:adec="http://schemas.microsoft.com/office/drawing/2017/decorative" val="1"/>
              </a:ext>
            </a:extLst>
          </p:cNvPr>
          <p:cNvSpPr/>
          <p:nvPr/>
        </p:nvSpPr>
        <p:spPr>
          <a:xfrm>
            <a:off x="6324600" y="3043237"/>
            <a:ext cx="2399096" cy="1295400"/>
          </a:xfrm>
          <a:custGeom>
            <a:avLst/>
            <a:gdLst/>
            <a:ahLst/>
            <a:cxnLst/>
            <a:rect l="l" t="t" r="r" b="b"/>
            <a:pathLst>
              <a:path w="2133600" h="1295400">
                <a:moveTo>
                  <a:pt x="0" y="0"/>
                </a:moveTo>
                <a:lnTo>
                  <a:pt x="2133598" y="0"/>
                </a:lnTo>
                <a:lnTo>
                  <a:pt x="2133598" y="1295398"/>
                </a:lnTo>
                <a:lnTo>
                  <a:pt x="0" y="1295398"/>
                </a:lnTo>
                <a:lnTo>
                  <a:pt x="0" y="0"/>
                </a:lnTo>
                <a:close/>
              </a:path>
            </a:pathLst>
          </a:custGeom>
          <a:ln w="9524">
            <a:noFill/>
          </a:ln>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23" name="object 23"/>
          <p:cNvSpPr txBox="1"/>
          <p:nvPr/>
        </p:nvSpPr>
        <p:spPr>
          <a:xfrm>
            <a:off x="6568440" y="3416617"/>
            <a:ext cx="1842877" cy="565150"/>
          </a:xfrm>
          <a:prstGeom prst="rect">
            <a:avLst/>
          </a:prstGeom>
        </p:spPr>
        <p:txBody>
          <a:bodyPr vert="horz" wrap="square" lIns="0" tIns="0" rIns="0" bIns="0" rtlCol="0">
            <a:spAutoFit/>
          </a:bodyPr>
          <a:lstStyle/>
          <a:p>
            <a:pPr marL="12700">
              <a:lnSpc>
                <a:spcPct val="100000"/>
              </a:lnSpc>
            </a:pPr>
            <a:r>
              <a:rPr lang="en-GB" sz="3600" spc="55" noProof="0" dirty="0">
                <a:solidFill>
                  <a:schemeClr val="bg1">
                    <a:lumMod val="50000"/>
                  </a:schemeClr>
                </a:solidFill>
                <a:latin typeface="Helvetica Neue Light"/>
                <a:cs typeface="Helvetica Neue Light"/>
              </a:rPr>
              <a:t>function</a:t>
            </a:r>
            <a:endParaRPr lang="en-GB" sz="3600" noProof="0" dirty="0">
              <a:solidFill>
                <a:schemeClr val="bg1">
                  <a:lumMod val="50000"/>
                </a:schemeClr>
              </a:solidFill>
              <a:latin typeface="Helvetica Neue Light"/>
              <a:cs typeface="Helvetica Neue Light"/>
            </a:endParaRPr>
          </a:p>
        </p:txBody>
      </p:sp>
      <p:sp>
        <p:nvSpPr>
          <p:cNvPr id="24" name="object 24"/>
          <p:cNvSpPr txBox="1"/>
          <p:nvPr/>
        </p:nvSpPr>
        <p:spPr>
          <a:xfrm>
            <a:off x="459740" y="5494489"/>
            <a:ext cx="2202742" cy="415925"/>
          </a:xfrm>
          <a:prstGeom prst="rect">
            <a:avLst/>
          </a:prstGeom>
        </p:spPr>
        <p:txBody>
          <a:bodyPr vert="horz" wrap="square" lIns="0" tIns="0" rIns="0" bIns="0" rtlCol="0">
            <a:spAutoFit/>
          </a:bodyPr>
          <a:lstStyle/>
          <a:p>
            <a:pPr marL="717550" marR="5080" indent="-705485">
              <a:lnSpc>
                <a:spcPts val="1600"/>
              </a:lnSpc>
            </a:pPr>
            <a:r>
              <a:rPr lang="en-GB" sz="1400" spc="-45" noProof="0" dirty="0">
                <a:solidFill>
                  <a:schemeClr val="bg1">
                    <a:lumMod val="50000"/>
                  </a:schemeClr>
                </a:solidFill>
                <a:latin typeface="Helvetica Neue Light"/>
                <a:cs typeface="Helvetica Neue Light"/>
              </a:rPr>
              <a:t>e.g. </a:t>
            </a:r>
            <a:r>
              <a:rPr lang="en-GB" sz="1400" spc="-5" noProof="0" dirty="0">
                <a:solidFill>
                  <a:schemeClr val="bg1">
                    <a:lumMod val="50000"/>
                  </a:schemeClr>
                </a:solidFill>
                <a:latin typeface="Helvetica Neue Light"/>
                <a:cs typeface="Helvetica Neue Light"/>
              </a:rPr>
              <a:t>Formatting </a:t>
            </a:r>
            <a:r>
              <a:rPr lang="en-GB" sz="1400" spc="15" noProof="0" dirty="0">
                <a:solidFill>
                  <a:schemeClr val="bg1">
                    <a:lumMod val="50000"/>
                  </a:schemeClr>
                </a:solidFill>
                <a:latin typeface="Helvetica Neue Light"/>
                <a:cs typeface="Helvetica Neue Light"/>
              </a:rPr>
              <a:t>and</a:t>
            </a:r>
            <a:r>
              <a:rPr lang="en-GB" sz="1400" spc="-195" noProof="0" dirty="0">
                <a:solidFill>
                  <a:schemeClr val="bg1">
                    <a:lumMod val="50000"/>
                  </a:schemeClr>
                </a:solidFill>
                <a:latin typeface="Helvetica Neue Light"/>
                <a:cs typeface="Helvetica Neue Light"/>
              </a:rPr>
              <a:t> </a:t>
            </a:r>
            <a:r>
              <a:rPr lang="en-GB" sz="1400" spc="-10" noProof="0" dirty="0">
                <a:solidFill>
                  <a:schemeClr val="bg1">
                    <a:lumMod val="50000"/>
                  </a:schemeClr>
                </a:solidFill>
                <a:latin typeface="Helvetica Neue Light"/>
                <a:cs typeface="Helvetica Neue Light"/>
              </a:rPr>
              <a:t>writing  </a:t>
            </a:r>
            <a:r>
              <a:rPr lang="en-GB" sz="1400" spc="-5" noProof="0" dirty="0">
                <a:solidFill>
                  <a:schemeClr val="bg1">
                    <a:lumMod val="50000"/>
                  </a:schemeClr>
                </a:solidFill>
                <a:latin typeface="Helvetica Neue Light"/>
                <a:cs typeface="Helvetica Neue Light"/>
              </a:rPr>
              <a:t>out</a:t>
            </a:r>
            <a:r>
              <a:rPr lang="en-GB" sz="1400" spc="-140" noProof="0" dirty="0">
                <a:solidFill>
                  <a:schemeClr val="bg1">
                    <a:lumMod val="50000"/>
                  </a:schemeClr>
                </a:solidFill>
                <a:latin typeface="Helvetica Neue Light"/>
                <a:cs typeface="Helvetica Neue Light"/>
              </a:rPr>
              <a:t> </a:t>
            </a:r>
            <a:r>
              <a:rPr lang="en-GB" sz="1400" spc="-25" noProof="0" dirty="0">
                <a:solidFill>
                  <a:schemeClr val="bg1">
                    <a:lumMod val="50000"/>
                  </a:schemeClr>
                </a:solidFill>
                <a:latin typeface="Helvetica Neue Light"/>
                <a:cs typeface="Helvetica Neue Light"/>
              </a:rPr>
              <a:t>text</a:t>
            </a:r>
            <a:endParaRPr lang="en-GB" sz="1400" noProof="0" dirty="0">
              <a:solidFill>
                <a:schemeClr val="bg1">
                  <a:lumMod val="50000"/>
                </a:schemeClr>
              </a:solidFill>
              <a:latin typeface="Helvetica Neue Light"/>
              <a:cs typeface="Helvetica Neue Light"/>
            </a:endParaRPr>
          </a:p>
        </p:txBody>
      </p:sp>
      <p:sp>
        <p:nvSpPr>
          <p:cNvPr id="25" name="object 25"/>
          <p:cNvSpPr txBox="1"/>
          <p:nvPr/>
        </p:nvSpPr>
        <p:spPr>
          <a:xfrm>
            <a:off x="3583940" y="5494489"/>
            <a:ext cx="2202742" cy="412079"/>
          </a:xfrm>
          <a:prstGeom prst="rect">
            <a:avLst/>
          </a:prstGeom>
        </p:spPr>
        <p:txBody>
          <a:bodyPr vert="horz" wrap="square" lIns="0" tIns="0" rIns="0" bIns="0" rtlCol="0">
            <a:spAutoFit/>
          </a:bodyPr>
          <a:lstStyle/>
          <a:p>
            <a:pPr marL="397510" marR="5080" indent="-385445">
              <a:lnSpc>
                <a:spcPts val="1600"/>
              </a:lnSpc>
            </a:pPr>
            <a:r>
              <a:rPr lang="en-GB" sz="1400" spc="-45" noProof="0" dirty="0">
                <a:solidFill>
                  <a:schemeClr val="bg1">
                    <a:lumMod val="50000"/>
                  </a:schemeClr>
                </a:solidFill>
                <a:latin typeface="Helvetica Neue Light"/>
                <a:cs typeface="Helvetica Neue Light"/>
              </a:rPr>
              <a:t>e.g. </a:t>
            </a:r>
            <a:r>
              <a:rPr lang="en-GB" sz="1400" spc="-5" noProof="0" dirty="0">
                <a:solidFill>
                  <a:schemeClr val="bg1">
                    <a:lumMod val="50000"/>
                  </a:schemeClr>
                </a:solidFill>
                <a:latin typeface="Helvetica Neue Light"/>
                <a:cs typeface="Helvetica Neue Light"/>
              </a:rPr>
              <a:t>Formatting </a:t>
            </a:r>
            <a:r>
              <a:rPr lang="en-GB" sz="1400" spc="15" noProof="0" dirty="0">
                <a:solidFill>
                  <a:schemeClr val="bg1">
                    <a:lumMod val="50000"/>
                  </a:schemeClr>
                </a:solidFill>
                <a:latin typeface="Helvetica Neue Light"/>
                <a:cs typeface="Helvetica Neue Light"/>
              </a:rPr>
              <a:t>and</a:t>
            </a:r>
            <a:r>
              <a:rPr lang="en-GB" sz="1400" spc="-195" noProof="0" dirty="0">
                <a:solidFill>
                  <a:schemeClr val="bg1">
                    <a:lumMod val="50000"/>
                  </a:schemeClr>
                </a:solidFill>
                <a:latin typeface="Helvetica Neue Light"/>
                <a:cs typeface="Helvetica Neue Light"/>
              </a:rPr>
              <a:t> </a:t>
            </a:r>
            <a:r>
              <a:rPr lang="en-GB" sz="1400" spc="-10" noProof="0" dirty="0">
                <a:solidFill>
                  <a:schemeClr val="bg1">
                    <a:lumMod val="50000"/>
                  </a:schemeClr>
                </a:solidFill>
                <a:latin typeface="Helvetica Neue Light"/>
                <a:cs typeface="Helvetica Neue Light"/>
              </a:rPr>
              <a:t>writing  </a:t>
            </a:r>
            <a:r>
              <a:rPr lang="en-GB" sz="1400" spc="-5" noProof="0" dirty="0">
                <a:solidFill>
                  <a:schemeClr val="bg1">
                    <a:lumMod val="50000"/>
                  </a:schemeClr>
                </a:solidFill>
                <a:latin typeface="Helvetica Neue Light"/>
                <a:cs typeface="Helvetica Neue Light"/>
              </a:rPr>
              <a:t>out inputted</a:t>
            </a:r>
            <a:r>
              <a:rPr lang="en-GB" sz="1400" spc="-190" noProof="0" dirty="0">
                <a:solidFill>
                  <a:schemeClr val="bg1">
                    <a:lumMod val="50000"/>
                  </a:schemeClr>
                </a:solidFill>
                <a:latin typeface="Helvetica Neue Light"/>
                <a:cs typeface="Helvetica Neue Light"/>
              </a:rPr>
              <a:t> </a:t>
            </a:r>
            <a:r>
              <a:rPr lang="en-GB" sz="1400" spc="-25" noProof="0" dirty="0">
                <a:solidFill>
                  <a:schemeClr val="bg1">
                    <a:lumMod val="50000"/>
                  </a:schemeClr>
                </a:solidFill>
                <a:latin typeface="Helvetica Neue Light"/>
                <a:cs typeface="Helvetica Neue Light"/>
              </a:rPr>
              <a:t>text</a:t>
            </a:r>
            <a:endParaRPr lang="en-GB" sz="1400" noProof="0" dirty="0">
              <a:solidFill>
                <a:schemeClr val="bg1">
                  <a:lumMod val="50000"/>
                </a:schemeClr>
              </a:solidFill>
              <a:latin typeface="Helvetica Neue Light"/>
              <a:cs typeface="Helvetica Neue Light"/>
            </a:endParaRPr>
          </a:p>
        </p:txBody>
      </p:sp>
      <p:sp>
        <p:nvSpPr>
          <p:cNvPr id="26" name="object 26"/>
          <p:cNvSpPr txBox="1"/>
          <p:nvPr/>
        </p:nvSpPr>
        <p:spPr>
          <a:xfrm>
            <a:off x="6401752" y="5070157"/>
            <a:ext cx="2199886" cy="1051869"/>
          </a:xfrm>
          <a:prstGeom prst="rect">
            <a:avLst/>
          </a:prstGeom>
        </p:spPr>
        <p:txBody>
          <a:bodyPr vert="horz" wrap="square" lIns="0" tIns="0" rIns="0" bIns="0" rtlCol="0">
            <a:spAutoFit/>
          </a:bodyPr>
          <a:lstStyle/>
          <a:p>
            <a:pPr algn="ctr">
              <a:lnSpc>
                <a:spcPct val="100000"/>
              </a:lnSpc>
            </a:pPr>
            <a:r>
              <a:rPr lang="en-GB" sz="2400" spc="20" noProof="0" dirty="0">
                <a:solidFill>
                  <a:schemeClr val="bg1">
                    <a:lumMod val="50000"/>
                  </a:schemeClr>
                </a:solidFill>
                <a:latin typeface="Helvetica Neue Light"/>
                <a:cs typeface="Helvetica Neue Light"/>
              </a:rPr>
              <a:t>Returned</a:t>
            </a:r>
            <a:r>
              <a:rPr lang="en-GB" sz="2400" spc="-114" noProof="0" dirty="0">
                <a:solidFill>
                  <a:schemeClr val="bg1">
                    <a:lumMod val="50000"/>
                  </a:schemeClr>
                </a:solidFill>
                <a:latin typeface="Helvetica Neue Light"/>
                <a:cs typeface="Helvetica Neue Light"/>
              </a:rPr>
              <a:t> </a:t>
            </a:r>
            <a:r>
              <a:rPr lang="en-GB" sz="2400" spc="30" noProof="0" dirty="0">
                <a:solidFill>
                  <a:schemeClr val="bg1">
                    <a:lumMod val="50000"/>
                  </a:schemeClr>
                </a:solidFill>
                <a:latin typeface="Helvetica Neue Light"/>
                <a:cs typeface="Helvetica Neue Light"/>
              </a:rPr>
              <a:t>value</a:t>
            </a:r>
            <a:endParaRPr lang="en-GB" sz="2400" noProof="0" dirty="0">
              <a:solidFill>
                <a:schemeClr val="bg1">
                  <a:lumMod val="50000"/>
                </a:schemeClr>
              </a:solidFill>
              <a:latin typeface="Helvetica Neue Light"/>
              <a:cs typeface="Helvetica Neue Light"/>
            </a:endParaRPr>
          </a:p>
          <a:p>
            <a:pPr marL="107950" marR="104775" indent="74930">
              <a:lnSpc>
                <a:spcPts val="1600"/>
              </a:lnSpc>
              <a:spcBef>
                <a:spcPts val="459"/>
              </a:spcBef>
            </a:pPr>
            <a:r>
              <a:rPr lang="en-GB" sz="1400" spc="-45" noProof="0" dirty="0">
                <a:solidFill>
                  <a:schemeClr val="bg1">
                    <a:lumMod val="50000"/>
                  </a:schemeClr>
                </a:solidFill>
                <a:latin typeface="Helvetica Neue Light"/>
                <a:cs typeface="Helvetica Neue Light"/>
              </a:rPr>
              <a:t>e.g. </a:t>
            </a:r>
            <a:r>
              <a:rPr lang="en-GB" sz="1400" spc="-5" noProof="0" dirty="0">
                <a:solidFill>
                  <a:schemeClr val="bg1">
                    <a:lumMod val="50000"/>
                  </a:schemeClr>
                </a:solidFill>
                <a:latin typeface="Helvetica Neue Light"/>
                <a:cs typeface="Helvetica Neue Light"/>
              </a:rPr>
              <a:t>Date </a:t>
            </a:r>
            <a:r>
              <a:rPr lang="en-GB" sz="1400" noProof="0" dirty="0">
                <a:solidFill>
                  <a:schemeClr val="bg1">
                    <a:lumMod val="50000"/>
                  </a:schemeClr>
                </a:solidFill>
                <a:latin typeface="Helvetica Neue Light"/>
                <a:cs typeface="Helvetica Neue Light"/>
              </a:rPr>
              <a:t>function </a:t>
            </a:r>
            <a:r>
              <a:rPr lang="en-GB" sz="1400" spc="-10" noProof="0" dirty="0">
                <a:solidFill>
                  <a:schemeClr val="bg1">
                    <a:lumMod val="50000"/>
                  </a:schemeClr>
                </a:solidFill>
                <a:latin typeface="Helvetica Neue Light"/>
                <a:cs typeface="Helvetica Neue Light"/>
              </a:rPr>
              <a:t>that  </a:t>
            </a:r>
            <a:r>
              <a:rPr lang="en-GB" sz="1400" spc="-20" noProof="0" dirty="0">
                <a:solidFill>
                  <a:schemeClr val="bg1">
                    <a:lumMod val="50000"/>
                  </a:schemeClr>
                </a:solidFill>
                <a:latin typeface="Helvetica Neue Light"/>
                <a:cs typeface="Helvetica Neue Light"/>
              </a:rPr>
              <a:t>returns</a:t>
            </a:r>
            <a:r>
              <a:rPr lang="en-GB" sz="1400" spc="-80" noProof="0" dirty="0">
                <a:solidFill>
                  <a:schemeClr val="bg1">
                    <a:lumMod val="50000"/>
                  </a:schemeClr>
                </a:solidFill>
                <a:latin typeface="Helvetica Neue Light"/>
                <a:cs typeface="Helvetica Neue Light"/>
              </a:rPr>
              <a:t> </a:t>
            </a:r>
            <a:r>
              <a:rPr lang="en-GB" sz="1400" spc="10" noProof="0" dirty="0">
                <a:solidFill>
                  <a:schemeClr val="bg1">
                    <a:lumMod val="50000"/>
                  </a:schemeClr>
                </a:solidFill>
                <a:latin typeface="Helvetica Neue Light"/>
                <a:cs typeface="Helvetica Neue Light"/>
              </a:rPr>
              <a:t>a</a:t>
            </a:r>
            <a:r>
              <a:rPr lang="en-GB" sz="1400" spc="-80" noProof="0" dirty="0">
                <a:solidFill>
                  <a:schemeClr val="bg1">
                    <a:lumMod val="50000"/>
                  </a:schemeClr>
                </a:solidFill>
                <a:latin typeface="Helvetica Neue Light"/>
                <a:cs typeface="Helvetica Neue Light"/>
              </a:rPr>
              <a:t> </a:t>
            </a:r>
            <a:r>
              <a:rPr lang="en-GB" sz="1400" spc="-15" noProof="0" dirty="0">
                <a:solidFill>
                  <a:schemeClr val="bg1">
                    <a:lumMod val="50000"/>
                  </a:schemeClr>
                </a:solidFill>
                <a:latin typeface="Helvetica Neue Light"/>
                <a:cs typeface="Helvetica Neue Light"/>
              </a:rPr>
              <a:t>date</a:t>
            </a:r>
            <a:r>
              <a:rPr lang="en-GB" sz="1400" spc="-80" noProof="0" dirty="0">
                <a:solidFill>
                  <a:schemeClr val="bg1">
                    <a:lumMod val="50000"/>
                  </a:schemeClr>
                </a:solidFill>
                <a:latin typeface="Helvetica Neue Light"/>
                <a:cs typeface="Helvetica Neue Light"/>
              </a:rPr>
              <a:t> </a:t>
            </a:r>
            <a:r>
              <a:rPr lang="en-GB" sz="1400" spc="-15" noProof="0" dirty="0">
                <a:solidFill>
                  <a:schemeClr val="bg1">
                    <a:lumMod val="50000"/>
                  </a:schemeClr>
                </a:solidFill>
                <a:latin typeface="Helvetica Neue Light"/>
                <a:cs typeface="Helvetica Neue Light"/>
              </a:rPr>
              <a:t>to</a:t>
            </a:r>
            <a:r>
              <a:rPr lang="en-GB" sz="1400" spc="-80" noProof="0" dirty="0">
                <a:solidFill>
                  <a:schemeClr val="bg1">
                    <a:lumMod val="50000"/>
                  </a:schemeClr>
                </a:solidFill>
                <a:latin typeface="Helvetica Neue Light"/>
                <a:cs typeface="Helvetica Neue Light"/>
              </a:rPr>
              <a:t> </a:t>
            </a:r>
            <a:r>
              <a:rPr lang="en-GB" sz="1400" spc="-10" noProof="0" dirty="0">
                <a:solidFill>
                  <a:schemeClr val="bg1">
                    <a:lumMod val="50000"/>
                  </a:schemeClr>
                </a:solidFill>
                <a:latin typeface="Helvetica Neue Light"/>
                <a:cs typeface="Helvetica Neue Light"/>
              </a:rPr>
              <a:t>be</a:t>
            </a:r>
            <a:r>
              <a:rPr lang="en-GB" sz="1400" spc="-80" noProof="0" dirty="0">
                <a:solidFill>
                  <a:schemeClr val="bg1">
                    <a:lumMod val="50000"/>
                  </a:schemeClr>
                </a:solidFill>
                <a:latin typeface="Helvetica Neue Light"/>
                <a:cs typeface="Helvetica Neue Light"/>
              </a:rPr>
              <a:t> </a:t>
            </a:r>
            <a:r>
              <a:rPr lang="en-GB" sz="1400" spc="-10" noProof="0" dirty="0">
                <a:solidFill>
                  <a:schemeClr val="bg1">
                    <a:lumMod val="50000"/>
                  </a:schemeClr>
                </a:solidFill>
                <a:latin typeface="Helvetica Neue Light"/>
                <a:cs typeface="Helvetica Neue Light"/>
              </a:rPr>
              <a:t>used</a:t>
            </a:r>
            <a:endParaRPr lang="en-GB" sz="1400" noProof="0" dirty="0">
              <a:solidFill>
                <a:schemeClr val="bg1">
                  <a:lumMod val="50000"/>
                </a:schemeClr>
              </a:solidFill>
              <a:latin typeface="Helvetica Neue Light"/>
              <a:cs typeface="Helvetica Neue Light"/>
            </a:endParaRPr>
          </a:p>
          <a:p>
            <a:pPr marL="27940" algn="ctr">
              <a:lnSpc>
                <a:spcPts val="1660"/>
              </a:lnSpc>
            </a:pPr>
            <a:r>
              <a:rPr lang="en-GB" sz="1400" spc="-20" noProof="0" dirty="0">
                <a:solidFill>
                  <a:schemeClr val="bg1">
                    <a:lumMod val="50000"/>
                  </a:schemeClr>
                </a:solidFill>
                <a:latin typeface="Helvetica Neue Light"/>
                <a:cs typeface="Helvetica Neue Light"/>
              </a:rPr>
              <a:t>later </a:t>
            </a:r>
            <a:r>
              <a:rPr lang="en-GB" sz="1400" spc="10" noProof="0" dirty="0">
                <a:solidFill>
                  <a:schemeClr val="bg1">
                    <a:lumMod val="50000"/>
                  </a:schemeClr>
                </a:solidFill>
                <a:latin typeface="Helvetica Neue Light"/>
                <a:cs typeface="Helvetica Neue Light"/>
              </a:rPr>
              <a:t>in</a:t>
            </a:r>
            <a:r>
              <a:rPr lang="en-GB" sz="1400" spc="-200" noProof="0" dirty="0">
                <a:solidFill>
                  <a:schemeClr val="bg1">
                    <a:lumMod val="50000"/>
                  </a:schemeClr>
                </a:solidFill>
                <a:latin typeface="Helvetica Neue Light"/>
                <a:cs typeface="Helvetica Neue Light"/>
              </a:rPr>
              <a:t> </a:t>
            </a:r>
            <a:r>
              <a:rPr lang="en-GB" sz="1400" spc="-5" noProof="0" dirty="0">
                <a:solidFill>
                  <a:schemeClr val="bg1">
                    <a:lumMod val="50000"/>
                  </a:schemeClr>
                </a:solidFill>
                <a:latin typeface="Helvetica Neue Light"/>
                <a:cs typeface="Helvetica Neue Light"/>
              </a:rPr>
              <a:t>program</a:t>
            </a:r>
            <a:endParaRPr lang="en-GB" sz="1400" noProof="0" dirty="0">
              <a:solidFill>
                <a:schemeClr val="bg1">
                  <a:lumMod val="50000"/>
                </a:schemeClr>
              </a:solidFill>
              <a:latin typeface="Helvetica Neue Light"/>
              <a:cs typeface="Helvetica Neue Light"/>
            </a:endParaRPr>
          </a:p>
        </p:txBody>
      </p:sp>
      <p:cxnSp>
        <p:nvCxnSpPr>
          <p:cNvPr id="31" name="Straight Arrow Connector 30">
            <a:extLst>
              <a:ext uri="{C183D7F6-B498-43B3-948B-1728B52AA6E4}">
                <adec:decorative xmlns:adec="http://schemas.microsoft.com/office/drawing/2017/decorative" val="1"/>
              </a:ext>
            </a:extLst>
          </p:cNvPr>
          <p:cNvCxnSpPr/>
          <p:nvPr/>
        </p:nvCxnSpPr>
        <p:spPr>
          <a:xfrm>
            <a:off x="1574727" y="2098652"/>
            <a:ext cx="0" cy="80323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C183D7F6-B498-43B3-948B-1728B52AA6E4}">
                <adec:decorative xmlns:adec="http://schemas.microsoft.com/office/drawing/2017/decorative" val="1"/>
              </a:ext>
            </a:extLst>
          </p:cNvPr>
          <p:cNvCxnSpPr/>
          <p:nvPr/>
        </p:nvCxnSpPr>
        <p:spPr>
          <a:xfrm>
            <a:off x="1578344" y="4409896"/>
            <a:ext cx="0" cy="80323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C183D7F6-B498-43B3-948B-1728B52AA6E4}">
                <adec:decorative xmlns:adec="http://schemas.microsoft.com/office/drawing/2017/decorative" val="1"/>
              </a:ext>
            </a:extLst>
          </p:cNvPr>
          <p:cNvCxnSpPr/>
          <p:nvPr/>
        </p:nvCxnSpPr>
        <p:spPr>
          <a:xfrm>
            <a:off x="4575102" y="2200404"/>
            <a:ext cx="0" cy="80323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C183D7F6-B498-43B3-948B-1728B52AA6E4}">
                <adec:decorative xmlns:adec="http://schemas.microsoft.com/office/drawing/2017/decorative" val="1"/>
              </a:ext>
            </a:extLst>
          </p:cNvPr>
          <p:cNvCxnSpPr/>
          <p:nvPr/>
        </p:nvCxnSpPr>
        <p:spPr>
          <a:xfrm>
            <a:off x="4541518" y="4409896"/>
            <a:ext cx="0" cy="80323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C183D7F6-B498-43B3-948B-1728B52AA6E4}">
                <adec:decorative xmlns:adec="http://schemas.microsoft.com/office/drawing/2017/decorative" val="1"/>
              </a:ext>
            </a:extLst>
          </p:cNvPr>
          <p:cNvCxnSpPr/>
          <p:nvPr/>
        </p:nvCxnSpPr>
        <p:spPr>
          <a:xfrm>
            <a:off x="7487277" y="2210120"/>
            <a:ext cx="0" cy="80323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C183D7F6-B498-43B3-948B-1728B52AA6E4}">
                <adec:decorative xmlns:adec="http://schemas.microsoft.com/office/drawing/2017/decorative" val="1"/>
              </a:ext>
            </a:extLst>
          </p:cNvPr>
          <p:cNvCxnSpPr>
            <a:endCxn id="26" idx="0"/>
          </p:cNvCxnSpPr>
          <p:nvPr/>
        </p:nvCxnSpPr>
        <p:spPr>
          <a:xfrm flipH="1">
            <a:off x="7501695" y="4409896"/>
            <a:ext cx="2157" cy="66026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245786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txBox="1"/>
          <p:nvPr/>
        </p:nvSpPr>
        <p:spPr>
          <a:xfrm>
            <a:off x="0" y="0"/>
            <a:ext cx="9144000" cy="7009611"/>
          </a:xfrm>
          <a:prstGeom prst="rect">
            <a:avLst/>
          </a:prstGeom>
        </p:spPr>
        <p:txBody>
          <a:bodyPr vert="horz" wrap="square" lIns="0" tIns="0" rIns="0" bIns="0" rtlCol="0">
            <a:spAutoFit/>
          </a:bodyPr>
          <a:lstStyle/>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marL="320040">
              <a:lnSpc>
                <a:spcPct val="100000"/>
              </a:lnSpc>
              <a:spcBef>
                <a:spcPts val="855"/>
              </a:spcBef>
            </a:pPr>
            <a:endParaRPr lang="en-GB" sz="1400" noProof="0" dirty="0">
              <a:latin typeface="Calibri"/>
              <a:cs typeface="Calibri"/>
            </a:endParaRPr>
          </a:p>
        </p:txBody>
      </p:sp>
      <p:sp>
        <p:nvSpPr>
          <p:cNvPr id="3" name="object 3">
            <a:extLst>
              <a:ext uri="{C183D7F6-B498-43B3-948B-1728B52AA6E4}">
                <adec:decorative xmlns:adec="http://schemas.microsoft.com/office/drawing/2017/decorative" val="1"/>
              </a:ext>
            </a:extLst>
          </p:cNvPr>
          <p:cNvSpPr/>
          <p:nvPr/>
        </p:nvSpPr>
        <p:spPr>
          <a:xfrm>
            <a:off x="0" y="0"/>
            <a:ext cx="9144000" cy="6857999"/>
          </a:xfrm>
          <a:prstGeom prst="rect">
            <a:avLst/>
          </a:prstGeom>
          <a:blipFill>
            <a:blip r:embed="rId2" cstate="print"/>
            <a:stretch>
              <a:fillRect/>
            </a:stretch>
          </a:blipFill>
        </p:spPr>
        <p:txBody>
          <a:bodyPr wrap="square" lIns="0" tIns="0" rIns="0" bIns="0" rtlCol="0"/>
          <a:lstStyle/>
          <a:p>
            <a:endParaRPr lang="en-GB" noProof="0" dirty="0"/>
          </a:p>
        </p:txBody>
      </p:sp>
      <p:sp>
        <p:nvSpPr>
          <p:cNvPr id="4" name="object 4">
            <a:extLst>
              <a:ext uri="{C183D7F6-B498-43B3-948B-1728B52AA6E4}">
                <adec:decorative xmlns:adec="http://schemas.microsoft.com/office/drawing/2017/decorative" val="1"/>
              </a:ext>
            </a:extLst>
          </p:cNvPr>
          <p:cNvSpPr/>
          <p:nvPr/>
        </p:nvSpPr>
        <p:spPr>
          <a:xfrm>
            <a:off x="0" y="304800"/>
            <a:ext cx="9144000" cy="6019800"/>
          </a:xfrm>
          <a:custGeom>
            <a:avLst/>
            <a:gdLst/>
            <a:ahLst/>
            <a:cxnLst/>
            <a:rect l="l" t="t" r="r" b="b"/>
            <a:pathLst>
              <a:path w="9144000" h="6019800">
                <a:moveTo>
                  <a:pt x="0" y="0"/>
                </a:moveTo>
                <a:lnTo>
                  <a:pt x="9144000" y="0"/>
                </a:lnTo>
                <a:lnTo>
                  <a:pt x="9144000" y="6019800"/>
                </a:lnTo>
                <a:lnTo>
                  <a:pt x="0" y="6019800"/>
                </a:lnTo>
                <a:lnTo>
                  <a:pt x="0" y="0"/>
                </a:lnTo>
                <a:close/>
              </a:path>
            </a:pathLst>
          </a:custGeom>
          <a:solidFill>
            <a:srgbClr val="000000"/>
          </a:solidFill>
        </p:spPr>
        <p:txBody>
          <a:bodyPr wrap="square" lIns="0" tIns="0" rIns="0" bIns="0" rtlCol="0"/>
          <a:lstStyle/>
          <a:p>
            <a:endParaRPr lang="en-GB" noProof="0" dirty="0"/>
          </a:p>
        </p:txBody>
      </p:sp>
      <p:sp>
        <p:nvSpPr>
          <p:cNvPr id="5" name="object 5"/>
          <p:cNvSpPr txBox="1"/>
          <p:nvPr/>
        </p:nvSpPr>
        <p:spPr>
          <a:xfrm>
            <a:off x="275300" y="602957"/>
            <a:ext cx="8195309" cy="742315"/>
          </a:xfrm>
          <a:prstGeom prst="rect">
            <a:avLst/>
          </a:prstGeom>
        </p:spPr>
        <p:txBody>
          <a:bodyPr vert="horz" wrap="square" lIns="0" tIns="0" rIns="0" bIns="0" rtlCol="0">
            <a:spAutoFit/>
          </a:bodyPr>
          <a:lstStyle/>
          <a:p>
            <a:pPr marL="12700" marR="5080">
              <a:lnSpc>
                <a:spcPts val="1900"/>
              </a:lnSpc>
            </a:pPr>
            <a:r>
              <a:rPr lang="en-GB" sz="1600" noProof="0" dirty="0">
                <a:solidFill>
                  <a:srgbClr val="FFFFFF"/>
                </a:solidFill>
                <a:latin typeface="Courier New"/>
                <a:cs typeface="Courier New"/>
              </a:rPr>
              <a:t>var </a:t>
            </a:r>
            <a:r>
              <a:rPr lang="en-GB" sz="1600" spc="-5" noProof="0" dirty="0">
                <a:solidFill>
                  <a:srgbClr val="FFFFFF"/>
                </a:solidFill>
                <a:latin typeface="Courier New"/>
                <a:cs typeface="Courier New"/>
              </a:rPr>
              <a:t>message </a:t>
            </a:r>
            <a:r>
              <a:rPr lang="en-GB" sz="1600" noProof="0" dirty="0">
                <a:solidFill>
                  <a:srgbClr val="FFFFFF"/>
                </a:solidFill>
                <a:latin typeface="Courier New"/>
                <a:cs typeface="Courier New"/>
              </a:rPr>
              <a:t>= </a:t>
            </a:r>
            <a:r>
              <a:rPr lang="en-GB" sz="1600" spc="-5" noProof="0" dirty="0">
                <a:solidFill>
                  <a:srgbClr val="FFFFFF"/>
                </a:solidFill>
                <a:latin typeface="Courier New"/>
                <a:cs typeface="Courier New"/>
              </a:rPr>
              <a:t>“Cursive writing does not mean what </a:t>
            </a:r>
            <a:r>
              <a:rPr lang="en-GB" sz="1600" noProof="0" dirty="0">
                <a:solidFill>
                  <a:srgbClr val="FFFFFF"/>
                </a:solidFill>
                <a:latin typeface="Courier New"/>
                <a:cs typeface="Courier New"/>
              </a:rPr>
              <a:t>I </a:t>
            </a:r>
            <a:r>
              <a:rPr lang="en-GB" sz="1600" spc="-5" noProof="0" dirty="0">
                <a:solidFill>
                  <a:srgbClr val="FFFFFF"/>
                </a:solidFill>
                <a:latin typeface="Courier New"/>
                <a:cs typeface="Courier New"/>
              </a:rPr>
              <a:t>think it does”;  message </a:t>
            </a:r>
            <a:r>
              <a:rPr lang="en-GB" sz="1600" noProof="0" dirty="0">
                <a:solidFill>
                  <a:srgbClr val="FFFFFF"/>
                </a:solidFill>
                <a:latin typeface="Courier New"/>
                <a:cs typeface="Courier New"/>
              </a:rPr>
              <a:t>=</a:t>
            </a:r>
            <a:r>
              <a:rPr lang="en-GB" sz="1600" spc="5" noProof="0" dirty="0">
                <a:solidFill>
                  <a:srgbClr val="FFFFFF"/>
                </a:solidFill>
                <a:latin typeface="Courier New"/>
                <a:cs typeface="Courier New"/>
              </a:rPr>
              <a:t> </a:t>
            </a:r>
            <a:r>
              <a:rPr lang="en-GB" sz="1600" spc="-5" noProof="0" dirty="0" err="1">
                <a:solidFill>
                  <a:srgbClr val="FFFFFF"/>
                </a:solidFill>
                <a:latin typeface="Courier New"/>
                <a:cs typeface="Courier New"/>
              </a:rPr>
              <a:t>message.toUpperCase</a:t>
            </a:r>
            <a:r>
              <a:rPr lang="en-GB" sz="1600" spc="-5" noProof="0" dirty="0">
                <a:solidFill>
                  <a:srgbClr val="FFFFFF"/>
                </a:solidFill>
                <a:latin typeface="Courier New"/>
                <a:cs typeface="Courier New"/>
              </a:rPr>
              <a:t>();</a:t>
            </a:r>
            <a:endParaRPr lang="en-GB" sz="1600" noProof="0" dirty="0">
              <a:latin typeface="Courier New"/>
              <a:cs typeface="Courier New"/>
            </a:endParaRPr>
          </a:p>
          <a:p>
            <a:pPr marL="12700">
              <a:lnSpc>
                <a:spcPts val="1839"/>
              </a:lnSpc>
            </a:pPr>
            <a:r>
              <a:rPr lang="en-GB" sz="1600" spc="-5" noProof="0" dirty="0">
                <a:solidFill>
                  <a:srgbClr val="FFFFFF"/>
                </a:solidFill>
                <a:latin typeface="Courier New"/>
                <a:cs typeface="Courier New"/>
              </a:rPr>
              <a:t>console.log(message);</a:t>
            </a:r>
            <a:endParaRPr lang="en-GB" sz="1600" noProof="0" dirty="0">
              <a:latin typeface="Courier New"/>
              <a:cs typeface="Courier New"/>
            </a:endParaRPr>
          </a:p>
        </p:txBody>
      </p:sp>
      <p:graphicFrame>
        <p:nvGraphicFramePr>
          <p:cNvPr id="6" name="object 6"/>
          <p:cNvGraphicFramePr>
            <a:graphicFrameLocks noGrp="1"/>
          </p:cNvGraphicFramePr>
          <p:nvPr>
            <p:extLst>
              <p:ext uri="{D42A27DB-BD31-4B8C-83A1-F6EECF244321}">
                <p14:modId xmlns:p14="http://schemas.microsoft.com/office/powerpoint/2010/main" val="1096929980"/>
              </p:ext>
            </p:extLst>
          </p:nvPr>
        </p:nvGraphicFramePr>
        <p:xfrm>
          <a:off x="265775" y="1357863"/>
          <a:ext cx="7726567" cy="4432299"/>
        </p:xfrm>
        <a:graphic>
          <a:graphicData uri="http://schemas.openxmlformats.org/drawingml/2006/table">
            <a:tbl>
              <a:tblPr firstRow="1" bandRow="1">
                <a:tableStyleId>{2D5ABB26-0587-4C30-8999-92F81FD0307C}</a:tableStyleId>
              </a:tblPr>
              <a:tblGrid>
                <a:gridCol w="4351076">
                  <a:extLst>
                    <a:ext uri="{9D8B030D-6E8A-4147-A177-3AD203B41FA5}">
                      <a16:colId xmlns:a16="http://schemas.microsoft.com/office/drawing/2014/main" val="20000"/>
                    </a:ext>
                  </a:extLst>
                </a:gridCol>
                <a:gridCol w="609691">
                  <a:extLst>
                    <a:ext uri="{9D8B030D-6E8A-4147-A177-3AD203B41FA5}">
                      <a16:colId xmlns:a16="http://schemas.microsoft.com/office/drawing/2014/main" val="20001"/>
                    </a:ext>
                  </a:extLst>
                </a:gridCol>
                <a:gridCol w="609701">
                  <a:extLst>
                    <a:ext uri="{9D8B030D-6E8A-4147-A177-3AD203B41FA5}">
                      <a16:colId xmlns:a16="http://schemas.microsoft.com/office/drawing/2014/main" val="20002"/>
                    </a:ext>
                  </a:extLst>
                </a:gridCol>
                <a:gridCol w="243920">
                  <a:extLst>
                    <a:ext uri="{9D8B030D-6E8A-4147-A177-3AD203B41FA5}">
                      <a16:colId xmlns:a16="http://schemas.microsoft.com/office/drawing/2014/main" val="20003"/>
                    </a:ext>
                  </a:extLst>
                </a:gridCol>
                <a:gridCol w="731592">
                  <a:extLst>
                    <a:ext uri="{9D8B030D-6E8A-4147-A177-3AD203B41FA5}">
                      <a16:colId xmlns:a16="http://schemas.microsoft.com/office/drawing/2014/main" val="20004"/>
                    </a:ext>
                  </a:extLst>
                </a:gridCol>
                <a:gridCol w="365850">
                  <a:extLst>
                    <a:ext uri="{9D8B030D-6E8A-4147-A177-3AD203B41FA5}">
                      <a16:colId xmlns:a16="http://schemas.microsoft.com/office/drawing/2014/main" val="20005"/>
                    </a:ext>
                  </a:extLst>
                </a:gridCol>
                <a:gridCol w="814737">
                  <a:extLst>
                    <a:ext uri="{9D8B030D-6E8A-4147-A177-3AD203B41FA5}">
                      <a16:colId xmlns:a16="http://schemas.microsoft.com/office/drawing/2014/main" val="20006"/>
                    </a:ext>
                  </a:extLst>
                </a:gridCol>
              </a:tblGrid>
              <a:tr h="482600">
                <a:tc>
                  <a:txBody>
                    <a:bodyPr/>
                    <a:lstStyle/>
                    <a:p>
                      <a:pPr marL="22225">
                        <a:lnSpc>
                          <a:spcPts val="1585"/>
                        </a:lnSpc>
                      </a:pPr>
                      <a:r>
                        <a:rPr lang="en-GB" sz="1600" spc="-5" noProof="0" dirty="0">
                          <a:solidFill>
                            <a:srgbClr val="FFFFFF"/>
                          </a:solidFill>
                          <a:latin typeface="Courier New"/>
                          <a:cs typeface="Courier New"/>
                        </a:rPr>
                        <a:t>message </a:t>
                      </a:r>
                      <a:r>
                        <a:rPr lang="en-GB" sz="1600" noProof="0" dirty="0">
                          <a:solidFill>
                            <a:srgbClr val="FFFFFF"/>
                          </a:solidFill>
                          <a:latin typeface="Courier New"/>
                          <a:cs typeface="Courier New"/>
                        </a:rPr>
                        <a:t>= </a:t>
                      </a:r>
                      <a:r>
                        <a:rPr lang="en-GB" sz="1600" spc="-5" noProof="0" dirty="0">
                          <a:solidFill>
                            <a:srgbClr val="FFFFFF"/>
                          </a:solidFill>
                          <a:latin typeface="Courier New"/>
                          <a:cs typeface="Courier New"/>
                        </a:rPr>
                        <a:t>“Cursive writing does</a:t>
                      </a:r>
                      <a:r>
                        <a:rPr lang="en-GB" sz="1600" spc="-65" noProof="0" dirty="0">
                          <a:solidFill>
                            <a:srgbClr val="FFFFFF"/>
                          </a:solidFill>
                          <a:latin typeface="Courier New"/>
                          <a:cs typeface="Courier New"/>
                        </a:rPr>
                        <a:t> </a:t>
                      </a:r>
                      <a:r>
                        <a:rPr lang="en-GB" sz="1600" spc="-5" noProof="0" dirty="0">
                          <a:solidFill>
                            <a:srgbClr val="FFFFFF"/>
                          </a:solidFill>
                          <a:latin typeface="Courier New"/>
                          <a:cs typeface="Courier New"/>
                        </a:rPr>
                        <a:t>not</a:t>
                      </a:r>
                      <a:endParaRPr lang="en-GB" sz="1600" noProof="0" dirty="0">
                        <a:latin typeface="Courier New"/>
                        <a:cs typeface="Courier New"/>
                      </a:endParaRPr>
                    </a:p>
                    <a:p>
                      <a:pPr marL="22225">
                        <a:lnSpc>
                          <a:spcPts val="1910"/>
                        </a:lnSpc>
                      </a:pPr>
                      <a:r>
                        <a:rPr lang="en-GB" sz="1600" spc="-5" noProof="0" dirty="0">
                          <a:solidFill>
                            <a:srgbClr val="FFFFFF"/>
                          </a:solidFill>
                          <a:latin typeface="Courier New"/>
                          <a:cs typeface="Courier New"/>
                        </a:rPr>
                        <a:t>message </a:t>
                      </a:r>
                      <a:r>
                        <a:rPr lang="en-GB" sz="1600" noProof="0" dirty="0">
                          <a:solidFill>
                            <a:srgbClr val="FFFFFF"/>
                          </a:solidFill>
                          <a:latin typeface="Courier New"/>
                          <a:cs typeface="Courier New"/>
                        </a:rPr>
                        <a:t>=</a:t>
                      </a:r>
                      <a:r>
                        <a:rPr lang="en-GB" sz="1600" spc="5" noProof="0" dirty="0">
                          <a:solidFill>
                            <a:srgbClr val="FFFFFF"/>
                          </a:solidFill>
                          <a:latin typeface="Courier New"/>
                          <a:cs typeface="Courier New"/>
                        </a:rPr>
                        <a:t> </a:t>
                      </a:r>
                      <a:r>
                        <a:rPr lang="en-GB" sz="1600" spc="-5" noProof="0" dirty="0" err="1">
                          <a:solidFill>
                            <a:srgbClr val="FFFFFF"/>
                          </a:solidFill>
                          <a:latin typeface="Courier New"/>
                          <a:cs typeface="Courier New"/>
                        </a:rPr>
                        <a:t>message.toUpperCase</a:t>
                      </a:r>
                      <a:r>
                        <a:rPr lang="en-GB" sz="1600" spc="-5" noProof="0" dirty="0">
                          <a:solidFill>
                            <a:srgbClr val="FFFFFF"/>
                          </a:solidFill>
                          <a:latin typeface="Courier New"/>
                          <a:cs typeface="Courier New"/>
                        </a:rPr>
                        <a:t>();</a:t>
                      </a:r>
                      <a:endParaRPr lang="en-GB" sz="1600" noProof="0" dirty="0">
                        <a:latin typeface="Courier New"/>
                        <a:cs typeface="Courier New"/>
                      </a:endParaRPr>
                    </a:p>
                  </a:txBody>
                  <a:tcPr marL="0" marR="0" marT="0" marB="0">
                    <a:solidFill>
                      <a:srgbClr val="000000"/>
                    </a:solidFill>
                  </a:tcPr>
                </a:tc>
                <a:tc>
                  <a:txBody>
                    <a:bodyPr/>
                    <a:lstStyle/>
                    <a:p>
                      <a:pPr algn="ctr">
                        <a:lnSpc>
                          <a:spcPts val="1595"/>
                        </a:lnSpc>
                      </a:pPr>
                      <a:r>
                        <a:rPr lang="en-GB" sz="1600" spc="-5" noProof="0" dirty="0">
                          <a:solidFill>
                            <a:srgbClr val="FFFFFF"/>
                          </a:solidFill>
                          <a:latin typeface="Courier New"/>
                          <a:cs typeface="Courier New"/>
                        </a:rPr>
                        <a:t>mean</a:t>
                      </a:r>
                      <a:endParaRPr lang="en-GB" sz="1600" noProof="0" dirty="0">
                        <a:latin typeface="Courier New"/>
                        <a:cs typeface="Courier New"/>
                      </a:endParaRPr>
                    </a:p>
                  </a:txBody>
                  <a:tcPr marL="0" marR="0" marT="0" marB="0">
                    <a:solidFill>
                      <a:srgbClr val="000000"/>
                    </a:solidFill>
                  </a:tcPr>
                </a:tc>
                <a:tc>
                  <a:txBody>
                    <a:bodyPr/>
                    <a:lstStyle/>
                    <a:p>
                      <a:pPr algn="ctr">
                        <a:lnSpc>
                          <a:spcPts val="1595"/>
                        </a:lnSpc>
                      </a:pPr>
                      <a:r>
                        <a:rPr lang="en-GB" sz="1600" spc="-5" noProof="0" dirty="0">
                          <a:solidFill>
                            <a:srgbClr val="FFFFFF"/>
                          </a:solidFill>
                          <a:latin typeface="Courier New"/>
                          <a:cs typeface="Courier New"/>
                        </a:rPr>
                        <a:t>what</a:t>
                      </a:r>
                      <a:endParaRPr lang="en-GB" sz="1600" noProof="0" dirty="0">
                        <a:latin typeface="Courier New"/>
                        <a:cs typeface="Courier New"/>
                      </a:endParaRPr>
                    </a:p>
                  </a:txBody>
                  <a:tcPr marL="0" marR="0" marT="0" marB="0">
                    <a:solidFill>
                      <a:srgbClr val="000000"/>
                    </a:solidFill>
                  </a:tcPr>
                </a:tc>
                <a:tc>
                  <a:txBody>
                    <a:bodyPr/>
                    <a:lstStyle/>
                    <a:p>
                      <a:pPr marL="60960">
                        <a:lnSpc>
                          <a:spcPts val="1595"/>
                        </a:lnSpc>
                      </a:pPr>
                      <a:r>
                        <a:rPr lang="en-GB" sz="1600" noProof="0" dirty="0">
                          <a:solidFill>
                            <a:srgbClr val="FFFFFF"/>
                          </a:solidFill>
                          <a:latin typeface="Courier New"/>
                          <a:cs typeface="Courier New"/>
                        </a:rPr>
                        <a:t>I</a:t>
                      </a:r>
                      <a:endParaRPr lang="en-GB" sz="1600" noProof="0" dirty="0">
                        <a:latin typeface="Courier New"/>
                        <a:cs typeface="Courier New"/>
                      </a:endParaRPr>
                    </a:p>
                  </a:txBody>
                  <a:tcPr marL="0" marR="0" marT="0" marB="0">
                    <a:solidFill>
                      <a:srgbClr val="000000"/>
                    </a:solidFill>
                  </a:tcPr>
                </a:tc>
                <a:tc>
                  <a:txBody>
                    <a:bodyPr/>
                    <a:lstStyle/>
                    <a:p>
                      <a:pPr algn="ctr">
                        <a:lnSpc>
                          <a:spcPts val="1595"/>
                        </a:lnSpc>
                      </a:pPr>
                      <a:r>
                        <a:rPr lang="en-GB" sz="1600" spc="-5" noProof="0" dirty="0">
                          <a:solidFill>
                            <a:srgbClr val="FFFFFF"/>
                          </a:solidFill>
                          <a:latin typeface="Courier New"/>
                          <a:cs typeface="Courier New"/>
                        </a:rPr>
                        <a:t>think</a:t>
                      </a:r>
                      <a:endParaRPr lang="en-GB" sz="1600" noProof="0" dirty="0">
                        <a:latin typeface="Courier New"/>
                        <a:cs typeface="Courier New"/>
                      </a:endParaRPr>
                    </a:p>
                  </a:txBody>
                  <a:tcPr marL="0" marR="0" marT="0" marB="0">
                    <a:solidFill>
                      <a:srgbClr val="000000"/>
                    </a:solidFill>
                  </a:tcPr>
                </a:tc>
                <a:tc>
                  <a:txBody>
                    <a:bodyPr/>
                    <a:lstStyle/>
                    <a:p>
                      <a:pPr algn="ctr">
                        <a:lnSpc>
                          <a:spcPts val="1595"/>
                        </a:lnSpc>
                      </a:pPr>
                      <a:r>
                        <a:rPr lang="en-GB" sz="1600" spc="-5" noProof="0" dirty="0">
                          <a:solidFill>
                            <a:srgbClr val="FFFFFF"/>
                          </a:solidFill>
                          <a:latin typeface="Courier New"/>
                          <a:cs typeface="Courier New"/>
                        </a:rPr>
                        <a:t>it</a:t>
                      </a:r>
                      <a:endParaRPr lang="en-GB" sz="1600" noProof="0" dirty="0">
                        <a:latin typeface="Courier New"/>
                        <a:cs typeface="Courier New"/>
                      </a:endParaRPr>
                    </a:p>
                  </a:txBody>
                  <a:tcPr marL="0" marR="0" marT="0" marB="0">
                    <a:solidFill>
                      <a:srgbClr val="000000"/>
                    </a:solidFill>
                  </a:tcPr>
                </a:tc>
                <a:tc>
                  <a:txBody>
                    <a:bodyPr/>
                    <a:lstStyle/>
                    <a:p>
                      <a:pPr marR="14604" algn="r">
                        <a:lnSpc>
                          <a:spcPts val="1595"/>
                        </a:lnSpc>
                      </a:pPr>
                      <a:r>
                        <a:rPr lang="en-GB" sz="1600" spc="-5" noProof="0" dirty="0">
                          <a:solidFill>
                            <a:srgbClr val="FFFFFF"/>
                          </a:solidFill>
                          <a:latin typeface="Courier New"/>
                          <a:cs typeface="Courier New"/>
                        </a:rPr>
                        <a:t>does”;</a:t>
                      </a:r>
                      <a:endParaRPr lang="en-GB" sz="1600" noProof="0" dirty="0">
                        <a:latin typeface="Courier New"/>
                        <a:cs typeface="Courier New"/>
                      </a:endParaRPr>
                    </a:p>
                  </a:txBody>
                  <a:tcPr marL="0" marR="0" marT="0" marB="0">
                    <a:solidFill>
                      <a:srgbClr val="000000"/>
                    </a:solidFill>
                  </a:tcPr>
                </a:tc>
                <a:extLst>
                  <a:ext uri="{0D108BD9-81ED-4DB2-BD59-A6C34878D82A}">
                    <a16:rowId xmlns:a16="http://schemas.microsoft.com/office/drawing/2014/main" val="10000"/>
                  </a:ext>
                </a:extLst>
              </a:tr>
              <a:tr h="1460500">
                <a:tc>
                  <a:txBody>
                    <a:bodyPr/>
                    <a:lstStyle/>
                    <a:p>
                      <a:pPr marL="22225">
                        <a:lnSpc>
                          <a:spcPts val="1685"/>
                        </a:lnSpc>
                      </a:pPr>
                      <a:r>
                        <a:rPr lang="en-GB" sz="1600" spc="-5" noProof="0" dirty="0">
                          <a:solidFill>
                            <a:srgbClr val="FFFFFF"/>
                          </a:solidFill>
                          <a:latin typeface="Courier New"/>
                          <a:cs typeface="Courier New"/>
                        </a:rPr>
                        <a:t>console.log(message);</a:t>
                      </a:r>
                      <a:endParaRPr lang="en-GB" sz="1600" noProof="0" dirty="0">
                        <a:latin typeface="Courier New"/>
                        <a:cs typeface="Courier New"/>
                      </a:endParaRPr>
                    </a:p>
                    <a:p>
                      <a:pPr marL="22225" marR="53340">
                        <a:lnSpc>
                          <a:spcPts val="1900"/>
                        </a:lnSpc>
                        <a:spcBef>
                          <a:spcPts val="70"/>
                        </a:spcBef>
                      </a:pPr>
                      <a:r>
                        <a:rPr lang="en-GB" sz="1600" spc="-5" noProof="0" dirty="0">
                          <a:solidFill>
                            <a:srgbClr val="FFFFFF"/>
                          </a:solidFill>
                          <a:latin typeface="Courier New"/>
                          <a:cs typeface="Courier New"/>
                        </a:rPr>
                        <a:t>message </a:t>
                      </a:r>
                      <a:r>
                        <a:rPr lang="en-GB" sz="1600" noProof="0" dirty="0">
                          <a:solidFill>
                            <a:srgbClr val="FFFFFF"/>
                          </a:solidFill>
                          <a:latin typeface="Courier New"/>
                          <a:cs typeface="Courier New"/>
                        </a:rPr>
                        <a:t>= </a:t>
                      </a:r>
                      <a:r>
                        <a:rPr lang="en-GB" sz="1600" spc="-5" noProof="0" dirty="0">
                          <a:solidFill>
                            <a:srgbClr val="FFFFFF"/>
                          </a:solidFill>
                          <a:latin typeface="Courier New"/>
                          <a:cs typeface="Courier New"/>
                        </a:rPr>
                        <a:t>“Cursive writing does not  message </a:t>
                      </a:r>
                      <a:r>
                        <a:rPr lang="en-GB" sz="1600" noProof="0" dirty="0">
                          <a:solidFill>
                            <a:srgbClr val="FFFFFF"/>
                          </a:solidFill>
                          <a:latin typeface="Courier New"/>
                          <a:cs typeface="Courier New"/>
                        </a:rPr>
                        <a:t>= </a:t>
                      </a:r>
                      <a:r>
                        <a:rPr lang="en-GB" sz="1600" spc="-5" noProof="0" dirty="0" err="1">
                          <a:solidFill>
                            <a:srgbClr val="FFFFFF"/>
                          </a:solidFill>
                          <a:latin typeface="Courier New"/>
                          <a:cs typeface="Courier New"/>
                        </a:rPr>
                        <a:t>message.toUpperCase</a:t>
                      </a:r>
                      <a:r>
                        <a:rPr lang="en-GB" sz="1600" spc="-5" noProof="0" dirty="0">
                          <a:solidFill>
                            <a:srgbClr val="FFFFFF"/>
                          </a:solidFill>
                          <a:latin typeface="Courier New"/>
                          <a:cs typeface="Courier New"/>
                        </a:rPr>
                        <a:t>();  console.log(message);</a:t>
                      </a:r>
                      <a:endParaRPr lang="en-GB" sz="1600" noProof="0" dirty="0">
                        <a:latin typeface="Courier New"/>
                        <a:cs typeface="Courier New"/>
                      </a:endParaRPr>
                    </a:p>
                    <a:p>
                      <a:pPr marL="22225" marR="53340">
                        <a:lnSpc>
                          <a:spcPts val="1900"/>
                        </a:lnSpc>
                      </a:pPr>
                      <a:r>
                        <a:rPr lang="en-GB" sz="1600" spc="-5" noProof="0" dirty="0">
                          <a:solidFill>
                            <a:srgbClr val="FFFFFF"/>
                          </a:solidFill>
                          <a:latin typeface="Courier New"/>
                          <a:cs typeface="Courier New"/>
                        </a:rPr>
                        <a:t>message </a:t>
                      </a:r>
                      <a:r>
                        <a:rPr lang="en-GB" sz="1600" noProof="0" dirty="0">
                          <a:solidFill>
                            <a:srgbClr val="FFFFFF"/>
                          </a:solidFill>
                          <a:latin typeface="Courier New"/>
                          <a:cs typeface="Courier New"/>
                        </a:rPr>
                        <a:t>= </a:t>
                      </a:r>
                      <a:r>
                        <a:rPr lang="en-GB" sz="1600" spc="-5" noProof="0" dirty="0">
                          <a:solidFill>
                            <a:srgbClr val="FFFFFF"/>
                          </a:solidFill>
                          <a:latin typeface="Courier New"/>
                          <a:cs typeface="Courier New"/>
                        </a:rPr>
                        <a:t>“Cursive writing does not  message </a:t>
                      </a:r>
                      <a:r>
                        <a:rPr lang="en-GB" sz="1600" noProof="0" dirty="0">
                          <a:solidFill>
                            <a:srgbClr val="FFFFFF"/>
                          </a:solidFill>
                          <a:latin typeface="Courier New"/>
                          <a:cs typeface="Courier New"/>
                        </a:rPr>
                        <a:t>=</a:t>
                      </a:r>
                      <a:r>
                        <a:rPr lang="en-GB" sz="1600" spc="5" noProof="0" dirty="0">
                          <a:solidFill>
                            <a:srgbClr val="FFFFFF"/>
                          </a:solidFill>
                          <a:latin typeface="Courier New"/>
                          <a:cs typeface="Courier New"/>
                        </a:rPr>
                        <a:t> </a:t>
                      </a:r>
                      <a:r>
                        <a:rPr lang="en-GB" sz="1600" spc="-5" noProof="0" dirty="0" err="1">
                          <a:solidFill>
                            <a:srgbClr val="FFFFFF"/>
                          </a:solidFill>
                          <a:latin typeface="Courier New"/>
                          <a:cs typeface="Courier New"/>
                        </a:rPr>
                        <a:t>message.toUpperCase</a:t>
                      </a:r>
                      <a:r>
                        <a:rPr lang="en-GB" sz="1600" spc="-5" noProof="0" dirty="0">
                          <a:solidFill>
                            <a:srgbClr val="FFFFFF"/>
                          </a:solidFill>
                          <a:latin typeface="Courier New"/>
                          <a:cs typeface="Courier New"/>
                        </a:rPr>
                        <a:t>();</a:t>
                      </a:r>
                      <a:endParaRPr lang="en-GB" sz="1600" noProof="0" dirty="0">
                        <a:latin typeface="Courier New"/>
                        <a:cs typeface="Courier New"/>
                      </a:endParaRPr>
                    </a:p>
                  </a:txBody>
                  <a:tcPr marL="0" marR="0" marT="0" marB="0">
                    <a:solidFill>
                      <a:srgbClr val="000000"/>
                    </a:solidFill>
                  </a:tcPr>
                </a:tc>
                <a:tc>
                  <a:txBody>
                    <a:bodyPr/>
                    <a:lstStyle/>
                    <a:p>
                      <a:pPr>
                        <a:lnSpc>
                          <a:spcPct val="100000"/>
                        </a:lnSpc>
                        <a:spcBef>
                          <a:spcPts val="8"/>
                        </a:spcBef>
                      </a:pPr>
                      <a:endParaRPr lang="en-GB" sz="1450" noProof="0" dirty="0">
                        <a:latin typeface="Times New Roman"/>
                        <a:cs typeface="Times New Roman"/>
                      </a:endParaRPr>
                    </a:p>
                    <a:p>
                      <a:pPr marL="60960">
                        <a:lnSpc>
                          <a:spcPct val="100000"/>
                        </a:lnSpc>
                      </a:pPr>
                      <a:r>
                        <a:rPr lang="en-GB" sz="1600" spc="-5" noProof="0" dirty="0">
                          <a:solidFill>
                            <a:srgbClr val="FFFFFF"/>
                          </a:solidFill>
                          <a:latin typeface="Courier New"/>
                          <a:cs typeface="Courier New"/>
                        </a:rPr>
                        <a:t>mean</a:t>
                      </a:r>
                      <a:endParaRPr lang="en-GB" sz="1600" noProof="0" dirty="0">
                        <a:latin typeface="Courier New"/>
                        <a:cs typeface="Courier New"/>
                      </a:endParaRPr>
                    </a:p>
                    <a:p>
                      <a:pPr>
                        <a:lnSpc>
                          <a:spcPct val="100000"/>
                        </a:lnSpc>
                      </a:pPr>
                      <a:endParaRPr lang="en-GB" sz="1600" noProof="0" dirty="0">
                        <a:latin typeface="Times New Roman"/>
                        <a:cs typeface="Times New Roman"/>
                      </a:endParaRPr>
                    </a:p>
                    <a:p>
                      <a:pPr>
                        <a:lnSpc>
                          <a:spcPct val="100000"/>
                        </a:lnSpc>
                        <a:spcBef>
                          <a:spcPts val="42"/>
                        </a:spcBef>
                      </a:pPr>
                      <a:endParaRPr lang="en-GB" sz="1650" noProof="0" dirty="0">
                        <a:latin typeface="Times New Roman"/>
                        <a:cs typeface="Times New Roman"/>
                      </a:endParaRPr>
                    </a:p>
                    <a:p>
                      <a:pPr marL="60960">
                        <a:lnSpc>
                          <a:spcPct val="100000"/>
                        </a:lnSpc>
                      </a:pPr>
                      <a:r>
                        <a:rPr lang="en-GB" sz="1600" spc="-5" noProof="0" dirty="0">
                          <a:solidFill>
                            <a:srgbClr val="FFFFFF"/>
                          </a:solidFill>
                          <a:latin typeface="Courier New"/>
                          <a:cs typeface="Courier New"/>
                        </a:rPr>
                        <a:t>mean</a:t>
                      </a:r>
                      <a:endParaRPr lang="en-GB" sz="1600" noProof="0" dirty="0">
                        <a:latin typeface="Courier New"/>
                        <a:cs typeface="Courier New"/>
                      </a:endParaRPr>
                    </a:p>
                  </a:txBody>
                  <a:tcPr marL="0" marR="0" marT="0" marB="0">
                    <a:solidFill>
                      <a:srgbClr val="000000"/>
                    </a:solidFill>
                  </a:tcPr>
                </a:tc>
                <a:tc>
                  <a:txBody>
                    <a:bodyPr/>
                    <a:lstStyle/>
                    <a:p>
                      <a:pPr>
                        <a:lnSpc>
                          <a:spcPct val="100000"/>
                        </a:lnSpc>
                        <a:spcBef>
                          <a:spcPts val="8"/>
                        </a:spcBef>
                      </a:pPr>
                      <a:endParaRPr lang="en-GB" sz="1450" noProof="0" dirty="0">
                        <a:latin typeface="Times New Roman"/>
                        <a:cs typeface="Times New Roman"/>
                      </a:endParaRPr>
                    </a:p>
                    <a:p>
                      <a:pPr marL="60960">
                        <a:lnSpc>
                          <a:spcPct val="100000"/>
                        </a:lnSpc>
                      </a:pPr>
                      <a:r>
                        <a:rPr lang="en-GB" sz="1600" spc="-5" noProof="0" dirty="0">
                          <a:solidFill>
                            <a:srgbClr val="FFFFFF"/>
                          </a:solidFill>
                          <a:latin typeface="Courier New"/>
                          <a:cs typeface="Courier New"/>
                        </a:rPr>
                        <a:t>what</a:t>
                      </a:r>
                      <a:endParaRPr lang="en-GB" sz="1600" noProof="0" dirty="0">
                        <a:latin typeface="Courier New"/>
                        <a:cs typeface="Courier New"/>
                      </a:endParaRPr>
                    </a:p>
                    <a:p>
                      <a:pPr>
                        <a:lnSpc>
                          <a:spcPct val="100000"/>
                        </a:lnSpc>
                      </a:pPr>
                      <a:endParaRPr lang="en-GB" sz="1600" noProof="0" dirty="0">
                        <a:latin typeface="Times New Roman"/>
                        <a:cs typeface="Times New Roman"/>
                      </a:endParaRPr>
                    </a:p>
                    <a:p>
                      <a:pPr>
                        <a:lnSpc>
                          <a:spcPct val="100000"/>
                        </a:lnSpc>
                        <a:spcBef>
                          <a:spcPts val="42"/>
                        </a:spcBef>
                      </a:pPr>
                      <a:endParaRPr lang="en-GB" sz="1650" noProof="0" dirty="0">
                        <a:latin typeface="Times New Roman"/>
                        <a:cs typeface="Times New Roman"/>
                      </a:endParaRPr>
                    </a:p>
                    <a:p>
                      <a:pPr marL="60960">
                        <a:lnSpc>
                          <a:spcPct val="100000"/>
                        </a:lnSpc>
                      </a:pPr>
                      <a:r>
                        <a:rPr lang="en-GB" sz="1600" spc="-5" noProof="0" dirty="0">
                          <a:solidFill>
                            <a:srgbClr val="FFFFFF"/>
                          </a:solidFill>
                          <a:latin typeface="Courier New"/>
                          <a:cs typeface="Courier New"/>
                        </a:rPr>
                        <a:t>what</a:t>
                      </a:r>
                      <a:endParaRPr lang="en-GB" sz="1600" noProof="0" dirty="0">
                        <a:latin typeface="Courier New"/>
                        <a:cs typeface="Courier New"/>
                      </a:endParaRPr>
                    </a:p>
                  </a:txBody>
                  <a:tcPr marL="0" marR="0" marT="0" marB="0">
                    <a:solidFill>
                      <a:srgbClr val="000000"/>
                    </a:solidFill>
                  </a:tcPr>
                </a:tc>
                <a:tc>
                  <a:txBody>
                    <a:bodyPr/>
                    <a:lstStyle/>
                    <a:p>
                      <a:pPr>
                        <a:lnSpc>
                          <a:spcPct val="100000"/>
                        </a:lnSpc>
                        <a:spcBef>
                          <a:spcPts val="8"/>
                        </a:spcBef>
                      </a:pPr>
                      <a:endParaRPr lang="en-GB" sz="1450" noProof="0" dirty="0">
                        <a:latin typeface="Times New Roman"/>
                        <a:cs typeface="Times New Roman"/>
                      </a:endParaRPr>
                    </a:p>
                    <a:p>
                      <a:pPr marL="60960">
                        <a:lnSpc>
                          <a:spcPct val="100000"/>
                        </a:lnSpc>
                      </a:pPr>
                      <a:r>
                        <a:rPr lang="en-GB" sz="1600" noProof="0" dirty="0">
                          <a:solidFill>
                            <a:srgbClr val="FFFFFF"/>
                          </a:solidFill>
                          <a:latin typeface="Courier New"/>
                          <a:cs typeface="Courier New"/>
                        </a:rPr>
                        <a:t>I</a:t>
                      </a:r>
                      <a:endParaRPr lang="en-GB" sz="1600" noProof="0" dirty="0">
                        <a:latin typeface="Courier New"/>
                        <a:cs typeface="Courier New"/>
                      </a:endParaRPr>
                    </a:p>
                    <a:p>
                      <a:pPr>
                        <a:lnSpc>
                          <a:spcPct val="100000"/>
                        </a:lnSpc>
                      </a:pPr>
                      <a:endParaRPr lang="en-GB" sz="1600" noProof="0" dirty="0">
                        <a:latin typeface="Times New Roman"/>
                        <a:cs typeface="Times New Roman"/>
                      </a:endParaRPr>
                    </a:p>
                    <a:p>
                      <a:pPr>
                        <a:lnSpc>
                          <a:spcPct val="100000"/>
                        </a:lnSpc>
                        <a:spcBef>
                          <a:spcPts val="42"/>
                        </a:spcBef>
                      </a:pPr>
                      <a:endParaRPr lang="en-GB" sz="1650" noProof="0" dirty="0">
                        <a:latin typeface="Times New Roman"/>
                        <a:cs typeface="Times New Roman"/>
                      </a:endParaRPr>
                    </a:p>
                    <a:p>
                      <a:pPr marL="60960">
                        <a:lnSpc>
                          <a:spcPct val="100000"/>
                        </a:lnSpc>
                      </a:pPr>
                      <a:r>
                        <a:rPr lang="en-GB" sz="1600" noProof="0" dirty="0">
                          <a:solidFill>
                            <a:srgbClr val="FFFFFF"/>
                          </a:solidFill>
                          <a:latin typeface="Courier New"/>
                          <a:cs typeface="Courier New"/>
                        </a:rPr>
                        <a:t>I</a:t>
                      </a:r>
                      <a:endParaRPr lang="en-GB" sz="1600" noProof="0" dirty="0">
                        <a:latin typeface="Courier New"/>
                        <a:cs typeface="Courier New"/>
                      </a:endParaRPr>
                    </a:p>
                  </a:txBody>
                  <a:tcPr marL="0" marR="0" marT="0" marB="0">
                    <a:solidFill>
                      <a:srgbClr val="000000"/>
                    </a:solidFill>
                  </a:tcPr>
                </a:tc>
                <a:tc>
                  <a:txBody>
                    <a:bodyPr/>
                    <a:lstStyle/>
                    <a:p>
                      <a:pPr>
                        <a:lnSpc>
                          <a:spcPct val="100000"/>
                        </a:lnSpc>
                        <a:spcBef>
                          <a:spcPts val="8"/>
                        </a:spcBef>
                      </a:pPr>
                      <a:endParaRPr lang="en-GB" sz="1450" noProof="0" dirty="0">
                        <a:latin typeface="Times New Roman"/>
                        <a:cs typeface="Times New Roman"/>
                      </a:endParaRPr>
                    </a:p>
                    <a:p>
                      <a:pPr marL="60960">
                        <a:lnSpc>
                          <a:spcPct val="100000"/>
                        </a:lnSpc>
                      </a:pPr>
                      <a:r>
                        <a:rPr lang="en-GB" sz="1600" spc="-5" noProof="0" dirty="0">
                          <a:solidFill>
                            <a:srgbClr val="FFFFFF"/>
                          </a:solidFill>
                          <a:latin typeface="Courier New"/>
                          <a:cs typeface="Courier New"/>
                        </a:rPr>
                        <a:t>think</a:t>
                      </a:r>
                      <a:endParaRPr lang="en-GB" sz="1600" noProof="0" dirty="0">
                        <a:latin typeface="Courier New"/>
                        <a:cs typeface="Courier New"/>
                      </a:endParaRPr>
                    </a:p>
                    <a:p>
                      <a:pPr>
                        <a:lnSpc>
                          <a:spcPct val="100000"/>
                        </a:lnSpc>
                      </a:pPr>
                      <a:endParaRPr lang="en-GB" sz="1600" noProof="0" dirty="0">
                        <a:latin typeface="Times New Roman"/>
                        <a:cs typeface="Times New Roman"/>
                      </a:endParaRPr>
                    </a:p>
                    <a:p>
                      <a:pPr>
                        <a:lnSpc>
                          <a:spcPct val="100000"/>
                        </a:lnSpc>
                        <a:spcBef>
                          <a:spcPts val="42"/>
                        </a:spcBef>
                      </a:pPr>
                      <a:endParaRPr lang="en-GB" sz="1650" noProof="0" dirty="0">
                        <a:latin typeface="Times New Roman"/>
                        <a:cs typeface="Times New Roman"/>
                      </a:endParaRPr>
                    </a:p>
                    <a:p>
                      <a:pPr marL="60960">
                        <a:lnSpc>
                          <a:spcPct val="100000"/>
                        </a:lnSpc>
                      </a:pPr>
                      <a:r>
                        <a:rPr lang="en-GB" sz="1600" spc="-5" noProof="0" dirty="0">
                          <a:solidFill>
                            <a:srgbClr val="FFFFFF"/>
                          </a:solidFill>
                          <a:latin typeface="Courier New"/>
                          <a:cs typeface="Courier New"/>
                        </a:rPr>
                        <a:t>think</a:t>
                      </a:r>
                      <a:endParaRPr lang="en-GB" sz="1600" noProof="0" dirty="0">
                        <a:latin typeface="Courier New"/>
                        <a:cs typeface="Courier New"/>
                      </a:endParaRPr>
                    </a:p>
                  </a:txBody>
                  <a:tcPr marL="0" marR="0" marT="0" marB="0">
                    <a:solidFill>
                      <a:srgbClr val="000000"/>
                    </a:solidFill>
                  </a:tcPr>
                </a:tc>
                <a:tc>
                  <a:txBody>
                    <a:bodyPr/>
                    <a:lstStyle/>
                    <a:p>
                      <a:pPr>
                        <a:lnSpc>
                          <a:spcPct val="100000"/>
                        </a:lnSpc>
                        <a:spcBef>
                          <a:spcPts val="8"/>
                        </a:spcBef>
                      </a:pPr>
                      <a:endParaRPr lang="en-GB" sz="1450" noProof="0" dirty="0">
                        <a:latin typeface="Times New Roman"/>
                        <a:cs typeface="Times New Roman"/>
                      </a:endParaRPr>
                    </a:p>
                    <a:p>
                      <a:pPr marL="60960">
                        <a:lnSpc>
                          <a:spcPct val="100000"/>
                        </a:lnSpc>
                      </a:pPr>
                      <a:r>
                        <a:rPr lang="en-GB" sz="1600" spc="-5" noProof="0" dirty="0">
                          <a:solidFill>
                            <a:srgbClr val="FFFFFF"/>
                          </a:solidFill>
                          <a:latin typeface="Courier New"/>
                          <a:cs typeface="Courier New"/>
                        </a:rPr>
                        <a:t>it</a:t>
                      </a:r>
                      <a:endParaRPr lang="en-GB" sz="1600" noProof="0" dirty="0">
                        <a:latin typeface="Courier New"/>
                        <a:cs typeface="Courier New"/>
                      </a:endParaRPr>
                    </a:p>
                    <a:p>
                      <a:pPr>
                        <a:lnSpc>
                          <a:spcPct val="100000"/>
                        </a:lnSpc>
                      </a:pPr>
                      <a:endParaRPr lang="en-GB" sz="1600" noProof="0" dirty="0">
                        <a:latin typeface="Times New Roman"/>
                        <a:cs typeface="Times New Roman"/>
                      </a:endParaRPr>
                    </a:p>
                    <a:p>
                      <a:pPr>
                        <a:lnSpc>
                          <a:spcPct val="100000"/>
                        </a:lnSpc>
                        <a:spcBef>
                          <a:spcPts val="42"/>
                        </a:spcBef>
                      </a:pPr>
                      <a:endParaRPr lang="en-GB" sz="1650" noProof="0" dirty="0">
                        <a:latin typeface="Times New Roman"/>
                        <a:cs typeface="Times New Roman"/>
                      </a:endParaRPr>
                    </a:p>
                    <a:p>
                      <a:pPr marL="60960">
                        <a:lnSpc>
                          <a:spcPct val="100000"/>
                        </a:lnSpc>
                      </a:pPr>
                      <a:r>
                        <a:rPr lang="en-GB" sz="1600" spc="-5" noProof="0" dirty="0">
                          <a:solidFill>
                            <a:srgbClr val="FFFFFF"/>
                          </a:solidFill>
                          <a:latin typeface="Courier New"/>
                          <a:cs typeface="Courier New"/>
                        </a:rPr>
                        <a:t>it</a:t>
                      </a:r>
                      <a:endParaRPr lang="en-GB" sz="1600" noProof="0" dirty="0">
                        <a:latin typeface="Courier New"/>
                        <a:cs typeface="Courier New"/>
                      </a:endParaRPr>
                    </a:p>
                  </a:txBody>
                  <a:tcPr marL="0" marR="0" marT="0" marB="0">
                    <a:solidFill>
                      <a:srgbClr val="000000"/>
                    </a:solidFill>
                  </a:tcPr>
                </a:tc>
                <a:tc>
                  <a:txBody>
                    <a:bodyPr/>
                    <a:lstStyle/>
                    <a:p>
                      <a:pPr>
                        <a:lnSpc>
                          <a:spcPct val="100000"/>
                        </a:lnSpc>
                        <a:spcBef>
                          <a:spcPts val="8"/>
                        </a:spcBef>
                      </a:pPr>
                      <a:endParaRPr lang="en-GB" sz="1450" noProof="0" dirty="0">
                        <a:latin typeface="Times New Roman"/>
                        <a:cs typeface="Times New Roman"/>
                      </a:endParaRPr>
                    </a:p>
                    <a:p>
                      <a:pPr marL="60960">
                        <a:lnSpc>
                          <a:spcPct val="100000"/>
                        </a:lnSpc>
                      </a:pPr>
                      <a:r>
                        <a:rPr lang="en-GB" sz="1600" spc="-5" noProof="0" dirty="0">
                          <a:solidFill>
                            <a:srgbClr val="FFFFFF"/>
                          </a:solidFill>
                          <a:latin typeface="Courier New"/>
                          <a:cs typeface="Courier New"/>
                        </a:rPr>
                        <a:t>does”;</a:t>
                      </a:r>
                      <a:endParaRPr lang="en-GB" sz="1600" noProof="0" dirty="0">
                        <a:latin typeface="Courier New"/>
                        <a:cs typeface="Courier New"/>
                      </a:endParaRPr>
                    </a:p>
                    <a:p>
                      <a:pPr>
                        <a:lnSpc>
                          <a:spcPct val="100000"/>
                        </a:lnSpc>
                      </a:pPr>
                      <a:endParaRPr lang="en-GB" sz="1600" noProof="0" dirty="0">
                        <a:latin typeface="Times New Roman"/>
                        <a:cs typeface="Times New Roman"/>
                      </a:endParaRPr>
                    </a:p>
                    <a:p>
                      <a:pPr>
                        <a:lnSpc>
                          <a:spcPct val="100000"/>
                        </a:lnSpc>
                        <a:spcBef>
                          <a:spcPts val="42"/>
                        </a:spcBef>
                      </a:pPr>
                      <a:endParaRPr lang="en-GB" sz="1650" noProof="0" dirty="0">
                        <a:latin typeface="Times New Roman"/>
                        <a:cs typeface="Times New Roman"/>
                      </a:endParaRPr>
                    </a:p>
                    <a:p>
                      <a:pPr marL="60960">
                        <a:lnSpc>
                          <a:spcPct val="100000"/>
                        </a:lnSpc>
                      </a:pPr>
                      <a:r>
                        <a:rPr lang="en-GB" sz="1600" spc="-5" noProof="0" dirty="0">
                          <a:solidFill>
                            <a:srgbClr val="FFFFFF"/>
                          </a:solidFill>
                          <a:latin typeface="Courier New"/>
                          <a:cs typeface="Courier New"/>
                        </a:rPr>
                        <a:t>does”;</a:t>
                      </a:r>
                      <a:endParaRPr lang="en-GB" sz="1600" noProof="0" dirty="0">
                        <a:latin typeface="Courier New"/>
                        <a:cs typeface="Courier New"/>
                      </a:endParaRPr>
                    </a:p>
                  </a:txBody>
                  <a:tcPr marL="0" marR="0" marT="0" marB="0">
                    <a:solidFill>
                      <a:srgbClr val="000000"/>
                    </a:solidFill>
                  </a:tcPr>
                </a:tc>
                <a:extLst>
                  <a:ext uri="{0D108BD9-81ED-4DB2-BD59-A6C34878D82A}">
                    <a16:rowId xmlns:a16="http://schemas.microsoft.com/office/drawing/2014/main" val="10001"/>
                  </a:ext>
                </a:extLst>
              </a:tr>
              <a:tr h="977899">
                <a:tc>
                  <a:txBody>
                    <a:bodyPr/>
                    <a:lstStyle/>
                    <a:p>
                      <a:pPr marL="22225">
                        <a:lnSpc>
                          <a:spcPts val="1685"/>
                        </a:lnSpc>
                      </a:pPr>
                      <a:r>
                        <a:rPr lang="en-GB" sz="1600" spc="-5" noProof="0" dirty="0">
                          <a:solidFill>
                            <a:srgbClr val="FFFFFF"/>
                          </a:solidFill>
                          <a:latin typeface="Courier New"/>
                          <a:cs typeface="Courier New"/>
                        </a:rPr>
                        <a:t>console.log(message);</a:t>
                      </a:r>
                      <a:endParaRPr lang="en-GB" sz="1600" noProof="0" dirty="0">
                        <a:latin typeface="Courier New"/>
                        <a:cs typeface="Courier New"/>
                      </a:endParaRPr>
                    </a:p>
                    <a:p>
                      <a:pPr marL="22225" marR="53340">
                        <a:lnSpc>
                          <a:spcPts val="1900"/>
                        </a:lnSpc>
                        <a:spcBef>
                          <a:spcPts val="70"/>
                        </a:spcBef>
                      </a:pPr>
                      <a:r>
                        <a:rPr lang="en-GB" sz="1600" spc="-5" noProof="0" dirty="0">
                          <a:solidFill>
                            <a:srgbClr val="FFFFFF"/>
                          </a:solidFill>
                          <a:latin typeface="Courier New"/>
                          <a:cs typeface="Courier New"/>
                        </a:rPr>
                        <a:t>message </a:t>
                      </a:r>
                      <a:r>
                        <a:rPr lang="en-GB" sz="1600" noProof="0" dirty="0">
                          <a:solidFill>
                            <a:srgbClr val="FFFFFF"/>
                          </a:solidFill>
                          <a:latin typeface="Courier New"/>
                          <a:cs typeface="Courier New"/>
                        </a:rPr>
                        <a:t>= </a:t>
                      </a:r>
                      <a:r>
                        <a:rPr lang="en-GB" sz="1600" spc="-5" noProof="0" dirty="0">
                          <a:solidFill>
                            <a:srgbClr val="FFFFFF"/>
                          </a:solidFill>
                          <a:latin typeface="Courier New"/>
                          <a:cs typeface="Courier New"/>
                        </a:rPr>
                        <a:t>“Cursive writing does not  message </a:t>
                      </a:r>
                      <a:r>
                        <a:rPr lang="en-GB" sz="1600" noProof="0" dirty="0">
                          <a:solidFill>
                            <a:srgbClr val="FFFFFF"/>
                          </a:solidFill>
                          <a:latin typeface="Courier New"/>
                          <a:cs typeface="Courier New"/>
                        </a:rPr>
                        <a:t>= </a:t>
                      </a:r>
                      <a:r>
                        <a:rPr lang="en-GB" sz="1600" spc="-5" noProof="0" dirty="0" err="1">
                          <a:solidFill>
                            <a:srgbClr val="FFFFFF"/>
                          </a:solidFill>
                          <a:latin typeface="Courier New"/>
                          <a:cs typeface="Courier New"/>
                        </a:rPr>
                        <a:t>message.toUpperCase</a:t>
                      </a:r>
                      <a:r>
                        <a:rPr lang="en-GB" sz="1600" spc="-5" noProof="0" dirty="0">
                          <a:solidFill>
                            <a:srgbClr val="FFFFFF"/>
                          </a:solidFill>
                          <a:latin typeface="Courier New"/>
                          <a:cs typeface="Courier New"/>
                        </a:rPr>
                        <a:t>();  console.log(message);</a:t>
                      </a:r>
                      <a:endParaRPr lang="en-GB" sz="1600" noProof="0" dirty="0">
                        <a:latin typeface="Courier New"/>
                        <a:cs typeface="Courier New"/>
                      </a:endParaRPr>
                    </a:p>
                  </a:txBody>
                  <a:tcPr marL="0" marR="0" marT="0" marB="0">
                    <a:solidFill>
                      <a:srgbClr val="000000"/>
                    </a:solidFill>
                  </a:tcPr>
                </a:tc>
                <a:tc>
                  <a:txBody>
                    <a:bodyPr/>
                    <a:lstStyle/>
                    <a:p>
                      <a:pPr>
                        <a:lnSpc>
                          <a:spcPct val="100000"/>
                        </a:lnSpc>
                        <a:spcBef>
                          <a:spcPts val="8"/>
                        </a:spcBef>
                      </a:pPr>
                      <a:endParaRPr lang="en-GB" sz="1450" noProof="0" dirty="0">
                        <a:latin typeface="Times New Roman"/>
                        <a:cs typeface="Times New Roman"/>
                      </a:endParaRPr>
                    </a:p>
                    <a:p>
                      <a:pPr algn="ctr">
                        <a:lnSpc>
                          <a:spcPct val="100000"/>
                        </a:lnSpc>
                      </a:pPr>
                      <a:r>
                        <a:rPr lang="en-GB" sz="1600" spc="-5" noProof="0" dirty="0">
                          <a:solidFill>
                            <a:srgbClr val="FFFFFF"/>
                          </a:solidFill>
                          <a:latin typeface="Courier New"/>
                          <a:cs typeface="Courier New"/>
                        </a:rPr>
                        <a:t>mean</a:t>
                      </a:r>
                      <a:endParaRPr lang="en-GB" sz="1600" noProof="0" dirty="0">
                        <a:latin typeface="Courier New"/>
                        <a:cs typeface="Courier New"/>
                      </a:endParaRPr>
                    </a:p>
                  </a:txBody>
                  <a:tcPr marL="0" marR="0" marT="0" marB="0">
                    <a:solidFill>
                      <a:srgbClr val="000000"/>
                    </a:solidFill>
                  </a:tcPr>
                </a:tc>
                <a:tc>
                  <a:txBody>
                    <a:bodyPr/>
                    <a:lstStyle/>
                    <a:p>
                      <a:pPr>
                        <a:lnSpc>
                          <a:spcPct val="100000"/>
                        </a:lnSpc>
                        <a:spcBef>
                          <a:spcPts val="8"/>
                        </a:spcBef>
                      </a:pPr>
                      <a:endParaRPr lang="en-GB" sz="1450" noProof="0" dirty="0">
                        <a:latin typeface="Times New Roman"/>
                        <a:cs typeface="Times New Roman"/>
                      </a:endParaRPr>
                    </a:p>
                    <a:p>
                      <a:pPr algn="ctr">
                        <a:lnSpc>
                          <a:spcPct val="100000"/>
                        </a:lnSpc>
                      </a:pPr>
                      <a:r>
                        <a:rPr lang="en-GB" sz="1600" spc="-5" noProof="0" dirty="0">
                          <a:solidFill>
                            <a:srgbClr val="FFFFFF"/>
                          </a:solidFill>
                          <a:latin typeface="Courier New"/>
                          <a:cs typeface="Courier New"/>
                        </a:rPr>
                        <a:t>what</a:t>
                      </a:r>
                      <a:endParaRPr lang="en-GB" sz="1600" noProof="0" dirty="0">
                        <a:latin typeface="Courier New"/>
                        <a:cs typeface="Courier New"/>
                      </a:endParaRPr>
                    </a:p>
                  </a:txBody>
                  <a:tcPr marL="0" marR="0" marT="0" marB="0">
                    <a:solidFill>
                      <a:srgbClr val="000000"/>
                    </a:solidFill>
                  </a:tcPr>
                </a:tc>
                <a:tc>
                  <a:txBody>
                    <a:bodyPr/>
                    <a:lstStyle/>
                    <a:p>
                      <a:pPr>
                        <a:lnSpc>
                          <a:spcPct val="100000"/>
                        </a:lnSpc>
                        <a:spcBef>
                          <a:spcPts val="8"/>
                        </a:spcBef>
                      </a:pPr>
                      <a:endParaRPr lang="en-GB" sz="1450" noProof="0" dirty="0">
                        <a:latin typeface="Times New Roman"/>
                        <a:cs typeface="Times New Roman"/>
                      </a:endParaRPr>
                    </a:p>
                    <a:p>
                      <a:pPr marL="60960">
                        <a:lnSpc>
                          <a:spcPct val="100000"/>
                        </a:lnSpc>
                      </a:pPr>
                      <a:r>
                        <a:rPr lang="en-GB" sz="1600" noProof="0" dirty="0">
                          <a:solidFill>
                            <a:srgbClr val="FFFFFF"/>
                          </a:solidFill>
                          <a:latin typeface="Courier New"/>
                          <a:cs typeface="Courier New"/>
                        </a:rPr>
                        <a:t>I</a:t>
                      </a:r>
                      <a:endParaRPr lang="en-GB" sz="1600" noProof="0" dirty="0">
                        <a:latin typeface="Courier New"/>
                        <a:cs typeface="Courier New"/>
                      </a:endParaRPr>
                    </a:p>
                  </a:txBody>
                  <a:tcPr marL="0" marR="0" marT="0" marB="0">
                    <a:solidFill>
                      <a:srgbClr val="000000"/>
                    </a:solidFill>
                  </a:tcPr>
                </a:tc>
                <a:tc>
                  <a:txBody>
                    <a:bodyPr/>
                    <a:lstStyle/>
                    <a:p>
                      <a:pPr>
                        <a:lnSpc>
                          <a:spcPct val="100000"/>
                        </a:lnSpc>
                        <a:spcBef>
                          <a:spcPts val="8"/>
                        </a:spcBef>
                      </a:pPr>
                      <a:endParaRPr lang="en-GB" sz="1450" noProof="0" dirty="0">
                        <a:latin typeface="Times New Roman"/>
                        <a:cs typeface="Times New Roman"/>
                      </a:endParaRPr>
                    </a:p>
                    <a:p>
                      <a:pPr algn="ctr">
                        <a:lnSpc>
                          <a:spcPct val="100000"/>
                        </a:lnSpc>
                      </a:pPr>
                      <a:r>
                        <a:rPr lang="en-GB" sz="1600" spc="-5" noProof="0" dirty="0">
                          <a:solidFill>
                            <a:srgbClr val="FFFFFF"/>
                          </a:solidFill>
                          <a:latin typeface="Courier New"/>
                          <a:cs typeface="Courier New"/>
                        </a:rPr>
                        <a:t>think</a:t>
                      </a:r>
                      <a:endParaRPr lang="en-GB" sz="1600" noProof="0" dirty="0">
                        <a:latin typeface="Courier New"/>
                        <a:cs typeface="Courier New"/>
                      </a:endParaRPr>
                    </a:p>
                  </a:txBody>
                  <a:tcPr marL="0" marR="0" marT="0" marB="0">
                    <a:solidFill>
                      <a:srgbClr val="000000"/>
                    </a:solidFill>
                  </a:tcPr>
                </a:tc>
                <a:tc>
                  <a:txBody>
                    <a:bodyPr/>
                    <a:lstStyle/>
                    <a:p>
                      <a:pPr>
                        <a:lnSpc>
                          <a:spcPct val="100000"/>
                        </a:lnSpc>
                        <a:spcBef>
                          <a:spcPts val="8"/>
                        </a:spcBef>
                      </a:pPr>
                      <a:endParaRPr lang="en-GB" sz="1450" noProof="0" dirty="0">
                        <a:latin typeface="Times New Roman"/>
                        <a:cs typeface="Times New Roman"/>
                      </a:endParaRPr>
                    </a:p>
                    <a:p>
                      <a:pPr algn="ctr">
                        <a:lnSpc>
                          <a:spcPct val="100000"/>
                        </a:lnSpc>
                      </a:pPr>
                      <a:r>
                        <a:rPr lang="en-GB" sz="1600" spc="-5" noProof="0" dirty="0">
                          <a:solidFill>
                            <a:srgbClr val="FFFFFF"/>
                          </a:solidFill>
                          <a:latin typeface="Courier New"/>
                          <a:cs typeface="Courier New"/>
                        </a:rPr>
                        <a:t>it</a:t>
                      </a:r>
                      <a:endParaRPr lang="en-GB" sz="1600" noProof="0" dirty="0">
                        <a:latin typeface="Courier New"/>
                        <a:cs typeface="Courier New"/>
                      </a:endParaRPr>
                    </a:p>
                  </a:txBody>
                  <a:tcPr marL="0" marR="0" marT="0" marB="0">
                    <a:solidFill>
                      <a:srgbClr val="000000"/>
                    </a:solidFill>
                  </a:tcPr>
                </a:tc>
                <a:tc>
                  <a:txBody>
                    <a:bodyPr/>
                    <a:lstStyle/>
                    <a:p>
                      <a:pPr>
                        <a:lnSpc>
                          <a:spcPct val="100000"/>
                        </a:lnSpc>
                        <a:spcBef>
                          <a:spcPts val="8"/>
                        </a:spcBef>
                      </a:pPr>
                      <a:endParaRPr lang="en-GB" sz="1450" noProof="0" dirty="0">
                        <a:latin typeface="Times New Roman"/>
                        <a:cs typeface="Times New Roman"/>
                      </a:endParaRPr>
                    </a:p>
                    <a:p>
                      <a:pPr marR="14604" algn="r">
                        <a:lnSpc>
                          <a:spcPct val="100000"/>
                        </a:lnSpc>
                      </a:pPr>
                      <a:r>
                        <a:rPr lang="en-GB" sz="1600" spc="-5" noProof="0" dirty="0">
                          <a:solidFill>
                            <a:srgbClr val="FFFFFF"/>
                          </a:solidFill>
                          <a:latin typeface="Courier New"/>
                          <a:cs typeface="Courier New"/>
                        </a:rPr>
                        <a:t>does”;</a:t>
                      </a:r>
                      <a:endParaRPr lang="en-GB" sz="1600" noProof="0" dirty="0">
                        <a:latin typeface="Courier New"/>
                        <a:cs typeface="Courier New"/>
                      </a:endParaRPr>
                    </a:p>
                  </a:txBody>
                  <a:tcPr marL="0" marR="0" marT="0" marB="0">
                    <a:solidFill>
                      <a:srgbClr val="000000"/>
                    </a:solidFill>
                  </a:tcPr>
                </a:tc>
                <a:extLst>
                  <a:ext uri="{0D108BD9-81ED-4DB2-BD59-A6C34878D82A}">
                    <a16:rowId xmlns:a16="http://schemas.microsoft.com/office/drawing/2014/main" val="10002"/>
                  </a:ext>
                </a:extLst>
              </a:tr>
              <a:tr h="1219200">
                <a:tc>
                  <a:txBody>
                    <a:bodyPr/>
                    <a:lstStyle/>
                    <a:p>
                      <a:pPr marL="22225">
                        <a:lnSpc>
                          <a:spcPts val="1685"/>
                        </a:lnSpc>
                      </a:pPr>
                      <a:r>
                        <a:rPr lang="en-GB" sz="1600" spc="-5" noProof="0" dirty="0">
                          <a:solidFill>
                            <a:srgbClr val="FFFFFF"/>
                          </a:solidFill>
                          <a:latin typeface="Courier New"/>
                          <a:cs typeface="Courier New"/>
                        </a:rPr>
                        <a:t>message </a:t>
                      </a:r>
                      <a:r>
                        <a:rPr lang="en-GB" sz="1600" noProof="0" dirty="0">
                          <a:solidFill>
                            <a:srgbClr val="FFFFFF"/>
                          </a:solidFill>
                          <a:latin typeface="Courier New"/>
                          <a:cs typeface="Courier New"/>
                        </a:rPr>
                        <a:t>= </a:t>
                      </a:r>
                      <a:r>
                        <a:rPr lang="en-GB" sz="1600" spc="-5" noProof="0" dirty="0">
                          <a:solidFill>
                            <a:srgbClr val="FFFFFF"/>
                          </a:solidFill>
                          <a:latin typeface="Courier New"/>
                          <a:cs typeface="Courier New"/>
                        </a:rPr>
                        <a:t>“Cursive writing does</a:t>
                      </a:r>
                      <a:r>
                        <a:rPr lang="en-GB" sz="1600" spc="-65" noProof="0" dirty="0">
                          <a:solidFill>
                            <a:srgbClr val="FFFFFF"/>
                          </a:solidFill>
                          <a:latin typeface="Courier New"/>
                          <a:cs typeface="Courier New"/>
                        </a:rPr>
                        <a:t> </a:t>
                      </a:r>
                      <a:r>
                        <a:rPr lang="en-GB" sz="1600" spc="-5" noProof="0" dirty="0">
                          <a:solidFill>
                            <a:srgbClr val="FFFFFF"/>
                          </a:solidFill>
                          <a:latin typeface="Courier New"/>
                          <a:cs typeface="Courier New"/>
                        </a:rPr>
                        <a:t>not</a:t>
                      </a:r>
                      <a:endParaRPr lang="en-GB" sz="1600" noProof="0" dirty="0">
                        <a:latin typeface="Courier New"/>
                        <a:cs typeface="Courier New"/>
                      </a:endParaRPr>
                    </a:p>
                    <a:p>
                      <a:pPr marL="22225" marR="419100">
                        <a:lnSpc>
                          <a:spcPts val="1900"/>
                        </a:lnSpc>
                        <a:spcBef>
                          <a:spcPts val="70"/>
                        </a:spcBef>
                      </a:pPr>
                      <a:r>
                        <a:rPr lang="en-GB" sz="1600" spc="-5" noProof="0" dirty="0">
                          <a:solidFill>
                            <a:srgbClr val="FFFFFF"/>
                          </a:solidFill>
                          <a:latin typeface="Courier New"/>
                          <a:cs typeface="Courier New"/>
                        </a:rPr>
                        <a:t>message </a:t>
                      </a:r>
                      <a:r>
                        <a:rPr lang="en-GB" sz="1600" noProof="0" dirty="0">
                          <a:solidFill>
                            <a:srgbClr val="FFFFFF"/>
                          </a:solidFill>
                          <a:latin typeface="Courier New"/>
                          <a:cs typeface="Courier New"/>
                        </a:rPr>
                        <a:t>= </a:t>
                      </a:r>
                      <a:r>
                        <a:rPr lang="en-GB" sz="1600" spc="-5" noProof="0" dirty="0" err="1">
                          <a:solidFill>
                            <a:srgbClr val="FFFFFF"/>
                          </a:solidFill>
                          <a:latin typeface="Courier New"/>
                          <a:cs typeface="Courier New"/>
                        </a:rPr>
                        <a:t>message.toUpperCase</a:t>
                      </a:r>
                      <a:r>
                        <a:rPr lang="en-GB" sz="1600" spc="-5" noProof="0" dirty="0">
                          <a:solidFill>
                            <a:srgbClr val="FFFFFF"/>
                          </a:solidFill>
                          <a:latin typeface="Courier New"/>
                          <a:cs typeface="Courier New"/>
                        </a:rPr>
                        <a:t>();  console.log(message);</a:t>
                      </a:r>
                      <a:endParaRPr lang="en-GB" sz="1600" noProof="0" dirty="0">
                        <a:latin typeface="Courier New"/>
                        <a:cs typeface="Courier New"/>
                      </a:endParaRPr>
                    </a:p>
                    <a:p>
                      <a:pPr marL="22225" marR="53340">
                        <a:lnSpc>
                          <a:spcPts val="1900"/>
                        </a:lnSpc>
                      </a:pPr>
                      <a:r>
                        <a:rPr lang="en-GB" sz="1600" spc="-5" noProof="0" dirty="0">
                          <a:solidFill>
                            <a:srgbClr val="FFFFFF"/>
                          </a:solidFill>
                          <a:latin typeface="Courier New"/>
                          <a:cs typeface="Courier New"/>
                        </a:rPr>
                        <a:t>message </a:t>
                      </a:r>
                      <a:r>
                        <a:rPr lang="en-GB" sz="1600" noProof="0" dirty="0">
                          <a:solidFill>
                            <a:srgbClr val="FFFFFF"/>
                          </a:solidFill>
                          <a:latin typeface="Courier New"/>
                          <a:cs typeface="Courier New"/>
                        </a:rPr>
                        <a:t>= </a:t>
                      </a:r>
                      <a:r>
                        <a:rPr lang="en-GB" sz="1600" spc="-5" noProof="0" dirty="0">
                          <a:solidFill>
                            <a:srgbClr val="FFFFFF"/>
                          </a:solidFill>
                          <a:latin typeface="Courier New"/>
                          <a:cs typeface="Courier New"/>
                        </a:rPr>
                        <a:t>“Cursive writing does not  message </a:t>
                      </a:r>
                      <a:r>
                        <a:rPr lang="en-GB" sz="1600" noProof="0" dirty="0">
                          <a:solidFill>
                            <a:srgbClr val="FFFFFF"/>
                          </a:solidFill>
                          <a:latin typeface="Courier New"/>
                          <a:cs typeface="Courier New"/>
                        </a:rPr>
                        <a:t>=</a:t>
                      </a:r>
                      <a:r>
                        <a:rPr lang="en-GB" sz="1600" spc="5" noProof="0" dirty="0">
                          <a:solidFill>
                            <a:srgbClr val="FFFFFF"/>
                          </a:solidFill>
                          <a:latin typeface="Courier New"/>
                          <a:cs typeface="Courier New"/>
                        </a:rPr>
                        <a:t> </a:t>
                      </a:r>
                      <a:r>
                        <a:rPr lang="en-GB" sz="1600" spc="-5" noProof="0" dirty="0" err="1">
                          <a:solidFill>
                            <a:srgbClr val="FFFFFF"/>
                          </a:solidFill>
                          <a:latin typeface="Courier New"/>
                          <a:cs typeface="Courier New"/>
                        </a:rPr>
                        <a:t>message.toUpperCase</a:t>
                      </a:r>
                      <a:r>
                        <a:rPr lang="en-GB" sz="1600" spc="-5" noProof="0" dirty="0">
                          <a:solidFill>
                            <a:srgbClr val="FFFFFF"/>
                          </a:solidFill>
                          <a:latin typeface="Courier New"/>
                          <a:cs typeface="Courier New"/>
                        </a:rPr>
                        <a:t>();</a:t>
                      </a:r>
                      <a:endParaRPr lang="en-GB" sz="1600" noProof="0" dirty="0">
                        <a:latin typeface="Courier New"/>
                        <a:cs typeface="Courier New"/>
                      </a:endParaRPr>
                    </a:p>
                  </a:txBody>
                  <a:tcPr marL="0" marR="0" marT="0" marB="0">
                    <a:solidFill>
                      <a:srgbClr val="000000"/>
                    </a:solidFill>
                  </a:tcPr>
                </a:tc>
                <a:tc>
                  <a:txBody>
                    <a:bodyPr/>
                    <a:lstStyle/>
                    <a:p>
                      <a:pPr marL="60960">
                        <a:lnSpc>
                          <a:spcPts val="1695"/>
                        </a:lnSpc>
                      </a:pPr>
                      <a:r>
                        <a:rPr lang="en-GB" sz="1600" spc="-5" noProof="0" dirty="0">
                          <a:solidFill>
                            <a:srgbClr val="FFFFFF"/>
                          </a:solidFill>
                          <a:latin typeface="Courier New"/>
                          <a:cs typeface="Courier New"/>
                        </a:rPr>
                        <a:t>mean</a:t>
                      </a:r>
                      <a:endParaRPr lang="en-GB" sz="1600" noProof="0" dirty="0">
                        <a:latin typeface="Courier New"/>
                        <a:cs typeface="Courier New"/>
                      </a:endParaRPr>
                    </a:p>
                    <a:p>
                      <a:pPr>
                        <a:lnSpc>
                          <a:spcPct val="100000"/>
                        </a:lnSpc>
                      </a:pPr>
                      <a:endParaRPr lang="en-GB" sz="1600" noProof="0" dirty="0">
                        <a:latin typeface="Times New Roman"/>
                        <a:cs typeface="Times New Roman"/>
                      </a:endParaRPr>
                    </a:p>
                    <a:p>
                      <a:pPr>
                        <a:lnSpc>
                          <a:spcPct val="100000"/>
                        </a:lnSpc>
                        <a:spcBef>
                          <a:spcPts val="42"/>
                        </a:spcBef>
                      </a:pPr>
                      <a:endParaRPr lang="en-GB" sz="1650" noProof="0" dirty="0">
                        <a:latin typeface="Times New Roman"/>
                        <a:cs typeface="Times New Roman"/>
                      </a:endParaRPr>
                    </a:p>
                    <a:p>
                      <a:pPr marL="60960">
                        <a:lnSpc>
                          <a:spcPct val="100000"/>
                        </a:lnSpc>
                      </a:pPr>
                      <a:r>
                        <a:rPr lang="en-GB" sz="1600" spc="-5" noProof="0" dirty="0">
                          <a:solidFill>
                            <a:srgbClr val="FFFFFF"/>
                          </a:solidFill>
                          <a:latin typeface="Courier New"/>
                          <a:cs typeface="Courier New"/>
                        </a:rPr>
                        <a:t>mean</a:t>
                      </a:r>
                      <a:endParaRPr lang="en-GB" sz="1600" noProof="0" dirty="0">
                        <a:latin typeface="Courier New"/>
                        <a:cs typeface="Courier New"/>
                      </a:endParaRPr>
                    </a:p>
                  </a:txBody>
                  <a:tcPr marL="0" marR="0" marT="0" marB="0">
                    <a:solidFill>
                      <a:srgbClr val="000000"/>
                    </a:solidFill>
                  </a:tcPr>
                </a:tc>
                <a:tc>
                  <a:txBody>
                    <a:bodyPr/>
                    <a:lstStyle/>
                    <a:p>
                      <a:pPr marL="60960">
                        <a:lnSpc>
                          <a:spcPts val="1695"/>
                        </a:lnSpc>
                      </a:pPr>
                      <a:r>
                        <a:rPr lang="en-GB" sz="1600" spc="-5" noProof="0" dirty="0">
                          <a:solidFill>
                            <a:srgbClr val="FFFFFF"/>
                          </a:solidFill>
                          <a:latin typeface="Courier New"/>
                          <a:cs typeface="Courier New"/>
                        </a:rPr>
                        <a:t>what</a:t>
                      </a:r>
                      <a:endParaRPr lang="en-GB" sz="1600" noProof="0" dirty="0">
                        <a:latin typeface="Courier New"/>
                        <a:cs typeface="Courier New"/>
                      </a:endParaRPr>
                    </a:p>
                    <a:p>
                      <a:pPr>
                        <a:lnSpc>
                          <a:spcPct val="100000"/>
                        </a:lnSpc>
                      </a:pPr>
                      <a:endParaRPr lang="en-GB" sz="1600" noProof="0" dirty="0">
                        <a:latin typeface="Times New Roman"/>
                        <a:cs typeface="Times New Roman"/>
                      </a:endParaRPr>
                    </a:p>
                    <a:p>
                      <a:pPr>
                        <a:lnSpc>
                          <a:spcPct val="100000"/>
                        </a:lnSpc>
                        <a:spcBef>
                          <a:spcPts val="42"/>
                        </a:spcBef>
                      </a:pPr>
                      <a:endParaRPr lang="en-GB" sz="1650" noProof="0" dirty="0">
                        <a:latin typeface="Times New Roman"/>
                        <a:cs typeface="Times New Roman"/>
                      </a:endParaRPr>
                    </a:p>
                    <a:p>
                      <a:pPr marL="60960">
                        <a:lnSpc>
                          <a:spcPct val="100000"/>
                        </a:lnSpc>
                      </a:pPr>
                      <a:r>
                        <a:rPr lang="en-GB" sz="1600" spc="-5" noProof="0" dirty="0">
                          <a:solidFill>
                            <a:srgbClr val="FFFFFF"/>
                          </a:solidFill>
                          <a:latin typeface="Courier New"/>
                          <a:cs typeface="Courier New"/>
                        </a:rPr>
                        <a:t>what</a:t>
                      </a:r>
                      <a:endParaRPr lang="en-GB" sz="1600" noProof="0" dirty="0">
                        <a:latin typeface="Courier New"/>
                        <a:cs typeface="Courier New"/>
                      </a:endParaRPr>
                    </a:p>
                  </a:txBody>
                  <a:tcPr marL="0" marR="0" marT="0" marB="0">
                    <a:solidFill>
                      <a:srgbClr val="000000"/>
                    </a:solidFill>
                  </a:tcPr>
                </a:tc>
                <a:tc>
                  <a:txBody>
                    <a:bodyPr/>
                    <a:lstStyle/>
                    <a:p>
                      <a:pPr marL="60960">
                        <a:lnSpc>
                          <a:spcPts val="1695"/>
                        </a:lnSpc>
                      </a:pPr>
                      <a:r>
                        <a:rPr lang="en-GB" sz="1600" noProof="0" dirty="0">
                          <a:solidFill>
                            <a:srgbClr val="FFFFFF"/>
                          </a:solidFill>
                          <a:latin typeface="Courier New"/>
                          <a:cs typeface="Courier New"/>
                        </a:rPr>
                        <a:t>I</a:t>
                      </a:r>
                      <a:endParaRPr lang="en-GB" sz="1600" noProof="0" dirty="0">
                        <a:latin typeface="Courier New"/>
                        <a:cs typeface="Courier New"/>
                      </a:endParaRPr>
                    </a:p>
                    <a:p>
                      <a:pPr>
                        <a:lnSpc>
                          <a:spcPct val="100000"/>
                        </a:lnSpc>
                      </a:pPr>
                      <a:endParaRPr lang="en-GB" sz="1600" noProof="0" dirty="0">
                        <a:latin typeface="Times New Roman"/>
                        <a:cs typeface="Times New Roman"/>
                      </a:endParaRPr>
                    </a:p>
                    <a:p>
                      <a:pPr>
                        <a:lnSpc>
                          <a:spcPct val="100000"/>
                        </a:lnSpc>
                        <a:spcBef>
                          <a:spcPts val="42"/>
                        </a:spcBef>
                      </a:pPr>
                      <a:endParaRPr lang="en-GB" sz="1650" noProof="0" dirty="0">
                        <a:latin typeface="Times New Roman"/>
                        <a:cs typeface="Times New Roman"/>
                      </a:endParaRPr>
                    </a:p>
                    <a:p>
                      <a:pPr marL="60960">
                        <a:lnSpc>
                          <a:spcPct val="100000"/>
                        </a:lnSpc>
                      </a:pPr>
                      <a:r>
                        <a:rPr lang="en-GB" sz="1600" noProof="0" dirty="0">
                          <a:solidFill>
                            <a:srgbClr val="FFFFFF"/>
                          </a:solidFill>
                          <a:latin typeface="Courier New"/>
                          <a:cs typeface="Courier New"/>
                        </a:rPr>
                        <a:t>I</a:t>
                      </a:r>
                      <a:endParaRPr lang="en-GB" sz="1600" noProof="0" dirty="0">
                        <a:latin typeface="Courier New"/>
                        <a:cs typeface="Courier New"/>
                      </a:endParaRPr>
                    </a:p>
                  </a:txBody>
                  <a:tcPr marL="0" marR="0" marT="0" marB="0">
                    <a:solidFill>
                      <a:srgbClr val="000000"/>
                    </a:solidFill>
                  </a:tcPr>
                </a:tc>
                <a:tc>
                  <a:txBody>
                    <a:bodyPr/>
                    <a:lstStyle/>
                    <a:p>
                      <a:pPr marL="60960">
                        <a:lnSpc>
                          <a:spcPts val="1695"/>
                        </a:lnSpc>
                      </a:pPr>
                      <a:r>
                        <a:rPr lang="en-GB" sz="1600" spc="-5" noProof="0" dirty="0">
                          <a:solidFill>
                            <a:srgbClr val="FFFFFF"/>
                          </a:solidFill>
                          <a:latin typeface="Courier New"/>
                          <a:cs typeface="Courier New"/>
                        </a:rPr>
                        <a:t>think</a:t>
                      </a:r>
                      <a:endParaRPr lang="en-GB" sz="1600" noProof="0" dirty="0">
                        <a:latin typeface="Courier New"/>
                        <a:cs typeface="Courier New"/>
                      </a:endParaRPr>
                    </a:p>
                    <a:p>
                      <a:pPr>
                        <a:lnSpc>
                          <a:spcPct val="100000"/>
                        </a:lnSpc>
                      </a:pPr>
                      <a:endParaRPr lang="en-GB" sz="1600" noProof="0" dirty="0">
                        <a:latin typeface="Times New Roman"/>
                        <a:cs typeface="Times New Roman"/>
                      </a:endParaRPr>
                    </a:p>
                    <a:p>
                      <a:pPr>
                        <a:lnSpc>
                          <a:spcPct val="100000"/>
                        </a:lnSpc>
                        <a:spcBef>
                          <a:spcPts val="42"/>
                        </a:spcBef>
                      </a:pPr>
                      <a:endParaRPr lang="en-GB" sz="1650" noProof="0" dirty="0">
                        <a:latin typeface="Times New Roman"/>
                        <a:cs typeface="Times New Roman"/>
                      </a:endParaRPr>
                    </a:p>
                    <a:p>
                      <a:pPr marL="60960">
                        <a:lnSpc>
                          <a:spcPct val="100000"/>
                        </a:lnSpc>
                      </a:pPr>
                      <a:r>
                        <a:rPr lang="en-GB" sz="1600" spc="-5" noProof="0" dirty="0">
                          <a:solidFill>
                            <a:srgbClr val="FFFFFF"/>
                          </a:solidFill>
                          <a:latin typeface="Courier New"/>
                          <a:cs typeface="Courier New"/>
                        </a:rPr>
                        <a:t>think</a:t>
                      </a:r>
                      <a:endParaRPr lang="en-GB" sz="1600" noProof="0" dirty="0">
                        <a:latin typeface="Courier New"/>
                        <a:cs typeface="Courier New"/>
                      </a:endParaRPr>
                    </a:p>
                  </a:txBody>
                  <a:tcPr marL="0" marR="0" marT="0" marB="0">
                    <a:solidFill>
                      <a:srgbClr val="000000"/>
                    </a:solidFill>
                  </a:tcPr>
                </a:tc>
                <a:tc>
                  <a:txBody>
                    <a:bodyPr/>
                    <a:lstStyle/>
                    <a:p>
                      <a:pPr marL="60960">
                        <a:lnSpc>
                          <a:spcPts val="1695"/>
                        </a:lnSpc>
                      </a:pPr>
                      <a:r>
                        <a:rPr lang="en-GB" sz="1600" spc="-5" noProof="0" dirty="0">
                          <a:solidFill>
                            <a:srgbClr val="FFFFFF"/>
                          </a:solidFill>
                          <a:latin typeface="Courier New"/>
                          <a:cs typeface="Courier New"/>
                        </a:rPr>
                        <a:t>it</a:t>
                      </a:r>
                      <a:endParaRPr lang="en-GB" sz="1600" noProof="0" dirty="0">
                        <a:latin typeface="Courier New"/>
                        <a:cs typeface="Courier New"/>
                      </a:endParaRPr>
                    </a:p>
                    <a:p>
                      <a:pPr>
                        <a:lnSpc>
                          <a:spcPct val="100000"/>
                        </a:lnSpc>
                      </a:pPr>
                      <a:endParaRPr lang="en-GB" sz="1600" noProof="0" dirty="0">
                        <a:latin typeface="Times New Roman"/>
                        <a:cs typeface="Times New Roman"/>
                      </a:endParaRPr>
                    </a:p>
                    <a:p>
                      <a:pPr>
                        <a:lnSpc>
                          <a:spcPct val="100000"/>
                        </a:lnSpc>
                        <a:spcBef>
                          <a:spcPts val="42"/>
                        </a:spcBef>
                      </a:pPr>
                      <a:endParaRPr lang="en-GB" sz="1650" noProof="0" dirty="0">
                        <a:latin typeface="Times New Roman"/>
                        <a:cs typeface="Times New Roman"/>
                      </a:endParaRPr>
                    </a:p>
                    <a:p>
                      <a:pPr marL="60960">
                        <a:lnSpc>
                          <a:spcPct val="100000"/>
                        </a:lnSpc>
                      </a:pPr>
                      <a:r>
                        <a:rPr lang="en-GB" sz="1600" spc="-5" noProof="0" dirty="0">
                          <a:solidFill>
                            <a:srgbClr val="FFFFFF"/>
                          </a:solidFill>
                          <a:latin typeface="Courier New"/>
                          <a:cs typeface="Courier New"/>
                        </a:rPr>
                        <a:t>it</a:t>
                      </a:r>
                      <a:endParaRPr lang="en-GB" sz="1600" noProof="0" dirty="0">
                        <a:latin typeface="Courier New"/>
                        <a:cs typeface="Courier New"/>
                      </a:endParaRPr>
                    </a:p>
                  </a:txBody>
                  <a:tcPr marL="0" marR="0" marT="0" marB="0">
                    <a:solidFill>
                      <a:srgbClr val="000000"/>
                    </a:solidFill>
                  </a:tcPr>
                </a:tc>
                <a:tc>
                  <a:txBody>
                    <a:bodyPr/>
                    <a:lstStyle/>
                    <a:p>
                      <a:pPr marL="60960">
                        <a:lnSpc>
                          <a:spcPts val="1695"/>
                        </a:lnSpc>
                      </a:pPr>
                      <a:r>
                        <a:rPr lang="en-GB" sz="1600" spc="-5" noProof="0" dirty="0">
                          <a:solidFill>
                            <a:srgbClr val="FFFFFF"/>
                          </a:solidFill>
                          <a:latin typeface="Courier New"/>
                          <a:cs typeface="Courier New"/>
                        </a:rPr>
                        <a:t>does”;</a:t>
                      </a:r>
                      <a:endParaRPr lang="en-GB" sz="1600" noProof="0" dirty="0">
                        <a:latin typeface="Courier New"/>
                        <a:cs typeface="Courier New"/>
                      </a:endParaRPr>
                    </a:p>
                    <a:p>
                      <a:pPr>
                        <a:lnSpc>
                          <a:spcPct val="100000"/>
                        </a:lnSpc>
                      </a:pPr>
                      <a:endParaRPr lang="en-GB" sz="1600" noProof="0" dirty="0">
                        <a:latin typeface="Times New Roman"/>
                        <a:cs typeface="Times New Roman"/>
                      </a:endParaRPr>
                    </a:p>
                    <a:p>
                      <a:pPr>
                        <a:lnSpc>
                          <a:spcPct val="100000"/>
                        </a:lnSpc>
                        <a:spcBef>
                          <a:spcPts val="42"/>
                        </a:spcBef>
                      </a:pPr>
                      <a:endParaRPr lang="en-GB" sz="1650" noProof="0" dirty="0">
                        <a:latin typeface="Times New Roman"/>
                        <a:cs typeface="Times New Roman"/>
                      </a:endParaRPr>
                    </a:p>
                    <a:p>
                      <a:pPr marL="60960">
                        <a:lnSpc>
                          <a:spcPct val="100000"/>
                        </a:lnSpc>
                      </a:pPr>
                      <a:r>
                        <a:rPr lang="en-GB" sz="1600" spc="-5" noProof="0" dirty="0">
                          <a:solidFill>
                            <a:srgbClr val="FFFFFF"/>
                          </a:solidFill>
                          <a:latin typeface="Courier New"/>
                          <a:cs typeface="Courier New"/>
                        </a:rPr>
                        <a:t>does”;</a:t>
                      </a:r>
                      <a:endParaRPr lang="en-GB" sz="1600" noProof="0" dirty="0">
                        <a:latin typeface="Courier New"/>
                        <a:cs typeface="Courier New"/>
                      </a:endParaRPr>
                    </a:p>
                  </a:txBody>
                  <a:tcPr marL="0" marR="0" marT="0" marB="0">
                    <a:solidFill>
                      <a:srgbClr val="000000"/>
                    </a:solidFill>
                  </a:tcPr>
                </a:tc>
                <a:extLst>
                  <a:ext uri="{0D108BD9-81ED-4DB2-BD59-A6C34878D82A}">
                    <a16:rowId xmlns:a16="http://schemas.microsoft.com/office/drawing/2014/main" val="10003"/>
                  </a:ext>
                </a:extLst>
              </a:tr>
              <a:tr h="292100">
                <a:tc>
                  <a:txBody>
                    <a:bodyPr/>
                    <a:lstStyle/>
                    <a:p>
                      <a:pPr marL="22225">
                        <a:lnSpc>
                          <a:spcPts val="1695"/>
                        </a:lnSpc>
                      </a:pPr>
                      <a:r>
                        <a:rPr lang="en-GB" sz="1600" spc="-5" noProof="0" dirty="0">
                          <a:solidFill>
                            <a:srgbClr val="FFFFFF"/>
                          </a:solidFill>
                          <a:latin typeface="Courier New"/>
                          <a:cs typeface="Courier New"/>
                        </a:rPr>
                        <a:t>console.log(message);</a:t>
                      </a:r>
                      <a:endParaRPr lang="en-GB" sz="1600" noProof="0" dirty="0">
                        <a:latin typeface="Courier New"/>
                        <a:cs typeface="Courier New"/>
                      </a:endParaRPr>
                    </a:p>
                  </a:txBody>
                  <a:tcPr marL="0" marR="0" marT="0" marB="0">
                    <a:solidFill>
                      <a:srgbClr val="000000"/>
                    </a:solidFill>
                  </a:tcPr>
                </a:tc>
                <a:tc>
                  <a:txBody>
                    <a:bodyPr/>
                    <a:lstStyle/>
                    <a:p>
                      <a:endParaRPr lang="en-GB" sz="1600" noProof="0" dirty="0">
                        <a:latin typeface="Courier New"/>
                        <a:cs typeface="Courier New"/>
                      </a:endParaRPr>
                    </a:p>
                  </a:txBody>
                  <a:tcPr marL="0" marR="0" marT="0" marB="0">
                    <a:solidFill>
                      <a:srgbClr val="000000"/>
                    </a:solidFill>
                  </a:tcPr>
                </a:tc>
                <a:tc>
                  <a:txBody>
                    <a:bodyPr/>
                    <a:lstStyle/>
                    <a:p>
                      <a:endParaRPr lang="en-GB" sz="1600" noProof="0" dirty="0">
                        <a:latin typeface="Courier New"/>
                        <a:cs typeface="Courier New"/>
                      </a:endParaRPr>
                    </a:p>
                  </a:txBody>
                  <a:tcPr marL="0" marR="0" marT="0" marB="0">
                    <a:solidFill>
                      <a:srgbClr val="000000"/>
                    </a:solidFill>
                  </a:tcPr>
                </a:tc>
                <a:tc>
                  <a:txBody>
                    <a:bodyPr/>
                    <a:lstStyle/>
                    <a:p>
                      <a:endParaRPr lang="en-GB" sz="1600" noProof="0" dirty="0">
                        <a:latin typeface="Courier New"/>
                        <a:cs typeface="Courier New"/>
                      </a:endParaRPr>
                    </a:p>
                  </a:txBody>
                  <a:tcPr marL="0" marR="0" marT="0" marB="0">
                    <a:solidFill>
                      <a:srgbClr val="000000"/>
                    </a:solidFill>
                  </a:tcPr>
                </a:tc>
                <a:tc>
                  <a:txBody>
                    <a:bodyPr/>
                    <a:lstStyle/>
                    <a:p>
                      <a:endParaRPr lang="en-GB" sz="1600" noProof="0" dirty="0">
                        <a:latin typeface="Courier New"/>
                        <a:cs typeface="Courier New"/>
                      </a:endParaRPr>
                    </a:p>
                  </a:txBody>
                  <a:tcPr marL="0" marR="0" marT="0" marB="0">
                    <a:solidFill>
                      <a:srgbClr val="000000"/>
                    </a:solidFill>
                  </a:tcPr>
                </a:tc>
                <a:tc>
                  <a:txBody>
                    <a:bodyPr/>
                    <a:lstStyle/>
                    <a:p>
                      <a:endParaRPr lang="en-GB" sz="1600" noProof="0" dirty="0">
                        <a:latin typeface="Courier New"/>
                        <a:cs typeface="Courier New"/>
                      </a:endParaRPr>
                    </a:p>
                  </a:txBody>
                  <a:tcPr marL="0" marR="0" marT="0" marB="0">
                    <a:solidFill>
                      <a:srgbClr val="000000"/>
                    </a:solidFill>
                  </a:tcPr>
                </a:tc>
                <a:tc>
                  <a:txBody>
                    <a:bodyPr/>
                    <a:lstStyle/>
                    <a:p>
                      <a:endParaRPr lang="en-GB" sz="1600" noProof="0" dirty="0">
                        <a:latin typeface="Courier New"/>
                        <a:cs typeface="Courier New"/>
                      </a:endParaRPr>
                    </a:p>
                  </a:txBody>
                  <a:tcPr marL="0" marR="0" marT="0" marB="0">
                    <a:solidFill>
                      <a:srgbClr val="000000"/>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364095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txBox="1"/>
          <p:nvPr/>
        </p:nvSpPr>
        <p:spPr>
          <a:xfrm>
            <a:off x="0" y="0"/>
            <a:ext cx="9144000" cy="7009611"/>
          </a:xfrm>
          <a:prstGeom prst="rect">
            <a:avLst/>
          </a:prstGeom>
        </p:spPr>
        <p:txBody>
          <a:bodyPr vert="horz" wrap="square" lIns="0" tIns="0" rIns="0" bIns="0" rtlCol="0">
            <a:spAutoFit/>
          </a:bodyPr>
          <a:lstStyle/>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marL="320040">
              <a:lnSpc>
                <a:spcPct val="100000"/>
              </a:lnSpc>
              <a:spcBef>
                <a:spcPts val="855"/>
              </a:spcBef>
            </a:pPr>
            <a:endParaRPr lang="en-GB" sz="1400" noProof="0" dirty="0">
              <a:latin typeface="Calibri"/>
              <a:cs typeface="Calibri"/>
            </a:endParaRPr>
          </a:p>
        </p:txBody>
      </p:sp>
      <p:sp>
        <p:nvSpPr>
          <p:cNvPr id="3" name="object 3">
            <a:extLst>
              <a:ext uri="{C183D7F6-B498-43B3-948B-1728B52AA6E4}">
                <adec:decorative xmlns:adec="http://schemas.microsoft.com/office/drawing/2017/decorative" val="1"/>
              </a:ext>
            </a:extLst>
          </p:cNvPr>
          <p:cNvSpPr/>
          <p:nvPr/>
        </p:nvSpPr>
        <p:spPr>
          <a:xfrm>
            <a:off x="-10609" y="1"/>
            <a:ext cx="9144000" cy="6857999"/>
          </a:xfrm>
          <a:prstGeom prst="rect">
            <a:avLst/>
          </a:prstGeom>
          <a:blipFill>
            <a:blip r:embed="rId2" cstate="print"/>
            <a:stretch>
              <a:fillRect/>
            </a:stretch>
          </a:blipFill>
        </p:spPr>
        <p:txBody>
          <a:bodyPr wrap="square" lIns="0" tIns="0" rIns="0" bIns="0" rtlCol="0"/>
          <a:lstStyle/>
          <a:p>
            <a:r>
              <a:rPr lang="en-GB" noProof="0" dirty="0" err="1"/>
              <a:t>eeee</a:t>
            </a:r>
            <a:endParaRPr lang="en-GB" noProof="0" dirty="0"/>
          </a:p>
        </p:txBody>
      </p:sp>
      <p:pic>
        <p:nvPicPr>
          <p:cNvPr id="4" name="Picture 3">
            <a:extLst>
              <a:ext uri="{FF2B5EF4-FFF2-40B4-BE49-F238E27FC236}">
                <a16:creationId xmlns:a16="http://schemas.microsoft.com/office/drawing/2014/main" id="{D7FF37BB-7039-5D5F-C60F-945A47B927E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1218" y="3092576"/>
            <a:ext cx="9144000" cy="3737810"/>
          </a:xfrm>
          <a:prstGeom prst="rect">
            <a:avLst/>
          </a:prstGeom>
        </p:spPr>
      </p:pic>
      <p:pic>
        <p:nvPicPr>
          <p:cNvPr id="12" name="Picture 11">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007166" y="6272578"/>
            <a:ext cx="1115616" cy="557808"/>
          </a:xfrm>
          <a:prstGeom prst="rect">
            <a:avLst/>
          </a:prstGeom>
        </p:spPr>
      </p:pic>
      <p:sp>
        <p:nvSpPr>
          <p:cNvPr id="11" name="TextBox 10"/>
          <p:cNvSpPr txBox="1"/>
          <p:nvPr/>
        </p:nvSpPr>
        <p:spPr>
          <a:xfrm>
            <a:off x="5506947" y="6089684"/>
            <a:ext cx="2993488" cy="369332"/>
          </a:xfrm>
          <a:prstGeom prst="rect">
            <a:avLst/>
          </a:prstGeom>
          <a:noFill/>
        </p:spPr>
        <p:txBody>
          <a:bodyPr wrap="square" rtlCol="0">
            <a:spAutoFit/>
          </a:bodyPr>
          <a:lstStyle/>
          <a:p>
            <a:r>
              <a:rPr lang="en-GB" noProof="0" dirty="0">
                <a:solidFill>
                  <a:srgbClr val="FFFFFF"/>
                </a:solidFill>
              </a:rPr>
              <a:t>Examples/cursive.html</a:t>
            </a:r>
          </a:p>
        </p:txBody>
      </p:sp>
    </p:spTree>
    <p:extLst>
      <p:ext uri="{BB962C8B-B14F-4D97-AF65-F5344CB8AC3E}">
        <p14:creationId xmlns:p14="http://schemas.microsoft.com/office/powerpoint/2010/main" val="31141238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85411"/>
            <a:ext cx="9253658" cy="721453"/>
          </a:xfrm>
          <a:prstGeom prst="rect">
            <a:avLst/>
          </a:prstGeom>
        </p:spPr>
        <p:txBody>
          <a:bodyPr vert="horz" wrap="square" lIns="0" tIns="43916" rIns="0" bIns="0" rtlCol="0">
            <a:spAutoFit/>
          </a:bodyPr>
          <a:lstStyle/>
          <a:p>
            <a:pPr marL="1287780">
              <a:lnSpc>
                <a:spcPct val="100000"/>
              </a:lnSpc>
            </a:pPr>
            <a:r>
              <a:rPr lang="en-GB" sz="4400" spc="90" noProof="0" dirty="0">
                <a:solidFill>
                  <a:schemeClr val="bg1">
                    <a:lumMod val="50000"/>
                  </a:schemeClr>
                </a:solidFill>
              </a:rPr>
              <a:t>Simple </a:t>
            </a:r>
            <a:r>
              <a:rPr lang="en-GB" sz="4400" spc="85" noProof="0" dirty="0">
                <a:solidFill>
                  <a:schemeClr val="bg1">
                    <a:lumMod val="50000"/>
                  </a:schemeClr>
                </a:solidFill>
              </a:rPr>
              <a:t>Function</a:t>
            </a:r>
            <a:r>
              <a:rPr lang="en-GB" sz="4400" spc="-280" noProof="0" dirty="0">
                <a:solidFill>
                  <a:schemeClr val="bg1">
                    <a:lumMod val="50000"/>
                  </a:schemeClr>
                </a:solidFill>
              </a:rPr>
              <a:t> </a:t>
            </a:r>
            <a:r>
              <a:rPr lang="en-GB" sz="4400" spc="70" noProof="0" dirty="0">
                <a:solidFill>
                  <a:schemeClr val="bg1">
                    <a:lumMod val="50000"/>
                  </a:schemeClr>
                </a:solidFill>
              </a:rPr>
              <a:t>Types</a:t>
            </a:r>
            <a:endParaRPr lang="en-GB" sz="4400" noProof="0" dirty="0">
              <a:solidFill>
                <a:schemeClr val="bg1">
                  <a:lumMod val="50000"/>
                </a:schemeClr>
              </a:solidFill>
            </a:endParaRPr>
          </a:p>
        </p:txBody>
      </p:sp>
      <p:sp>
        <p:nvSpPr>
          <p:cNvPr id="3" name="object 3">
            <a:extLst>
              <a:ext uri="{C183D7F6-B498-43B3-948B-1728B52AA6E4}">
                <adec:decorative xmlns:adec="http://schemas.microsoft.com/office/drawing/2017/decorative" val="1"/>
              </a:ext>
            </a:extLst>
          </p:cNvPr>
          <p:cNvSpPr/>
          <p:nvPr/>
        </p:nvSpPr>
        <p:spPr>
          <a:xfrm>
            <a:off x="407323" y="2963481"/>
            <a:ext cx="2509697" cy="1396542"/>
          </a:xfrm>
          <a:prstGeom prst="rect">
            <a:avLst/>
          </a:prstGeom>
          <a:blipFill>
            <a:blip r:embed="rId2" cstate="print"/>
            <a:stretch>
              <a:fillRect/>
            </a:stretch>
          </a:blip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7" name="object 7">
            <a:extLst>
              <a:ext uri="{C183D7F6-B498-43B3-948B-1728B52AA6E4}">
                <adec:decorative xmlns:adec="http://schemas.microsoft.com/office/drawing/2017/decorative" val="1"/>
              </a:ext>
            </a:extLst>
          </p:cNvPr>
          <p:cNvSpPr/>
          <p:nvPr/>
        </p:nvSpPr>
        <p:spPr>
          <a:xfrm>
            <a:off x="1431924" y="2853778"/>
            <a:ext cx="142803" cy="127000"/>
          </a:xfrm>
          <a:custGeom>
            <a:avLst/>
            <a:gdLst/>
            <a:ahLst/>
            <a:cxnLst/>
            <a:rect l="l" t="t" r="r" b="b"/>
            <a:pathLst>
              <a:path w="127000" h="127000">
                <a:moveTo>
                  <a:pt x="127000" y="0"/>
                </a:moveTo>
                <a:lnTo>
                  <a:pt x="0" y="0"/>
                </a:lnTo>
                <a:lnTo>
                  <a:pt x="63500" y="127000"/>
                </a:lnTo>
                <a:lnTo>
                  <a:pt x="127000" y="0"/>
                </a:lnTo>
                <a:close/>
              </a:path>
            </a:pathLst>
          </a:custGeom>
          <a:solidFill>
            <a:srgbClr val="FFFFFF"/>
          </a:solid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8" name="object 8"/>
          <p:cNvSpPr txBox="1"/>
          <p:nvPr/>
        </p:nvSpPr>
        <p:spPr>
          <a:xfrm>
            <a:off x="535940" y="1729320"/>
            <a:ext cx="2211310" cy="369332"/>
          </a:xfrm>
          <a:prstGeom prst="rect">
            <a:avLst/>
          </a:prstGeom>
        </p:spPr>
        <p:txBody>
          <a:bodyPr vert="horz" wrap="square" lIns="0" tIns="0" rIns="0" bIns="0" rtlCol="0">
            <a:spAutoFit/>
          </a:bodyPr>
          <a:lstStyle/>
          <a:p>
            <a:pPr marL="12700">
              <a:lnSpc>
                <a:spcPct val="100000"/>
              </a:lnSpc>
            </a:pPr>
            <a:r>
              <a:rPr lang="en-GB" sz="2400" spc="40" noProof="0" dirty="0">
                <a:solidFill>
                  <a:schemeClr val="bg1">
                    <a:lumMod val="50000"/>
                  </a:schemeClr>
                </a:solidFill>
                <a:latin typeface="Helvetica Neue Light"/>
                <a:cs typeface="Helvetica Neue Light"/>
              </a:rPr>
              <a:t>Function</a:t>
            </a:r>
            <a:r>
              <a:rPr lang="en-GB" sz="2400" spc="-110" noProof="0" dirty="0">
                <a:solidFill>
                  <a:schemeClr val="bg1">
                    <a:lumMod val="50000"/>
                  </a:schemeClr>
                </a:solidFill>
                <a:latin typeface="Helvetica Neue Light"/>
                <a:cs typeface="Helvetica Neue Light"/>
              </a:rPr>
              <a:t> </a:t>
            </a:r>
            <a:r>
              <a:rPr lang="en-GB" sz="2400" spc="30" noProof="0" dirty="0">
                <a:solidFill>
                  <a:schemeClr val="bg1">
                    <a:lumMod val="50000"/>
                  </a:schemeClr>
                </a:solidFill>
                <a:latin typeface="Helvetica Neue Light"/>
                <a:cs typeface="Helvetica Neue Light"/>
              </a:rPr>
              <a:t>called</a:t>
            </a:r>
            <a:endParaRPr lang="en-GB" sz="2400" noProof="0" dirty="0">
              <a:solidFill>
                <a:schemeClr val="bg1">
                  <a:lumMod val="50000"/>
                </a:schemeClr>
              </a:solidFill>
              <a:latin typeface="Helvetica Neue Light"/>
              <a:cs typeface="Helvetica Neue Light"/>
            </a:endParaRPr>
          </a:p>
        </p:txBody>
      </p:sp>
      <p:sp>
        <p:nvSpPr>
          <p:cNvPr id="9" name="object 9">
            <a:extLst>
              <a:ext uri="{C183D7F6-B498-43B3-948B-1728B52AA6E4}">
                <adec:decorative xmlns:adec="http://schemas.microsoft.com/office/drawing/2017/decorative" val="1"/>
              </a:ext>
            </a:extLst>
          </p:cNvPr>
          <p:cNvSpPr/>
          <p:nvPr/>
        </p:nvSpPr>
        <p:spPr>
          <a:xfrm>
            <a:off x="4495799" y="2260853"/>
            <a:ext cx="45719" cy="694690"/>
          </a:xfrm>
          <a:custGeom>
            <a:avLst/>
            <a:gdLst/>
            <a:ahLst/>
            <a:cxnLst/>
            <a:rect l="l" t="t" r="r" b="b"/>
            <a:pathLst>
              <a:path h="694689">
                <a:moveTo>
                  <a:pt x="0" y="0"/>
                </a:moveTo>
                <a:lnTo>
                  <a:pt x="0" y="694530"/>
                </a:lnTo>
              </a:path>
            </a:pathLst>
          </a:custGeom>
          <a:ln w="9524">
            <a:solidFill>
              <a:srgbClr val="FFFFFF"/>
            </a:solidFill>
          </a:ln>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0" name="object 10">
            <a:extLst>
              <a:ext uri="{C183D7F6-B498-43B3-948B-1728B52AA6E4}">
                <adec:decorative xmlns:adec="http://schemas.microsoft.com/office/drawing/2017/decorative" val="1"/>
              </a:ext>
            </a:extLst>
          </p:cNvPr>
          <p:cNvSpPr/>
          <p:nvPr/>
        </p:nvSpPr>
        <p:spPr>
          <a:xfrm>
            <a:off x="4432299" y="2853778"/>
            <a:ext cx="142803" cy="127000"/>
          </a:xfrm>
          <a:custGeom>
            <a:avLst/>
            <a:gdLst/>
            <a:ahLst/>
            <a:cxnLst/>
            <a:rect l="l" t="t" r="r" b="b"/>
            <a:pathLst>
              <a:path w="127000" h="127000">
                <a:moveTo>
                  <a:pt x="127000" y="0"/>
                </a:moveTo>
                <a:lnTo>
                  <a:pt x="0" y="0"/>
                </a:lnTo>
                <a:lnTo>
                  <a:pt x="63500" y="127000"/>
                </a:lnTo>
                <a:lnTo>
                  <a:pt x="127000" y="0"/>
                </a:lnTo>
                <a:close/>
              </a:path>
            </a:pathLst>
          </a:custGeom>
          <a:solidFill>
            <a:srgbClr val="FFFFFF"/>
          </a:solid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1" name="object 11"/>
          <p:cNvSpPr txBox="1"/>
          <p:nvPr/>
        </p:nvSpPr>
        <p:spPr>
          <a:xfrm>
            <a:off x="3484803" y="1521040"/>
            <a:ext cx="2314128" cy="719855"/>
          </a:xfrm>
          <a:prstGeom prst="rect">
            <a:avLst/>
          </a:prstGeom>
        </p:spPr>
        <p:txBody>
          <a:bodyPr vert="horz" wrap="square" lIns="0" tIns="0" rIns="0" bIns="0" rtlCol="0">
            <a:spAutoFit/>
          </a:bodyPr>
          <a:lstStyle/>
          <a:p>
            <a:pPr marL="12700" marR="5080" indent="38100">
              <a:lnSpc>
                <a:spcPts val="2800"/>
              </a:lnSpc>
            </a:pPr>
            <a:r>
              <a:rPr lang="en-GB" sz="2400" spc="40" noProof="0" dirty="0">
                <a:solidFill>
                  <a:schemeClr val="bg1">
                    <a:lumMod val="50000"/>
                  </a:schemeClr>
                </a:solidFill>
                <a:latin typeface="Helvetica Neue Light"/>
                <a:cs typeface="Helvetica Neue Light"/>
              </a:rPr>
              <a:t>Function </a:t>
            </a:r>
            <a:r>
              <a:rPr lang="en-GB" sz="2400" spc="30" noProof="0" dirty="0">
                <a:solidFill>
                  <a:schemeClr val="bg1">
                    <a:lumMod val="50000"/>
                  </a:schemeClr>
                </a:solidFill>
                <a:latin typeface="Helvetica Neue Light"/>
                <a:cs typeface="Helvetica Neue Light"/>
              </a:rPr>
              <a:t>called  </a:t>
            </a:r>
            <a:r>
              <a:rPr lang="en-GB" sz="2400" spc="-5" noProof="0" dirty="0">
                <a:solidFill>
                  <a:schemeClr val="bg1">
                    <a:lumMod val="50000"/>
                  </a:schemeClr>
                </a:solidFill>
                <a:latin typeface="Helvetica Neue Light"/>
                <a:cs typeface="Helvetica Neue Light"/>
              </a:rPr>
              <a:t>Parameters</a:t>
            </a:r>
            <a:r>
              <a:rPr lang="en-GB" sz="2400" spc="-120" noProof="0" dirty="0">
                <a:solidFill>
                  <a:schemeClr val="bg1">
                    <a:lumMod val="50000"/>
                  </a:schemeClr>
                </a:solidFill>
                <a:latin typeface="Helvetica Neue Light"/>
                <a:cs typeface="Helvetica Neue Light"/>
              </a:rPr>
              <a:t> </a:t>
            </a:r>
            <a:r>
              <a:rPr lang="en-GB" sz="2400" spc="15" noProof="0" dirty="0">
                <a:solidFill>
                  <a:schemeClr val="bg1">
                    <a:lumMod val="50000"/>
                  </a:schemeClr>
                </a:solidFill>
                <a:latin typeface="Helvetica Neue Light"/>
                <a:cs typeface="Helvetica Neue Light"/>
              </a:rPr>
              <a:t>sent</a:t>
            </a:r>
            <a:endParaRPr lang="en-GB" sz="2400" noProof="0" dirty="0">
              <a:solidFill>
                <a:schemeClr val="bg1">
                  <a:lumMod val="50000"/>
                </a:schemeClr>
              </a:solidFill>
              <a:latin typeface="Helvetica Neue Light"/>
              <a:cs typeface="Helvetica Neue Light"/>
            </a:endParaRPr>
          </a:p>
        </p:txBody>
      </p:sp>
      <p:sp>
        <p:nvSpPr>
          <p:cNvPr id="12" name="object 12">
            <a:extLst>
              <a:ext uri="{C183D7F6-B498-43B3-948B-1728B52AA6E4}">
                <adec:decorative xmlns:adec="http://schemas.microsoft.com/office/drawing/2017/decorative" val="1"/>
              </a:ext>
            </a:extLst>
          </p:cNvPr>
          <p:cNvSpPr/>
          <p:nvPr/>
        </p:nvSpPr>
        <p:spPr>
          <a:xfrm>
            <a:off x="3379127" y="2963481"/>
            <a:ext cx="2509697" cy="1396542"/>
          </a:xfrm>
          <a:prstGeom prst="rect">
            <a:avLst/>
          </a:prstGeom>
          <a:blipFill>
            <a:blip r:embed="rId2" cstate="print"/>
            <a:stretch>
              <a:fillRect/>
            </a:stretch>
          </a:blipFill>
          <a:ln>
            <a:noFill/>
          </a:ln>
        </p:spPr>
        <p:txBody>
          <a:bodyPr wrap="square" lIns="0" tIns="0" rIns="0" bIns="0" rtlCol="0"/>
          <a:lstStyle/>
          <a:p>
            <a:endParaRPr lang="en-GB" noProof="0" dirty="0">
              <a:solidFill>
                <a:schemeClr val="tx2">
                  <a:lumMod val="75000"/>
                </a:schemeClr>
              </a:solidFill>
              <a:latin typeface="Helvetica Neue Light"/>
              <a:cs typeface="Helvetica Neue Light"/>
            </a:endParaRPr>
          </a:p>
        </p:txBody>
      </p:sp>
      <p:sp>
        <p:nvSpPr>
          <p:cNvPr id="13" name="object 13">
            <a:extLst>
              <a:ext uri="{C183D7F6-B498-43B3-948B-1728B52AA6E4}">
                <adec:decorative xmlns:adec="http://schemas.microsoft.com/office/drawing/2017/decorative" val="1"/>
              </a:ext>
            </a:extLst>
          </p:cNvPr>
          <p:cNvSpPr/>
          <p:nvPr/>
        </p:nvSpPr>
        <p:spPr>
          <a:xfrm>
            <a:off x="3429000" y="2995129"/>
            <a:ext cx="2399096" cy="1295412"/>
          </a:xfrm>
          <a:prstGeom prst="rect">
            <a:avLst/>
          </a:prstGeom>
          <a:blipFill>
            <a:blip r:embed="rId3" cstate="print"/>
            <a:stretch>
              <a:fillRect/>
            </a:stretch>
          </a:blipFill>
        </p:spPr>
        <p:txBody>
          <a:bodyPr wrap="square" lIns="0" tIns="0" rIns="0" bIns="0" rtlCol="0"/>
          <a:lstStyle/>
          <a:p>
            <a:endParaRPr lang="en-GB" noProof="0" dirty="0">
              <a:solidFill>
                <a:schemeClr val="accent1">
                  <a:lumMod val="75000"/>
                </a:schemeClr>
              </a:solidFill>
              <a:latin typeface="Helvetica Neue Light"/>
              <a:cs typeface="Helvetica Neue Light"/>
            </a:endParaRPr>
          </a:p>
        </p:txBody>
      </p:sp>
      <p:sp>
        <p:nvSpPr>
          <p:cNvPr id="15" name="object 15">
            <a:extLst>
              <a:ext uri="{C183D7F6-B498-43B3-948B-1728B52AA6E4}">
                <adec:decorative xmlns:adec="http://schemas.microsoft.com/office/drawing/2017/decorative" val="1"/>
              </a:ext>
            </a:extLst>
          </p:cNvPr>
          <p:cNvSpPr/>
          <p:nvPr/>
        </p:nvSpPr>
        <p:spPr>
          <a:xfrm>
            <a:off x="7391399" y="2308948"/>
            <a:ext cx="45719" cy="694690"/>
          </a:xfrm>
          <a:custGeom>
            <a:avLst/>
            <a:gdLst/>
            <a:ahLst/>
            <a:cxnLst/>
            <a:rect l="l" t="t" r="r" b="b"/>
            <a:pathLst>
              <a:path h="694689">
                <a:moveTo>
                  <a:pt x="0" y="0"/>
                </a:moveTo>
                <a:lnTo>
                  <a:pt x="0" y="694530"/>
                </a:lnTo>
              </a:path>
            </a:pathLst>
          </a:custGeom>
          <a:ln w="9524">
            <a:solidFill>
              <a:srgbClr val="FFFFFF"/>
            </a:solidFill>
          </a:ln>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6" name="object 16">
            <a:extLst>
              <a:ext uri="{C183D7F6-B498-43B3-948B-1728B52AA6E4}">
                <adec:decorative xmlns:adec="http://schemas.microsoft.com/office/drawing/2017/decorative" val="1"/>
              </a:ext>
            </a:extLst>
          </p:cNvPr>
          <p:cNvSpPr/>
          <p:nvPr/>
        </p:nvSpPr>
        <p:spPr>
          <a:xfrm>
            <a:off x="7327899" y="2901886"/>
            <a:ext cx="142803" cy="127000"/>
          </a:xfrm>
          <a:custGeom>
            <a:avLst/>
            <a:gdLst/>
            <a:ahLst/>
            <a:cxnLst/>
            <a:rect l="l" t="t" r="r" b="b"/>
            <a:pathLst>
              <a:path w="127000" h="127000">
                <a:moveTo>
                  <a:pt x="127000" y="0"/>
                </a:moveTo>
                <a:lnTo>
                  <a:pt x="0" y="0"/>
                </a:lnTo>
                <a:lnTo>
                  <a:pt x="63500" y="127000"/>
                </a:lnTo>
                <a:lnTo>
                  <a:pt x="127000" y="0"/>
                </a:lnTo>
                <a:close/>
              </a:path>
            </a:pathLst>
          </a:custGeom>
          <a:solidFill>
            <a:srgbClr val="FFFFFF"/>
          </a:solid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7" name="object 17">
            <a:extLst>
              <a:ext uri="{C183D7F6-B498-43B3-948B-1728B52AA6E4}">
                <adec:decorative xmlns:adec="http://schemas.microsoft.com/office/drawing/2017/decorative" val="1"/>
              </a:ext>
            </a:extLst>
          </p:cNvPr>
          <p:cNvSpPr/>
          <p:nvPr/>
        </p:nvSpPr>
        <p:spPr>
          <a:xfrm>
            <a:off x="7391399" y="4343400"/>
            <a:ext cx="45719" cy="694690"/>
          </a:xfrm>
          <a:custGeom>
            <a:avLst/>
            <a:gdLst/>
            <a:ahLst/>
            <a:cxnLst/>
            <a:rect l="l" t="t" r="r" b="b"/>
            <a:pathLst>
              <a:path h="694689">
                <a:moveTo>
                  <a:pt x="0" y="0"/>
                </a:moveTo>
                <a:lnTo>
                  <a:pt x="0" y="694530"/>
                </a:lnTo>
              </a:path>
            </a:pathLst>
          </a:custGeom>
          <a:ln w="9524">
            <a:solidFill>
              <a:srgbClr val="FFFFFF"/>
            </a:solidFill>
          </a:ln>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8" name="object 18">
            <a:extLst>
              <a:ext uri="{C183D7F6-B498-43B3-948B-1728B52AA6E4}">
                <adec:decorative xmlns:adec="http://schemas.microsoft.com/office/drawing/2017/decorative" val="1"/>
              </a:ext>
            </a:extLst>
          </p:cNvPr>
          <p:cNvSpPr/>
          <p:nvPr/>
        </p:nvSpPr>
        <p:spPr>
          <a:xfrm>
            <a:off x="7327899" y="4936325"/>
            <a:ext cx="142803" cy="127000"/>
          </a:xfrm>
          <a:custGeom>
            <a:avLst/>
            <a:gdLst/>
            <a:ahLst/>
            <a:cxnLst/>
            <a:rect l="l" t="t" r="r" b="b"/>
            <a:pathLst>
              <a:path w="127000" h="127000">
                <a:moveTo>
                  <a:pt x="127000" y="0"/>
                </a:moveTo>
                <a:lnTo>
                  <a:pt x="0" y="0"/>
                </a:lnTo>
                <a:lnTo>
                  <a:pt x="63500" y="127012"/>
                </a:lnTo>
                <a:lnTo>
                  <a:pt x="127000" y="0"/>
                </a:lnTo>
                <a:close/>
              </a:path>
            </a:pathLst>
          </a:custGeom>
          <a:solidFill>
            <a:srgbClr val="FFFFFF"/>
          </a:solid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9" name="object 19"/>
          <p:cNvSpPr txBox="1"/>
          <p:nvPr/>
        </p:nvSpPr>
        <p:spPr>
          <a:xfrm>
            <a:off x="6381115" y="1521040"/>
            <a:ext cx="2314128" cy="719855"/>
          </a:xfrm>
          <a:prstGeom prst="rect">
            <a:avLst/>
          </a:prstGeom>
        </p:spPr>
        <p:txBody>
          <a:bodyPr vert="horz" wrap="square" lIns="0" tIns="0" rIns="0" bIns="0" rtlCol="0">
            <a:spAutoFit/>
          </a:bodyPr>
          <a:lstStyle/>
          <a:p>
            <a:pPr marL="12700" marR="5080" indent="38100">
              <a:lnSpc>
                <a:spcPts val="2800"/>
              </a:lnSpc>
            </a:pPr>
            <a:r>
              <a:rPr lang="en-GB" sz="2400" spc="40" noProof="0" dirty="0">
                <a:solidFill>
                  <a:schemeClr val="bg1">
                    <a:lumMod val="50000"/>
                  </a:schemeClr>
                </a:solidFill>
                <a:latin typeface="Helvetica Neue Light"/>
                <a:cs typeface="Helvetica Neue Light"/>
              </a:rPr>
              <a:t>Function </a:t>
            </a:r>
            <a:r>
              <a:rPr lang="en-GB" sz="2400" spc="30" noProof="0" dirty="0">
                <a:solidFill>
                  <a:schemeClr val="bg1">
                    <a:lumMod val="50000"/>
                  </a:schemeClr>
                </a:solidFill>
                <a:latin typeface="Helvetica Neue Light"/>
                <a:cs typeface="Helvetica Neue Light"/>
              </a:rPr>
              <a:t>called  </a:t>
            </a:r>
            <a:r>
              <a:rPr lang="en-GB" sz="2400" spc="-5" noProof="0" dirty="0">
                <a:solidFill>
                  <a:schemeClr val="bg1">
                    <a:lumMod val="50000"/>
                  </a:schemeClr>
                </a:solidFill>
                <a:latin typeface="Helvetica Neue Light"/>
                <a:cs typeface="Helvetica Neue Light"/>
              </a:rPr>
              <a:t>Parameters</a:t>
            </a:r>
            <a:r>
              <a:rPr lang="en-GB" sz="2400" spc="-120" noProof="0" dirty="0">
                <a:solidFill>
                  <a:schemeClr val="bg1">
                    <a:lumMod val="50000"/>
                  </a:schemeClr>
                </a:solidFill>
                <a:latin typeface="Helvetica Neue Light"/>
                <a:cs typeface="Helvetica Neue Light"/>
              </a:rPr>
              <a:t> </a:t>
            </a:r>
            <a:r>
              <a:rPr lang="en-GB" sz="2400" spc="15" noProof="0" dirty="0">
                <a:solidFill>
                  <a:schemeClr val="bg1">
                    <a:lumMod val="50000"/>
                  </a:schemeClr>
                </a:solidFill>
                <a:latin typeface="Helvetica Neue Light"/>
                <a:cs typeface="Helvetica Neue Light"/>
              </a:rPr>
              <a:t>sent</a:t>
            </a:r>
            <a:endParaRPr lang="en-GB" sz="2400" noProof="0" dirty="0">
              <a:solidFill>
                <a:schemeClr val="bg1">
                  <a:lumMod val="50000"/>
                </a:schemeClr>
              </a:solidFill>
              <a:latin typeface="Helvetica Neue Light"/>
              <a:cs typeface="Helvetica Neue Light"/>
            </a:endParaRPr>
          </a:p>
        </p:txBody>
      </p:sp>
      <p:sp>
        <p:nvSpPr>
          <p:cNvPr id="20" name="object 20">
            <a:extLst>
              <a:ext uri="{C183D7F6-B498-43B3-948B-1728B52AA6E4}">
                <adec:decorative xmlns:adec="http://schemas.microsoft.com/office/drawing/2017/decorative" val="1"/>
              </a:ext>
            </a:extLst>
          </p:cNvPr>
          <p:cNvSpPr/>
          <p:nvPr/>
        </p:nvSpPr>
        <p:spPr>
          <a:xfrm>
            <a:off x="6276111" y="3013354"/>
            <a:ext cx="2509697" cy="1396542"/>
          </a:xfrm>
          <a:prstGeom prst="rect">
            <a:avLst/>
          </a:prstGeom>
          <a:blipFill>
            <a:blip r:embed="rId4" cstate="print"/>
            <a:stretch>
              <a:fillRect/>
            </a:stretch>
          </a:blip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21" name="object 21">
            <a:extLst>
              <a:ext uri="{C183D7F6-B498-43B3-948B-1728B52AA6E4}">
                <adec:decorative xmlns:adec="http://schemas.microsoft.com/office/drawing/2017/decorative" val="1"/>
              </a:ext>
            </a:extLst>
          </p:cNvPr>
          <p:cNvSpPr/>
          <p:nvPr/>
        </p:nvSpPr>
        <p:spPr>
          <a:xfrm>
            <a:off x="6324600" y="3043237"/>
            <a:ext cx="2399096" cy="1295400"/>
          </a:xfrm>
          <a:prstGeom prst="rect">
            <a:avLst/>
          </a:prstGeom>
          <a:blipFill>
            <a:blip r:embed="rId3" cstate="print"/>
            <a:stretch>
              <a:fillRect/>
            </a:stretch>
          </a:blip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22" name="object 22">
            <a:extLst>
              <a:ext uri="{C183D7F6-B498-43B3-948B-1728B52AA6E4}">
                <adec:decorative xmlns:adec="http://schemas.microsoft.com/office/drawing/2017/decorative" val="1"/>
              </a:ext>
            </a:extLst>
          </p:cNvPr>
          <p:cNvSpPr/>
          <p:nvPr/>
        </p:nvSpPr>
        <p:spPr>
          <a:xfrm>
            <a:off x="6324600" y="3043237"/>
            <a:ext cx="2399096" cy="1295400"/>
          </a:xfrm>
          <a:custGeom>
            <a:avLst/>
            <a:gdLst/>
            <a:ahLst/>
            <a:cxnLst/>
            <a:rect l="l" t="t" r="r" b="b"/>
            <a:pathLst>
              <a:path w="2133600" h="1295400">
                <a:moveTo>
                  <a:pt x="0" y="0"/>
                </a:moveTo>
                <a:lnTo>
                  <a:pt x="2133598" y="0"/>
                </a:lnTo>
                <a:lnTo>
                  <a:pt x="2133598" y="1295398"/>
                </a:lnTo>
                <a:lnTo>
                  <a:pt x="0" y="1295398"/>
                </a:lnTo>
                <a:lnTo>
                  <a:pt x="0" y="0"/>
                </a:lnTo>
                <a:close/>
              </a:path>
            </a:pathLst>
          </a:custGeom>
          <a:ln w="9524">
            <a:noFill/>
          </a:ln>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23" name="object 23"/>
          <p:cNvSpPr txBox="1"/>
          <p:nvPr/>
        </p:nvSpPr>
        <p:spPr>
          <a:xfrm>
            <a:off x="6568440" y="3416617"/>
            <a:ext cx="1842877" cy="565150"/>
          </a:xfrm>
          <a:prstGeom prst="rect">
            <a:avLst/>
          </a:prstGeom>
        </p:spPr>
        <p:txBody>
          <a:bodyPr vert="horz" wrap="square" lIns="0" tIns="0" rIns="0" bIns="0" rtlCol="0">
            <a:spAutoFit/>
          </a:bodyPr>
          <a:lstStyle/>
          <a:p>
            <a:pPr marL="12700">
              <a:lnSpc>
                <a:spcPct val="100000"/>
              </a:lnSpc>
            </a:pPr>
            <a:r>
              <a:rPr lang="en-GB" sz="3600" spc="55" noProof="0" dirty="0">
                <a:solidFill>
                  <a:schemeClr val="bg1">
                    <a:lumMod val="50000"/>
                  </a:schemeClr>
                </a:solidFill>
                <a:latin typeface="Helvetica Neue Light"/>
                <a:cs typeface="Helvetica Neue Light"/>
              </a:rPr>
              <a:t>function</a:t>
            </a:r>
            <a:endParaRPr lang="en-GB" sz="3600" noProof="0" dirty="0">
              <a:solidFill>
                <a:schemeClr val="bg1">
                  <a:lumMod val="50000"/>
                </a:schemeClr>
              </a:solidFill>
              <a:latin typeface="Helvetica Neue Light"/>
              <a:cs typeface="Helvetica Neue Light"/>
            </a:endParaRPr>
          </a:p>
        </p:txBody>
      </p:sp>
      <p:sp>
        <p:nvSpPr>
          <p:cNvPr id="24" name="object 24"/>
          <p:cNvSpPr txBox="1"/>
          <p:nvPr/>
        </p:nvSpPr>
        <p:spPr>
          <a:xfrm>
            <a:off x="459740" y="5494489"/>
            <a:ext cx="2202742" cy="415925"/>
          </a:xfrm>
          <a:prstGeom prst="rect">
            <a:avLst/>
          </a:prstGeom>
        </p:spPr>
        <p:txBody>
          <a:bodyPr vert="horz" wrap="square" lIns="0" tIns="0" rIns="0" bIns="0" rtlCol="0">
            <a:spAutoFit/>
          </a:bodyPr>
          <a:lstStyle/>
          <a:p>
            <a:pPr marL="717550" marR="5080" indent="-705485">
              <a:lnSpc>
                <a:spcPts val="1600"/>
              </a:lnSpc>
            </a:pPr>
            <a:r>
              <a:rPr lang="en-GB" sz="1400" spc="-45" noProof="0" dirty="0">
                <a:solidFill>
                  <a:schemeClr val="bg1">
                    <a:lumMod val="50000"/>
                  </a:schemeClr>
                </a:solidFill>
                <a:latin typeface="Helvetica Neue Light"/>
                <a:cs typeface="Helvetica Neue Light"/>
              </a:rPr>
              <a:t>e.g. </a:t>
            </a:r>
            <a:r>
              <a:rPr lang="en-GB" sz="1400" spc="-5" noProof="0" dirty="0">
                <a:solidFill>
                  <a:schemeClr val="bg1">
                    <a:lumMod val="50000"/>
                  </a:schemeClr>
                </a:solidFill>
                <a:latin typeface="Helvetica Neue Light"/>
                <a:cs typeface="Helvetica Neue Light"/>
              </a:rPr>
              <a:t>Formatting </a:t>
            </a:r>
            <a:r>
              <a:rPr lang="en-GB" sz="1400" spc="15" noProof="0" dirty="0">
                <a:solidFill>
                  <a:schemeClr val="bg1">
                    <a:lumMod val="50000"/>
                  </a:schemeClr>
                </a:solidFill>
                <a:latin typeface="Helvetica Neue Light"/>
                <a:cs typeface="Helvetica Neue Light"/>
              </a:rPr>
              <a:t>and</a:t>
            </a:r>
            <a:r>
              <a:rPr lang="en-GB" sz="1400" spc="-195" noProof="0" dirty="0">
                <a:solidFill>
                  <a:schemeClr val="bg1">
                    <a:lumMod val="50000"/>
                  </a:schemeClr>
                </a:solidFill>
                <a:latin typeface="Helvetica Neue Light"/>
                <a:cs typeface="Helvetica Neue Light"/>
              </a:rPr>
              <a:t> </a:t>
            </a:r>
            <a:r>
              <a:rPr lang="en-GB" sz="1400" spc="-10" noProof="0" dirty="0">
                <a:solidFill>
                  <a:schemeClr val="bg1">
                    <a:lumMod val="50000"/>
                  </a:schemeClr>
                </a:solidFill>
                <a:latin typeface="Helvetica Neue Light"/>
                <a:cs typeface="Helvetica Neue Light"/>
              </a:rPr>
              <a:t>writing  </a:t>
            </a:r>
            <a:r>
              <a:rPr lang="en-GB" sz="1400" spc="-5" noProof="0" dirty="0">
                <a:solidFill>
                  <a:schemeClr val="bg1">
                    <a:lumMod val="50000"/>
                  </a:schemeClr>
                </a:solidFill>
                <a:latin typeface="Helvetica Neue Light"/>
                <a:cs typeface="Helvetica Neue Light"/>
              </a:rPr>
              <a:t>out</a:t>
            </a:r>
            <a:r>
              <a:rPr lang="en-GB" sz="1400" spc="-140" noProof="0" dirty="0">
                <a:solidFill>
                  <a:schemeClr val="bg1">
                    <a:lumMod val="50000"/>
                  </a:schemeClr>
                </a:solidFill>
                <a:latin typeface="Helvetica Neue Light"/>
                <a:cs typeface="Helvetica Neue Light"/>
              </a:rPr>
              <a:t> </a:t>
            </a:r>
            <a:r>
              <a:rPr lang="en-GB" sz="1400" spc="-25" noProof="0" dirty="0">
                <a:solidFill>
                  <a:schemeClr val="bg1">
                    <a:lumMod val="50000"/>
                  </a:schemeClr>
                </a:solidFill>
                <a:latin typeface="Helvetica Neue Light"/>
                <a:cs typeface="Helvetica Neue Light"/>
              </a:rPr>
              <a:t>text</a:t>
            </a:r>
            <a:endParaRPr lang="en-GB" sz="1400" noProof="0" dirty="0">
              <a:solidFill>
                <a:schemeClr val="bg1">
                  <a:lumMod val="50000"/>
                </a:schemeClr>
              </a:solidFill>
              <a:latin typeface="Helvetica Neue Light"/>
              <a:cs typeface="Helvetica Neue Light"/>
            </a:endParaRPr>
          </a:p>
        </p:txBody>
      </p:sp>
      <p:sp>
        <p:nvSpPr>
          <p:cNvPr id="25" name="object 25"/>
          <p:cNvSpPr txBox="1"/>
          <p:nvPr/>
        </p:nvSpPr>
        <p:spPr>
          <a:xfrm>
            <a:off x="3583940" y="5494489"/>
            <a:ext cx="2202742" cy="412079"/>
          </a:xfrm>
          <a:prstGeom prst="rect">
            <a:avLst/>
          </a:prstGeom>
        </p:spPr>
        <p:txBody>
          <a:bodyPr vert="horz" wrap="square" lIns="0" tIns="0" rIns="0" bIns="0" rtlCol="0">
            <a:spAutoFit/>
          </a:bodyPr>
          <a:lstStyle/>
          <a:p>
            <a:pPr marL="397510" marR="5080" indent="-385445">
              <a:lnSpc>
                <a:spcPts val="1600"/>
              </a:lnSpc>
            </a:pPr>
            <a:r>
              <a:rPr lang="en-GB" sz="1400" spc="-45" noProof="0" dirty="0">
                <a:solidFill>
                  <a:schemeClr val="bg1">
                    <a:lumMod val="50000"/>
                  </a:schemeClr>
                </a:solidFill>
                <a:latin typeface="Helvetica Neue Light"/>
                <a:cs typeface="Helvetica Neue Light"/>
              </a:rPr>
              <a:t>e.g. </a:t>
            </a:r>
            <a:r>
              <a:rPr lang="en-GB" sz="1400" spc="-5" noProof="0" dirty="0">
                <a:solidFill>
                  <a:schemeClr val="bg1">
                    <a:lumMod val="50000"/>
                  </a:schemeClr>
                </a:solidFill>
                <a:latin typeface="Helvetica Neue Light"/>
                <a:cs typeface="Helvetica Neue Light"/>
              </a:rPr>
              <a:t>Formatting </a:t>
            </a:r>
            <a:r>
              <a:rPr lang="en-GB" sz="1400" spc="15" noProof="0" dirty="0">
                <a:solidFill>
                  <a:schemeClr val="bg1">
                    <a:lumMod val="50000"/>
                  </a:schemeClr>
                </a:solidFill>
                <a:latin typeface="Helvetica Neue Light"/>
                <a:cs typeface="Helvetica Neue Light"/>
              </a:rPr>
              <a:t>and</a:t>
            </a:r>
            <a:r>
              <a:rPr lang="en-GB" sz="1400" spc="-195" noProof="0" dirty="0">
                <a:solidFill>
                  <a:schemeClr val="bg1">
                    <a:lumMod val="50000"/>
                  </a:schemeClr>
                </a:solidFill>
                <a:latin typeface="Helvetica Neue Light"/>
                <a:cs typeface="Helvetica Neue Light"/>
              </a:rPr>
              <a:t> </a:t>
            </a:r>
            <a:r>
              <a:rPr lang="en-GB" sz="1400" spc="-10" noProof="0" dirty="0">
                <a:solidFill>
                  <a:schemeClr val="bg1">
                    <a:lumMod val="50000"/>
                  </a:schemeClr>
                </a:solidFill>
                <a:latin typeface="Helvetica Neue Light"/>
                <a:cs typeface="Helvetica Neue Light"/>
              </a:rPr>
              <a:t>writing  </a:t>
            </a:r>
            <a:r>
              <a:rPr lang="en-GB" sz="1400" spc="-5" noProof="0" dirty="0">
                <a:solidFill>
                  <a:schemeClr val="bg1">
                    <a:lumMod val="50000"/>
                  </a:schemeClr>
                </a:solidFill>
                <a:latin typeface="Helvetica Neue Light"/>
                <a:cs typeface="Helvetica Neue Light"/>
              </a:rPr>
              <a:t>out inputted</a:t>
            </a:r>
            <a:r>
              <a:rPr lang="en-GB" sz="1400" spc="-190" noProof="0" dirty="0">
                <a:solidFill>
                  <a:schemeClr val="bg1">
                    <a:lumMod val="50000"/>
                  </a:schemeClr>
                </a:solidFill>
                <a:latin typeface="Helvetica Neue Light"/>
                <a:cs typeface="Helvetica Neue Light"/>
              </a:rPr>
              <a:t> </a:t>
            </a:r>
            <a:r>
              <a:rPr lang="en-GB" sz="1400" spc="-25" noProof="0" dirty="0">
                <a:solidFill>
                  <a:schemeClr val="bg1">
                    <a:lumMod val="50000"/>
                  </a:schemeClr>
                </a:solidFill>
                <a:latin typeface="Helvetica Neue Light"/>
                <a:cs typeface="Helvetica Neue Light"/>
              </a:rPr>
              <a:t>text</a:t>
            </a:r>
            <a:endParaRPr lang="en-GB" sz="1400" noProof="0" dirty="0">
              <a:solidFill>
                <a:schemeClr val="bg1">
                  <a:lumMod val="50000"/>
                </a:schemeClr>
              </a:solidFill>
              <a:latin typeface="Helvetica Neue Light"/>
              <a:cs typeface="Helvetica Neue Light"/>
            </a:endParaRPr>
          </a:p>
        </p:txBody>
      </p:sp>
      <p:sp>
        <p:nvSpPr>
          <p:cNvPr id="26" name="object 26"/>
          <p:cNvSpPr txBox="1"/>
          <p:nvPr/>
        </p:nvSpPr>
        <p:spPr>
          <a:xfrm>
            <a:off x="6401752" y="5070157"/>
            <a:ext cx="2199886" cy="1051869"/>
          </a:xfrm>
          <a:prstGeom prst="rect">
            <a:avLst/>
          </a:prstGeom>
        </p:spPr>
        <p:txBody>
          <a:bodyPr vert="horz" wrap="square" lIns="0" tIns="0" rIns="0" bIns="0" rtlCol="0">
            <a:spAutoFit/>
          </a:bodyPr>
          <a:lstStyle/>
          <a:p>
            <a:pPr algn="ctr">
              <a:lnSpc>
                <a:spcPct val="100000"/>
              </a:lnSpc>
            </a:pPr>
            <a:r>
              <a:rPr lang="en-GB" sz="2400" spc="20" noProof="0" dirty="0">
                <a:solidFill>
                  <a:schemeClr val="bg1">
                    <a:lumMod val="50000"/>
                  </a:schemeClr>
                </a:solidFill>
                <a:latin typeface="Helvetica Neue Light"/>
                <a:cs typeface="Helvetica Neue Light"/>
              </a:rPr>
              <a:t>Returned</a:t>
            </a:r>
            <a:r>
              <a:rPr lang="en-GB" sz="2400" spc="-114" noProof="0" dirty="0">
                <a:solidFill>
                  <a:schemeClr val="bg1">
                    <a:lumMod val="50000"/>
                  </a:schemeClr>
                </a:solidFill>
                <a:latin typeface="Helvetica Neue Light"/>
                <a:cs typeface="Helvetica Neue Light"/>
              </a:rPr>
              <a:t> </a:t>
            </a:r>
            <a:r>
              <a:rPr lang="en-GB" sz="2400" spc="30" noProof="0" dirty="0">
                <a:solidFill>
                  <a:schemeClr val="bg1">
                    <a:lumMod val="50000"/>
                  </a:schemeClr>
                </a:solidFill>
                <a:latin typeface="Helvetica Neue Light"/>
                <a:cs typeface="Helvetica Neue Light"/>
              </a:rPr>
              <a:t>value</a:t>
            </a:r>
            <a:endParaRPr lang="en-GB" sz="2400" noProof="0" dirty="0">
              <a:solidFill>
                <a:schemeClr val="bg1">
                  <a:lumMod val="50000"/>
                </a:schemeClr>
              </a:solidFill>
              <a:latin typeface="Helvetica Neue Light"/>
              <a:cs typeface="Helvetica Neue Light"/>
            </a:endParaRPr>
          </a:p>
          <a:p>
            <a:pPr marL="107950" marR="104775" indent="74930">
              <a:lnSpc>
                <a:spcPts val="1600"/>
              </a:lnSpc>
              <a:spcBef>
                <a:spcPts val="459"/>
              </a:spcBef>
            </a:pPr>
            <a:r>
              <a:rPr lang="en-GB" sz="1400" spc="-45" noProof="0" dirty="0">
                <a:solidFill>
                  <a:schemeClr val="bg1">
                    <a:lumMod val="50000"/>
                  </a:schemeClr>
                </a:solidFill>
                <a:latin typeface="Helvetica Neue Light"/>
                <a:cs typeface="Helvetica Neue Light"/>
              </a:rPr>
              <a:t>e.g. </a:t>
            </a:r>
            <a:r>
              <a:rPr lang="en-GB" sz="1400" spc="-5" noProof="0" dirty="0">
                <a:solidFill>
                  <a:schemeClr val="bg1">
                    <a:lumMod val="50000"/>
                  </a:schemeClr>
                </a:solidFill>
                <a:latin typeface="Helvetica Neue Light"/>
                <a:cs typeface="Helvetica Neue Light"/>
              </a:rPr>
              <a:t>Date </a:t>
            </a:r>
            <a:r>
              <a:rPr lang="en-GB" sz="1400" noProof="0" dirty="0">
                <a:solidFill>
                  <a:schemeClr val="bg1">
                    <a:lumMod val="50000"/>
                  </a:schemeClr>
                </a:solidFill>
                <a:latin typeface="Helvetica Neue Light"/>
                <a:cs typeface="Helvetica Neue Light"/>
              </a:rPr>
              <a:t>function </a:t>
            </a:r>
            <a:r>
              <a:rPr lang="en-GB" sz="1400" spc="-10" noProof="0" dirty="0">
                <a:solidFill>
                  <a:schemeClr val="bg1">
                    <a:lumMod val="50000"/>
                  </a:schemeClr>
                </a:solidFill>
                <a:latin typeface="Helvetica Neue Light"/>
                <a:cs typeface="Helvetica Neue Light"/>
              </a:rPr>
              <a:t>that  </a:t>
            </a:r>
            <a:r>
              <a:rPr lang="en-GB" sz="1400" spc="-20" noProof="0" dirty="0">
                <a:solidFill>
                  <a:schemeClr val="bg1">
                    <a:lumMod val="50000"/>
                  </a:schemeClr>
                </a:solidFill>
                <a:latin typeface="Helvetica Neue Light"/>
                <a:cs typeface="Helvetica Neue Light"/>
              </a:rPr>
              <a:t>returns</a:t>
            </a:r>
            <a:r>
              <a:rPr lang="en-GB" sz="1400" spc="-80" noProof="0" dirty="0">
                <a:solidFill>
                  <a:schemeClr val="bg1">
                    <a:lumMod val="50000"/>
                  </a:schemeClr>
                </a:solidFill>
                <a:latin typeface="Helvetica Neue Light"/>
                <a:cs typeface="Helvetica Neue Light"/>
              </a:rPr>
              <a:t> </a:t>
            </a:r>
            <a:r>
              <a:rPr lang="en-GB" sz="1400" spc="10" noProof="0" dirty="0">
                <a:solidFill>
                  <a:schemeClr val="bg1">
                    <a:lumMod val="50000"/>
                  </a:schemeClr>
                </a:solidFill>
                <a:latin typeface="Helvetica Neue Light"/>
                <a:cs typeface="Helvetica Neue Light"/>
              </a:rPr>
              <a:t>a</a:t>
            </a:r>
            <a:r>
              <a:rPr lang="en-GB" sz="1400" spc="-80" noProof="0" dirty="0">
                <a:solidFill>
                  <a:schemeClr val="bg1">
                    <a:lumMod val="50000"/>
                  </a:schemeClr>
                </a:solidFill>
                <a:latin typeface="Helvetica Neue Light"/>
                <a:cs typeface="Helvetica Neue Light"/>
              </a:rPr>
              <a:t> </a:t>
            </a:r>
            <a:r>
              <a:rPr lang="en-GB" sz="1400" spc="-15" noProof="0" dirty="0">
                <a:solidFill>
                  <a:schemeClr val="bg1">
                    <a:lumMod val="50000"/>
                  </a:schemeClr>
                </a:solidFill>
                <a:latin typeface="Helvetica Neue Light"/>
                <a:cs typeface="Helvetica Neue Light"/>
              </a:rPr>
              <a:t>date</a:t>
            </a:r>
            <a:r>
              <a:rPr lang="en-GB" sz="1400" spc="-80" noProof="0" dirty="0">
                <a:solidFill>
                  <a:schemeClr val="bg1">
                    <a:lumMod val="50000"/>
                  </a:schemeClr>
                </a:solidFill>
                <a:latin typeface="Helvetica Neue Light"/>
                <a:cs typeface="Helvetica Neue Light"/>
              </a:rPr>
              <a:t> </a:t>
            </a:r>
            <a:r>
              <a:rPr lang="en-GB" sz="1400" spc="-15" noProof="0" dirty="0">
                <a:solidFill>
                  <a:schemeClr val="bg1">
                    <a:lumMod val="50000"/>
                  </a:schemeClr>
                </a:solidFill>
                <a:latin typeface="Helvetica Neue Light"/>
                <a:cs typeface="Helvetica Neue Light"/>
              </a:rPr>
              <a:t>to</a:t>
            </a:r>
            <a:r>
              <a:rPr lang="en-GB" sz="1400" spc="-80" noProof="0" dirty="0">
                <a:solidFill>
                  <a:schemeClr val="bg1">
                    <a:lumMod val="50000"/>
                  </a:schemeClr>
                </a:solidFill>
                <a:latin typeface="Helvetica Neue Light"/>
                <a:cs typeface="Helvetica Neue Light"/>
              </a:rPr>
              <a:t> </a:t>
            </a:r>
            <a:r>
              <a:rPr lang="en-GB" sz="1400" spc="-10" noProof="0" dirty="0">
                <a:solidFill>
                  <a:schemeClr val="bg1">
                    <a:lumMod val="50000"/>
                  </a:schemeClr>
                </a:solidFill>
                <a:latin typeface="Helvetica Neue Light"/>
                <a:cs typeface="Helvetica Neue Light"/>
              </a:rPr>
              <a:t>be</a:t>
            </a:r>
            <a:r>
              <a:rPr lang="en-GB" sz="1400" spc="-80" noProof="0" dirty="0">
                <a:solidFill>
                  <a:schemeClr val="bg1">
                    <a:lumMod val="50000"/>
                  </a:schemeClr>
                </a:solidFill>
                <a:latin typeface="Helvetica Neue Light"/>
                <a:cs typeface="Helvetica Neue Light"/>
              </a:rPr>
              <a:t> </a:t>
            </a:r>
            <a:r>
              <a:rPr lang="en-GB" sz="1400" spc="-10" noProof="0" dirty="0">
                <a:solidFill>
                  <a:schemeClr val="bg1">
                    <a:lumMod val="50000"/>
                  </a:schemeClr>
                </a:solidFill>
                <a:latin typeface="Helvetica Neue Light"/>
                <a:cs typeface="Helvetica Neue Light"/>
              </a:rPr>
              <a:t>used</a:t>
            </a:r>
            <a:endParaRPr lang="en-GB" sz="1400" noProof="0" dirty="0">
              <a:solidFill>
                <a:schemeClr val="bg1">
                  <a:lumMod val="50000"/>
                </a:schemeClr>
              </a:solidFill>
              <a:latin typeface="Helvetica Neue Light"/>
              <a:cs typeface="Helvetica Neue Light"/>
            </a:endParaRPr>
          </a:p>
          <a:p>
            <a:pPr marL="27940" algn="ctr">
              <a:lnSpc>
                <a:spcPts val="1660"/>
              </a:lnSpc>
            </a:pPr>
            <a:r>
              <a:rPr lang="en-GB" sz="1400" spc="-20" noProof="0" dirty="0">
                <a:solidFill>
                  <a:schemeClr val="bg1">
                    <a:lumMod val="50000"/>
                  </a:schemeClr>
                </a:solidFill>
                <a:latin typeface="Helvetica Neue Light"/>
                <a:cs typeface="Helvetica Neue Light"/>
              </a:rPr>
              <a:t>later </a:t>
            </a:r>
            <a:r>
              <a:rPr lang="en-GB" sz="1400" spc="10" noProof="0" dirty="0">
                <a:solidFill>
                  <a:schemeClr val="bg1">
                    <a:lumMod val="50000"/>
                  </a:schemeClr>
                </a:solidFill>
                <a:latin typeface="Helvetica Neue Light"/>
                <a:cs typeface="Helvetica Neue Light"/>
              </a:rPr>
              <a:t>in</a:t>
            </a:r>
            <a:r>
              <a:rPr lang="en-GB" sz="1400" spc="-200" noProof="0" dirty="0">
                <a:solidFill>
                  <a:schemeClr val="bg1">
                    <a:lumMod val="50000"/>
                  </a:schemeClr>
                </a:solidFill>
                <a:latin typeface="Helvetica Neue Light"/>
                <a:cs typeface="Helvetica Neue Light"/>
              </a:rPr>
              <a:t> </a:t>
            </a:r>
            <a:r>
              <a:rPr lang="en-GB" sz="1400" spc="-5" noProof="0" dirty="0">
                <a:solidFill>
                  <a:schemeClr val="bg1">
                    <a:lumMod val="50000"/>
                  </a:schemeClr>
                </a:solidFill>
                <a:latin typeface="Helvetica Neue Light"/>
                <a:cs typeface="Helvetica Neue Light"/>
              </a:rPr>
              <a:t>program</a:t>
            </a:r>
            <a:endParaRPr lang="en-GB" sz="1400" noProof="0" dirty="0">
              <a:solidFill>
                <a:schemeClr val="bg1">
                  <a:lumMod val="50000"/>
                </a:schemeClr>
              </a:solidFill>
              <a:latin typeface="Helvetica Neue Light"/>
              <a:cs typeface="Helvetica Neue Light"/>
            </a:endParaRPr>
          </a:p>
        </p:txBody>
      </p:sp>
      <p:cxnSp>
        <p:nvCxnSpPr>
          <p:cNvPr id="31" name="Straight Arrow Connector 30">
            <a:extLst>
              <a:ext uri="{C183D7F6-B498-43B3-948B-1728B52AA6E4}">
                <adec:decorative xmlns:adec="http://schemas.microsoft.com/office/drawing/2017/decorative" val="1"/>
              </a:ext>
            </a:extLst>
          </p:cNvPr>
          <p:cNvCxnSpPr/>
          <p:nvPr/>
        </p:nvCxnSpPr>
        <p:spPr>
          <a:xfrm>
            <a:off x="1574727" y="2098652"/>
            <a:ext cx="0" cy="80323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8" name="object 4">
            <a:extLst>
              <a:ext uri="{C183D7F6-B498-43B3-948B-1728B52AA6E4}">
                <adec:decorative xmlns:adec="http://schemas.microsoft.com/office/drawing/2017/decorative" val="1"/>
              </a:ext>
            </a:extLst>
          </p:cNvPr>
          <p:cNvSpPr/>
          <p:nvPr/>
        </p:nvSpPr>
        <p:spPr>
          <a:xfrm>
            <a:off x="3429000" y="3002150"/>
            <a:ext cx="2399096" cy="1295412"/>
          </a:xfrm>
          <a:prstGeom prst="rect">
            <a:avLst/>
          </a:prstGeom>
          <a:solidFill>
            <a:schemeClr val="tx2">
              <a:lumMod val="60000"/>
              <a:lumOff val="40000"/>
            </a:schemeClr>
          </a:solid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cxnSp>
        <p:nvCxnSpPr>
          <p:cNvPr id="32" name="Straight Arrow Connector 31">
            <a:extLst>
              <a:ext uri="{C183D7F6-B498-43B3-948B-1728B52AA6E4}">
                <adec:decorative xmlns:adec="http://schemas.microsoft.com/office/drawing/2017/decorative" val="1"/>
              </a:ext>
            </a:extLst>
          </p:cNvPr>
          <p:cNvCxnSpPr/>
          <p:nvPr/>
        </p:nvCxnSpPr>
        <p:spPr>
          <a:xfrm>
            <a:off x="1578344" y="4409896"/>
            <a:ext cx="0" cy="80323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C183D7F6-B498-43B3-948B-1728B52AA6E4}">
                <adec:decorative xmlns:adec="http://schemas.microsoft.com/office/drawing/2017/decorative" val="1"/>
              </a:ext>
            </a:extLst>
          </p:cNvPr>
          <p:cNvCxnSpPr/>
          <p:nvPr/>
        </p:nvCxnSpPr>
        <p:spPr>
          <a:xfrm>
            <a:off x="4575102" y="2200404"/>
            <a:ext cx="0" cy="80323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C183D7F6-B498-43B3-948B-1728B52AA6E4}">
                <adec:decorative xmlns:adec="http://schemas.microsoft.com/office/drawing/2017/decorative" val="1"/>
              </a:ext>
            </a:extLst>
          </p:cNvPr>
          <p:cNvCxnSpPr/>
          <p:nvPr/>
        </p:nvCxnSpPr>
        <p:spPr>
          <a:xfrm>
            <a:off x="4541518" y="4409896"/>
            <a:ext cx="0" cy="80323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7" name="object 13">
            <a:extLst>
              <a:ext uri="{C183D7F6-B498-43B3-948B-1728B52AA6E4}">
                <adec:decorative xmlns:adec="http://schemas.microsoft.com/office/drawing/2017/decorative" val="1"/>
              </a:ext>
            </a:extLst>
          </p:cNvPr>
          <p:cNvSpPr/>
          <p:nvPr/>
        </p:nvSpPr>
        <p:spPr>
          <a:xfrm>
            <a:off x="441730" y="3002150"/>
            <a:ext cx="2399096" cy="1295412"/>
          </a:xfrm>
          <a:prstGeom prst="rect">
            <a:avLst/>
          </a:prstGeom>
          <a:blipFill>
            <a:blip r:embed="rId3" cstate="print"/>
            <a:stretch>
              <a:fillRect/>
            </a:stretch>
          </a:blip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cxnSp>
        <p:nvCxnSpPr>
          <p:cNvPr id="35" name="Straight Arrow Connector 34">
            <a:extLst>
              <a:ext uri="{C183D7F6-B498-43B3-948B-1728B52AA6E4}">
                <adec:decorative xmlns:adec="http://schemas.microsoft.com/office/drawing/2017/decorative" val="1"/>
              </a:ext>
            </a:extLst>
          </p:cNvPr>
          <p:cNvCxnSpPr/>
          <p:nvPr/>
        </p:nvCxnSpPr>
        <p:spPr>
          <a:xfrm>
            <a:off x="7487277" y="2210120"/>
            <a:ext cx="0" cy="80323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C183D7F6-B498-43B3-948B-1728B52AA6E4}">
                <adec:decorative xmlns:adec="http://schemas.microsoft.com/office/drawing/2017/decorative" val="1"/>
              </a:ext>
            </a:extLst>
          </p:cNvPr>
          <p:cNvCxnSpPr>
            <a:endCxn id="26" idx="0"/>
          </p:cNvCxnSpPr>
          <p:nvPr/>
        </p:nvCxnSpPr>
        <p:spPr>
          <a:xfrm flipH="1">
            <a:off x="7501695" y="4409896"/>
            <a:ext cx="2157" cy="66026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5" name="object 5"/>
          <p:cNvSpPr txBox="1"/>
          <p:nvPr/>
        </p:nvSpPr>
        <p:spPr>
          <a:xfrm>
            <a:off x="457200" y="2995129"/>
            <a:ext cx="2399096" cy="925894"/>
          </a:xfrm>
          <a:prstGeom prst="rect">
            <a:avLst/>
          </a:prstGeom>
          <a:ln w="9524">
            <a:noFill/>
          </a:ln>
        </p:spPr>
        <p:txBody>
          <a:bodyPr vert="horz" wrap="square" lIns="0" tIns="368300" rIns="0" bIns="0" rtlCol="0">
            <a:spAutoFit/>
          </a:bodyPr>
          <a:lstStyle/>
          <a:p>
            <a:pPr marL="251460">
              <a:lnSpc>
                <a:spcPct val="100000"/>
              </a:lnSpc>
              <a:spcBef>
                <a:spcPts val="2900"/>
              </a:spcBef>
            </a:pPr>
            <a:r>
              <a:rPr lang="en-GB" sz="3600" spc="55" noProof="0" dirty="0">
                <a:solidFill>
                  <a:schemeClr val="tx1">
                    <a:lumMod val="65000"/>
                    <a:lumOff val="35000"/>
                  </a:schemeClr>
                </a:solidFill>
                <a:latin typeface="Helvetica Neue Light"/>
                <a:cs typeface="Helvetica Neue Light"/>
              </a:rPr>
              <a:t>function</a:t>
            </a:r>
            <a:endParaRPr lang="en-GB" sz="3600" noProof="0" dirty="0">
              <a:solidFill>
                <a:schemeClr val="tx1">
                  <a:lumMod val="65000"/>
                  <a:lumOff val="35000"/>
                </a:schemeClr>
              </a:solidFill>
              <a:latin typeface="Helvetica Neue Light"/>
              <a:cs typeface="Helvetica Neue Light"/>
            </a:endParaRPr>
          </a:p>
        </p:txBody>
      </p:sp>
      <p:sp>
        <p:nvSpPr>
          <p:cNvPr id="14" name="object 14"/>
          <p:cNvSpPr txBox="1"/>
          <p:nvPr/>
        </p:nvSpPr>
        <p:spPr>
          <a:xfrm>
            <a:off x="3429000" y="2995129"/>
            <a:ext cx="2399096" cy="925894"/>
          </a:xfrm>
          <a:prstGeom prst="rect">
            <a:avLst/>
          </a:prstGeom>
          <a:ln w="9524">
            <a:noFill/>
          </a:ln>
        </p:spPr>
        <p:txBody>
          <a:bodyPr vert="horz" wrap="square" lIns="0" tIns="368300" rIns="0" bIns="0" rtlCol="0">
            <a:spAutoFit/>
          </a:bodyPr>
          <a:lstStyle/>
          <a:p>
            <a:pPr marL="251460">
              <a:lnSpc>
                <a:spcPct val="100000"/>
              </a:lnSpc>
              <a:spcBef>
                <a:spcPts val="2900"/>
              </a:spcBef>
            </a:pPr>
            <a:r>
              <a:rPr lang="en-GB" sz="3600" spc="55" noProof="0" dirty="0">
                <a:solidFill>
                  <a:schemeClr val="bg1"/>
                </a:solidFill>
                <a:latin typeface="Helvetica Neue Light"/>
                <a:cs typeface="Helvetica Neue Light"/>
              </a:rPr>
              <a:t>function</a:t>
            </a:r>
          </a:p>
        </p:txBody>
      </p:sp>
    </p:spTree>
    <p:extLst>
      <p:ext uri="{BB962C8B-B14F-4D97-AF65-F5344CB8AC3E}">
        <p14:creationId xmlns:p14="http://schemas.microsoft.com/office/powerpoint/2010/main" val="33889408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Make a cup of tea, parameters</a:t>
            </a:r>
          </a:p>
        </p:txBody>
      </p:sp>
      <p:pic>
        <p:nvPicPr>
          <p:cNvPr id="3" name="Picture 2">
            <a:extLst>
              <a:ext uri="{C183D7F6-B498-43B3-948B-1728B52AA6E4}">
                <adec:decorative xmlns:adec="http://schemas.microsoft.com/office/drawing/2017/decorative" val="1"/>
              </a:ext>
            </a:extLst>
          </p:cNvPr>
          <p:cNvPicPr>
            <a:picLocks noChangeAspect="1"/>
          </p:cNvPicPr>
          <p:nvPr/>
        </p:nvPicPr>
        <p:blipFill rotWithShape="1">
          <a:blip r:embed="rId2"/>
          <a:srcRect b="25759"/>
          <a:stretch/>
        </p:blipFill>
        <p:spPr>
          <a:xfrm>
            <a:off x="341843" y="1436224"/>
            <a:ext cx="4965420" cy="1939206"/>
          </a:xfrm>
          <a:prstGeom prst="rect">
            <a:avLst/>
          </a:prstGeom>
        </p:spPr>
      </p:pic>
      <p:sp>
        <p:nvSpPr>
          <p:cNvPr id="4" name="TextBox 3"/>
          <p:cNvSpPr txBox="1"/>
          <p:nvPr/>
        </p:nvSpPr>
        <p:spPr>
          <a:xfrm>
            <a:off x="457200" y="3703052"/>
            <a:ext cx="7951537" cy="2474524"/>
          </a:xfrm>
          <a:prstGeom prst="rect">
            <a:avLst/>
          </a:prstGeom>
          <a:noFill/>
        </p:spPr>
        <p:txBody>
          <a:bodyPr wrap="square" rtlCol="0">
            <a:spAutoFit/>
          </a:bodyPr>
          <a:lstStyle/>
          <a:p>
            <a:pPr>
              <a:lnSpc>
                <a:spcPct val="130000"/>
              </a:lnSpc>
            </a:pPr>
            <a:r>
              <a:rPr lang="en-GB" sz="2400" noProof="0" dirty="0">
                <a:solidFill>
                  <a:schemeClr val="bg1">
                    <a:lumMod val="50000"/>
                  </a:schemeClr>
                </a:solidFill>
                <a:latin typeface="Helvetica Neue Light"/>
                <a:cs typeface="Helvetica Neue Light"/>
              </a:rPr>
              <a:t>What if we want to control milk and number of sugars?</a:t>
            </a:r>
          </a:p>
          <a:p>
            <a:pPr>
              <a:lnSpc>
                <a:spcPct val="130000"/>
              </a:lnSpc>
            </a:pPr>
            <a:r>
              <a:rPr lang="en-GB" sz="2400" noProof="0" dirty="0">
                <a:solidFill>
                  <a:schemeClr val="bg1">
                    <a:lumMod val="50000"/>
                  </a:schemeClr>
                </a:solidFill>
                <a:latin typeface="Helvetica Neue Light"/>
                <a:cs typeface="Helvetica Neue Light"/>
              </a:rPr>
              <a:t>These would be parameters of our function.</a:t>
            </a:r>
          </a:p>
          <a:p>
            <a:pPr>
              <a:lnSpc>
                <a:spcPct val="130000"/>
              </a:lnSpc>
            </a:pPr>
            <a:r>
              <a:rPr lang="en-GB" sz="2400" noProof="0" dirty="0">
                <a:solidFill>
                  <a:schemeClr val="bg1">
                    <a:lumMod val="50000"/>
                  </a:schemeClr>
                </a:solidFill>
                <a:latin typeface="Helvetica Neue Light"/>
                <a:cs typeface="Helvetica Neue Light"/>
              </a:rPr>
              <a:t>We could pass values:</a:t>
            </a:r>
          </a:p>
          <a:p>
            <a:pPr>
              <a:lnSpc>
                <a:spcPct val="130000"/>
              </a:lnSpc>
            </a:pPr>
            <a:r>
              <a:rPr lang="en-GB" sz="2400" noProof="0" dirty="0">
                <a:solidFill>
                  <a:schemeClr val="bg1">
                    <a:lumMod val="50000"/>
                  </a:schemeClr>
                </a:solidFill>
                <a:latin typeface="Helvetica Neue Light"/>
                <a:cs typeface="Helvetica Neue Light"/>
              </a:rPr>
              <a:t>Milk  - yes or no?</a:t>
            </a:r>
          </a:p>
          <a:p>
            <a:pPr>
              <a:lnSpc>
                <a:spcPct val="130000"/>
              </a:lnSpc>
            </a:pPr>
            <a:r>
              <a:rPr lang="en-GB" sz="2400" noProof="0" dirty="0">
                <a:solidFill>
                  <a:schemeClr val="bg1">
                    <a:lumMod val="50000"/>
                  </a:schemeClr>
                </a:solidFill>
                <a:latin typeface="Helvetica Neue Light"/>
                <a:cs typeface="Helvetica Neue Light"/>
              </a:rPr>
              <a:t>Sugar  - how many ?</a:t>
            </a:r>
          </a:p>
        </p:txBody>
      </p:sp>
    </p:spTree>
    <p:extLst>
      <p:ext uri="{BB962C8B-B14F-4D97-AF65-F5344CB8AC3E}">
        <p14:creationId xmlns:p14="http://schemas.microsoft.com/office/powerpoint/2010/main" val="28216112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D7D689C-1812-FA3B-CDF0-86A414C91285}"/>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99288" y="4262353"/>
            <a:ext cx="8346289" cy="2253498"/>
          </a:xfrm>
          <a:prstGeom prst="rect">
            <a:avLst/>
          </a:prstGeom>
        </p:spPr>
      </p:pic>
      <p:sp>
        <p:nvSpPr>
          <p:cNvPr id="2" name="Title 1"/>
          <p:cNvSpPr>
            <a:spLocks noGrp="1"/>
          </p:cNvSpPr>
          <p:nvPr>
            <p:ph type="title"/>
          </p:nvPr>
        </p:nvSpPr>
        <p:spPr/>
        <p:txBody>
          <a:bodyPr>
            <a:normAutofit/>
          </a:bodyPr>
          <a:lstStyle/>
          <a:p>
            <a:r>
              <a:rPr lang="en-GB" noProof="0" dirty="0"/>
              <a:t>Functions can have parameters</a:t>
            </a:r>
          </a:p>
        </p:txBody>
      </p:sp>
      <p:sp>
        <p:nvSpPr>
          <p:cNvPr id="5" name="Rounded Rectangular Callout 4"/>
          <p:cNvSpPr/>
          <p:nvPr/>
        </p:nvSpPr>
        <p:spPr>
          <a:xfrm>
            <a:off x="457200" y="2005556"/>
            <a:ext cx="4064000" cy="1496678"/>
          </a:xfrm>
          <a:prstGeom prst="wedgeRoundRectCallout">
            <a:avLst>
              <a:gd name="adj1" fmla="val 49033"/>
              <a:gd name="adj2" fmla="val 103551"/>
              <a:gd name="adj3" fmla="val 16667"/>
            </a:avLst>
          </a:prstGeom>
          <a:gradFill flip="none" rotWithShape="1">
            <a:gsLst>
              <a:gs pos="0">
                <a:schemeClr val="dk1">
                  <a:tint val="50000"/>
                  <a:satMod val="300000"/>
                  <a:alpha val="31000"/>
                </a:schemeClr>
              </a:gs>
              <a:gs pos="35000">
                <a:schemeClr val="dk1">
                  <a:tint val="37000"/>
                  <a:satMod val="300000"/>
                  <a:alpha val="31000"/>
                </a:schemeClr>
              </a:gs>
              <a:gs pos="100000">
                <a:schemeClr val="dk1">
                  <a:tint val="15000"/>
                  <a:satMod val="350000"/>
                  <a:alpha val="31000"/>
                </a:schemeClr>
              </a:gs>
            </a:gsLst>
            <a:lin ang="16200000" scaled="1"/>
            <a:tileRect/>
          </a:gradFill>
        </p:spPr>
        <p:style>
          <a:lnRef idx="1">
            <a:schemeClr val="dk1"/>
          </a:lnRef>
          <a:fillRef idx="2">
            <a:schemeClr val="dk1"/>
          </a:fillRef>
          <a:effectRef idx="1">
            <a:schemeClr val="dk1"/>
          </a:effectRef>
          <a:fontRef idx="minor">
            <a:schemeClr val="dk1"/>
          </a:fontRef>
        </p:style>
        <p:txBody>
          <a:bodyPr rtlCol="0" anchor="ctr"/>
          <a:lstStyle/>
          <a:p>
            <a:pPr>
              <a:lnSpc>
                <a:spcPct val="130000"/>
              </a:lnSpc>
            </a:pPr>
            <a:r>
              <a:rPr lang="en-GB" sz="2200" noProof="0" dirty="0">
                <a:latin typeface="Helvetica Neue Light"/>
                <a:cs typeface="Helvetica Neue Light"/>
              </a:rPr>
              <a:t>Items in the brackets after the name are called parameters.</a:t>
            </a:r>
          </a:p>
        </p:txBody>
      </p:sp>
      <p:sp>
        <p:nvSpPr>
          <p:cNvPr id="8" name="Rounded Rectangular Callout 7"/>
          <p:cNvSpPr/>
          <p:nvPr/>
        </p:nvSpPr>
        <p:spPr>
          <a:xfrm>
            <a:off x="4745793" y="1310691"/>
            <a:ext cx="4184316" cy="2632994"/>
          </a:xfrm>
          <a:prstGeom prst="wedgeRoundRectCallout">
            <a:avLst>
              <a:gd name="adj1" fmla="val -20787"/>
              <a:gd name="adj2" fmla="val 63229"/>
              <a:gd name="adj3" fmla="val 16667"/>
            </a:avLst>
          </a:prstGeom>
          <a:gradFill flip="none" rotWithShape="1">
            <a:gsLst>
              <a:gs pos="0">
                <a:schemeClr val="dk1">
                  <a:tint val="50000"/>
                  <a:satMod val="300000"/>
                  <a:alpha val="31000"/>
                </a:schemeClr>
              </a:gs>
              <a:gs pos="35000">
                <a:schemeClr val="dk1">
                  <a:tint val="37000"/>
                  <a:satMod val="300000"/>
                  <a:alpha val="31000"/>
                </a:schemeClr>
              </a:gs>
              <a:gs pos="100000">
                <a:schemeClr val="dk1">
                  <a:tint val="15000"/>
                  <a:satMod val="350000"/>
                  <a:alpha val="31000"/>
                </a:schemeClr>
              </a:gs>
            </a:gsLst>
            <a:lin ang="16200000" scaled="1"/>
            <a:tileRect/>
          </a:gradFill>
        </p:spPr>
        <p:style>
          <a:lnRef idx="1">
            <a:schemeClr val="dk1"/>
          </a:lnRef>
          <a:fillRef idx="2">
            <a:schemeClr val="dk1"/>
          </a:fillRef>
          <a:effectRef idx="1">
            <a:schemeClr val="dk1"/>
          </a:effectRef>
          <a:fontRef idx="minor">
            <a:schemeClr val="dk1"/>
          </a:fontRef>
        </p:style>
        <p:txBody>
          <a:bodyPr rtlCol="0" anchor="t"/>
          <a:lstStyle/>
          <a:p>
            <a:pPr>
              <a:lnSpc>
                <a:spcPct val="130000"/>
              </a:lnSpc>
            </a:pPr>
            <a:r>
              <a:rPr lang="en-GB" sz="2200" noProof="0" dirty="0">
                <a:latin typeface="Helvetica Neue Light"/>
                <a:cs typeface="Helvetica Neue Light"/>
              </a:rPr>
              <a:t>These name act like variables within the function. They can accept words or numbers depending on what the function is doing.</a:t>
            </a:r>
          </a:p>
        </p:txBody>
      </p:sp>
    </p:spTree>
    <p:extLst>
      <p:ext uri="{BB962C8B-B14F-4D97-AF65-F5344CB8AC3E}">
        <p14:creationId xmlns:p14="http://schemas.microsoft.com/office/powerpoint/2010/main" val="3199697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E349351-95DC-F46A-2619-588C54F4F2D6}"/>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42231" y="4425762"/>
            <a:ext cx="6643750" cy="1819122"/>
          </a:xfrm>
          <a:prstGeom prst="rect">
            <a:avLst/>
          </a:prstGeom>
        </p:spPr>
      </p:pic>
      <p:sp>
        <p:nvSpPr>
          <p:cNvPr id="2" name="Title 1"/>
          <p:cNvSpPr>
            <a:spLocks noGrp="1"/>
          </p:cNvSpPr>
          <p:nvPr>
            <p:ph type="title"/>
          </p:nvPr>
        </p:nvSpPr>
        <p:spPr/>
        <p:txBody>
          <a:bodyPr>
            <a:normAutofit/>
          </a:bodyPr>
          <a:lstStyle/>
          <a:p>
            <a:r>
              <a:rPr lang="en-GB" sz="3600" noProof="0" dirty="0"/>
              <a:t>Calling functions that have parameters</a:t>
            </a:r>
          </a:p>
        </p:txBody>
      </p:sp>
      <p:sp>
        <p:nvSpPr>
          <p:cNvPr id="8" name="Rounded Rectangular Callout 7"/>
          <p:cNvSpPr/>
          <p:nvPr/>
        </p:nvSpPr>
        <p:spPr>
          <a:xfrm>
            <a:off x="4946316" y="1193716"/>
            <a:ext cx="3740484" cy="2215232"/>
          </a:xfrm>
          <a:prstGeom prst="wedgeRoundRectCallout">
            <a:avLst>
              <a:gd name="adj1" fmla="val -70497"/>
              <a:gd name="adj2" fmla="val -14697"/>
              <a:gd name="adj3" fmla="val 16667"/>
            </a:avLst>
          </a:prstGeom>
          <a:gradFill flip="none" rotWithShape="1">
            <a:gsLst>
              <a:gs pos="0">
                <a:schemeClr val="dk1">
                  <a:tint val="50000"/>
                  <a:satMod val="300000"/>
                  <a:alpha val="31000"/>
                </a:schemeClr>
              </a:gs>
              <a:gs pos="35000">
                <a:schemeClr val="dk1">
                  <a:tint val="37000"/>
                  <a:satMod val="300000"/>
                  <a:alpha val="31000"/>
                </a:schemeClr>
              </a:gs>
              <a:gs pos="100000">
                <a:schemeClr val="dk1">
                  <a:tint val="15000"/>
                  <a:satMod val="350000"/>
                  <a:alpha val="31000"/>
                </a:schemeClr>
              </a:gs>
            </a:gsLst>
            <a:lin ang="16200000" scaled="1"/>
            <a:tileRect/>
          </a:gradFill>
        </p:spPr>
        <p:style>
          <a:lnRef idx="1">
            <a:schemeClr val="dk1"/>
          </a:lnRef>
          <a:fillRef idx="2">
            <a:schemeClr val="dk1"/>
          </a:fillRef>
          <a:effectRef idx="1">
            <a:schemeClr val="dk1"/>
          </a:effectRef>
          <a:fontRef idx="minor">
            <a:schemeClr val="dk1"/>
          </a:fontRef>
        </p:style>
        <p:txBody>
          <a:bodyPr rtlCol="0" anchor="t"/>
          <a:lstStyle/>
          <a:p>
            <a:pPr>
              <a:lnSpc>
                <a:spcPct val="130000"/>
              </a:lnSpc>
            </a:pPr>
            <a:r>
              <a:rPr lang="en-GB" sz="2200" noProof="0" dirty="0">
                <a:latin typeface="Helvetica Neue Light"/>
                <a:cs typeface="Helvetica Neue Light"/>
              </a:rPr>
              <a:t>Call the function and pass ‘arguments’ to the parameters. 3 to the width and 5 to the height.</a:t>
            </a:r>
          </a:p>
        </p:txBody>
      </p:sp>
      <p:sp>
        <p:nvSpPr>
          <p:cNvPr id="7" name="Rounded Rectangular Callout 6"/>
          <p:cNvSpPr/>
          <p:nvPr/>
        </p:nvSpPr>
        <p:spPr>
          <a:xfrm>
            <a:off x="342231" y="2499895"/>
            <a:ext cx="4184316" cy="1611646"/>
          </a:xfrm>
          <a:prstGeom prst="wedgeRoundRectCallout">
            <a:avLst>
              <a:gd name="adj1" fmla="val 17551"/>
              <a:gd name="adj2" fmla="val 77455"/>
              <a:gd name="adj3" fmla="val 16667"/>
            </a:avLst>
          </a:prstGeom>
          <a:gradFill flip="none" rotWithShape="1">
            <a:gsLst>
              <a:gs pos="0">
                <a:schemeClr val="dk1">
                  <a:tint val="50000"/>
                  <a:satMod val="300000"/>
                  <a:alpha val="31000"/>
                </a:schemeClr>
              </a:gs>
              <a:gs pos="35000">
                <a:schemeClr val="dk1">
                  <a:tint val="37000"/>
                  <a:satMod val="300000"/>
                  <a:alpha val="31000"/>
                </a:schemeClr>
              </a:gs>
              <a:gs pos="100000">
                <a:schemeClr val="dk1">
                  <a:tint val="15000"/>
                  <a:satMod val="350000"/>
                  <a:alpha val="31000"/>
                </a:schemeClr>
              </a:gs>
            </a:gsLst>
            <a:lin ang="16200000" scaled="1"/>
            <a:tileRect/>
          </a:gradFill>
        </p:spPr>
        <p:style>
          <a:lnRef idx="1">
            <a:schemeClr val="dk1"/>
          </a:lnRef>
          <a:fillRef idx="2">
            <a:schemeClr val="dk1"/>
          </a:fillRef>
          <a:effectRef idx="1">
            <a:schemeClr val="dk1"/>
          </a:effectRef>
          <a:fontRef idx="minor">
            <a:schemeClr val="dk1"/>
          </a:fontRef>
        </p:style>
        <p:txBody>
          <a:bodyPr rtlCol="0" anchor="t"/>
          <a:lstStyle/>
          <a:p>
            <a:pPr>
              <a:lnSpc>
                <a:spcPct val="130000"/>
              </a:lnSpc>
            </a:pPr>
            <a:r>
              <a:rPr lang="en-GB" sz="2200" noProof="0" dirty="0">
                <a:latin typeface="Helvetica Neue Light"/>
                <a:cs typeface="Helvetica Neue Light"/>
              </a:rPr>
              <a:t>You can use variables as arguments too, this will do the same thing.</a:t>
            </a:r>
          </a:p>
        </p:txBody>
      </p:sp>
      <p:sp>
        <p:nvSpPr>
          <p:cNvPr id="4" name="TextBox 3"/>
          <p:cNvSpPr txBox="1"/>
          <p:nvPr/>
        </p:nvSpPr>
        <p:spPr>
          <a:xfrm>
            <a:off x="342231" y="6339122"/>
            <a:ext cx="2777958" cy="369332"/>
          </a:xfrm>
          <a:prstGeom prst="rect">
            <a:avLst/>
          </a:prstGeom>
          <a:noFill/>
        </p:spPr>
        <p:txBody>
          <a:bodyPr wrap="square" rtlCol="0">
            <a:spAutoFit/>
          </a:bodyPr>
          <a:lstStyle/>
          <a:p>
            <a:r>
              <a:rPr lang="en-GB" noProof="0" dirty="0"/>
              <a:t>Examples/getArea.html</a:t>
            </a:r>
          </a:p>
        </p:txBody>
      </p:sp>
      <p:pic>
        <p:nvPicPr>
          <p:cNvPr id="9" name="Picture 8">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910883" y="6244884"/>
            <a:ext cx="1115616" cy="557808"/>
          </a:xfrm>
          <a:prstGeom prst="rect">
            <a:avLst/>
          </a:prstGeom>
        </p:spPr>
      </p:pic>
      <p:pic>
        <p:nvPicPr>
          <p:cNvPr id="11" name="Picture 10">
            <a:extLst>
              <a:ext uri="{FF2B5EF4-FFF2-40B4-BE49-F238E27FC236}">
                <a16:creationId xmlns:a16="http://schemas.microsoft.com/office/drawing/2014/main" id="{9EBF3EDA-8DDB-3C19-F1EB-E5383C7C7C2A}"/>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57200" y="1259791"/>
            <a:ext cx="3219086" cy="1055438"/>
          </a:xfrm>
          <a:prstGeom prst="rect">
            <a:avLst/>
          </a:prstGeom>
        </p:spPr>
      </p:pic>
    </p:spTree>
    <p:extLst>
      <p:ext uri="{BB962C8B-B14F-4D97-AF65-F5344CB8AC3E}">
        <p14:creationId xmlns:p14="http://schemas.microsoft.com/office/powerpoint/2010/main" val="2080506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txBox="1"/>
          <p:nvPr/>
        </p:nvSpPr>
        <p:spPr>
          <a:xfrm>
            <a:off x="0" y="0"/>
            <a:ext cx="9144000" cy="7009611"/>
          </a:xfrm>
          <a:prstGeom prst="rect">
            <a:avLst/>
          </a:prstGeom>
        </p:spPr>
        <p:txBody>
          <a:bodyPr vert="horz" wrap="square" lIns="0" tIns="0" rIns="0" bIns="0" rtlCol="0">
            <a:spAutoFit/>
          </a:bodyPr>
          <a:lstStyle/>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marL="320040">
              <a:lnSpc>
                <a:spcPct val="100000"/>
              </a:lnSpc>
              <a:spcBef>
                <a:spcPts val="855"/>
              </a:spcBef>
            </a:pPr>
            <a:endParaRPr lang="en-GB" sz="1400" noProof="0" dirty="0">
              <a:latin typeface="Calibri"/>
              <a:cs typeface="Calibri"/>
            </a:endParaRPr>
          </a:p>
        </p:txBody>
      </p:sp>
      <p:sp>
        <p:nvSpPr>
          <p:cNvPr id="3" name="object 3">
            <a:extLst>
              <a:ext uri="{C183D7F6-B498-43B3-948B-1728B52AA6E4}">
                <adec:decorative xmlns:adec="http://schemas.microsoft.com/office/drawing/2017/decorative" val="1"/>
              </a:ext>
            </a:extLst>
          </p:cNvPr>
          <p:cNvSpPr/>
          <p:nvPr/>
        </p:nvSpPr>
        <p:spPr>
          <a:xfrm>
            <a:off x="0" y="0"/>
            <a:ext cx="9144000" cy="6857999"/>
          </a:xfrm>
          <a:prstGeom prst="rect">
            <a:avLst/>
          </a:prstGeom>
          <a:blipFill>
            <a:blip r:embed="rId2" cstate="print"/>
            <a:stretch>
              <a:fillRect/>
            </a:stretch>
          </a:blipFill>
        </p:spPr>
        <p:txBody>
          <a:bodyPr wrap="square" lIns="0" tIns="0" rIns="0" bIns="0" rtlCol="0"/>
          <a:lstStyle/>
          <a:p>
            <a:endParaRPr lang="en-GB" noProof="0" dirty="0"/>
          </a:p>
        </p:txBody>
      </p:sp>
      <p:sp>
        <p:nvSpPr>
          <p:cNvPr id="12" name="TextBox 11"/>
          <p:cNvSpPr txBox="1"/>
          <p:nvPr/>
        </p:nvSpPr>
        <p:spPr>
          <a:xfrm>
            <a:off x="275300" y="6278174"/>
            <a:ext cx="2673684" cy="369332"/>
          </a:xfrm>
          <a:prstGeom prst="rect">
            <a:avLst/>
          </a:prstGeom>
          <a:noFill/>
        </p:spPr>
        <p:txBody>
          <a:bodyPr wrap="square" rtlCol="0">
            <a:spAutoFit/>
          </a:bodyPr>
          <a:lstStyle/>
          <a:p>
            <a:r>
              <a:rPr lang="en-GB" noProof="0" dirty="0">
                <a:solidFill>
                  <a:schemeClr val="bg1"/>
                </a:solidFill>
                <a:latin typeface="Helvetica Neue Light"/>
                <a:cs typeface="Helvetica Neue Light"/>
              </a:rPr>
              <a:t>Examples/feetToCm.html</a:t>
            </a:r>
          </a:p>
        </p:txBody>
      </p:sp>
      <p:pic>
        <p:nvPicPr>
          <p:cNvPr id="13" name="Picture 12">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987462" y="6189579"/>
            <a:ext cx="1115616" cy="557808"/>
          </a:xfrm>
          <a:prstGeom prst="rect">
            <a:avLst/>
          </a:prstGeom>
        </p:spPr>
      </p:pic>
      <p:pic>
        <p:nvPicPr>
          <p:cNvPr id="4" name="Picture 3">
            <a:extLst>
              <a:ext uri="{FF2B5EF4-FFF2-40B4-BE49-F238E27FC236}">
                <a16:creationId xmlns:a16="http://schemas.microsoft.com/office/drawing/2014/main" id="{1CC249C2-24F3-AD28-EEF3-84E24784FD93}"/>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2816" y="1393825"/>
            <a:ext cx="9144000" cy="4239846"/>
          </a:xfrm>
          <a:prstGeom prst="rect">
            <a:avLst/>
          </a:prstGeom>
        </p:spPr>
      </p:pic>
    </p:spTree>
    <p:extLst>
      <p:ext uri="{BB962C8B-B14F-4D97-AF65-F5344CB8AC3E}">
        <p14:creationId xmlns:p14="http://schemas.microsoft.com/office/powerpoint/2010/main" val="23197586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457200" y="485411"/>
            <a:ext cx="8229600" cy="721453"/>
          </a:xfrm>
          <a:prstGeom prst="rect">
            <a:avLst/>
          </a:prstGeom>
        </p:spPr>
        <p:txBody>
          <a:bodyPr vert="horz" wrap="square" lIns="0" tIns="43916" rIns="0" bIns="0" rtlCol="0">
            <a:spAutoFit/>
          </a:bodyPr>
          <a:lstStyle/>
          <a:p>
            <a:pPr marL="1287780">
              <a:lnSpc>
                <a:spcPct val="100000"/>
              </a:lnSpc>
            </a:pPr>
            <a:r>
              <a:rPr lang="en-GB" sz="4400" spc="90" noProof="0" dirty="0">
                <a:solidFill>
                  <a:schemeClr val="bg1">
                    <a:lumMod val="50000"/>
                  </a:schemeClr>
                </a:solidFill>
              </a:rPr>
              <a:t>Simple </a:t>
            </a:r>
            <a:r>
              <a:rPr lang="en-GB" sz="4400" spc="85" noProof="0" dirty="0">
                <a:solidFill>
                  <a:schemeClr val="bg1">
                    <a:lumMod val="50000"/>
                  </a:schemeClr>
                </a:solidFill>
              </a:rPr>
              <a:t>Function</a:t>
            </a:r>
            <a:r>
              <a:rPr lang="en-GB" sz="4400" spc="-280" noProof="0" dirty="0">
                <a:solidFill>
                  <a:schemeClr val="bg1">
                    <a:lumMod val="50000"/>
                  </a:schemeClr>
                </a:solidFill>
              </a:rPr>
              <a:t> </a:t>
            </a:r>
            <a:r>
              <a:rPr lang="en-GB" sz="4400" spc="70" noProof="0" dirty="0">
                <a:solidFill>
                  <a:schemeClr val="bg1">
                    <a:lumMod val="50000"/>
                  </a:schemeClr>
                </a:solidFill>
              </a:rPr>
              <a:t>Types</a:t>
            </a:r>
            <a:endParaRPr lang="en-GB" sz="4400" noProof="0" dirty="0">
              <a:solidFill>
                <a:schemeClr val="bg1">
                  <a:lumMod val="50000"/>
                </a:schemeClr>
              </a:solidFill>
            </a:endParaRPr>
          </a:p>
        </p:txBody>
      </p:sp>
      <p:sp>
        <p:nvSpPr>
          <p:cNvPr id="4" name="object 4">
            <a:extLst>
              <a:ext uri="{C183D7F6-B498-43B3-948B-1728B52AA6E4}">
                <adec:decorative xmlns:adec="http://schemas.microsoft.com/office/drawing/2017/decorative" val="1"/>
              </a:ext>
            </a:extLst>
          </p:cNvPr>
          <p:cNvSpPr/>
          <p:nvPr/>
        </p:nvSpPr>
        <p:spPr>
          <a:xfrm>
            <a:off x="407323" y="2963481"/>
            <a:ext cx="2231961" cy="1396542"/>
          </a:xfrm>
          <a:prstGeom prst="rect">
            <a:avLst/>
          </a:prstGeom>
          <a:blipFill>
            <a:blip r:embed="rId2" cstate="print"/>
            <a:stretch>
              <a:fillRect/>
            </a:stretch>
          </a:blip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5" name="object 5">
            <a:extLst>
              <a:ext uri="{C183D7F6-B498-43B3-948B-1728B52AA6E4}">
                <adec:decorative xmlns:adec="http://schemas.microsoft.com/office/drawing/2017/decorative" val="1"/>
              </a:ext>
            </a:extLst>
          </p:cNvPr>
          <p:cNvSpPr/>
          <p:nvPr/>
        </p:nvSpPr>
        <p:spPr>
          <a:xfrm>
            <a:off x="457200" y="2995129"/>
            <a:ext cx="2133600" cy="1295412"/>
          </a:xfrm>
          <a:prstGeom prst="rect">
            <a:avLst/>
          </a:prstGeom>
          <a:blipFill>
            <a:blip r:embed="rId3" cstate="print"/>
            <a:stretch>
              <a:fillRect/>
            </a:stretch>
          </a:blipFill>
          <a:ln>
            <a:noFill/>
          </a:ln>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6" name="object 6"/>
          <p:cNvSpPr txBox="1"/>
          <p:nvPr/>
        </p:nvSpPr>
        <p:spPr>
          <a:xfrm>
            <a:off x="457200" y="2995129"/>
            <a:ext cx="2133600" cy="925894"/>
          </a:xfrm>
          <a:prstGeom prst="rect">
            <a:avLst/>
          </a:prstGeom>
          <a:ln w="9524">
            <a:noFill/>
          </a:ln>
        </p:spPr>
        <p:txBody>
          <a:bodyPr vert="horz" wrap="square" lIns="0" tIns="368300" rIns="0" bIns="0" rtlCol="0">
            <a:spAutoFit/>
          </a:bodyPr>
          <a:lstStyle/>
          <a:p>
            <a:pPr marL="251460">
              <a:lnSpc>
                <a:spcPct val="100000"/>
              </a:lnSpc>
              <a:spcBef>
                <a:spcPts val="2900"/>
              </a:spcBef>
            </a:pPr>
            <a:r>
              <a:rPr lang="en-GB" sz="3600" spc="55" noProof="0" dirty="0">
                <a:solidFill>
                  <a:schemeClr val="bg1">
                    <a:lumMod val="50000"/>
                  </a:schemeClr>
                </a:solidFill>
                <a:latin typeface="Helvetica Neue Light"/>
                <a:cs typeface="Helvetica Neue Light"/>
              </a:rPr>
              <a:t>function</a:t>
            </a:r>
            <a:endParaRPr lang="en-GB" sz="3600" noProof="0" dirty="0">
              <a:solidFill>
                <a:schemeClr val="bg1">
                  <a:lumMod val="50000"/>
                </a:schemeClr>
              </a:solidFill>
              <a:latin typeface="Helvetica Neue Light"/>
              <a:cs typeface="Helvetica Neue Light"/>
            </a:endParaRPr>
          </a:p>
        </p:txBody>
      </p:sp>
      <p:sp>
        <p:nvSpPr>
          <p:cNvPr id="7" name="object 7">
            <a:extLst>
              <a:ext uri="{C183D7F6-B498-43B3-948B-1728B52AA6E4}">
                <adec:decorative xmlns:adec="http://schemas.microsoft.com/office/drawing/2017/decorative" val="1"/>
              </a:ext>
            </a:extLst>
          </p:cNvPr>
          <p:cNvSpPr/>
          <p:nvPr/>
        </p:nvSpPr>
        <p:spPr>
          <a:xfrm>
            <a:off x="1495424" y="2260853"/>
            <a:ext cx="0" cy="694690"/>
          </a:xfrm>
          <a:custGeom>
            <a:avLst/>
            <a:gdLst/>
            <a:ahLst/>
            <a:cxnLst/>
            <a:rect l="l" t="t" r="r" b="b"/>
            <a:pathLst>
              <a:path h="694689">
                <a:moveTo>
                  <a:pt x="0" y="0"/>
                </a:moveTo>
                <a:lnTo>
                  <a:pt x="0" y="694530"/>
                </a:lnTo>
              </a:path>
            </a:pathLst>
          </a:custGeom>
          <a:ln w="9524">
            <a:solidFill>
              <a:srgbClr val="FFFFFF"/>
            </a:solidFill>
          </a:ln>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8" name="object 8">
            <a:extLst>
              <a:ext uri="{C183D7F6-B498-43B3-948B-1728B52AA6E4}">
                <adec:decorative xmlns:adec="http://schemas.microsoft.com/office/drawing/2017/decorative" val="1"/>
              </a:ext>
            </a:extLst>
          </p:cNvPr>
          <p:cNvSpPr/>
          <p:nvPr/>
        </p:nvSpPr>
        <p:spPr>
          <a:xfrm>
            <a:off x="1431925" y="2853778"/>
            <a:ext cx="127000" cy="127000"/>
          </a:xfrm>
          <a:custGeom>
            <a:avLst/>
            <a:gdLst/>
            <a:ahLst/>
            <a:cxnLst/>
            <a:rect l="l" t="t" r="r" b="b"/>
            <a:pathLst>
              <a:path w="127000" h="127000">
                <a:moveTo>
                  <a:pt x="127000" y="0"/>
                </a:moveTo>
                <a:lnTo>
                  <a:pt x="0" y="0"/>
                </a:lnTo>
                <a:lnTo>
                  <a:pt x="63500" y="127000"/>
                </a:lnTo>
                <a:lnTo>
                  <a:pt x="127000" y="0"/>
                </a:lnTo>
                <a:close/>
              </a:path>
            </a:pathLst>
          </a:custGeom>
          <a:solidFill>
            <a:srgbClr val="FFFFFF"/>
          </a:solid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9" name="object 9"/>
          <p:cNvSpPr txBox="1"/>
          <p:nvPr/>
        </p:nvSpPr>
        <p:spPr>
          <a:xfrm>
            <a:off x="535940" y="1729320"/>
            <a:ext cx="2103344" cy="369332"/>
          </a:xfrm>
          <a:prstGeom prst="rect">
            <a:avLst/>
          </a:prstGeom>
        </p:spPr>
        <p:txBody>
          <a:bodyPr vert="horz" wrap="square" lIns="0" tIns="0" rIns="0" bIns="0" rtlCol="0">
            <a:spAutoFit/>
          </a:bodyPr>
          <a:lstStyle/>
          <a:p>
            <a:pPr marL="12700">
              <a:lnSpc>
                <a:spcPct val="100000"/>
              </a:lnSpc>
            </a:pPr>
            <a:r>
              <a:rPr lang="en-GB" sz="2400" spc="40" noProof="0" dirty="0">
                <a:solidFill>
                  <a:schemeClr val="bg1">
                    <a:lumMod val="50000"/>
                  </a:schemeClr>
                </a:solidFill>
                <a:latin typeface="Helvetica Neue Light"/>
                <a:cs typeface="Helvetica Neue Light"/>
              </a:rPr>
              <a:t>Function</a:t>
            </a:r>
            <a:r>
              <a:rPr lang="en-GB" sz="2400" spc="-110" noProof="0" dirty="0">
                <a:solidFill>
                  <a:schemeClr val="bg1">
                    <a:lumMod val="50000"/>
                  </a:schemeClr>
                </a:solidFill>
                <a:latin typeface="Helvetica Neue Light"/>
                <a:cs typeface="Helvetica Neue Light"/>
              </a:rPr>
              <a:t> </a:t>
            </a:r>
            <a:r>
              <a:rPr lang="en-GB" sz="2400" spc="30" noProof="0" dirty="0">
                <a:solidFill>
                  <a:schemeClr val="bg1">
                    <a:lumMod val="50000"/>
                  </a:schemeClr>
                </a:solidFill>
                <a:latin typeface="Helvetica Neue Light"/>
                <a:cs typeface="Helvetica Neue Light"/>
              </a:rPr>
              <a:t>called</a:t>
            </a:r>
            <a:endParaRPr lang="en-GB" sz="2400" noProof="0" dirty="0">
              <a:solidFill>
                <a:schemeClr val="bg1">
                  <a:lumMod val="50000"/>
                </a:schemeClr>
              </a:solidFill>
              <a:latin typeface="Helvetica Neue Light"/>
              <a:cs typeface="Helvetica Neue Light"/>
            </a:endParaRPr>
          </a:p>
        </p:txBody>
      </p:sp>
      <p:sp>
        <p:nvSpPr>
          <p:cNvPr id="10" name="object 10">
            <a:extLst>
              <a:ext uri="{C183D7F6-B498-43B3-948B-1728B52AA6E4}">
                <adec:decorative xmlns:adec="http://schemas.microsoft.com/office/drawing/2017/decorative" val="1"/>
              </a:ext>
            </a:extLst>
          </p:cNvPr>
          <p:cNvSpPr/>
          <p:nvPr/>
        </p:nvSpPr>
        <p:spPr>
          <a:xfrm>
            <a:off x="4495800" y="2260853"/>
            <a:ext cx="0" cy="694690"/>
          </a:xfrm>
          <a:custGeom>
            <a:avLst/>
            <a:gdLst/>
            <a:ahLst/>
            <a:cxnLst/>
            <a:rect l="l" t="t" r="r" b="b"/>
            <a:pathLst>
              <a:path h="694689">
                <a:moveTo>
                  <a:pt x="0" y="0"/>
                </a:moveTo>
                <a:lnTo>
                  <a:pt x="0" y="694530"/>
                </a:lnTo>
              </a:path>
            </a:pathLst>
          </a:custGeom>
          <a:ln w="9524">
            <a:solidFill>
              <a:srgbClr val="FFFFFF"/>
            </a:solidFill>
          </a:ln>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1" name="object 11">
            <a:extLst>
              <a:ext uri="{C183D7F6-B498-43B3-948B-1728B52AA6E4}">
                <adec:decorative xmlns:adec="http://schemas.microsoft.com/office/drawing/2017/decorative" val="1"/>
              </a:ext>
            </a:extLst>
          </p:cNvPr>
          <p:cNvSpPr/>
          <p:nvPr/>
        </p:nvSpPr>
        <p:spPr>
          <a:xfrm>
            <a:off x="4432300" y="2853778"/>
            <a:ext cx="127000" cy="127000"/>
          </a:xfrm>
          <a:custGeom>
            <a:avLst/>
            <a:gdLst/>
            <a:ahLst/>
            <a:cxnLst/>
            <a:rect l="l" t="t" r="r" b="b"/>
            <a:pathLst>
              <a:path w="127000" h="127000">
                <a:moveTo>
                  <a:pt x="127000" y="0"/>
                </a:moveTo>
                <a:lnTo>
                  <a:pt x="0" y="0"/>
                </a:lnTo>
                <a:lnTo>
                  <a:pt x="63500" y="127000"/>
                </a:lnTo>
                <a:lnTo>
                  <a:pt x="127000" y="0"/>
                </a:lnTo>
                <a:close/>
              </a:path>
            </a:pathLst>
          </a:custGeom>
          <a:solidFill>
            <a:srgbClr val="FFFFFF"/>
          </a:solid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2" name="object 12"/>
          <p:cNvSpPr txBox="1"/>
          <p:nvPr/>
        </p:nvSpPr>
        <p:spPr>
          <a:xfrm>
            <a:off x="3248527" y="1521040"/>
            <a:ext cx="2362562" cy="719855"/>
          </a:xfrm>
          <a:prstGeom prst="rect">
            <a:avLst/>
          </a:prstGeom>
        </p:spPr>
        <p:txBody>
          <a:bodyPr vert="horz" wrap="square" lIns="0" tIns="0" rIns="0" bIns="0" rtlCol="0">
            <a:spAutoFit/>
          </a:bodyPr>
          <a:lstStyle/>
          <a:p>
            <a:pPr marL="12700" marR="5080" indent="38100">
              <a:lnSpc>
                <a:spcPts val="2800"/>
              </a:lnSpc>
            </a:pPr>
            <a:r>
              <a:rPr lang="en-GB" sz="2400" spc="40" noProof="0" dirty="0">
                <a:solidFill>
                  <a:schemeClr val="bg1">
                    <a:lumMod val="50000"/>
                  </a:schemeClr>
                </a:solidFill>
                <a:latin typeface="Helvetica Neue Light"/>
                <a:cs typeface="Helvetica Neue Light"/>
              </a:rPr>
              <a:t>Function </a:t>
            </a:r>
            <a:r>
              <a:rPr lang="en-GB" sz="2400" spc="30" noProof="0" dirty="0">
                <a:solidFill>
                  <a:schemeClr val="bg1">
                    <a:lumMod val="50000"/>
                  </a:schemeClr>
                </a:solidFill>
                <a:latin typeface="Helvetica Neue Light"/>
                <a:cs typeface="Helvetica Neue Light"/>
              </a:rPr>
              <a:t>called  </a:t>
            </a:r>
            <a:r>
              <a:rPr lang="en-GB" sz="2400" spc="-5" noProof="0" dirty="0">
                <a:solidFill>
                  <a:schemeClr val="bg1">
                    <a:lumMod val="50000"/>
                  </a:schemeClr>
                </a:solidFill>
                <a:latin typeface="Helvetica Neue Light"/>
                <a:cs typeface="Helvetica Neue Light"/>
              </a:rPr>
              <a:t>Parameters</a:t>
            </a:r>
            <a:r>
              <a:rPr lang="en-GB" sz="2400" spc="-120" noProof="0" dirty="0">
                <a:solidFill>
                  <a:schemeClr val="bg1">
                    <a:lumMod val="50000"/>
                  </a:schemeClr>
                </a:solidFill>
                <a:latin typeface="Helvetica Neue Light"/>
                <a:cs typeface="Helvetica Neue Light"/>
              </a:rPr>
              <a:t> </a:t>
            </a:r>
            <a:r>
              <a:rPr lang="en-GB" sz="2400" spc="15" noProof="0" dirty="0">
                <a:solidFill>
                  <a:schemeClr val="bg1">
                    <a:lumMod val="50000"/>
                  </a:schemeClr>
                </a:solidFill>
                <a:latin typeface="Helvetica Neue Light"/>
                <a:cs typeface="Helvetica Neue Light"/>
              </a:rPr>
              <a:t>sent</a:t>
            </a:r>
            <a:endParaRPr lang="en-GB" sz="2400" noProof="0" dirty="0">
              <a:solidFill>
                <a:schemeClr val="bg1">
                  <a:lumMod val="50000"/>
                </a:schemeClr>
              </a:solidFill>
              <a:latin typeface="Helvetica Neue Light"/>
              <a:cs typeface="Helvetica Neue Light"/>
            </a:endParaRPr>
          </a:p>
        </p:txBody>
      </p:sp>
      <p:sp>
        <p:nvSpPr>
          <p:cNvPr id="13" name="object 13">
            <a:extLst>
              <a:ext uri="{C183D7F6-B498-43B3-948B-1728B52AA6E4}">
                <adec:decorative xmlns:adec="http://schemas.microsoft.com/office/drawing/2017/decorative" val="1"/>
              </a:ext>
            </a:extLst>
          </p:cNvPr>
          <p:cNvSpPr/>
          <p:nvPr/>
        </p:nvSpPr>
        <p:spPr>
          <a:xfrm>
            <a:off x="3379127" y="2963481"/>
            <a:ext cx="2231961" cy="1396542"/>
          </a:xfrm>
          <a:prstGeom prst="rect">
            <a:avLst/>
          </a:prstGeom>
          <a:blipFill>
            <a:blip r:embed="rId2" cstate="print"/>
            <a:stretch>
              <a:fillRect/>
            </a:stretch>
          </a:blip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4" name="object 14">
            <a:extLst>
              <a:ext uri="{C183D7F6-B498-43B3-948B-1728B52AA6E4}">
                <adec:decorative xmlns:adec="http://schemas.microsoft.com/office/drawing/2017/decorative" val="1"/>
              </a:ext>
            </a:extLst>
          </p:cNvPr>
          <p:cNvSpPr/>
          <p:nvPr/>
        </p:nvSpPr>
        <p:spPr>
          <a:xfrm>
            <a:off x="3429000" y="2995129"/>
            <a:ext cx="2133600" cy="1295412"/>
          </a:xfrm>
          <a:prstGeom prst="rect">
            <a:avLst/>
          </a:prstGeom>
          <a:blipFill>
            <a:blip r:embed="rId3" cstate="print"/>
            <a:stretch>
              <a:fillRect/>
            </a:stretch>
          </a:blip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5" name="object 15"/>
          <p:cNvSpPr txBox="1"/>
          <p:nvPr/>
        </p:nvSpPr>
        <p:spPr>
          <a:xfrm>
            <a:off x="3429000" y="2995129"/>
            <a:ext cx="2133600" cy="925894"/>
          </a:xfrm>
          <a:prstGeom prst="rect">
            <a:avLst/>
          </a:prstGeom>
          <a:ln w="9524">
            <a:noFill/>
          </a:ln>
        </p:spPr>
        <p:txBody>
          <a:bodyPr vert="horz" wrap="square" lIns="0" tIns="368300" rIns="0" bIns="0" rtlCol="0">
            <a:spAutoFit/>
          </a:bodyPr>
          <a:lstStyle/>
          <a:p>
            <a:pPr marL="251460">
              <a:lnSpc>
                <a:spcPct val="100000"/>
              </a:lnSpc>
              <a:spcBef>
                <a:spcPts val="2900"/>
              </a:spcBef>
            </a:pPr>
            <a:r>
              <a:rPr lang="en-GB" sz="3600" spc="55" noProof="0" dirty="0">
                <a:solidFill>
                  <a:schemeClr val="bg1">
                    <a:lumMod val="50000"/>
                  </a:schemeClr>
                </a:solidFill>
                <a:latin typeface="Helvetica Neue Light"/>
                <a:cs typeface="Helvetica Neue Light"/>
              </a:rPr>
              <a:t>function</a:t>
            </a:r>
            <a:endParaRPr lang="en-GB" sz="3600" noProof="0" dirty="0">
              <a:solidFill>
                <a:schemeClr val="bg1">
                  <a:lumMod val="50000"/>
                </a:schemeClr>
              </a:solidFill>
              <a:latin typeface="Helvetica Neue Light"/>
              <a:cs typeface="Helvetica Neue Light"/>
            </a:endParaRPr>
          </a:p>
        </p:txBody>
      </p:sp>
      <p:sp>
        <p:nvSpPr>
          <p:cNvPr id="16" name="object 16">
            <a:extLst>
              <a:ext uri="{C183D7F6-B498-43B3-948B-1728B52AA6E4}">
                <adec:decorative xmlns:adec="http://schemas.microsoft.com/office/drawing/2017/decorative" val="1"/>
              </a:ext>
            </a:extLst>
          </p:cNvPr>
          <p:cNvSpPr/>
          <p:nvPr/>
        </p:nvSpPr>
        <p:spPr>
          <a:xfrm>
            <a:off x="7391400" y="2308948"/>
            <a:ext cx="0" cy="694690"/>
          </a:xfrm>
          <a:custGeom>
            <a:avLst/>
            <a:gdLst/>
            <a:ahLst/>
            <a:cxnLst/>
            <a:rect l="l" t="t" r="r" b="b"/>
            <a:pathLst>
              <a:path h="694689">
                <a:moveTo>
                  <a:pt x="0" y="0"/>
                </a:moveTo>
                <a:lnTo>
                  <a:pt x="0" y="694530"/>
                </a:lnTo>
              </a:path>
            </a:pathLst>
          </a:custGeom>
          <a:ln w="9524">
            <a:solidFill>
              <a:srgbClr val="FFFFFF"/>
            </a:solidFill>
          </a:ln>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7" name="object 17">
            <a:extLst>
              <a:ext uri="{C183D7F6-B498-43B3-948B-1728B52AA6E4}">
                <adec:decorative xmlns:adec="http://schemas.microsoft.com/office/drawing/2017/decorative" val="1"/>
              </a:ext>
            </a:extLst>
          </p:cNvPr>
          <p:cNvSpPr/>
          <p:nvPr/>
        </p:nvSpPr>
        <p:spPr>
          <a:xfrm>
            <a:off x="7327900" y="2901886"/>
            <a:ext cx="127000" cy="127000"/>
          </a:xfrm>
          <a:custGeom>
            <a:avLst/>
            <a:gdLst/>
            <a:ahLst/>
            <a:cxnLst/>
            <a:rect l="l" t="t" r="r" b="b"/>
            <a:pathLst>
              <a:path w="127000" h="127000">
                <a:moveTo>
                  <a:pt x="127000" y="0"/>
                </a:moveTo>
                <a:lnTo>
                  <a:pt x="0" y="0"/>
                </a:lnTo>
                <a:lnTo>
                  <a:pt x="63500" y="127000"/>
                </a:lnTo>
                <a:lnTo>
                  <a:pt x="127000" y="0"/>
                </a:lnTo>
                <a:close/>
              </a:path>
            </a:pathLst>
          </a:custGeom>
          <a:solidFill>
            <a:srgbClr val="FFFFFF"/>
          </a:solid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8" name="object 18">
            <a:extLst>
              <a:ext uri="{C183D7F6-B498-43B3-948B-1728B52AA6E4}">
                <adec:decorative xmlns:adec="http://schemas.microsoft.com/office/drawing/2017/decorative" val="1"/>
              </a:ext>
            </a:extLst>
          </p:cNvPr>
          <p:cNvSpPr/>
          <p:nvPr/>
        </p:nvSpPr>
        <p:spPr>
          <a:xfrm>
            <a:off x="7391400" y="4343400"/>
            <a:ext cx="0" cy="694690"/>
          </a:xfrm>
          <a:custGeom>
            <a:avLst/>
            <a:gdLst/>
            <a:ahLst/>
            <a:cxnLst/>
            <a:rect l="l" t="t" r="r" b="b"/>
            <a:pathLst>
              <a:path h="694689">
                <a:moveTo>
                  <a:pt x="0" y="0"/>
                </a:moveTo>
                <a:lnTo>
                  <a:pt x="0" y="694530"/>
                </a:lnTo>
              </a:path>
            </a:pathLst>
          </a:custGeom>
          <a:ln w="9524">
            <a:solidFill>
              <a:srgbClr val="FFFFFF"/>
            </a:solidFill>
          </a:ln>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19" name="object 19">
            <a:extLst>
              <a:ext uri="{C183D7F6-B498-43B3-948B-1728B52AA6E4}">
                <adec:decorative xmlns:adec="http://schemas.microsoft.com/office/drawing/2017/decorative" val="1"/>
              </a:ext>
            </a:extLst>
          </p:cNvPr>
          <p:cNvSpPr/>
          <p:nvPr/>
        </p:nvSpPr>
        <p:spPr>
          <a:xfrm>
            <a:off x="7327900" y="4936325"/>
            <a:ext cx="127000" cy="127000"/>
          </a:xfrm>
          <a:custGeom>
            <a:avLst/>
            <a:gdLst/>
            <a:ahLst/>
            <a:cxnLst/>
            <a:rect l="l" t="t" r="r" b="b"/>
            <a:pathLst>
              <a:path w="127000" h="127000">
                <a:moveTo>
                  <a:pt x="127000" y="0"/>
                </a:moveTo>
                <a:lnTo>
                  <a:pt x="0" y="0"/>
                </a:lnTo>
                <a:lnTo>
                  <a:pt x="63500" y="127012"/>
                </a:lnTo>
                <a:lnTo>
                  <a:pt x="127000" y="0"/>
                </a:lnTo>
                <a:close/>
              </a:path>
            </a:pathLst>
          </a:custGeom>
          <a:solidFill>
            <a:srgbClr val="FFFFFF"/>
          </a:solid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20" name="object 20"/>
          <p:cNvSpPr txBox="1"/>
          <p:nvPr/>
        </p:nvSpPr>
        <p:spPr>
          <a:xfrm>
            <a:off x="6381115" y="1521040"/>
            <a:ext cx="2305685" cy="719855"/>
          </a:xfrm>
          <a:prstGeom prst="rect">
            <a:avLst/>
          </a:prstGeom>
        </p:spPr>
        <p:txBody>
          <a:bodyPr vert="horz" wrap="square" lIns="0" tIns="0" rIns="0" bIns="0" rtlCol="0">
            <a:spAutoFit/>
          </a:bodyPr>
          <a:lstStyle/>
          <a:p>
            <a:pPr marL="12700" marR="5080" indent="38100">
              <a:lnSpc>
                <a:spcPts val="2800"/>
              </a:lnSpc>
            </a:pPr>
            <a:r>
              <a:rPr lang="en-GB" sz="2400" spc="40" noProof="0" dirty="0">
                <a:solidFill>
                  <a:schemeClr val="bg1">
                    <a:lumMod val="50000"/>
                  </a:schemeClr>
                </a:solidFill>
                <a:latin typeface="Helvetica Neue Light"/>
                <a:cs typeface="Helvetica Neue Light"/>
              </a:rPr>
              <a:t>Function </a:t>
            </a:r>
            <a:r>
              <a:rPr lang="en-GB" sz="2400" spc="30" noProof="0" dirty="0">
                <a:solidFill>
                  <a:schemeClr val="bg1">
                    <a:lumMod val="50000"/>
                  </a:schemeClr>
                </a:solidFill>
                <a:latin typeface="Helvetica Neue Light"/>
                <a:cs typeface="Helvetica Neue Light"/>
              </a:rPr>
              <a:t>called  </a:t>
            </a:r>
            <a:r>
              <a:rPr lang="en-GB" sz="2400" spc="-5" noProof="0" dirty="0">
                <a:solidFill>
                  <a:schemeClr val="bg1">
                    <a:lumMod val="50000"/>
                  </a:schemeClr>
                </a:solidFill>
                <a:latin typeface="Helvetica Neue Light"/>
                <a:cs typeface="Helvetica Neue Light"/>
              </a:rPr>
              <a:t>Parameters</a:t>
            </a:r>
            <a:r>
              <a:rPr lang="en-GB" sz="2400" spc="-120" noProof="0" dirty="0">
                <a:solidFill>
                  <a:schemeClr val="bg1">
                    <a:lumMod val="50000"/>
                  </a:schemeClr>
                </a:solidFill>
                <a:latin typeface="Helvetica Neue Light"/>
                <a:cs typeface="Helvetica Neue Light"/>
              </a:rPr>
              <a:t> </a:t>
            </a:r>
            <a:r>
              <a:rPr lang="en-GB" sz="2400" spc="15" noProof="0" dirty="0">
                <a:solidFill>
                  <a:schemeClr val="bg1">
                    <a:lumMod val="50000"/>
                  </a:schemeClr>
                </a:solidFill>
                <a:latin typeface="Helvetica Neue Light"/>
                <a:cs typeface="Helvetica Neue Light"/>
              </a:rPr>
              <a:t>sent</a:t>
            </a:r>
            <a:endParaRPr lang="en-GB" sz="2400" noProof="0" dirty="0">
              <a:solidFill>
                <a:schemeClr val="bg1">
                  <a:lumMod val="50000"/>
                </a:schemeClr>
              </a:solidFill>
              <a:latin typeface="Helvetica Neue Light"/>
              <a:cs typeface="Helvetica Neue Light"/>
            </a:endParaRPr>
          </a:p>
        </p:txBody>
      </p:sp>
      <p:sp>
        <p:nvSpPr>
          <p:cNvPr id="21" name="object 21">
            <a:extLst>
              <a:ext uri="{C183D7F6-B498-43B3-948B-1728B52AA6E4}">
                <adec:decorative xmlns:adec="http://schemas.microsoft.com/office/drawing/2017/decorative" val="1"/>
              </a:ext>
            </a:extLst>
          </p:cNvPr>
          <p:cNvSpPr/>
          <p:nvPr/>
        </p:nvSpPr>
        <p:spPr>
          <a:xfrm>
            <a:off x="6276111" y="3017520"/>
            <a:ext cx="2231961" cy="1396542"/>
          </a:xfrm>
          <a:prstGeom prst="rect">
            <a:avLst/>
          </a:prstGeom>
          <a:blipFill>
            <a:blip r:embed="rId4" cstate="print"/>
            <a:stretch>
              <a:fillRect/>
            </a:stretch>
          </a:blip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22" name="object 22">
            <a:extLst>
              <a:ext uri="{C183D7F6-B498-43B3-948B-1728B52AA6E4}">
                <adec:decorative xmlns:adec="http://schemas.microsoft.com/office/drawing/2017/decorative" val="1"/>
              </a:ext>
            </a:extLst>
          </p:cNvPr>
          <p:cNvSpPr/>
          <p:nvPr/>
        </p:nvSpPr>
        <p:spPr>
          <a:xfrm>
            <a:off x="6324600" y="3043237"/>
            <a:ext cx="2133600" cy="1295400"/>
          </a:xfrm>
          <a:prstGeom prst="rect">
            <a:avLst/>
          </a:prstGeom>
          <a:blipFill>
            <a:blip r:embed="rId5" cstate="print"/>
            <a:stretch>
              <a:fillRect/>
            </a:stretch>
          </a:blipFill>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23" name="object 23">
            <a:extLst>
              <a:ext uri="{C183D7F6-B498-43B3-948B-1728B52AA6E4}">
                <adec:decorative xmlns:adec="http://schemas.microsoft.com/office/drawing/2017/decorative" val="1"/>
              </a:ext>
            </a:extLst>
          </p:cNvPr>
          <p:cNvSpPr/>
          <p:nvPr/>
        </p:nvSpPr>
        <p:spPr>
          <a:xfrm>
            <a:off x="6324600" y="3043237"/>
            <a:ext cx="2133600" cy="1295400"/>
          </a:xfrm>
          <a:custGeom>
            <a:avLst/>
            <a:gdLst/>
            <a:ahLst/>
            <a:cxnLst/>
            <a:rect l="l" t="t" r="r" b="b"/>
            <a:pathLst>
              <a:path w="2133600" h="1295400">
                <a:moveTo>
                  <a:pt x="0" y="0"/>
                </a:moveTo>
                <a:lnTo>
                  <a:pt x="2133598" y="0"/>
                </a:lnTo>
                <a:lnTo>
                  <a:pt x="2133598" y="1295398"/>
                </a:lnTo>
                <a:lnTo>
                  <a:pt x="0" y="1295398"/>
                </a:lnTo>
                <a:lnTo>
                  <a:pt x="0" y="0"/>
                </a:lnTo>
                <a:close/>
              </a:path>
            </a:pathLst>
          </a:custGeom>
          <a:ln w="9524">
            <a:solidFill>
              <a:srgbClr val="0045AA"/>
            </a:solidFill>
          </a:ln>
        </p:spPr>
        <p:txBody>
          <a:bodyPr wrap="square" lIns="0" tIns="0" rIns="0" bIns="0" rtlCol="0"/>
          <a:lstStyle/>
          <a:p>
            <a:endParaRPr lang="en-GB" noProof="0" dirty="0">
              <a:solidFill>
                <a:schemeClr val="bg1">
                  <a:lumMod val="50000"/>
                </a:schemeClr>
              </a:solidFill>
              <a:latin typeface="Helvetica Neue Light"/>
              <a:cs typeface="Helvetica Neue Light"/>
            </a:endParaRPr>
          </a:p>
        </p:txBody>
      </p:sp>
      <p:sp>
        <p:nvSpPr>
          <p:cNvPr id="24" name="object 24"/>
          <p:cNvSpPr txBox="1"/>
          <p:nvPr/>
        </p:nvSpPr>
        <p:spPr>
          <a:xfrm>
            <a:off x="6568440" y="3416617"/>
            <a:ext cx="1638935" cy="565150"/>
          </a:xfrm>
          <a:prstGeom prst="rect">
            <a:avLst/>
          </a:prstGeom>
        </p:spPr>
        <p:txBody>
          <a:bodyPr vert="horz" wrap="square" lIns="0" tIns="0" rIns="0" bIns="0" rtlCol="0">
            <a:spAutoFit/>
          </a:bodyPr>
          <a:lstStyle/>
          <a:p>
            <a:pPr marL="12700">
              <a:lnSpc>
                <a:spcPct val="100000"/>
              </a:lnSpc>
            </a:pPr>
            <a:r>
              <a:rPr lang="en-GB" sz="3600" spc="55" noProof="0" dirty="0">
                <a:solidFill>
                  <a:schemeClr val="tx1">
                    <a:lumMod val="95000"/>
                    <a:lumOff val="5000"/>
                  </a:schemeClr>
                </a:solidFill>
                <a:latin typeface="Helvetica Neue Light"/>
                <a:cs typeface="Helvetica Neue Light"/>
              </a:rPr>
              <a:t>function</a:t>
            </a:r>
            <a:endParaRPr lang="en-GB" sz="3600" noProof="0" dirty="0">
              <a:solidFill>
                <a:schemeClr val="tx1">
                  <a:lumMod val="95000"/>
                  <a:lumOff val="5000"/>
                </a:schemeClr>
              </a:solidFill>
              <a:latin typeface="Helvetica Neue Light"/>
              <a:cs typeface="Helvetica Neue Light"/>
            </a:endParaRPr>
          </a:p>
        </p:txBody>
      </p:sp>
      <p:sp>
        <p:nvSpPr>
          <p:cNvPr id="25" name="object 25"/>
          <p:cNvSpPr txBox="1"/>
          <p:nvPr/>
        </p:nvSpPr>
        <p:spPr>
          <a:xfrm>
            <a:off x="459740" y="5494489"/>
            <a:ext cx="2179544" cy="415925"/>
          </a:xfrm>
          <a:prstGeom prst="rect">
            <a:avLst/>
          </a:prstGeom>
        </p:spPr>
        <p:txBody>
          <a:bodyPr vert="horz" wrap="square" lIns="0" tIns="0" rIns="0" bIns="0" rtlCol="0">
            <a:spAutoFit/>
          </a:bodyPr>
          <a:lstStyle/>
          <a:p>
            <a:pPr marL="717550" marR="5080" indent="-705485">
              <a:lnSpc>
                <a:spcPts val="1600"/>
              </a:lnSpc>
            </a:pPr>
            <a:r>
              <a:rPr lang="en-GB" sz="1400" spc="-45" noProof="0" dirty="0">
                <a:solidFill>
                  <a:schemeClr val="bg1">
                    <a:lumMod val="50000"/>
                  </a:schemeClr>
                </a:solidFill>
                <a:latin typeface="Helvetica Neue Light"/>
                <a:cs typeface="Helvetica Neue Light"/>
              </a:rPr>
              <a:t>e.g. </a:t>
            </a:r>
            <a:r>
              <a:rPr lang="en-GB" sz="1400" spc="-5" noProof="0" dirty="0">
                <a:solidFill>
                  <a:schemeClr val="bg1">
                    <a:lumMod val="50000"/>
                  </a:schemeClr>
                </a:solidFill>
                <a:latin typeface="Helvetica Neue Light"/>
                <a:cs typeface="Helvetica Neue Light"/>
              </a:rPr>
              <a:t>Formatting </a:t>
            </a:r>
            <a:r>
              <a:rPr lang="en-GB" sz="1400" spc="15" noProof="0" dirty="0">
                <a:solidFill>
                  <a:schemeClr val="bg1">
                    <a:lumMod val="50000"/>
                  </a:schemeClr>
                </a:solidFill>
                <a:latin typeface="Helvetica Neue Light"/>
                <a:cs typeface="Helvetica Neue Light"/>
              </a:rPr>
              <a:t>and</a:t>
            </a:r>
            <a:r>
              <a:rPr lang="en-GB" sz="1400" spc="-195" noProof="0" dirty="0">
                <a:solidFill>
                  <a:schemeClr val="bg1">
                    <a:lumMod val="50000"/>
                  </a:schemeClr>
                </a:solidFill>
                <a:latin typeface="Helvetica Neue Light"/>
                <a:cs typeface="Helvetica Neue Light"/>
              </a:rPr>
              <a:t> </a:t>
            </a:r>
            <a:r>
              <a:rPr lang="en-GB" sz="1400" spc="-10" noProof="0" dirty="0">
                <a:solidFill>
                  <a:schemeClr val="bg1">
                    <a:lumMod val="50000"/>
                  </a:schemeClr>
                </a:solidFill>
                <a:latin typeface="Helvetica Neue Light"/>
                <a:cs typeface="Helvetica Neue Light"/>
              </a:rPr>
              <a:t>writing  </a:t>
            </a:r>
            <a:r>
              <a:rPr lang="en-GB" sz="1400" spc="-5" noProof="0" dirty="0">
                <a:solidFill>
                  <a:schemeClr val="bg1">
                    <a:lumMod val="50000"/>
                  </a:schemeClr>
                </a:solidFill>
                <a:latin typeface="Helvetica Neue Light"/>
                <a:cs typeface="Helvetica Neue Light"/>
              </a:rPr>
              <a:t>out</a:t>
            </a:r>
            <a:r>
              <a:rPr lang="en-GB" sz="1400" spc="-140" noProof="0" dirty="0">
                <a:solidFill>
                  <a:schemeClr val="bg1">
                    <a:lumMod val="50000"/>
                  </a:schemeClr>
                </a:solidFill>
                <a:latin typeface="Helvetica Neue Light"/>
                <a:cs typeface="Helvetica Neue Light"/>
              </a:rPr>
              <a:t> </a:t>
            </a:r>
            <a:r>
              <a:rPr lang="en-GB" sz="1400" spc="-25" noProof="0" dirty="0">
                <a:solidFill>
                  <a:schemeClr val="bg1">
                    <a:lumMod val="50000"/>
                  </a:schemeClr>
                </a:solidFill>
                <a:latin typeface="Helvetica Neue Light"/>
                <a:cs typeface="Helvetica Neue Light"/>
              </a:rPr>
              <a:t>text</a:t>
            </a:r>
            <a:endParaRPr lang="en-GB" sz="1400" noProof="0" dirty="0">
              <a:solidFill>
                <a:schemeClr val="bg1">
                  <a:lumMod val="50000"/>
                </a:schemeClr>
              </a:solidFill>
              <a:latin typeface="Helvetica Neue Light"/>
              <a:cs typeface="Helvetica Neue Light"/>
            </a:endParaRPr>
          </a:p>
        </p:txBody>
      </p:sp>
      <p:sp>
        <p:nvSpPr>
          <p:cNvPr id="26" name="object 26"/>
          <p:cNvSpPr txBox="1"/>
          <p:nvPr/>
        </p:nvSpPr>
        <p:spPr>
          <a:xfrm>
            <a:off x="3583940" y="5494489"/>
            <a:ext cx="2204586" cy="412079"/>
          </a:xfrm>
          <a:prstGeom prst="rect">
            <a:avLst/>
          </a:prstGeom>
        </p:spPr>
        <p:txBody>
          <a:bodyPr vert="horz" wrap="square" lIns="0" tIns="0" rIns="0" bIns="0" rtlCol="0">
            <a:spAutoFit/>
          </a:bodyPr>
          <a:lstStyle/>
          <a:p>
            <a:pPr marL="397510" marR="5080" indent="-385445">
              <a:lnSpc>
                <a:spcPts val="1600"/>
              </a:lnSpc>
            </a:pPr>
            <a:r>
              <a:rPr lang="en-GB" sz="1400" spc="-45" noProof="0" dirty="0">
                <a:solidFill>
                  <a:schemeClr val="bg1">
                    <a:lumMod val="50000"/>
                  </a:schemeClr>
                </a:solidFill>
                <a:latin typeface="Helvetica Neue Light"/>
                <a:cs typeface="Helvetica Neue Light"/>
              </a:rPr>
              <a:t>e.g. </a:t>
            </a:r>
            <a:r>
              <a:rPr lang="en-GB" sz="1400" spc="-5" noProof="0" dirty="0">
                <a:solidFill>
                  <a:schemeClr val="bg1">
                    <a:lumMod val="50000"/>
                  </a:schemeClr>
                </a:solidFill>
                <a:latin typeface="Helvetica Neue Light"/>
                <a:cs typeface="Helvetica Neue Light"/>
              </a:rPr>
              <a:t>Formatting </a:t>
            </a:r>
            <a:r>
              <a:rPr lang="en-GB" sz="1400" spc="15" noProof="0" dirty="0">
                <a:solidFill>
                  <a:schemeClr val="bg1">
                    <a:lumMod val="50000"/>
                  </a:schemeClr>
                </a:solidFill>
                <a:latin typeface="Helvetica Neue Light"/>
                <a:cs typeface="Helvetica Neue Light"/>
              </a:rPr>
              <a:t>and</a:t>
            </a:r>
            <a:r>
              <a:rPr lang="en-GB" sz="1400" spc="-195" noProof="0" dirty="0">
                <a:solidFill>
                  <a:schemeClr val="bg1">
                    <a:lumMod val="50000"/>
                  </a:schemeClr>
                </a:solidFill>
                <a:latin typeface="Helvetica Neue Light"/>
                <a:cs typeface="Helvetica Neue Light"/>
              </a:rPr>
              <a:t> </a:t>
            </a:r>
            <a:r>
              <a:rPr lang="en-GB" sz="1400" spc="-10" noProof="0" dirty="0">
                <a:solidFill>
                  <a:schemeClr val="bg1">
                    <a:lumMod val="50000"/>
                  </a:schemeClr>
                </a:solidFill>
                <a:latin typeface="Helvetica Neue Light"/>
                <a:cs typeface="Helvetica Neue Light"/>
              </a:rPr>
              <a:t>writing  </a:t>
            </a:r>
            <a:r>
              <a:rPr lang="en-GB" sz="1400" spc="-5" noProof="0" dirty="0">
                <a:solidFill>
                  <a:schemeClr val="bg1">
                    <a:lumMod val="50000"/>
                  </a:schemeClr>
                </a:solidFill>
                <a:latin typeface="Helvetica Neue Light"/>
                <a:cs typeface="Helvetica Neue Light"/>
              </a:rPr>
              <a:t>out inputted</a:t>
            </a:r>
            <a:r>
              <a:rPr lang="en-GB" sz="1400" spc="-190" noProof="0" dirty="0">
                <a:solidFill>
                  <a:schemeClr val="bg1">
                    <a:lumMod val="50000"/>
                  </a:schemeClr>
                </a:solidFill>
                <a:latin typeface="Helvetica Neue Light"/>
                <a:cs typeface="Helvetica Neue Light"/>
              </a:rPr>
              <a:t> </a:t>
            </a:r>
            <a:r>
              <a:rPr lang="en-GB" sz="1400" spc="-25" noProof="0" dirty="0">
                <a:solidFill>
                  <a:schemeClr val="bg1">
                    <a:lumMod val="50000"/>
                  </a:schemeClr>
                </a:solidFill>
                <a:latin typeface="Helvetica Neue Light"/>
                <a:cs typeface="Helvetica Neue Light"/>
              </a:rPr>
              <a:t>text</a:t>
            </a:r>
            <a:endParaRPr lang="en-GB" sz="1400" noProof="0" dirty="0">
              <a:solidFill>
                <a:schemeClr val="bg1">
                  <a:lumMod val="50000"/>
                </a:schemeClr>
              </a:solidFill>
              <a:latin typeface="Helvetica Neue Light"/>
              <a:cs typeface="Helvetica Neue Light"/>
            </a:endParaRPr>
          </a:p>
        </p:txBody>
      </p:sp>
      <p:sp>
        <p:nvSpPr>
          <p:cNvPr id="27" name="object 27"/>
          <p:cNvSpPr txBox="1"/>
          <p:nvPr/>
        </p:nvSpPr>
        <p:spPr>
          <a:xfrm>
            <a:off x="6401752" y="5070157"/>
            <a:ext cx="2106320" cy="1051869"/>
          </a:xfrm>
          <a:prstGeom prst="rect">
            <a:avLst/>
          </a:prstGeom>
        </p:spPr>
        <p:txBody>
          <a:bodyPr vert="horz" wrap="square" lIns="0" tIns="0" rIns="0" bIns="0" rtlCol="0">
            <a:spAutoFit/>
          </a:bodyPr>
          <a:lstStyle/>
          <a:p>
            <a:pPr algn="ctr">
              <a:lnSpc>
                <a:spcPct val="100000"/>
              </a:lnSpc>
            </a:pPr>
            <a:r>
              <a:rPr lang="en-GB" sz="2400" spc="20" noProof="0" dirty="0">
                <a:solidFill>
                  <a:schemeClr val="bg1">
                    <a:lumMod val="50000"/>
                  </a:schemeClr>
                </a:solidFill>
                <a:latin typeface="Helvetica Neue Light"/>
                <a:cs typeface="Helvetica Neue Light"/>
              </a:rPr>
              <a:t>Returned</a:t>
            </a:r>
            <a:r>
              <a:rPr lang="en-GB" sz="2400" spc="-114" noProof="0" dirty="0">
                <a:solidFill>
                  <a:schemeClr val="bg1">
                    <a:lumMod val="50000"/>
                  </a:schemeClr>
                </a:solidFill>
                <a:latin typeface="Helvetica Neue Light"/>
                <a:cs typeface="Helvetica Neue Light"/>
              </a:rPr>
              <a:t> </a:t>
            </a:r>
            <a:r>
              <a:rPr lang="en-GB" sz="2400" spc="30" noProof="0" dirty="0">
                <a:solidFill>
                  <a:schemeClr val="bg1">
                    <a:lumMod val="50000"/>
                  </a:schemeClr>
                </a:solidFill>
                <a:latin typeface="Helvetica Neue Light"/>
                <a:cs typeface="Helvetica Neue Light"/>
              </a:rPr>
              <a:t>value</a:t>
            </a:r>
            <a:endParaRPr lang="en-GB" sz="2400" noProof="0" dirty="0">
              <a:solidFill>
                <a:schemeClr val="bg1">
                  <a:lumMod val="50000"/>
                </a:schemeClr>
              </a:solidFill>
              <a:latin typeface="Helvetica Neue Light"/>
              <a:cs typeface="Helvetica Neue Light"/>
            </a:endParaRPr>
          </a:p>
          <a:p>
            <a:pPr marL="107950" marR="104775" indent="74930">
              <a:lnSpc>
                <a:spcPts val="1600"/>
              </a:lnSpc>
              <a:spcBef>
                <a:spcPts val="459"/>
              </a:spcBef>
            </a:pPr>
            <a:r>
              <a:rPr lang="en-GB" sz="1400" spc="-45" noProof="0" dirty="0">
                <a:solidFill>
                  <a:schemeClr val="bg1">
                    <a:lumMod val="50000"/>
                  </a:schemeClr>
                </a:solidFill>
                <a:latin typeface="Helvetica Neue Light"/>
                <a:cs typeface="Helvetica Neue Light"/>
              </a:rPr>
              <a:t>e.g. </a:t>
            </a:r>
            <a:r>
              <a:rPr lang="en-GB" sz="1400" spc="-5" noProof="0" dirty="0">
                <a:solidFill>
                  <a:schemeClr val="bg1">
                    <a:lumMod val="50000"/>
                  </a:schemeClr>
                </a:solidFill>
                <a:latin typeface="Helvetica Neue Light"/>
                <a:cs typeface="Helvetica Neue Light"/>
              </a:rPr>
              <a:t>Date </a:t>
            </a:r>
            <a:r>
              <a:rPr lang="en-GB" sz="1400" noProof="0" dirty="0">
                <a:solidFill>
                  <a:schemeClr val="bg1">
                    <a:lumMod val="50000"/>
                  </a:schemeClr>
                </a:solidFill>
                <a:latin typeface="Helvetica Neue Light"/>
                <a:cs typeface="Helvetica Neue Light"/>
              </a:rPr>
              <a:t>function </a:t>
            </a:r>
            <a:r>
              <a:rPr lang="en-GB" sz="1400" spc="-10" noProof="0" dirty="0">
                <a:solidFill>
                  <a:schemeClr val="bg1">
                    <a:lumMod val="50000"/>
                  </a:schemeClr>
                </a:solidFill>
                <a:latin typeface="Helvetica Neue Light"/>
                <a:cs typeface="Helvetica Neue Light"/>
              </a:rPr>
              <a:t>that  </a:t>
            </a:r>
            <a:r>
              <a:rPr lang="en-GB" sz="1400" spc="-20" noProof="0" dirty="0">
                <a:solidFill>
                  <a:schemeClr val="bg1">
                    <a:lumMod val="50000"/>
                  </a:schemeClr>
                </a:solidFill>
                <a:latin typeface="Helvetica Neue Light"/>
                <a:cs typeface="Helvetica Neue Light"/>
              </a:rPr>
              <a:t>returns</a:t>
            </a:r>
            <a:r>
              <a:rPr lang="en-GB" sz="1400" spc="-80" noProof="0" dirty="0">
                <a:solidFill>
                  <a:schemeClr val="bg1">
                    <a:lumMod val="50000"/>
                  </a:schemeClr>
                </a:solidFill>
                <a:latin typeface="Helvetica Neue Light"/>
                <a:cs typeface="Helvetica Neue Light"/>
              </a:rPr>
              <a:t> </a:t>
            </a:r>
            <a:r>
              <a:rPr lang="en-GB" sz="1400" spc="10" noProof="0" dirty="0">
                <a:solidFill>
                  <a:schemeClr val="bg1">
                    <a:lumMod val="50000"/>
                  </a:schemeClr>
                </a:solidFill>
                <a:latin typeface="Helvetica Neue Light"/>
                <a:cs typeface="Helvetica Neue Light"/>
              </a:rPr>
              <a:t>a</a:t>
            </a:r>
            <a:r>
              <a:rPr lang="en-GB" sz="1400" spc="-80" noProof="0" dirty="0">
                <a:solidFill>
                  <a:schemeClr val="bg1">
                    <a:lumMod val="50000"/>
                  </a:schemeClr>
                </a:solidFill>
                <a:latin typeface="Helvetica Neue Light"/>
                <a:cs typeface="Helvetica Neue Light"/>
              </a:rPr>
              <a:t> </a:t>
            </a:r>
            <a:r>
              <a:rPr lang="en-GB" sz="1400" spc="-15" noProof="0" dirty="0">
                <a:solidFill>
                  <a:schemeClr val="bg1">
                    <a:lumMod val="50000"/>
                  </a:schemeClr>
                </a:solidFill>
                <a:latin typeface="Helvetica Neue Light"/>
                <a:cs typeface="Helvetica Neue Light"/>
              </a:rPr>
              <a:t>date</a:t>
            </a:r>
            <a:r>
              <a:rPr lang="en-GB" sz="1400" spc="-80" noProof="0" dirty="0">
                <a:solidFill>
                  <a:schemeClr val="bg1">
                    <a:lumMod val="50000"/>
                  </a:schemeClr>
                </a:solidFill>
                <a:latin typeface="Helvetica Neue Light"/>
                <a:cs typeface="Helvetica Neue Light"/>
              </a:rPr>
              <a:t> </a:t>
            </a:r>
            <a:r>
              <a:rPr lang="en-GB" sz="1400" spc="-15" noProof="0" dirty="0">
                <a:solidFill>
                  <a:schemeClr val="bg1">
                    <a:lumMod val="50000"/>
                  </a:schemeClr>
                </a:solidFill>
                <a:latin typeface="Helvetica Neue Light"/>
                <a:cs typeface="Helvetica Neue Light"/>
              </a:rPr>
              <a:t>to</a:t>
            </a:r>
            <a:r>
              <a:rPr lang="en-GB" sz="1400" spc="-80" noProof="0" dirty="0">
                <a:solidFill>
                  <a:schemeClr val="bg1">
                    <a:lumMod val="50000"/>
                  </a:schemeClr>
                </a:solidFill>
                <a:latin typeface="Helvetica Neue Light"/>
                <a:cs typeface="Helvetica Neue Light"/>
              </a:rPr>
              <a:t> </a:t>
            </a:r>
            <a:r>
              <a:rPr lang="en-GB" sz="1400" spc="-10" noProof="0" dirty="0">
                <a:solidFill>
                  <a:schemeClr val="bg1">
                    <a:lumMod val="50000"/>
                  </a:schemeClr>
                </a:solidFill>
                <a:latin typeface="Helvetica Neue Light"/>
                <a:cs typeface="Helvetica Neue Light"/>
              </a:rPr>
              <a:t>be</a:t>
            </a:r>
            <a:r>
              <a:rPr lang="en-GB" sz="1400" spc="-80" noProof="0" dirty="0">
                <a:solidFill>
                  <a:schemeClr val="bg1">
                    <a:lumMod val="50000"/>
                  </a:schemeClr>
                </a:solidFill>
                <a:latin typeface="Helvetica Neue Light"/>
                <a:cs typeface="Helvetica Neue Light"/>
              </a:rPr>
              <a:t> </a:t>
            </a:r>
            <a:r>
              <a:rPr lang="en-GB" sz="1400" spc="-10" noProof="0" dirty="0">
                <a:solidFill>
                  <a:schemeClr val="bg1">
                    <a:lumMod val="50000"/>
                  </a:schemeClr>
                </a:solidFill>
                <a:latin typeface="Helvetica Neue Light"/>
                <a:cs typeface="Helvetica Neue Light"/>
              </a:rPr>
              <a:t>used</a:t>
            </a:r>
            <a:endParaRPr lang="en-GB" sz="1400" noProof="0" dirty="0">
              <a:solidFill>
                <a:schemeClr val="bg1">
                  <a:lumMod val="50000"/>
                </a:schemeClr>
              </a:solidFill>
              <a:latin typeface="Helvetica Neue Light"/>
              <a:cs typeface="Helvetica Neue Light"/>
            </a:endParaRPr>
          </a:p>
          <a:p>
            <a:pPr marL="27940" algn="ctr">
              <a:lnSpc>
                <a:spcPts val="1660"/>
              </a:lnSpc>
            </a:pPr>
            <a:r>
              <a:rPr lang="en-GB" sz="1400" spc="-20" noProof="0" dirty="0">
                <a:solidFill>
                  <a:schemeClr val="bg1">
                    <a:lumMod val="50000"/>
                  </a:schemeClr>
                </a:solidFill>
                <a:latin typeface="Helvetica Neue Light"/>
                <a:cs typeface="Helvetica Neue Light"/>
              </a:rPr>
              <a:t>later </a:t>
            </a:r>
            <a:r>
              <a:rPr lang="en-GB" sz="1400" spc="10" noProof="0" dirty="0">
                <a:solidFill>
                  <a:schemeClr val="bg1">
                    <a:lumMod val="50000"/>
                  </a:schemeClr>
                </a:solidFill>
                <a:latin typeface="Helvetica Neue Light"/>
                <a:cs typeface="Helvetica Neue Light"/>
              </a:rPr>
              <a:t>in</a:t>
            </a:r>
            <a:r>
              <a:rPr lang="en-GB" sz="1400" spc="-200" noProof="0" dirty="0">
                <a:solidFill>
                  <a:schemeClr val="bg1">
                    <a:lumMod val="50000"/>
                  </a:schemeClr>
                </a:solidFill>
                <a:latin typeface="Helvetica Neue Light"/>
                <a:cs typeface="Helvetica Neue Light"/>
              </a:rPr>
              <a:t> </a:t>
            </a:r>
            <a:r>
              <a:rPr lang="en-GB" sz="1400" spc="-5" noProof="0" dirty="0">
                <a:solidFill>
                  <a:schemeClr val="bg1">
                    <a:lumMod val="50000"/>
                  </a:schemeClr>
                </a:solidFill>
                <a:latin typeface="Helvetica Neue Light"/>
                <a:cs typeface="Helvetica Neue Light"/>
              </a:rPr>
              <a:t>program</a:t>
            </a:r>
            <a:endParaRPr lang="en-GB" sz="1400" noProof="0" dirty="0">
              <a:solidFill>
                <a:schemeClr val="bg1">
                  <a:lumMod val="50000"/>
                </a:schemeClr>
              </a:solidFill>
              <a:latin typeface="Helvetica Neue Light"/>
              <a:cs typeface="Helvetica Neue Light"/>
            </a:endParaRPr>
          </a:p>
        </p:txBody>
      </p:sp>
    </p:spTree>
    <p:extLst>
      <p:ext uri="{BB962C8B-B14F-4D97-AF65-F5344CB8AC3E}">
        <p14:creationId xmlns:p14="http://schemas.microsoft.com/office/powerpoint/2010/main" val="16230471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Make a cup of tea  - return</a:t>
            </a:r>
          </a:p>
        </p:txBody>
      </p:sp>
      <p:sp>
        <p:nvSpPr>
          <p:cNvPr id="4" name="TextBox 3"/>
          <p:cNvSpPr txBox="1"/>
          <p:nvPr/>
        </p:nvSpPr>
        <p:spPr>
          <a:xfrm>
            <a:off x="457200" y="3783262"/>
            <a:ext cx="7951537" cy="2474524"/>
          </a:xfrm>
          <a:prstGeom prst="rect">
            <a:avLst/>
          </a:prstGeom>
          <a:noFill/>
        </p:spPr>
        <p:txBody>
          <a:bodyPr wrap="square" rtlCol="0">
            <a:spAutoFit/>
          </a:bodyPr>
          <a:lstStyle/>
          <a:p>
            <a:pPr>
              <a:lnSpc>
                <a:spcPct val="130000"/>
              </a:lnSpc>
            </a:pPr>
            <a:r>
              <a:rPr lang="en-GB" sz="2400" noProof="0" dirty="0">
                <a:solidFill>
                  <a:schemeClr val="bg1">
                    <a:lumMod val="50000"/>
                  </a:schemeClr>
                </a:solidFill>
                <a:latin typeface="Helvetica Neue Light"/>
                <a:cs typeface="Helvetica Neue Light"/>
              </a:rPr>
              <a:t>We now want to call for our cup of tea to be made and ‘returned’ to us to where we ordered it from.</a:t>
            </a:r>
          </a:p>
          <a:p>
            <a:pPr>
              <a:lnSpc>
                <a:spcPct val="130000"/>
              </a:lnSpc>
            </a:pPr>
            <a:endParaRPr lang="en-GB" sz="2400" noProof="0" dirty="0">
              <a:solidFill>
                <a:schemeClr val="bg1">
                  <a:lumMod val="50000"/>
                </a:schemeClr>
              </a:solidFill>
              <a:latin typeface="Helvetica Neue Light"/>
              <a:cs typeface="Helvetica Neue Light"/>
            </a:endParaRPr>
          </a:p>
          <a:p>
            <a:pPr>
              <a:lnSpc>
                <a:spcPct val="130000"/>
              </a:lnSpc>
            </a:pPr>
            <a:r>
              <a:rPr lang="en-GB" sz="2400" noProof="0" dirty="0">
                <a:solidFill>
                  <a:schemeClr val="bg1">
                    <a:lumMod val="50000"/>
                  </a:schemeClr>
                </a:solidFill>
                <a:latin typeface="Helvetica Neue Light"/>
                <a:cs typeface="Helvetica Neue Light"/>
              </a:rPr>
              <a:t>Functions can return their result to the code that called them.</a:t>
            </a:r>
          </a:p>
        </p:txBody>
      </p:sp>
      <p:pic>
        <p:nvPicPr>
          <p:cNvPr id="5" name="Picture 4">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81527" y="1439108"/>
            <a:ext cx="4485105" cy="2082370"/>
          </a:xfrm>
          <a:prstGeom prst="rect">
            <a:avLst/>
          </a:prstGeom>
        </p:spPr>
      </p:pic>
    </p:spTree>
    <p:extLst>
      <p:ext uri="{BB962C8B-B14F-4D97-AF65-F5344CB8AC3E}">
        <p14:creationId xmlns:p14="http://schemas.microsoft.com/office/powerpoint/2010/main" val="40070896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txBox="1"/>
          <p:nvPr/>
        </p:nvSpPr>
        <p:spPr>
          <a:xfrm>
            <a:off x="0" y="0"/>
            <a:ext cx="9144000" cy="7009611"/>
          </a:xfrm>
          <a:prstGeom prst="rect">
            <a:avLst/>
          </a:prstGeom>
        </p:spPr>
        <p:txBody>
          <a:bodyPr vert="horz" wrap="square" lIns="0" tIns="0" rIns="0" bIns="0" rtlCol="0">
            <a:spAutoFit/>
          </a:bodyPr>
          <a:lstStyle/>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marL="320040">
              <a:lnSpc>
                <a:spcPct val="100000"/>
              </a:lnSpc>
              <a:spcBef>
                <a:spcPts val="855"/>
              </a:spcBef>
            </a:pPr>
            <a:endParaRPr lang="en-GB" sz="1400" noProof="0" dirty="0">
              <a:latin typeface="Calibri"/>
              <a:cs typeface="Calibri"/>
            </a:endParaRPr>
          </a:p>
        </p:txBody>
      </p:sp>
      <p:sp>
        <p:nvSpPr>
          <p:cNvPr id="3" name="object 3">
            <a:extLst>
              <a:ext uri="{C183D7F6-B498-43B3-948B-1728B52AA6E4}">
                <adec:decorative xmlns:adec="http://schemas.microsoft.com/office/drawing/2017/decorative" val="1"/>
              </a:ext>
            </a:extLst>
          </p:cNvPr>
          <p:cNvSpPr/>
          <p:nvPr/>
        </p:nvSpPr>
        <p:spPr>
          <a:xfrm>
            <a:off x="0" y="0"/>
            <a:ext cx="9144000" cy="6857999"/>
          </a:xfrm>
          <a:prstGeom prst="rect">
            <a:avLst/>
          </a:prstGeom>
          <a:blipFill>
            <a:blip r:embed="rId2" cstate="print"/>
            <a:stretch>
              <a:fillRect/>
            </a:stretch>
          </a:blipFill>
        </p:spPr>
        <p:txBody>
          <a:bodyPr wrap="square" lIns="0" tIns="0" rIns="0" bIns="0" rtlCol="0"/>
          <a:lstStyle/>
          <a:p>
            <a:endParaRPr lang="en-GB" noProof="0" dirty="0"/>
          </a:p>
        </p:txBody>
      </p:sp>
      <p:sp>
        <p:nvSpPr>
          <p:cNvPr id="20" name="TextBox 19"/>
          <p:cNvSpPr txBox="1"/>
          <p:nvPr/>
        </p:nvSpPr>
        <p:spPr>
          <a:xfrm>
            <a:off x="101509" y="6435195"/>
            <a:ext cx="3561437" cy="369332"/>
          </a:xfrm>
          <a:prstGeom prst="rect">
            <a:avLst/>
          </a:prstGeom>
          <a:noFill/>
        </p:spPr>
        <p:txBody>
          <a:bodyPr wrap="square" rtlCol="0">
            <a:spAutoFit/>
          </a:bodyPr>
          <a:lstStyle/>
          <a:p>
            <a:r>
              <a:rPr lang="en-GB" noProof="0" dirty="0">
                <a:solidFill>
                  <a:schemeClr val="bg1"/>
                </a:solidFill>
                <a:latin typeface="Helvetica Neue Light"/>
                <a:cs typeface="Helvetica Neue Light"/>
              </a:rPr>
              <a:t>Examples/feetToCm_return.html</a:t>
            </a:r>
          </a:p>
        </p:txBody>
      </p:sp>
      <p:pic>
        <p:nvPicPr>
          <p:cNvPr id="15" name="Picture 14">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662946" y="6280900"/>
            <a:ext cx="1115616" cy="557808"/>
          </a:xfrm>
          <a:prstGeom prst="rect">
            <a:avLst/>
          </a:prstGeom>
        </p:spPr>
      </p:pic>
      <p:pic>
        <p:nvPicPr>
          <p:cNvPr id="4" name="Picture 3">
            <a:extLst>
              <a:ext uri="{FF2B5EF4-FFF2-40B4-BE49-F238E27FC236}">
                <a16:creationId xmlns:a16="http://schemas.microsoft.com/office/drawing/2014/main" id="{EA37E72C-9A44-C479-F7D9-5E198644B0D1}"/>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0" y="15303"/>
            <a:ext cx="9144000" cy="6096000"/>
          </a:xfrm>
          <a:prstGeom prst="rect">
            <a:avLst/>
          </a:prstGeom>
        </p:spPr>
      </p:pic>
    </p:spTree>
    <p:extLst>
      <p:ext uri="{BB962C8B-B14F-4D97-AF65-F5344CB8AC3E}">
        <p14:creationId xmlns:p14="http://schemas.microsoft.com/office/powerpoint/2010/main" val="13322590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txBox="1"/>
          <p:nvPr/>
        </p:nvSpPr>
        <p:spPr>
          <a:xfrm>
            <a:off x="0" y="0"/>
            <a:ext cx="9144000" cy="7009611"/>
          </a:xfrm>
          <a:prstGeom prst="rect">
            <a:avLst/>
          </a:prstGeom>
        </p:spPr>
        <p:txBody>
          <a:bodyPr vert="horz" wrap="square" lIns="0" tIns="0" rIns="0" bIns="0" rtlCol="0">
            <a:spAutoFit/>
          </a:bodyPr>
          <a:lstStyle/>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a:lnSpc>
                <a:spcPct val="100000"/>
              </a:lnSpc>
            </a:pPr>
            <a:endParaRPr lang="en-GB" sz="1400" noProof="0" dirty="0">
              <a:latin typeface="Times New Roman"/>
              <a:cs typeface="Times New Roman"/>
            </a:endParaRPr>
          </a:p>
          <a:p>
            <a:pPr marL="320040">
              <a:lnSpc>
                <a:spcPct val="100000"/>
              </a:lnSpc>
              <a:spcBef>
                <a:spcPts val="855"/>
              </a:spcBef>
            </a:pPr>
            <a:endParaRPr lang="en-GB" sz="1400" noProof="0" dirty="0">
              <a:latin typeface="Calibri"/>
              <a:cs typeface="Calibri"/>
            </a:endParaRPr>
          </a:p>
        </p:txBody>
      </p:sp>
      <p:sp>
        <p:nvSpPr>
          <p:cNvPr id="3" name="object 3">
            <a:extLst>
              <a:ext uri="{C183D7F6-B498-43B3-948B-1728B52AA6E4}">
                <adec:decorative xmlns:adec="http://schemas.microsoft.com/office/drawing/2017/decorative" val="1"/>
              </a:ext>
            </a:extLst>
          </p:cNvPr>
          <p:cNvSpPr/>
          <p:nvPr/>
        </p:nvSpPr>
        <p:spPr>
          <a:xfrm>
            <a:off x="0" y="0"/>
            <a:ext cx="9144000" cy="6857999"/>
          </a:xfrm>
          <a:prstGeom prst="rect">
            <a:avLst/>
          </a:prstGeom>
          <a:blipFill>
            <a:blip r:embed="rId2" cstate="print"/>
            <a:stretch>
              <a:fillRect/>
            </a:stretch>
          </a:blipFill>
        </p:spPr>
        <p:txBody>
          <a:bodyPr wrap="square" lIns="0" tIns="0" rIns="0" bIns="0" rtlCol="0"/>
          <a:lstStyle/>
          <a:p>
            <a:endParaRPr lang="en-GB" noProof="0" dirty="0"/>
          </a:p>
        </p:txBody>
      </p:sp>
      <p:sp>
        <p:nvSpPr>
          <p:cNvPr id="12" name="TextBox 11"/>
          <p:cNvSpPr txBox="1"/>
          <p:nvPr/>
        </p:nvSpPr>
        <p:spPr>
          <a:xfrm>
            <a:off x="101509" y="6435195"/>
            <a:ext cx="3561437" cy="369332"/>
          </a:xfrm>
          <a:prstGeom prst="rect">
            <a:avLst/>
          </a:prstGeom>
          <a:noFill/>
        </p:spPr>
        <p:txBody>
          <a:bodyPr wrap="square" rtlCol="0">
            <a:spAutoFit/>
          </a:bodyPr>
          <a:lstStyle/>
          <a:p>
            <a:r>
              <a:rPr lang="en-GB" noProof="0" dirty="0">
                <a:solidFill>
                  <a:schemeClr val="bg1"/>
                </a:solidFill>
                <a:latin typeface="Helvetica Neue Light"/>
                <a:cs typeface="Helvetica Neue Light"/>
              </a:rPr>
              <a:t>Examples/feetToCm_return2.html</a:t>
            </a:r>
          </a:p>
        </p:txBody>
      </p:sp>
      <p:pic>
        <p:nvPicPr>
          <p:cNvPr id="13" name="Picture 12" descr="A red square stamp with white text"/>
          <p:cNvPicPr>
            <a:picLocks noChangeAspect="1"/>
          </p:cNvPicPr>
          <p:nvPr/>
        </p:nvPicPr>
        <p:blipFill>
          <a:blip r:embed="rId3"/>
          <a:stretch>
            <a:fillRect/>
          </a:stretch>
        </p:blipFill>
        <p:spPr>
          <a:xfrm>
            <a:off x="3884871" y="6185277"/>
            <a:ext cx="1115616" cy="557808"/>
          </a:xfrm>
          <a:prstGeom prst="rect">
            <a:avLst/>
          </a:prstGeom>
        </p:spPr>
      </p:pic>
      <p:pic>
        <p:nvPicPr>
          <p:cNvPr id="4" name="Picture 3">
            <a:extLst>
              <a:ext uri="{FF2B5EF4-FFF2-40B4-BE49-F238E27FC236}">
                <a16:creationId xmlns:a16="http://schemas.microsoft.com/office/drawing/2014/main" id="{972EEC18-B5D0-786E-AF05-AFCDFC0F8A77}"/>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0" y="1398157"/>
            <a:ext cx="9144000" cy="4061686"/>
          </a:xfrm>
          <a:prstGeom prst="rect">
            <a:avLst/>
          </a:prstGeom>
        </p:spPr>
      </p:pic>
    </p:spTree>
    <p:extLst>
      <p:ext uri="{BB962C8B-B14F-4D97-AF65-F5344CB8AC3E}">
        <p14:creationId xmlns:p14="http://schemas.microsoft.com/office/powerpoint/2010/main" val="41761156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txBox="1"/>
          <p:nvPr/>
        </p:nvSpPr>
        <p:spPr>
          <a:xfrm>
            <a:off x="0" y="0"/>
            <a:ext cx="9144000" cy="7003838"/>
          </a:xfrm>
          <a:prstGeom prst="rect">
            <a:avLst/>
          </a:prstGeom>
        </p:spPr>
        <p:txBody>
          <a:bodyPr vert="horz" wrap="square" lIns="0" tIns="0" rIns="0" bIns="0" rtlCol="0">
            <a:spAutoFit/>
          </a:bodyPr>
          <a:lstStyle/>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a:lnSpc>
                <a:spcPct val="100000"/>
              </a:lnSpc>
            </a:pPr>
            <a:endParaRPr lang="en-GB" sz="1400" noProof="0" dirty="0">
              <a:solidFill>
                <a:schemeClr val="bg1">
                  <a:lumMod val="50000"/>
                </a:schemeClr>
              </a:solidFill>
              <a:latin typeface="Times New Roman"/>
              <a:cs typeface="Times New Roman"/>
            </a:endParaRPr>
          </a:p>
          <a:p>
            <a:pPr marL="320040">
              <a:lnSpc>
                <a:spcPct val="100000"/>
              </a:lnSpc>
              <a:spcBef>
                <a:spcPts val="855"/>
              </a:spcBef>
            </a:pPr>
            <a:endParaRPr lang="en-GB" sz="1400" noProof="0" dirty="0">
              <a:solidFill>
                <a:schemeClr val="bg1">
                  <a:lumMod val="50000"/>
                </a:schemeClr>
              </a:solidFill>
              <a:latin typeface="Calibri"/>
              <a:cs typeface="Calibri"/>
            </a:endParaRPr>
          </a:p>
        </p:txBody>
      </p:sp>
      <p:sp>
        <p:nvSpPr>
          <p:cNvPr id="3" name="object 3">
            <a:extLst>
              <a:ext uri="{C183D7F6-B498-43B3-948B-1728B52AA6E4}">
                <adec:decorative xmlns:adec="http://schemas.microsoft.com/office/drawing/2017/decorative" val="1"/>
              </a:ext>
            </a:extLst>
          </p:cNvPr>
          <p:cNvSpPr/>
          <p:nvPr/>
        </p:nvSpPr>
        <p:spPr>
          <a:xfrm>
            <a:off x="0" y="0"/>
            <a:ext cx="9144000" cy="6857999"/>
          </a:xfrm>
          <a:prstGeom prst="rect">
            <a:avLst/>
          </a:prstGeom>
          <a:blipFill>
            <a:blip r:embed="rId2" cstate="print"/>
            <a:stretch>
              <a:fillRect/>
            </a:stretch>
          </a:blipFill>
        </p:spPr>
        <p:txBody>
          <a:bodyPr wrap="square" lIns="0" tIns="0" rIns="0" bIns="0" rtlCol="0"/>
          <a:lstStyle/>
          <a:p>
            <a:endParaRPr lang="en-GB" noProof="0" dirty="0">
              <a:solidFill>
                <a:schemeClr val="bg1">
                  <a:lumMod val="50000"/>
                </a:schemeClr>
              </a:solidFill>
            </a:endParaRPr>
          </a:p>
        </p:txBody>
      </p:sp>
      <p:sp>
        <p:nvSpPr>
          <p:cNvPr id="4" name="object 4">
            <a:extLst>
              <a:ext uri="{C183D7F6-B498-43B3-948B-1728B52AA6E4}">
                <adec:decorative xmlns:adec="http://schemas.microsoft.com/office/drawing/2017/decorative" val="1"/>
              </a:ext>
            </a:extLst>
          </p:cNvPr>
          <p:cNvSpPr/>
          <p:nvPr/>
        </p:nvSpPr>
        <p:spPr>
          <a:xfrm>
            <a:off x="0" y="533400"/>
            <a:ext cx="9144000" cy="1066800"/>
          </a:xfrm>
          <a:custGeom>
            <a:avLst/>
            <a:gdLst/>
            <a:ahLst/>
            <a:cxnLst/>
            <a:rect l="l" t="t" r="r" b="b"/>
            <a:pathLst>
              <a:path w="9144000" h="1066800">
                <a:moveTo>
                  <a:pt x="0" y="0"/>
                </a:moveTo>
                <a:lnTo>
                  <a:pt x="9144000" y="0"/>
                </a:lnTo>
                <a:lnTo>
                  <a:pt x="9144000" y="1066800"/>
                </a:lnTo>
                <a:lnTo>
                  <a:pt x="0" y="1066800"/>
                </a:lnTo>
                <a:lnTo>
                  <a:pt x="0" y="0"/>
                </a:lnTo>
                <a:close/>
              </a:path>
            </a:pathLst>
          </a:custGeom>
          <a:solidFill>
            <a:srgbClr val="000000"/>
          </a:solidFill>
        </p:spPr>
        <p:txBody>
          <a:bodyPr wrap="square" lIns="0" tIns="0" rIns="0" bIns="0" rtlCol="0"/>
          <a:lstStyle/>
          <a:p>
            <a:endParaRPr lang="en-GB" noProof="0" dirty="0">
              <a:solidFill>
                <a:schemeClr val="bg1">
                  <a:lumMod val="50000"/>
                </a:schemeClr>
              </a:solidFill>
            </a:endParaRPr>
          </a:p>
        </p:txBody>
      </p:sp>
      <p:sp>
        <p:nvSpPr>
          <p:cNvPr id="5" name="object 5"/>
          <p:cNvSpPr txBox="1">
            <a:spLocks noGrp="1"/>
          </p:cNvSpPr>
          <p:nvPr>
            <p:ph type="title"/>
          </p:nvPr>
        </p:nvSpPr>
        <p:spPr>
          <a:xfrm>
            <a:off x="457200" y="448946"/>
            <a:ext cx="8229600" cy="794384"/>
          </a:xfrm>
          <a:prstGeom prst="rect">
            <a:avLst/>
          </a:prstGeom>
        </p:spPr>
        <p:txBody>
          <a:bodyPr vert="horz" wrap="square" lIns="0" tIns="116141" rIns="0" bIns="0" rtlCol="0">
            <a:spAutoFit/>
          </a:bodyPr>
          <a:lstStyle/>
          <a:p>
            <a:pPr marL="615315" algn="ctr">
              <a:lnSpc>
                <a:spcPct val="100000"/>
              </a:lnSpc>
            </a:pPr>
            <a:r>
              <a:rPr lang="en-GB" spc="-70" noProof="0" dirty="0">
                <a:solidFill>
                  <a:schemeClr val="bg1">
                    <a:lumMod val="50000"/>
                  </a:schemeClr>
                </a:solidFill>
              </a:rPr>
              <a:t>More </a:t>
            </a:r>
            <a:r>
              <a:rPr lang="en-GB" spc="80" noProof="0" dirty="0">
                <a:solidFill>
                  <a:schemeClr val="bg1">
                    <a:lumMod val="50000"/>
                  </a:schemeClr>
                </a:solidFill>
              </a:rPr>
              <a:t>than </a:t>
            </a:r>
            <a:r>
              <a:rPr lang="en-GB" spc="100" noProof="0" dirty="0">
                <a:solidFill>
                  <a:schemeClr val="bg1">
                    <a:lumMod val="50000"/>
                  </a:schemeClr>
                </a:solidFill>
              </a:rPr>
              <a:t>one </a:t>
            </a:r>
            <a:r>
              <a:rPr lang="en-GB" spc="80" noProof="0" dirty="0">
                <a:solidFill>
                  <a:schemeClr val="bg1">
                    <a:lumMod val="50000"/>
                  </a:schemeClr>
                </a:solidFill>
              </a:rPr>
              <a:t>way</a:t>
            </a:r>
            <a:r>
              <a:rPr lang="en-GB" spc="-515" noProof="0" dirty="0">
                <a:solidFill>
                  <a:schemeClr val="bg1">
                    <a:lumMod val="50000"/>
                  </a:schemeClr>
                </a:solidFill>
              </a:rPr>
              <a:t> </a:t>
            </a:r>
            <a:r>
              <a:rPr lang="en-GB" spc="1760" noProof="0" dirty="0">
                <a:solidFill>
                  <a:schemeClr val="bg1">
                    <a:lumMod val="50000"/>
                  </a:schemeClr>
                </a:solidFill>
              </a:rPr>
              <a:t>…</a:t>
            </a:r>
          </a:p>
        </p:txBody>
      </p:sp>
    </p:spTree>
    <p:extLst>
      <p:ext uri="{BB962C8B-B14F-4D97-AF65-F5344CB8AC3E}">
        <p14:creationId xmlns:p14="http://schemas.microsoft.com/office/powerpoint/2010/main" val="823644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A screen shot of a computer program">
            <a:extLst>
              <a:ext uri="{FF2B5EF4-FFF2-40B4-BE49-F238E27FC236}">
                <a16:creationId xmlns:a16="http://schemas.microsoft.com/office/drawing/2014/main" id="{BA57C1B1-FCEA-C1C7-D986-8C1CFDE63B54}"/>
              </a:ext>
            </a:extLst>
          </p:cNvPr>
          <p:cNvPicPr>
            <a:picLocks noChangeAspect="1"/>
          </p:cNvPicPr>
          <p:nvPr/>
        </p:nvPicPr>
        <p:blipFill>
          <a:blip r:embed="rId2"/>
          <a:stretch>
            <a:fillRect/>
          </a:stretch>
        </p:blipFill>
        <p:spPr>
          <a:xfrm>
            <a:off x="0" y="893622"/>
            <a:ext cx="9117870" cy="5983602"/>
          </a:xfrm>
          <a:prstGeom prst="rect">
            <a:avLst/>
          </a:prstGeom>
        </p:spPr>
      </p:pic>
      <p:sp>
        <p:nvSpPr>
          <p:cNvPr id="6" name="object 6">
            <a:extLst>
              <a:ext uri="{C183D7F6-B498-43B3-948B-1728B52AA6E4}">
                <adec:decorative xmlns:adec="http://schemas.microsoft.com/office/drawing/2017/decorative" val="1"/>
              </a:ext>
            </a:extLst>
          </p:cNvPr>
          <p:cNvSpPr/>
          <p:nvPr/>
        </p:nvSpPr>
        <p:spPr>
          <a:xfrm>
            <a:off x="5282742" y="1034935"/>
            <a:ext cx="3682542" cy="1284312"/>
          </a:xfrm>
          <a:prstGeom prst="rect">
            <a:avLst/>
          </a:prstGeom>
          <a:blipFill>
            <a:blip r:embed="rId3" cstate="print"/>
            <a:stretch>
              <a:fillRect/>
            </a:stretch>
          </a:blipFill>
        </p:spPr>
        <p:txBody>
          <a:bodyPr wrap="square" lIns="0" tIns="0" rIns="0" bIns="0" rtlCol="0"/>
          <a:lstStyle/>
          <a:p>
            <a:endParaRPr lang="en-GB" noProof="0" dirty="0"/>
          </a:p>
        </p:txBody>
      </p:sp>
      <p:sp>
        <p:nvSpPr>
          <p:cNvPr id="7" name="object 7">
            <a:extLst>
              <a:ext uri="{C183D7F6-B498-43B3-948B-1728B52AA6E4}">
                <adec:decorative xmlns:adec="http://schemas.microsoft.com/office/drawing/2017/decorative" val="1"/>
              </a:ext>
            </a:extLst>
          </p:cNvPr>
          <p:cNvSpPr/>
          <p:nvPr/>
        </p:nvSpPr>
        <p:spPr>
          <a:xfrm>
            <a:off x="5482247" y="1055720"/>
            <a:ext cx="3125584" cy="814646"/>
          </a:xfrm>
          <a:prstGeom prst="rect">
            <a:avLst/>
          </a:prstGeom>
          <a:blipFill>
            <a:blip r:embed="rId4" cstate="print"/>
            <a:stretch>
              <a:fillRect/>
            </a:stretch>
          </a:blipFill>
        </p:spPr>
        <p:txBody>
          <a:bodyPr wrap="square" lIns="0" tIns="0" rIns="0" bIns="0" rtlCol="0"/>
          <a:lstStyle/>
          <a:p>
            <a:endParaRPr lang="en-GB" noProof="0" dirty="0"/>
          </a:p>
        </p:txBody>
      </p:sp>
      <p:sp>
        <p:nvSpPr>
          <p:cNvPr id="9" name="object 9">
            <a:extLst>
              <a:ext uri="{C183D7F6-B498-43B3-948B-1728B52AA6E4}">
                <adec:decorative xmlns:adec="http://schemas.microsoft.com/office/drawing/2017/decorative" val="1"/>
              </a:ext>
            </a:extLst>
          </p:cNvPr>
          <p:cNvSpPr/>
          <p:nvPr/>
        </p:nvSpPr>
        <p:spPr>
          <a:xfrm>
            <a:off x="5334000" y="1066799"/>
            <a:ext cx="3581400" cy="1183640"/>
          </a:xfrm>
          <a:custGeom>
            <a:avLst/>
            <a:gdLst/>
            <a:ahLst/>
            <a:cxnLst/>
            <a:rect l="l" t="t" r="r" b="b"/>
            <a:pathLst>
              <a:path w="3581400" h="1183639">
                <a:moveTo>
                  <a:pt x="0" y="0"/>
                </a:moveTo>
                <a:lnTo>
                  <a:pt x="596899" y="0"/>
                </a:lnTo>
                <a:lnTo>
                  <a:pt x="1492248" y="0"/>
                </a:lnTo>
                <a:lnTo>
                  <a:pt x="3581397" y="0"/>
                </a:lnTo>
                <a:lnTo>
                  <a:pt x="3581397" y="400048"/>
                </a:lnTo>
                <a:lnTo>
                  <a:pt x="3581397" y="571498"/>
                </a:lnTo>
                <a:lnTo>
                  <a:pt x="3581397" y="685798"/>
                </a:lnTo>
                <a:lnTo>
                  <a:pt x="1492248" y="685798"/>
                </a:lnTo>
                <a:lnTo>
                  <a:pt x="730067" y="1183589"/>
                </a:lnTo>
                <a:lnTo>
                  <a:pt x="596899" y="685798"/>
                </a:lnTo>
                <a:lnTo>
                  <a:pt x="0" y="685798"/>
                </a:lnTo>
                <a:lnTo>
                  <a:pt x="0" y="571498"/>
                </a:lnTo>
                <a:lnTo>
                  <a:pt x="0" y="400048"/>
                </a:lnTo>
                <a:lnTo>
                  <a:pt x="0" y="0"/>
                </a:lnTo>
                <a:close/>
              </a:path>
            </a:pathLst>
          </a:custGeom>
          <a:ln w="9524">
            <a:solidFill>
              <a:srgbClr val="0045AA"/>
            </a:solidFill>
          </a:ln>
        </p:spPr>
        <p:txBody>
          <a:bodyPr wrap="square" lIns="0" tIns="0" rIns="0" bIns="0" rtlCol="0"/>
          <a:lstStyle/>
          <a:p>
            <a:endParaRPr lang="en-GB" noProof="0" dirty="0"/>
          </a:p>
        </p:txBody>
      </p:sp>
      <p:sp>
        <p:nvSpPr>
          <p:cNvPr id="15" name="object 15"/>
          <p:cNvSpPr txBox="1"/>
          <p:nvPr/>
        </p:nvSpPr>
        <p:spPr>
          <a:xfrm>
            <a:off x="2842158" y="731520"/>
            <a:ext cx="879475" cy="269875"/>
          </a:xfrm>
          <a:prstGeom prst="rect">
            <a:avLst/>
          </a:prstGeom>
        </p:spPr>
        <p:txBody>
          <a:bodyPr vert="horz" wrap="square" lIns="0" tIns="0" rIns="0" bIns="0" rtlCol="0">
            <a:spAutoFit/>
          </a:bodyPr>
          <a:lstStyle/>
          <a:p>
            <a:pPr marL="12700">
              <a:lnSpc>
                <a:spcPct val="100000"/>
              </a:lnSpc>
            </a:pPr>
            <a:r>
              <a:rPr lang="en-GB" sz="1600" noProof="0" dirty="0" err="1">
                <a:solidFill>
                  <a:srgbClr val="FFFFFF"/>
                </a:solidFill>
                <a:latin typeface="Courier New"/>
                <a:cs typeface="Courier New"/>
              </a:rPr>
              <a:t>aHeight</a:t>
            </a:r>
            <a:endParaRPr lang="en-GB" sz="1600" noProof="0" dirty="0">
              <a:latin typeface="Courier New"/>
              <a:cs typeface="Courier New"/>
            </a:endParaRPr>
          </a:p>
        </p:txBody>
      </p:sp>
      <p:sp>
        <p:nvSpPr>
          <p:cNvPr id="20" name="Rounded Rectangular Callout 19">
            <a:extLst>
              <a:ext uri="{FF2B5EF4-FFF2-40B4-BE49-F238E27FC236}">
                <a16:creationId xmlns:a16="http://schemas.microsoft.com/office/drawing/2014/main" id="{3936C05C-885E-B825-FEFA-7A6DD8255B9D}"/>
              </a:ext>
            </a:extLst>
          </p:cNvPr>
          <p:cNvSpPr/>
          <p:nvPr/>
        </p:nvSpPr>
        <p:spPr>
          <a:xfrm>
            <a:off x="2842158" y="147907"/>
            <a:ext cx="5939443" cy="608902"/>
          </a:xfrm>
          <a:prstGeom prst="wedgeRoundRectCallout">
            <a:avLst>
              <a:gd name="adj1" fmla="val 22813"/>
              <a:gd name="adj2" fmla="val 223780"/>
              <a:gd name="adj3" fmla="val 16667"/>
            </a:avLst>
          </a:prstGeom>
          <a:gradFill flip="none" rotWithShape="1">
            <a:gsLst>
              <a:gs pos="0">
                <a:schemeClr val="dk1">
                  <a:tint val="50000"/>
                  <a:satMod val="300000"/>
                  <a:alpha val="31000"/>
                </a:schemeClr>
              </a:gs>
              <a:gs pos="35000">
                <a:schemeClr val="dk1">
                  <a:tint val="37000"/>
                  <a:satMod val="300000"/>
                  <a:alpha val="31000"/>
                </a:schemeClr>
              </a:gs>
              <a:gs pos="100000">
                <a:schemeClr val="dk1">
                  <a:tint val="15000"/>
                  <a:satMod val="350000"/>
                  <a:alpha val="31000"/>
                </a:schemeClr>
              </a:gs>
            </a:gsLst>
            <a:lin ang="16200000" scaled="1"/>
            <a:tileRect/>
          </a:gradFill>
        </p:spPr>
        <p:style>
          <a:lnRef idx="1">
            <a:schemeClr val="dk1"/>
          </a:lnRef>
          <a:fillRef idx="2">
            <a:schemeClr val="dk1"/>
          </a:fillRef>
          <a:effectRef idx="1">
            <a:schemeClr val="dk1"/>
          </a:effectRef>
          <a:fontRef idx="minor">
            <a:schemeClr val="dk1"/>
          </a:fontRef>
        </p:style>
        <p:txBody>
          <a:bodyPr rtlCol="0" anchor="ctr"/>
          <a:lstStyle/>
          <a:p>
            <a:pPr>
              <a:lnSpc>
                <a:spcPct val="130000"/>
              </a:lnSpc>
            </a:pPr>
            <a:r>
              <a:rPr lang="en-GB" sz="2200" noProof="0" dirty="0">
                <a:solidFill>
                  <a:schemeClr val="tx1"/>
                </a:solidFill>
                <a:latin typeface="Helvetica Neue Light"/>
                <a:cs typeface="Helvetica Neue Light"/>
              </a:rPr>
              <a:t>Note the 2  parameters comma separated.</a:t>
            </a:r>
          </a:p>
        </p:txBody>
      </p:sp>
      <p:pic>
        <p:nvPicPr>
          <p:cNvPr id="21" name="Picture 20">
            <a:extLst>
              <a:ext uri="{FF2B5EF4-FFF2-40B4-BE49-F238E27FC236}">
                <a16:creationId xmlns:a16="http://schemas.microsoft.com/office/drawing/2014/main" id="{8BD0605D-74B0-04FF-976C-8B3DE336A5EF}"/>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892530" y="6230549"/>
            <a:ext cx="1115616" cy="557808"/>
          </a:xfrm>
          <a:prstGeom prst="rect">
            <a:avLst/>
          </a:prstGeom>
        </p:spPr>
      </p:pic>
      <p:sp>
        <p:nvSpPr>
          <p:cNvPr id="22" name="TextBox 21">
            <a:extLst>
              <a:ext uri="{FF2B5EF4-FFF2-40B4-BE49-F238E27FC236}">
                <a16:creationId xmlns:a16="http://schemas.microsoft.com/office/drawing/2014/main" id="{8F7C3F6A-8886-7B07-076A-CC21FF7F220B}"/>
              </a:ext>
            </a:extLst>
          </p:cNvPr>
          <p:cNvSpPr txBox="1"/>
          <p:nvPr/>
        </p:nvSpPr>
        <p:spPr>
          <a:xfrm>
            <a:off x="3365054" y="6324787"/>
            <a:ext cx="4234385" cy="369332"/>
          </a:xfrm>
          <a:prstGeom prst="rect">
            <a:avLst/>
          </a:prstGeom>
          <a:noFill/>
        </p:spPr>
        <p:txBody>
          <a:bodyPr wrap="square" rtlCol="0">
            <a:spAutoFit/>
          </a:bodyPr>
          <a:lstStyle/>
          <a:p>
            <a:r>
              <a:rPr lang="en-GB" noProof="0" dirty="0">
                <a:solidFill>
                  <a:schemeClr val="bg1"/>
                </a:solidFill>
                <a:latin typeface="Helvetica Neue Light"/>
                <a:cs typeface="Helvetica Neue Light"/>
              </a:rPr>
              <a:t>Examples/areacalculator-basic.html</a:t>
            </a:r>
          </a:p>
        </p:txBody>
      </p:sp>
    </p:spTree>
    <p:extLst>
      <p:ext uri="{BB962C8B-B14F-4D97-AF65-F5344CB8AC3E}">
        <p14:creationId xmlns:p14="http://schemas.microsoft.com/office/powerpoint/2010/main" val="516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Interactive area calc</a:t>
            </a:r>
          </a:p>
        </p:txBody>
      </p:sp>
      <p:sp>
        <p:nvSpPr>
          <p:cNvPr id="3" name="Content Placeholder 2"/>
          <p:cNvSpPr>
            <a:spLocks noGrp="1"/>
          </p:cNvSpPr>
          <p:nvPr>
            <p:ph idx="1"/>
          </p:nvPr>
        </p:nvSpPr>
        <p:spPr/>
        <p:txBody>
          <a:bodyPr/>
          <a:lstStyle/>
          <a:p>
            <a:r>
              <a:rPr lang="en-GB" noProof="0" dirty="0"/>
              <a:t>The code is on Moodle.</a:t>
            </a:r>
          </a:p>
          <a:p>
            <a:r>
              <a:rPr lang="en-GB" noProof="0" dirty="0"/>
              <a:t>Use it in the labs for reference</a:t>
            </a:r>
          </a:p>
          <a:p>
            <a:endParaRPr lang="en-GB" noProof="0" dirty="0"/>
          </a:p>
          <a:p>
            <a:r>
              <a:rPr lang="en-GB" noProof="0" dirty="0"/>
              <a:t>Go through lab task</a:t>
            </a:r>
          </a:p>
        </p:txBody>
      </p:sp>
      <p:pic>
        <p:nvPicPr>
          <p:cNvPr id="4" name="Picture 3" descr="A red square stamp with white text"/>
          <p:cNvPicPr>
            <a:picLocks noChangeAspect="1"/>
          </p:cNvPicPr>
          <p:nvPr/>
        </p:nvPicPr>
        <p:blipFill>
          <a:blip r:embed="rId2"/>
          <a:stretch>
            <a:fillRect/>
          </a:stretch>
        </p:blipFill>
        <p:spPr>
          <a:xfrm>
            <a:off x="7082562" y="6025554"/>
            <a:ext cx="1115616" cy="557808"/>
          </a:xfrm>
          <a:prstGeom prst="rect">
            <a:avLst/>
          </a:prstGeom>
        </p:spPr>
      </p:pic>
      <p:sp>
        <p:nvSpPr>
          <p:cNvPr id="5" name="TextBox 4"/>
          <p:cNvSpPr txBox="1"/>
          <p:nvPr/>
        </p:nvSpPr>
        <p:spPr>
          <a:xfrm>
            <a:off x="457200" y="6180274"/>
            <a:ext cx="5407572" cy="369332"/>
          </a:xfrm>
          <a:prstGeom prst="rect">
            <a:avLst/>
          </a:prstGeom>
          <a:noFill/>
        </p:spPr>
        <p:txBody>
          <a:bodyPr wrap="square" rtlCol="0">
            <a:spAutoFit/>
          </a:bodyPr>
          <a:lstStyle/>
          <a:p>
            <a:r>
              <a:rPr lang="en-GB" noProof="0" dirty="0">
                <a:latin typeface="Helvetica Neue Light"/>
                <a:cs typeface="Helvetica Neue Light"/>
              </a:rPr>
              <a:t>Examples/areacalculatorCommented.html</a:t>
            </a:r>
          </a:p>
        </p:txBody>
      </p:sp>
    </p:spTree>
    <p:extLst>
      <p:ext uri="{BB962C8B-B14F-4D97-AF65-F5344CB8AC3E}">
        <p14:creationId xmlns:p14="http://schemas.microsoft.com/office/powerpoint/2010/main" val="268473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noProof="0" dirty="0"/>
              <a:t>Questions</a:t>
            </a:r>
          </a:p>
        </p:txBody>
      </p:sp>
      <p:sp>
        <p:nvSpPr>
          <p:cNvPr id="3" name="Content Placeholder 2"/>
          <p:cNvSpPr>
            <a:spLocks noGrp="1"/>
          </p:cNvSpPr>
          <p:nvPr>
            <p:ph idx="1"/>
          </p:nvPr>
        </p:nvSpPr>
        <p:spPr>
          <a:xfrm>
            <a:off x="457200" y="606191"/>
            <a:ext cx="8229600" cy="4525963"/>
          </a:xfrm>
        </p:spPr>
        <p:txBody>
          <a:bodyPr>
            <a:noAutofit/>
          </a:bodyPr>
          <a:lstStyle/>
          <a:p>
            <a:pPr marL="0" indent="0" algn="ctr">
              <a:buNone/>
            </a:pPr>
            <a:r>
              <a:rPr lang="en-GB" sz="40000" noProof="0" dirty="0"/>
              <a:t>?</a:t>
            </a:r>
          </a:p>
        </p:txBody>
      </p:sp>
    </p:spTree>
    <p:extLst>
      <p:ext uri="{BB962C8B-B14F-4D97-AF65-F5344CB8AC3E}">
        <p14:creationId xmlns:p14="http://schemas.microsoft.com/office/powerpoint/2010/main" val="775180000"/>
      </p:ext>
    </p:extLst>
  </p:cSld>
  <p:clrMapOvr>
    <a:masterClrMapping/>
  </p:clrMapOvr>
</p:sld>
</file>

<file path=ppt/theme/theme1.xml><?xml version="1.0" encoding="utf-8"?>
<a:theme xmlns:a="http://schemas.openxmlformats.org/drawingml/2006/main" name="3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3499</TotalTime>
  <Words>2090</Words>
  <Application>Microsoft Office PowerPoint</Application>
  <PresentationFormat>On-screen Show (4:3)</PresentationFormat>
  <Paragraphs>739</Paragraphs>
  <Slides>57</Slides>
  <Notes>0</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57</vt:i4>
      </vt:variant>
    </vt:vector>
  </HeadingPairs>
  <TitlesOfParts>
    <vt:vector size="69" baseType="lpstr">
      <vt:lpstr>MS UI Gothic</vt:lpstr>
      <vt:lpstr>American Typewriter</vt:lpstr>
      <vt:lpstr>Arial</vt:lpstr>
      <vt:lpstr>Calibri</vt:lpstr>
      <vt:lpstr>Courier New</vt:lpstr>
      <vt:lpstr>Helvetica</vt:lpstr>
      <vt:lpstr>Helvetica Neue Light</vt:lpstr>
      <vt:lpstr>Times New Roman</vt:lpstr>
      <vt:lpstr>3_Custom Design</vt:lpstr>
      <vt:lpstr>Custom Design</vt:lpstr>
      <vt:lpstr>1_Custom Design</vt:lpstr>
      <vt:lpstr>2_Custom Design</vt:lpstr>
      <vt:lpstr>Variables, Functions and Methods</vt:lpstr>
      <vt:lpstr>I am assuming you understand the very basics of programming from term 1 Python. We will be re-covering some of the same concepts but in a different language, JavaScript. I will be making some assumptions about your knowledge but stop me if something is unclear.  The main difference between the languages at entry level are to do with syntax, the broad concepts are very similar though. </vt:lpstr>
      <vt:lpstr>PowerPoint Presentation</vt:lpstr>
      <vt:lpstr>Variables</vt:lpstr>
      <vt:lpstr>var message = “Hello”;  console.log(message);</vt:lpstr>
      <vt:lpstr>Puts the number 29 into  the variable age</vt:lpstr>
      <vt:lpstr>let vs const vs var</vt:lpstr>
      <vt:lpstr>const</vt:lpstr>
      <vt:lpstr>let</vt:lpstr>
      <vt:lpstr>var</vt:lpstr>
      <vt:lpstr>String</vt:lpstr>
      <vt:lpstr>PowerPoint Presentation</vt:lpstr>
      <vt:lpstr>var message = “Hello”;  var tag = '&lt;br /&gt;';</vt:lpstr>
      <vt:lpstr>var message = ‘Mary’s house’;</vt:lpstr>
      <vt:lpstr>PowerPoint Presentation</vt:lpstr>
      <vt:lpstr>Numbers</vt:lpstr>
      <vt:lpstr>JavaScript has one number type</vt:lpstr>
      <vt:lpstr>“different types are used to describe different data, and different types have different operations.”</vt:lpstr>
      <vt:lpstr>var numberOne = 1; var numberTwo = 2.00; var numberThree = “3”;  var numberFour = “4”;  console.log(numberOne +  console.log(numberThree</vt:lpstr>
      <vt:lpstr>“JavaScript has dynamic data types, This means the same variable can be used as different types.”</vt:lpstr>
      <vt:lpstr>Boolean</vt:lpstr>
      <vt:lpstr>The Boolean data type can only represent two values: true or false.</vt:lpstr>
      <vt:lpstr>Naming Variables</vt:lpstr>
      <vt:lpstr>“a variable’s name is called its identifier.”</vt:lpstr>
      <vt:lpstr>letters and numbers only  but cannot start with a number</vt:lpstr>
      <vt:lpstr>Also allowed $ (dollar)</vt:lpstr>
      <vt:lpstr>var employee  var employee001  var _employee  var $employee</vt:lpstr>
      <vt:lpstr>Pick variable names that mean something in the context of your program !</vt:lpstr>
      <vt:lpstr>var employeeID   var employeeName   var employee_id   var employee_name</vt:lpstr>
      <vt:lpstr>Variable names - summary</vt:lpstr>
      <vt:lpstr>Concatenation</vt:lpstr>
      <vt:lpstr>Methods /  Functions</vt:lpstr>
      <vt:lpstr>Functions consist of a series of statements that have been grouped together because they perform a specific task.  A method is a set of instructions that are associated with an object</vt:lpstr>
      <vt:lpstr>Make a cup of tea</vt:lpstr>
      <vt:lpstr>Possible list of steps</vt:lpstr>
      <vt:lpstr>Create a function</vt:lpstr>
      <vt:lpstr>PowerPoint Presentation</vt:lpstr>
      <vt:lpstr>Simple Function Types</vt:lpstr>
      <vt:lpstr>Declaring a simple function</vt:lpstr>
      <vt:lpstr>Calling a simple function</vt:lpstr>
      <vt:lpstr>Same function into a &lt;p&gt;</vt:lpstr>
      <vt:lpstr>Simple Function Types</vt:lpstr>
      <vt:lpstr>PowerPoint Presentation</vt:lpstr>
      <vt:lpstr>PowerPoint Presentation</vt:lpstr>
      <vt:lpstr>Simple Function Types</vt:lpstr>
      <vt:lpstr>Make a cup of tea, parameters</vt:lpstr>
      <vt:lpstr>Functions can have parameters</vt:lpstr>
      <vt:lpstr>Calling functions that have parameters</vt:lpstr>
      <vt:lpstr>PowerPoint Presentation</vt:lpstr>
      <vt:lpstr>Simple Function Types</vt:lpstr>
      <vt:lpstr>Make a cup of tea  - return</vt:lpstr>
      <vt:lpstr>PowerPoint Presentation</vt:lpstr>
      <vt:lpstr>PowerPoint Presentation</vt:lpstr>
      <vt:lpstr>More than one way …</vt:lpstr>
      <vt:lpstr>PowerPoint Presentation</vt:lpstr>
      <vt:lpstr>Interactive area calc</vt:lpstr>
      <vt:lpstr>Questions</vt:lpstr>
    </vt:vector>
  </TitlesOfParts>
  <Company>UoG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PHP</dc:title>
  <dc:creator>CMS Dept</dc:creator>
  <cp:lastModifiedBy>Louis Kashari</cp:lastModifiedBy>
  <cp:revision>195</cp:revision>
  <cp:lastPrinted>2019-10-14T10:19:16Z</cp:lastPrinted>
  <dcterms:created xsi:type="dcterms:W3CDTF">2015-10-08T10:17:10Z</dcterms:created>
  <dcterms:modified xsi:type="dcterms:W3CDTF">2025-05-09T14:56:57Z</dcterms:modified>
</cp:coreProperties>
</file>