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media/image40.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7" r:id="rId1"/>
    <p:sldMasterId id="2147483660" r:id="rId2"/>
    <p:sldMasterId id="2147483672" r:id="rId3"/>
    <p:sldMasterId id="2147483684" r:id="rId4"/>
  </p:sldMasterIdLst>
  <p:notesMasterIdLst>
    <p:notesMasterId r:id="rId52"/>
  </p:notesMasterIdLst>
  <p:sldIdLst>
    <p:sldId id="258" r:id="rId5"/>
    <p:sldId id="260" r:id="rId6"/>
    <p:sldId id="386" r:id="rId7"/>
    <p:sldId id="387" r:id="rId8"/>
    <p:sldId id="261" r:id="rId9"/>
    <p:sldId id="262" r:id="rId10"/>
    <p:sldId id="267" r:id="rId11"/>
    <p:sldId id="388" r:id="rId12"/>
    <p:sldId id="271" r:id="rId13"/>
    <p:sldId id="299" r:id="rId14"/>
    <p:sldId id="390" r:id="rId15"/>
    <p:sldId id="391" r:id="rId16"/>
    <p:sldId id="389" r:id="rId17"/>
    <p:sldId id="333" r:id="rId18"/>
    <p:sldId id="274" r:id="rId19"/>
    <p:sldId id="275" r:id="rId20"/>
    <p:sldId id="276" r:id="rId21"/>
    <p:sldId id="277" r:id="rId22"/>
    <p:sldId id="279" r:id="rId23"/>
    <p:sldId id="280" r:id="rId24"/>
    <p:sldId id="281" r:id="rId25"/>
    <p:sldId id="282" r:id="rId26"/>
    <p:sldId id="285" r:id="rId27"/>
    <p:sldId id="334" r:id="rId28"/>
    <p:sldId id="336" r:id="rId29"/>
    <p:sldId id="289" r:id="rId30"/>
    <p:sldId id="335" r:id="rId31"/>
    <p:sldId id="359" r:id="rId32"/>
    <p:sldId id="286" r:id="rId33"/>
    <p:sldId id="294" r:id="rId34"/>
    <p:sldId id="295" r:id="rId35"/>
    <p:sldId id="296" r:id="rId36"/>
    <p:sldId id="298" r:id="rId37"/>
    <p:sldId id="287" r:id="rId38"/>
    <p:sldId id="363" r:id="rId39"/>
    <p:sldId id="354" r:id="rId40"/>
    <p:sldId id="305" r:id="rId41"/>
    <p:sldId id="301" r:id="rId42"/>
    <p:sldId id="310" r:id="rId43"/>
    <p:sldId id="312" r:id="rId44"/>
    <p:sldId id="315" r:id="rId45"/>
    <p:sldId id="316" r:id="rId46"/>
    <p:sldId id="317" r:id="rId47"/>
    <p:sldId id="352" r:id="rId48"/>
    <p:sldId id="385" r:id="rId49"/>
    <p:sldId id="392" r:id="rId50"/>
    <p:sldId id="307"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20"/>
    <p:restoredTop sz="94795"/>
  </p:normalViewPr>
  <p:slideViewPr>
    <p:cSldViewPr snapToGrid="0" snapToObjects="1">
      <p:cViewPr>
        <p:scale>
          <a:sx n="100" d="100"/>
          <a:sy n="100" d="100"/>
        </p:scale>
        <p:origin x="688" y="6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B24AEF-7E28-AE4E-A6D5-A46719BD2B5F}" type="datetimeFigureOut">
              <a:rPr lang="en-US" smtClean="0"/>
              <a:t>2/9/25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BDF0F-0913-154D-913D-55DF0EDBA136}" type="slidenum">
              <a:rPr lang="en-US" smtClean="0"/>
              <a:t>‹#›</a:t>
            </a:fld>
            <a:endParaRPr lang="en-US"/>
          </a:p>
        </p:txBody>
      </p:sp>
    </p:spTree>
    <p:extLst>
      <p:ext uri="{BB962C8B-B14F-4D97-AF65-F5344CB8AC3E}">
        <p14:creationId xmlns:p14="http://schemas.microsoft.com/office/powerpoint/2010/main" val="1454071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2/9/25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1221951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GB"/>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2/9/25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1842822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2/9/25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1528865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2/9/25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413221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2/9/25</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1246940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GB"/>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2/9/25</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3031352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2/9/25</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645125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2/9/25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3050701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2/9/25</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2648448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2/9/25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859463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ACB6DB8A-3E93-FA41-BE9D-9CB5A69520F7}" type="datetimeFigureOut">
              <a:rPr lang="en-US" smtClean="0"/>
              <a:t>2/9/25</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3B336049-9BC2-B047-ADF6-A984FEB2FCAB}" type="slidenum">
              <a:rPr lang="en-US" smtClean="0"/>
              <a:t>‹#›</a:t>
            </a:fld>
            <a:endParaRPr lang="en-US"/>
          </a:p>
        </p:txBody>
      </p:sp>
    </p:spTree>
    <p:extLst>
      <p:ext uri="{BB962C8B-B14F-4D97-AF65-F5344CB8AC3E}">
        <p14:creationId xmlns:p14="http://schemas.microsoft.com/office/powerpoint/2010/main" val="41881688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7734" y="179916"/>
            <a:ext cx="8828531" cy="140970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8298845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505246A-8616-4640-8C9D-DBD24739C6AD}"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5257728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505246A-8616-4640-8C9D-DBD24739C6AD}"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12381835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505246A-8616-4640-8C9D-DBD24739C6AD}"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19819904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505246A-8616-4640-8C9D-DBD24739C6AD}"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35445883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505246A-8616-4640-8C9D-DBD24739C6AD}" type="datetimeFigureOut">
              <a:rPr lang="en-US" smtClean="0"/>
              <a:t>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5993323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505246A-8616-4640-8C9D-DBD24739C6AD}" type="datetimeFigureOut">
              <a:rPr lang="en-US" smtClean="0"/>
              <a:t>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9756897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05246A-8616-4640-8C9D-DBD24739C6AD}" type="datetimeFigureOut">
              <a:rPr lang="en-US" smtClean="0"/>
              <a:t>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20542166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505246A-8616-4640-8C9D-DBD24739C6AD}"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17966446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505246A-8616-4640-8C9D-DBD24739C6AD}"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17886761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505246A-8616-4640-8C9D-DBD24739C6AD}"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2243888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505246A-8616-4640-8C9D-DBD24739C6AD}"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E81607-2480-C64A-AE0D-BFA7CF573C66}" type="slidenum">
              <a:rPr lang="en-US" smtClean="0"/>
              <a:t>‹#›</a:t>
            </a:fld>
            <a:endParaRPr lang="en-US"/>
          </a:p>
        </p:txBody>
      </p:sp>
    </p:spTree>
    <p:extLst>
      <p:ext uri="{BB962C8B-B14F-4D97-AF65-F5344CB8AC3E}">
        <p14:creationId xmlns:p14="http://schemas.microsoft.com/office/powerpoint/2010/main" val="13085696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99639DA-20EF-994D-ACA9-701455A1E308}"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3123948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99639DA-20EF-994D-ACA9-701455A1E308}"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16764398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99639DA-20EF-994D-ACA9-701455A1E308}"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16227829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99639DA-20EF-994D-ACA9-701455A1E308}"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26034081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99639DA-20EF-994D-ACA9-701455A1E308}" type="datetimeFigureOut">
              <a:rPr lang="en-US" smtClean="0"/>
              <a:t>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19737605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99639DA-20EF-994D-ACA9-701455A1E308}" type="datetimeFigureOut">
              <a:rPr lang="en-US" smtClean="0"/>
              <a:t>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35030296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9639DA-20EF-994D-ACA9-701455A1E308}" type="datetimeFigureOut">
              <a:rPr lang="en-US" smtClean="0"/>
              <a:t>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36388892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99639DA-20EF-994D-ACA9-701455A1E308}"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24900895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99639DA-20EF-994D-ACA9-701455A1E308}"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40881281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99639DA-20EF-994D-ACA9-701455A1E308}"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14558149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99639DA-20EF-994D-ACA9-701455A1E308}"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5470CE-864D-3C44-B4A8-F0B6E7A31342}" type="slidenum">
              <a:rPr lang="en-US" smtClean="0"/>
              <a:t>‹#›</a:t>
            </a:fld>
            <a:endParaRPr lang="en-US"/>
          </a:p>
        </p:txBody>
      </p:sp>
    </p:spTree>
    <p:extLst>
      <p:ext uri="{BB962C8B-B14F-4D97-AF65-F5344CB8AC3E}">
        <p14:creationId xmlns:p14="http://schemas.microsoft.com/office/powerpoint/2010/main" val="38806709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068C928-7777-B146-8309-AFD9ABC8A05E}"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9211102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068C928-7777-B146-8309-AFD9ABC8A05E}"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18318710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068C928-7777-B146-8309-AFD9ABC8A05E}"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18418910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1068C928-7777-B146-8309-AFD9ABC8A05E}"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803555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1068C928-7777-B146-8309-AFD9ABC8A05E}" type="datetimeFigureOut">
              <a:rPr lang="en-US" smtClean="0"/>
              <a:t>2/9/25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42143230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1068C928-7777-B146-8309-AFD9ABC8A05E}" type="datetimeFigureOut">
              <a:rPr lang="en-US" smtClean="0"/>
              <a:t>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392114623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68C928-7777-B146-8309-AFD9ABC8A05E}" type="datetimeFigureOut">
              <a:rPr lang="en-US" smtClean="0"/>
              <a:t>2/9/25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15596106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068C928-7777-B146-8309-AFD9ABC8A05E}"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148329130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1068C928-7777-B146-8309-AFD9ABC8A05E}" type="datetimeFigureOut">
              <a:rPr lang="en-US" smtClean="0"/>
              <a:t>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20730717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068C928-7777-B146-8309-AFD9ABC8A05E}"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32130136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068C928-7777-B146-8309-AFD9ABC8A05E}" type="datetimeFigureOut">
              <a:rPr lang="en-US" smtClean="0"/>
              <a:t>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1318113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1068C928-7777-B146-8309-AFD9ABC8A05E}" type="datetimeFigureOut">
              <a:rPr lang="en-US" smtClean="0"/>
              <a:t>2/9/25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13E871-1AD0-CE4B-A62B-C63BC4A0D340}" type="slidenum">
              <a:rPr lang="en-US" smtClean="0"/>
              <a:t>‹#›</a:t>
            </a:fld>
            <a:endParaRPr lang="en-US"/>
          </a:p>
        </p:txBody>
      </p:sp>
    </p:spTree>
    <p:extLst>
      <p:ext uri="{BB962C8B-B14F-4D97-AF65-F5344CB8AC3E}">
        <p14:creationId xmlns:p14="http://schemas.microsoft.com/office/powerpoint/2010/main" val="3781633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8" name="Text Placeholder 7"/>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13805247"/>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Lst>
  <p:txStyles>
    <p:titleStyle>
      <a:lvl1pPr algn="l" defTabSz="457200" rtl="0" eaLnBrk="1" latinLnBrk="0" hangingPunct="1">
        <a:spcBef>
          <a:spcPct val="0"/>
        </a:spcBef>
        <a:buNone/>
        <a:defRPr sz="4400" b="0" i="0" kern="1200">
          <a:solidFill>
            <a:schemeClr val="tx1"/>
          </a:solidFill>
          <a:latin typeface="Helvetica Neue Light"/>
          <a:ea typeface="+mj-ea"/>
          <a:cs typeface="Helvetica Neue Light"/>
        </a:defRPr>
      </a:lvl1pPr>
    </p:titleStyle>
    <p:bodyStyle>
      <a:lvl1pPr marL="342900" indent="-342900" algn="l" defTabSz="457200" rtl="0" eaLnBrk="1" latinLnBrk="0" hangingPunct="1">
        <a:spcBef>
          <a:spcPct val="20000"/>
        </a:spcBef>
        <a:buFont typeface="Arial"/>
        <a:buChar char="•"/>
        <a:defRPr sz="3200" b="0" i="0" kern="1200">
          <a:solidFill>
            <a:schemeClr val="bg1">
              <a:lumMod val="50000"/>
            </a:schemeClr>
          </a:solidFill>
          <a:latin typeface="Helvetica Neue Light"/>
          <a:ea typeface="+mn-ea"/>
          <a:cs typeface="Helvetica Neue Light"/>
        </a:defRPr>
      </a:lvl1pPr>
      <a:lvl2pPr marL="742950" indent="-285750" algn="l" defTabSz="457200" rtl="0" eaLnBrk="1" latinLnBrk="0" hangingPunct="1">
        <a:spcBef>
          <a:spcPct val="20000"/>
        </a:spcBef>
        <a:buFont typeface="Arial"/>
        <a:buChar char="•"/>
        <a:defRPr sz="2800" b="0" i="0" kern="1200">
          <a:solidFill>
            <a:schemeClr val="bg1">
              <a:lumMod val="50000"/>
            </a:schemeClr>
          </a:solidFill>
          <a:latin typeface="Helvetica Neue Light"/>
          <a:ea typeface="+mn-ea"/>
          <a:cs typeface="Helvetica Neue Light"/>
        </a:defRPr>
      </a:lvl2pPr>
      <a:lvl3pPr marL="1143000" indent="-228600" algn="l" defTabSz="457200" rtl="0" eaLnBrk="1" latinLnBrk="0" hangingPunct="1">
        <a:spcBef>
          <a:spcPct val="20000"/>
        </a:spcBef>
        <a:buFont typeface="Arial"/>
        <a:buChar char="•"/>
        <a:defRPr sz="2400" b="0" i="0" kern="1200">
          <a:solidFill>
            <a:schemeClr val="bg1">
              <a:lumMod val="50000"/>
            </a:schemeClr>
          </a:solidFill>
          <a:latin typeface="Helvetica Neue Light"/>
          <a:ea typeface="+mn-ea"/>
          <a:cs typeface="Helvetica Neue Light"/>
        </a:defRPr>
      </a:lvl3pPr>
      <a:lvl4pPr marL="1600200" indent="-228600" algn="l" defTabSz="457200" rtl="0" eaLnBrk="1" latinLnBrk="0" hangingPunct="1">
        <a:spcBef>
          <a:spcPct val="20000"/>
        </a:spcBef>
        <a:buFont typeface="Arial"/>
        <a:buChar char="•"/>
        <a:defRPr sz="2000" b="0" i="0" kern="1200">
          <a:solidFill>
            <a:schemeClr val="bg1">
              <a:lumMod val="50000"/>
            </a:schemeClr>
          </a:solidFill>
          <a:latin typeface="Helvetica Neue Light"/>
          <a:ea typeface="+mn-ea"/>
          <a:cs typeface="Helvetica Neue Light"/>
        </a:defRPr>
      </a:lvl4pPr>
      <a:lvl5pPr marL="2057400" indent="-228600" algn="l" defTabSz="457200" rtl="0" eaLnBrk="1" latinLnBrk="0" hangingPunct="1">
        <a:spcBef>
          <a:spcPct val="20000"/>
        </a:spcBef>
        <a:buFont typeface="Arial"/>
        <a:buChar char="•"/>
        <a:defRPr sz="2000" b="0" i="0" kern="1200">
          <a:solidFill>
            <a:schemeClr val="bg1">
              <a:lumMod val="50000"/>
            </a:schemeClr>
          </a:solidFill>
          <a:latin typeface="Helvetica Neue Light"/>
          <a:ea typeface="+mn-ea"/>
          <a:cs typeface="Helvetica Neue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05246A-8616-4640-8C9D-DBD24739C6AD}" type="datetimeFigureOut">
              <a:rPr lang="en-US" smtClean="0"/>
              <a:t>2/9/25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E81607-2480-C64A-AE0D-BFA7CF573C66}" type="slidenum">
              <a:rPr lang="en-US" smtClean="0"/>
              <a:t>‹#›</a:t>
            </a:fld>
            <a:endParaRPr lang="en-US"/>
          </a:p>
        </p:txBody>
      </p:sp>
    </p:spTree>
    <p:extLst>
      <p:ext uri="{BB962C8B-B14F-4D97-AF65-F5344CB8AC3E}">
        <p14:creationId xmlns:p14="http://schemas.microsoft.com/office/powerpoint/2010/main" val="32105280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9639DA-20EF-994D-ACA9-701455A1E308}" type="datetimeFigureOut">
              <a:rPr lang="en-US" smtClean="0"/>
              <a:t>2/9/25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5470CE-864D-3C44-B4A8-F0B6E7A31342}" type="slidenum">
              <a:rPr lang="en-US" smtClean="0"/>
              <a:t>‹#›</a:t>
            </a:fld>
            <a:endParaRPr lang="en-US"/>
          </a:p>
        </p:txBody>
      </p:sp>
    </p:spTree>
    <p:extLst>
      <p:ext uri="{BB962C8B-B14F-4D97-AF65-F5344CB8AC3E}">
        <p14:creationId xmlns:p14="http://schemas.microsoft.com/office/powerpoint/2010/main" val="10728018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68C928-7777-B146-8309-AFD9ABC8A05E}" type="datetimeFigureOut">
              <a:rPr lang="en-US" smtClean="0"/>
              <a:t>2/9/25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13E871-1AD0-CE4B-A62B-C63BC4A0D340}" type="slidenum">
              <a:rPr lang="en-US" smtClean="0"/>
              <a:t>‹#›</a:t>
            </a:fld>
            <a:endParaRPr lang="en-US"/>
          </a:p>
        </p:txBody>
      </p:sp>
    </p:spTree>
    <p:extLst>
      <p:ext uri="{BB962C8B-B14F-4D97-AF65-F5344CB8AC3E}">
        <p14:creationId xmlns:p14="http://schemas.microsoft.com/office/powerpoint/2010/main" val="272626546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3.jpg"/><Relationship Id="rId7" Type="http://schemas.openxmlformats.org/officeDocument/2006/relationships/image" Target="../media/image7.jpg"/><Relationship Id="rId2" Type="http://schemas.openxmlformats.org/officeDocument/2006/relationships/image" Target="../media/image2.jpg"/><Relationship Id="rId1" Type="http://schemas.openxmlformats.org/officeDocument/2006/relationships/slideLayout" Target="../slideLayouts/slideLayout7.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 Id="rId9" Type="http://schemas.openxmlformats.org/officeDocument/2006/relationships/image" Target="../media/image9.jp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uswitch.com/mobiles/studies/mobile-statistics/" TargetMode="Externa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statista.com/statistics/1289755/internet-access-by-device-worldwide/" TargetMode="Externa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youtube.com/watch?v=7NvzRfyhd5Q"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developer.chrome.com/docs/devtools/css/grid" TargetMode="External"/><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developer.chrome.com/docs/devtools/overview" TargetMode="External"/><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blisk.io/" TargetMode="Externa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hyperlink" Target="https://www.youtube.com/watch?v=5M5A8PHta38" TargetMode="Externa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hyperlink" Target="https://www.w3schools.com/css/tryit.asp?filename=tryresponsive_mediaquery" TargetMode="External"/><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7.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lukew.com/resources/mobile_first.asp" TargetMode="External"/><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hyperlink" Target="https://getbootstrap.com/docs/5.3/components/buttons/" TargetMode="External"/><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hyperlink" Target="https://getbootstrap.com/docs/5.3/getting-started/download/" TargetMode="External"/><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hyperlink" Target="https://getbootstrap.com/docs/5.3/getting-started/introduction/#quick-start" TargetMode="External"/><Relationship Id="rId2" Type="http://schemas.openxmlformats.org/officeDocument/2006/relationships/hyperlink" Target="https://getbootstrap.com/" TargetMode="External"/><Relationship Id="rId1" Type="http://schemas.openxmlformats.org/officeDocument/2006/relationships/slideLayout" Target="../slideLayouts/slideLayout6.xml"/><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3" Type="http://schemas.openxmlformats.org/officeDocument/2006/relationships/hyperlink" Target="https://getbootstrap.com/docs/5.3/examples/" TargetMode="External"/><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s://www.w3schools.com/bootstrap/bootstrap_ver.asp" TargetMode="Externa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hyperlink" Target="https://getbootstrap.com/" TargetMode="Externa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s://semantic-ui.com/"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picnicss.com/" TargetMode="External"/><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getpapercss.com/" TargetMode="External"/><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nostalgic-css.github.io/NES.css/" TargetMode="External"/><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w3schools.com/w3css/default.asp" TargetMode="External"/><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hyperlink" Target="https://www.browserstack.com/guide/top-css-frameworks"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w3schools.com/howto/default.asp"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4149" y="660856"/>
            <a:ext cx="7772400" cy="2785961"/>
          </a:xfrm>
        </p:spPr>
        <p:txBody>
          <a:bodyPr>
            <a:noAutofit/>
          </a:bodyPr>
          <a:lstStyle/>
          <a:p>
            <a:pPr algn="ctr"/>
            <a:br>
              <a:rPr lang="en-GB" sz="3200" b="1" cap="all" dirty="0"/>
            </a:br>
            <a:r>
              <a:rPr lang="en-GB" sz="3200" b="1" cap="all" dirty="0"/>
              <a:t>responsive design</a:t>
            </a:r>
            <a:br>
              <a:rPr lang="en-GB" sz="3200" b="1" cap="all" dirty="0"/>
            </a:br>
            <a:r>
              <a:rPr lang="en-GB" sz="2400" b="1" cap="all" dirty="0"/>
              <a:t>CSS Frameworks</a:t>
            </a:r>
            <a:endParaRPr lang="en-GB" sz="2400" b="1" dirty="0"/>
          </a:p>
        </p:txBody>
      </p:sp>
      <p:sp>
        <p:nvSpPr>
          <p:cNvPr id="3" name="Subtitle 2"/>
          <p:cNvSpPr>
            <a:spLocks noGrp="1"/>
          </p:cNvSpPr>
          <p:nvPr>
            <p:ph type="subTitle" idx="1"/>
          </p:nvPr>
        </p:nvSpPr>
        <p:spPr>
          <a:xfrm>
            <a:off x="607241" y="3844190"/>
            <a:ext cx="7958475" cy="1752600"/>
          </a:xfrm>
        </p:spPr>
        <p:txBody>
          <a:bodyPr/>
          <a:lstStyle/>
          <a:p>
            <a:r>
              <a:rPr lang="en-US" sz="2000" dirty="0">
                <a:solidFill>
                  <a:schemeClr val="bg1">
                    <a:lumMod val="50000"/>
                  </a:schemeClr>
                </a:solidFill>
              </a:rPr>
              <a:t>Matt Prichard</a:t>
            </a:r>
            <a:endParaRPr lang="en-US" dirty="0"/>
          </a:p>
        </p:txBody>
      </p:sp>
      <p:cxnSp>
        <p:nvCxnSpPr>
          <p:cNvPr id="5" name="Straight Connector 4"/>
          <p:cNvCxnSpPr/>
          <p:nvPr/>
        </p:nvCxnSpPr>
        <p:spPr>
          <a:xfrm>
            <a:off x="457200" y="3566136"/>
            <a:ext cx="8229600"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0189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Mobile/Responsive Design</a:t>
            </a:r>
          </a:p>
        </p:txBody>
      </p:sp>
      <p:sp>
        <p:nvSpPr>
          <p:cNvPr id="3" name="Content Placeholder 2"/>
          <p:cNvSpPr>
            <a:spLocks noGrp="1"/>
          </p:cNvSpPr>
          <p:nvPr>
            <p:ph idx="1"/>
          </p:nvPr>
        </p:nvSpPr>
        <p:spPr/>
        <p:txBody>
          <a:bodyPr>
            <a:normAutofit/>
          </a:bodyPr>
          <a:lstStyle/>
          <a:p>
            <a:pPr>
              <a:lnSpc>
                <a:spcPct val="140000"/>
              </a:lnSpc>
            </a:pPr>
            <a:r>
              <a:rPr lang="en-US" sz="2800" dirty="0"/>
              <a:t>Print design allows us very tight control over the final output and what the viewer sees.</a:t>
            </a:r>
          </a:p>
          <a:p>
            <a:pPr>
              <a:lnSpc>
                <a:spcPct val="140000"/>
              </a:lnSpc>
            </a:pPr>
            <a:r>
              <a:rPr lang="en-US" sz="2800" dirty="0"/>
              <a:t>Design for screen is not so straight forward</a:t>
            </a:r>
            <a:r>
              <a:rPr lang="is-IS" sz="2800" dirty="0"/>
              <a:t> - why?</a:t>
            </a:r>
          </a:p>
          <a:p>
            <a:pPr lvl="1">
              <a:lnSpc>
                <a:spcPct val="140000"/>
              </a:lnSpc>
            </a:pPr>
            <a:r>
              <a:rPr lang="en-US" sz="2000" dirty="0"/>
              <a:t>Screen size / resolution</a:t>
            </a:r>
          </a:p>
          <a:p>
            <a:pPr lvl="1">
              <a:lnSpc>
                <a:spcPct val="140000"/>
              </a:lnSpc>
            </a:pPr>
            <a:r>
              <a:rPr lang="en-US" sz="2000" dirty="0"/>
              <a:t>Browser issues</a:t>
            </a:r>
          </a:p>
          <a:p>
            <a:pPr lvl="1">
              <a:lnSpc>
                <a:spcPct val="140000"/>
              </a:lnSpc>
            </a:pPr>
            <a:r>
              <a:rPr lang="en-US" sz="2000" dirty="0"/>
              <a:t>Device capabilities</a:t>
            </a:r>
          </a:p>
          <a:p>
            <a:pPr lvl="1">
              <a:lnSpc>
                <a:spcPct val="140000"/>
              </a:lnSpc>
            </a:pPr>
            <a:r>
              <a:rPr lang="en-US" sz="2000" dirty="0"/>
              <a:t>Colour representation</a:t>
            </a:r>
          </a:p>
          <a:p>
            <a:pPr lvl="1">
              <a:lnSpc>
                <a:spcPct val="140000"/>
              </a:lnSpc>
            </a:pPr>
            <a:r>
              <a:rPr lang="en-US" sz="2000" dirty="0"/>
              <a:t>Interaction methods – to name a few</a:t>
            </a:r>
          </a:p>
          <a:p>
            <a:pPr lvl="1">
              <a:lnSpc>
                <a:spcPct val="120000"/>
              </a:lnSpc>
            </a:pPr>
            <a:endParaRPr lang="en-US" sz="2400" dirty="0"/>
          </a:p>
        </p:txBody>
      </p:sp>
    </p:spTree>
    <p:extLst>
      <p:ext uri="{BB962C8B-B14F-4D97-AF65-F5344CB8AC3E}">
        <p14:creationId xmlns:p14="http://schemas.microsoft.com/office/powerpoint/2010/main" val="4117405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80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119895" y="537343"/>
            <a:ext cx="893932" cy="486168"/>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3218155" y="537343"/>
            <a:ext cx="1021636" cy="486168"/>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4418578" y="537343"/>
            <a:ext cx="459736" cy="486168"/>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5082641" y="537343"/>
            <a:ext cx="740686" cy="486168"/>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6027656" y="537343"/>
            <a:ext cx="996095" cy="486168"/>
          </a:xfrm>
          <a:prstGeom prst="rect">
            <a:avLst/>
          </a:prstGeom>
          <a:blipFill>
            <a:blip r:embed="rId6" cstate="print"/>
            <a:stretch>
              <a:fillRect/>
            </a:stretch>
          </a:blipFill>
        </p:spPr>
        <p:txBody>
          <a:bodyPr wrap="square" lIns="0" tIns="0" rIns="0" bIns="0" rtlCol="0"/>
          <a:lstStyle/>
          <a:p>
            <a:endParaRPr/>
          </a:p>
        </p:txBody>
      </p:sp>
      <p:sp>
        <p:nvSpPr>
          <p:cNvPr id="7" name="object 7"/>
          <p:cNvSpPr/>
          <p:nvPr/>
        </p:nvSpPr>
        <p:spPr>
          <a:xfrm>
            <a:off x="664063" y="1330565"/>
            <a:ext cx="7764438" cy="1663207"/>
          </a:xfrm>
          <a:prstGeom prst="rect">
            <a:avLst/>
          </a:prstGeom>
          <a:blipFill>
            <a:blip r:embed="rId7" cstate="print"/>
            <a:stretch>
              <a:fillRect/>
            </a:stretch>
          </a:blipFill>
        </p:spPr>
        <p:txBody>
          <a:bodyPr wrap="square" lIns="0" tIns="0" rIns="0" bIns="0" rtlCol="0"/>
          <a:lstStyle/>
          <a:p>
            <a:endParaRPr/>
          </a:p>
        </p:txBody>
      </p:sp>
      <p:sp>
        <p:nvSpPr>
          <p:cNvPr id="8" name="object 8"/>
          <p:cNvSpPr/>
          <p:nvPr/>
        </p:nvSpPr>
        <p:spPr>
          <a:xfrm>
            <a:off x="664063" y="3019360"/>
            <a:ext cx="7764438" cy="3607879"/>
          </a:xfrm>
          <a:prstGeom prst="rect">
            <a:avLst/>
          </a:prstGeom>
          <a:blipFill>
            <a:blip r:embed="rId8" cstate="print"/>
            <a:stretch>
              <a:fillRect/>
            </a:stretch>
          </a:blipFill>
        </p:spPr>
        <p:txBody>
          <a:bodyPr wrap="square" lIns="0" tIns="0" rIns="0" bIns="0" rtlCol="0"/>
          <a:lstStyle/>
          <a:p>
            <a:endParaRPr/>
          </a:p>
        </p:txBody>
      </p:sp>
      <p:sp>
        <p:nvSpPr>
          <p:cNvPr id="9" name="object 9"/>
          <p:cNvSpPr/>
          <p:nvPr/>
        </p:nvSpPr>
        <p:spPr>
          <a:xfrm>
            <a:off x="7892143" y="4656979"/>
            <a:ext cx="536359" cy="997924"/>
          </a:xfrm>
          <a:prstGeom prst="rect">
            <a:avLst/>
          </a:prstGeom>
          <a:blipFill>
            <a:blip r:embed="rId9" cstate="print"/>
            <a:stretch>
              <a:fillRect/>
            </a:stretch>
          </a:blipFill>
        </p:spPr>
        <p:txBody>
          <a:bodyPr wrap="square" lIns="0" tIns="0" rIns="0" bIns="0" rtlCol="0"/>
          <a:lstStyle/>
          <a:p>
            <a:endParaRPr/>
          </a:p>
        </p:txBody>
      </p:sp>
      <p:sp>
        <p:nvSpPr>
          <p:cNvPr id="10" name="object 10"/>
          <p:cNvSpPr txBox="1"/>
          <p:nvPr/>
        </p:nvSpPr>
        <p:spPr>
          <a:xfrm>
            <a:off x="5756022" y="3083423"/>
            <a:ext cx="269240" cy="194310"/>
          </a:xfrm>
          <a:prstGeom prst="rect">
            <a:avLst/>
          </a:prstGeom>
        </p:spPr>
        <p:txBody>
          <a:bodyPr vert="horz" wrap="square" lIns="0" tIns="13335" rIns="0" bIns="0" rtlCol="0">
            <a:spAutoFit/>
          </a:bodyPr>
          <a:lstStyle/>
          <a:p>
            <a:pPr marL="12700">
              <a:lnSpc>
                <a:spcPct val="100000"/>
              </a:lnSpc>
              <a:spcBef>
                <a:spcPts val="105"/>
              </a:spcBef>
            </a:pPr>
            <a:r>
              <a:rPr sz="1100" spc="-60" dirty="0">
                <a:solidFill>
                  <a:srgbClr val="E4CA9E"/>
                </a:solidFill>
                <a:latin typeface="Times New Roman"/>
                <a:cs typeface="Times New Roman"/>
              </a:rPr>
              <a:t>11'[9</a:t>
            </a:r>
            <a:endParaRPr sz="1100">
              <a:latin typeface="Times New Roman"/>
              <a:cs typeface="Times New Roman"/>
            </a:endParaRPr>
          </a:p>
        </p:txBody>
      </p:sp>
      <p:sp>
        <p:nvSpPr>
          <p:cNvPr id="11" name="object 11"/>
          <p:cNvSpPr txBox="1"/>
          <p:nvPr/>
        </p:nvSpPr>
        <p:spPr>
          <a:xfrm>
            <a:off x="6315828" y="3083423"/>
            <a:ext cx="47625" cy="194310"/>
          </a:xfrm>
          <a:prstGeom prst="rect">
            <a:avLst/>
          </a:prstGeom>
        </p:spPr>
        <p:txBody>
          <a:bodyPr vert="horz" wrap="square" lIns="0" tIns="13335" rIns="0" bIns="0" rtlCol="0">
            <a:spAutoFit/>
          </a:bodyPr>
          <a:lstStyle/>
          <a:p>
            <a:pPr marL="12700">
              <a:lnSpc>
                <a:spcPct val="100000"/>
              </a:lnSpc>
              <a:spcBef>
                <a:spcPts val="105"/>
              </a:spcBef>
            </a:pPr>
            <a:r>
              <a:rPr sz="1100" spc="-30" dirty="0">
                <a:solidFill>
                  <a:srgbClr val="97979E"/>
                </a:solidFill>
                <a:latin typeface="Times New Roman"/>
                <a:cs typeface="Times New Roman"/>
              </a:rPr>
              <a:t>'</a:t>
            </a:r>
            <a:endParaRPr sz="1100">
              <a:latin typeface="Times New Roman"/>
              <a:cs typeface="Times New Roman"/>
            </a:endParaRPr>
          </a:p>
        </p:txBody>
      </p:sp>
      <p:sp>
        <p:nvSpPr>
          <p:cNvPr id="12" name="object 12"/>
          <p:cNvSpPr txBox="1"/>
          <p:nvPr/>
        </p:nvSpPr>
        <p:spPr>
          <a:xfrm>
            <a:off x="1390731" y="6237120"/>
            <a:ext cx="239395" cy="478790"/>
          </a:xfrm>
          <a:prstGeom prst="rect">
            <a:avLst/>
          </a:prstGeom>
        </p:spPr>
        <p:txBody>
          <a:bodyPr vert="horz" wrap="square" lIns="0" tIns="15240" rIns="0" bIns="0" rtlCol="0">
            <a:spAutoFit/>
          </a:bodyPr>
          <a:lstStyle/>
          <a:p>
            <a:pPr marL="12700">
              <a:lnSpc>
                <a:spcPct val="100000"/>
              </a:lnSpc>
              <a:spcBef>
                <a:spcPts val="120"/>
              </a:spcBef>
            </a:pPr>
            <a:r>
              <a:rPr sz="2950" spc="-100" dirty="0">
                <a:solidFill>
                  <a:srgbClr val="BC6701"/>
                </a:solidFill>
                <a:latin typeface="Arial"/>
                <a:cs typeface="Arial"/>
              </a:rPr>
              <a:t>■</a:t>
            </a:r>
            <a:endParaRPr sz="2950">
              <a:latin typeface="Arial"/>
              <a:cs typeface="Arial"/>
            </a:endParaRPr>
          </a:p>
        </p:txBody>
      </p:sp>
      <p:sp>
        <p:nvSpPr>
          <p:cNvPr id="13" name="object 13"/>
          <p:cNvSpPr txBox="1"/>
          <p:nvPr/>
        </p:nvSpPr>
        <p:spPr>
          <a:xfrm>
            <a:off x="6802733" y="4030172"/>
            <a:ext cx="1424940" cy="2112645"/>
          </a:xfrm>
          <a:prstGeom prst="rect">
            <a:avLst/>
          </a:prstGeom>
        </p:spPr>
        <p:txBody>
          <a:bodyPr vert="horz" wrap="square" lIns="0" tIns="12700" rIns="0" bIns="0" rtlCol="0">
            <a:spAutoFit/>
          </a:bodyPr>
          <a:lstStyle/>
          <a:p>
            <a:pPr marL="12700">
              <a:lnSpc>
                <a:spcPts val="8305"/>
              </a:lnSpc>
              <a:spcBef>
                <a:spcPts val="100"/>
              </a:spcBef>
            </a:pPr>
            <a:r>
              <a:rPr sz="6300" spc="-1175" dirty="0">
                <a:solidFill>
                  <a:srgbClr val="C37723"/>
                </a:solidFill>
                <a:latin typeface="Times New Roman"/>
                <a:cs typeface="Times New Roman"/>
              </a:rPr>
              <a:t>; </a:t>
            </a:r>
            <a:r>
              <a:rPr sz="6300" spc="-885" dirty="0">
                <a:solidFill>
                  <a:srgbClr val="C37723"/>
                </a:solidFill>
                <a:latin typeface="Times New Roman"/>
                <a:cs typeface="Times New Roman"/>
              </a:rPr>
              <a:t> </a:t>
            </a:r>
            <a:r>
              <a:rPr sz="10875" spc="-2535" baseline="13793" dirty="0">
                <a:solidFill>
                  <a:srgbClr val="BC6701"/>
                </a:solidFill>
                <a:latin typeface="Arial"/>
                <a:cs typeface="Arial"/>
              </a:rPr>
              <a:t>•</a:t>
            </a:r>
            <a:r>
              <a:rPr sz="6300" spc="-1689" dirty="0">
                <a:solidFill>
                  <a:srgbClr val="BC6701"/>
                </a:solidFill>
                <a:latin typeface="Times New Roman"/>
                <a:cs typeface="Times New Roman"/>
              </a:rPr>
              <a:t>?.</a:t>
            </a:r>
            <a:r>
              <a:rPr sz="10875" spc="-2535" baseline="13793" dirty="0">
                <a:solidFill>
                  <a:srgbClr val="BC6701"/>
                </a:solidFill>
                <a:latin typeface="Arial"/>
                <a:cs typeface="Arial"/>
              </a:rPr>
              <a:t>?</a:t>
            </a:r>
            <a:r>
              <a:rPr sz="6300" spc="-1689" dirty="0">
                <a:solidFill>
                  <a:srgbClr val="BC6701"/>
                </a:solidFill>
                <a:latin typeface="Times New Roman"/>
                <a:cs typeface="Times New Roman"/>
              </a:rPr>
              <a:t>•</a:t>
            </a:r>
            <a:r>
              <a:rPr sz="6300" spc="-980" dirty="0">
                <a:solidFill>
                  <a:srgbClr val="BC6701"/>
                </a:solidFill>
                <a:latin typeface="Times New Roman"/>
                <a:cs typeface="Times New Roman"/>
              </a:rPr>
              <a:t> </a:t>
            </a:r>
            <a:r>
              <a:rPr sz="10875" spc="-660" baseline="13793" dirty="0">
                <a:solidFill>
                  <a:srgbClr val="BC6701"/>
                </a:solidFill>
                <a:latin typeface="Arial"/>
                <a:cs typeface="Arial"/>
              </a:rPr>
              <a:t>•</a:t>
            </a:r>
            <a:endParaRPr sz="10875" baseline="13793">
              <a:latin typeface="Arial"/>
              <a:cs typeface="Arial"/>
            </a:endParaRPr>
          </a:p>
          <a:p>
            <a:pPr marL="430530">
              <a:lnSpc>
                <a:spcPts val="8125"/>
              </a:lnSpc>
            </a:pPr>
            <a:r>
              <a:rPr sz="7050" spc="-1612" baseline="51418" dirty="0">
                <a:solidFill>
                  <a:srgbClr val="BC6701"/>
                </a:solidFill>
                <a:latin typeface="Courier New"/>
                <a:cs typeface="Courier New"/>
              </a:rPr>
              <a:t>.</a:t>
            </a:r>
            <a:r>
              <a:rPr sz="7100" spc="-1075" dirty="0">
                <a:solidFill>
                  <a:srgbClr val="BC6701"/>
                </a:solidFill>
                <a:latin typeface="Times New Roman"/>
                <a:cs typeface="Times New Roman"/>
              </a:rPr>
              <a:t>?</a:t>
            </a:r>
            <a:r>
              <a:rPr sz="7050" spc="-1612" baseline="51418" dirty="0">
                <a:solidFill>
                  <a:srgbClr val="BC6701"/>
                </a:solidFill>
                <a:latin typeface="Courier New"/>
                <a:cs typeface="Courier New"/>
              </a:rPr>
              <a:t>?</a:t>
            </a:r>
            <a:r>
              <a:rPr sz="7100" spc="-1075" dirty="0">
                <a:solidFill>
                  <a:srgbClr val="BC6701"/>
                </a:solidFill>
                <a:latin typeface="Times New Roman"/>
                <a:cs typeface="Times New Roman"/>
              </a:rPr>
              <a:t>,</a:t>
            </a:r>
            <a:r>
              <a:rPr sz="3850" spc="-1075" dirty="0">
                <a:solidFill>
                  <a:srgbClr val="BC6701"/>
                </a:solidFill>
                <a:latin typeface="Times New Roman"/>
                <a:cs typeface="Times New Roman"/>
              </a:rPr>
              <a:t>?•</a:t>
            </a:r>
            <a:endParaRPr sz="3850">
              <a:latin typeface="Times New Roman"/>
              <a:cs typeface="Times New Roman"/>
            </a:endParaRPr>
          </a:p>
        </p:txBody>
      </p:sp>
      <p:sp>
        <p:nvSpPr>
          <p:cNvPr id="14" name="object 14"/>
          <p:cNvSpPr txBox="1"/>
          <p:nvPr/>
        </p:nvSpPr>
        <p:spPr>
          <a:xfrm>
            <a:off x="7093573" y="5827715"/>
            <a:ext cx="687070" cy="678180"/>
          </a:xfrm>
          <a:prstGeom prst="rect">
            <a:avLst/>
          </a:prstGeom>
        </p:spPr>
        <p:txBody>
          <a:bodyPr vert="horz" wrap="square" lIns="0" tIns="16510" rIns="0" bIns="0" rtlCol="0">
            <a:spAutoFit/>
          </a:bodyPr>
          <a:lstStyle/>
          <a:p>
            <a:pPr marL="12700">
              <a:lnSpc>
                <a:spcPct val="100000"/>
              </a:lnSpc>
              <a:spcBef>
                <a:spcPts val="130"/>
              </a:spcBef>
              <a:tabLst>
                <a:tab pos="505459" algn="l"/>
              </a:tabLst>
            </a:pPr>
            <a:r>
              <a:rPr sz="4250" spc="60" dirty="0">
                <a:solidFill>
                  <a:srgbClr val="BC6701"/>
                </a:solidFill>
                <a:latin typeface="Times New Roman"/>
                <a:cs typeface="Times New Roman"/>
              </a:rPr>
              <a:t>•	</a:t>
            </a:r>
            <a:r>
              <a:rPr sz="4250" spc="-1425" dirty="0">
                <a:solidFill>
                  <a:srgbClr val="BC6701"/>
                </a:solidFill>
                <a:latin typeface="Times New Roman"/>
                <a:cs typeface="Times New Roman"/>
              </a:rPr>
              <a:t>?</a:t>
            </a:r>
            <a:r>
              <a:rPr sz="3525" spc="44" baseline="-28368" dirty="0">
                <a:solidFill>
                  <a:srgbClr val="BC6701"/>
                </a:solidFill>
                <a:latin typeface="Times New Roman"/>
                <a:cs typeface="Times New Roman"/>
              </a:rPr>
              <a:t>•</a:t>
            </a:r>
            <a:endParaRPr sz="3525" baseline="-28368">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08602" y="217543"/>
            <a:ext cx="6553200" cy="570669"/>
          </a:xfrm>
          <a:prstGeom prst="rect">
            <a:avLst/>
          </a:prstGeom>
        </p:spPr>
        <p:txBody>
          <a:bodyPr vert="horz" wrap="square" lIns="0" tIns="16510" rIns="0" bIns="0" rtlCol="0">
            <a:spAutoFit/>
          </a:bodyPr>
          <a:lstStyle/>
          <a:p>
            <a:pPr marL="12700" algn="ctr">
              <a:lnSpc>
                <a:spcPct val="100000"/>
              </a:lnSpc>
              <a:spcBef>
                <a:spcPts val="130"/>
              </a:spcBef>
            </a:pPr>
            <a:r>
              <a:rPr sz="3600" spc="-75" dirty="0"/>
              <a:t>Smartphone </a:t>
            </a:r>
            <a:r>
              <a:rPr sz="3600" spc="-65" dirty="0"/>
              <a:t>ownership</a:t>
            </a:r>
            <a:r>
              <a:rPr sz="3600" spc="-250" dirty="0"/>
              <a:t> </a:t>
            </a:r>
            <a:r>
              <a:rPr sz="3600" spc="-45" dirty="0"/>
              <a:t>UK</a:t>
            </a:r>
            <a:endParaRPr sz="3600" dirty="0"/>
          </a:p>
        </p:txBody>
      </p:sp>
      <p:sp>
        <p:nvSpPr>
          <p:cNvPr id="4" name="object 4"/>
          <p:cNvSpPr txBox="1"/>
          <p:nvPr/>
        </p:nvSpPr>
        <p:spPr>
          <a:xfrm>
            <a:off x="1652587" y="6375824"/>
            <a:ext cx="5838825" cy="410369"/>
          </a:xfrm>
          <a:prstGeom prst="rect">
            <a:avLst/>
          </a:prstGeom>
        </p:spPr>
        <p:txBody>
          <a:bodyPr vert="horz" wrap="square" lIns="0" tIns="12700" rIns="0" bIns="0" rtlCol="0">
            <a:spAutoFit/>
          </a:bodyPr>
          <a:lstStyle/>
          <a:p>
            <a:pPr marL="12700" algn="ctr">
              <a:lnSpc>
                <a:spcPct val="100000"/>
              </a:lnSpc>
              <a:spcBef>
                <a:spcPts val="100"/>
              </a:spcBef>
            </a:pPr>
            <a:r>
              <a:rPr lang="en-GB" sz="1250" spc="25" dirty="0">
                <a:latin typeface="Arial"/>
                <a:cs typeface="Arial"/>
                <a:hlinkClick r:id="rId2"/>
              </a:rPr>
              <a:t>https://www.uswitch.com/mobiles/studies/mobile-statistics/</a:t>
            </a:r>
            <a:endParaRPr lang="en-GB" sz="1250" spc="25" dirty="0">
              <a:latin typeface="Arial"/>
              <a:cs typeface="Arial"/>
            </a:endParaRPr>
          </a:p>
          <a:p>
            <a:pPr marL="12700" algn="ctr">
              <a:lnSpc>
                <a:spcPct val="100000"/>
              </a:lnSpc>
              <a:spcBef>
                <a:spcPts val="100"/>
              </a:spcBef>
            </a:pPr>
            <a:endParaRPr sz="1250" dirty="0">
              <a:latin typeface="Arial"/>
              <a:cs typeface="Arial"/>
            </a:endParaRPr>
          </a:p>
        </p:txBody>
      </p:sp>
      <p:pic>
        <p:nvPicPr>
          <p:cNvPr id="3" name="Picture 2">
            <a:extLst>
              <a:ext uri="{FF2B5EF4-FFF2-40B4-BE49-F238E27FC236}">
                <a16:creationId xmlns:a16="http://schemas.microsoft.com/office/drawing/2014/main" id="{87BF2160-02AF-B101-685F-288F33EDDAF5}"/>
              </a:ext>
            </a:extLst>
          </p:cNvPr>
          <p:cNvPicPr>
            <a:picLocks noChangeAspect="1"/>
          </p:cNvPicPr>
          <p:nvPr/>
        </p:nvPicPr>
        <p:blipFill>
          <a:blip r:embed="rId3"/>
          <a:stretch>
            <a:fillRect/>
          </a:stretch>
        </p:blipFill>
        <p:spPr>
          <a:xfrm>
            <a:off x="370100" y="947344"/>
            <a:ext cx="8403798" cy="54284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3912" y="239586"/>
            <a:ext cx="7196455" cy="829944"/>
          </a:xfrm>
          <a:prstGeom prst="rect">
            <a:avLst/>
          </a:prstGeom>
        </p:spPr>
        <p:txBody>
          <a:bodyPr vert="horz" wrap="square" lIns="0" tIns="81280" rIns="0" bIns="0" rtlCol="0">
            <a:spAutoFit/>
          </a:bodyPr>
          <a:lstStyle/>
          <a:p>
            <a:pPr marL="12700" marR="5080">
              <a:lnSpc>
                <a:spcPts val="2900"/>
              </a:lnSpc>
              <a:spcBef>
                <a:spcPts val="640"/>
              </a:spcBef>
            </a:pPr>
            <a:r>
              <a:rPr sz="2850" spc="-15" dirty="0"/>
              <a:t>Which </a:t>
            </a:r>
            <a:r>
              <a:rPr sz="2850" spc="5" dirty="0"/>
              <a:t>is </a:t>
            </a:r>
            <a:r>
              <a:rPr sz="2850" dirty="0"/>
              <a:t>the </a:t>
            </a:r>
            <a:r>
              <a:rPr sz="2850" spc="-20" dirty="0"/>
              <a:t>most important </a:t>
            </a:r>
            <a:r>
              <a:rPr sz="2850" spc="-15" dirty="0"/>
              <a:t>device </a:t>
            </a:r>
            <a:r>
              <a:rPr sz="2850" spc="-5" dirty="0"/>
              <a:t>you use </a:t>
            </a:r>
            <a:r>
              <a:rPr sz="2850" spc="5" dirty="0"/>
              <a:t>to  </a:t>
            </a:r>
            <a:r>
              <a:rPr sz="2850" spc="-20" dirty="0"/>
              <a:t>connect </a:t>
            </a:r>
            <a:r>
              <a:rPr sz="2850" spc="5" dirty="0"/>
              <a:t>to </a:t>
            </a:r>
            <a:r>
              <a:rPr sz="2850" dirty="0"/>
              <a:t>the </a:t>
            </a:r>
            <a:r>
              <a:rPr sz="2850" spc="-10" dirty="0"/>
              <a:t>internet, at </a:t>
            </a:r>
            <a:r>
              <a:rPr sz="2850" spc="-15" dirty="0"/>
              <a:t>home </a:t>
            </a:r>
            <a:r>
              <a:rPr sz="2850" spc="-5" dirty="0"/>
              <a:t>or</a:t>
            </a:r>
            <a:r>
              <a:rPr sz="2850" spc="-370" dirty="0"/>
              <a:t> </a:t>
            </a:r>
            <a:r>
              <a:rPr sz="2850" spc="-35" dirty="0"/>
              <a:t>elsewhere?</a:t>
            </a:r>
            <a:endParaRPr sz="2850" dirty="0"/>
          </a:p>
        </p:txBody>
      </p:sp>
      <p:sp>
        <p:nvSpPr>
          <p:cNvPr id="4" name="object 4"/>
          <p:cNvSpPr txBox="1"/>
          <p:nvPr/>
        </p:nvSpPr>
        <p:spPr>
          <a:xfrm>
            <a:off x="1372235" y="6319126"/>
            <a:ext cx="6399530" cy="410369"/>
          </a:xfrm>
          <a:prstGeom prst="rect">
            <a:avLst/>
          </a:prstGeom>
        </p:spPr>
        <p:txBody>
          <a:bodyPr vert="horz" wrap="square" lIns="0" tIns="12700" rIns="0" bIns="0" rtlCol="0">
            <a:spAutoFit/>
          </a:bodyPr>
          <a:lstStyle/>
          <a:p>
            <a:pPr marL="12700" algn="ctr">
              <a:lnSpc>
                <a:spcPct val="100000"/>
              </a:lnSpc>
              <a:spcBef>
                <a:spcPts val="100"/>
              </a:spcBef>
            </a:pPr>
            <a:r>
              <a:rPr lang="en-GB" sz="1250" spc="-60" dirty="0">
                <a:latin typeface="Arial"/>
                <a:cs typeface="Arial"/>
                <a:hlinkClick r:id="rId2"/>
              </a:rPr>
              <a:t>https://www.statista.com/statistics/1289755/internet-access-by-device-worldwide/</a:t>
            </a:r>
            <a:endParaRPr lang="en-GB" sz="1250" spc="-60" dirty="0">
              <a:latin typeface="Arial"/>
              <a:cs typeface="Arial"/>
            </a:endParaRPr>
          </a:p>
          <a:p>
            <a:pPr marL="12700">
              <a:lnSpc>
                <a:spcPct val="100000"/>
              </a:lnSpc>
              <a:spcBef>
                <a:spcPts val="100"/>
              </a:spcBef>
            </a:pPr>
            <a:endParaRPr sz="1250" dirty="0">
              <a:latin typeface="Arial"/>
              <a:cs typeface="Arial"/>
            </a:endParaRPr>
          </a:p>
        </p:txBody>
      </p:sp>
      <p:pic>
        <p:nvPicPr>
          <p:cNvPr id="5" name="Picture 4">
            <a:extLst>
              <a:ext uri="{FF2B5EF4-FFF2-40B4-BE49-F238E27FC236}">
                <a16:creationId xmlns:a16="http://schemas.microsoft.com/office/drawing/2014/main" id="{11FEF1DE-0E60-481C-FB5C-38F8C130D0FD}"/>
              </a:ext>
            </a:extLst>
          </p:cNvPr>
          <p:cNvPicPr>
            <a:picLocks noChangeAspect="1"/>
          </p:cNvPicPr>
          <p:nvPr/>
        </p:nvPicPr>
        <p:blipFill>
          <a:blip r:embed="rId3"/>
          <a:srcRect t="13896"/>
          <a:stretch/>
        </p:blipFill>
        <p:spPr>
          <a:xfrm>
            <a:off x="416197" y="1560665"/>
            <a:ext cx="7772400" cy="42673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FC44104-565D-B5B5-3616-1E02210CE9AF}"/>
              </a:ext>
            </a:extLst>
          </p:cNvPr>
          <p:cNvPicPr>
            <a:picLocks noChangeAspect="1"/>
          </p:cNvPicPr>
          <p:nvPr/>
        </p:nvPicPr>
        <p:blipFill>
          <a:blip r:embed="rId2"/>
          <a:stretch>
            <a:fillRect/>
          </a:stretch>
        </p:blipFill>
        <p:spPr>
          <a:xfrm>
            <a:off x="327134" y="491136"/>
            <a:ext cx="8489732" cy="55914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3BBDC-7D40-6DA4-1F06-1AD2DF4B97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694A28C-55AF-1394-A0D9-1CC5BE53826A}"/>
              </a:ext>
            </a:extLst>
          </p:cNvPr>
          <p:cNvPicPr>
            <a:picLocks noChangeAspect="1"/>
          </p:cNvPicPr>
          <p:nvPr/>
        </p:nvPicPr>
        <p:blipFill>
          <a:blip r:embed="rId2"/>
          <a:stretch>
            <a:fillRect/>
          </a:stretch>
        </p:blipFill>
        <p:spPr>
          <a:xfrm>
            <a:off x="446314" y="1791940"/>
            <a:ext cx="7772400" cy="4580407"/>
          </a:xfrm>
          <a:prstGeom prst="rect">
            <a:avLst/>
          </a:prstGeom>
        </p:spPr>
      </p:pic>
      <p:pic>
        <p:nvPicPr>
          <p:cNvPr id="4" name="Picture 3">
            <a:extLst>
              <a:ext uri="{FF2B5EF4-FFF2-40B4-BE49-F238E27FC236}">
                <a16:creationId xmlns:a16="http://schemas.microsoft.com/office/drawing/2014/main" id="{222B67BD-7551-7E12-060C-F0ADF1BD9BD9}"/>
              </a:ext>
            </a:extLst>
          </p:cNvPr>
          <p:cNvPicPr>
            <a:picLocks noChangeAspect="1"/>
          </p:cNvPicPr>
          <p:nvPr/>
        </p:nvPicPr>
        <p:blipFill>
          <a:blip r:embed="rId3"/>
          <a:stretch>
            <a:fillRect/>
          </a:stretch>
        </p:blipFill>
        <p:spPr>
          <a:xfrm>
            <a:off x="446314" y="15754"/>
            <a:ext cx="7658100" cy="1689100"/>
          </a:xfrm>
          <a:prstGeom prst="rect">
            <a:avLst/>
          </a:prstGeom>
        </p:spPr>
      </p:pic>
    </p:spTree>
    <p:extLst>
      <p:ext uri="{BB962C8B-B14F-4D97-AF65-F5344CB8AC3E}">
        <p14:creationId xmlns:p14="http://schemas.microsoft.com/office/powerpoint/2010/main" val="2943468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1429407" y="6225008"/>
            <a:ext cx="6285186" cy="503984"/>
          </a:xfrm>
          <a:prstGeom prst="rect">
            <a:avLst/>
          </a:prstGeom>
        </p:spPr>
        <p:txBody>
          <a:bodyPr vert="horz" wrap="square" lIns="0" tIns="16510" rIns="0" bIns="0" rtlCol="0">
            <a:spAutoFit/>
          </a:bodyPr>
          <a:lstStyle/>
          <a:p>
            <a:pPr algn="ctr">
              <a:lnSpc>
                <a:spcPts val="1875"/>
              </a:lnSpc>
            </a:pPr>
            <a:r>
              <a:rPr lang="en-GB" sz="1650" spc="-35" dirty="0">
                <a:solidFill>
                  <a:srgbClr val="0000FF"/>
                </a:solidFill>
                <a:latin typeface="Arial"/>
                <a:cs typeface="Arial"/>
                <a:hlinkClick r:id="rId2"/>
              </a:rPr>
              <a:t>https://www.youtube.com/watch?v=7NvzRfyhd5Q</a:t>
            </a:r>
            <a:endParaRPr lang="en-GB" sz="1650" spc="-35" dirty="0">
              <a:solidFill>
                <a:srgbClr val="0000FF"/>
              </a:solidFill>
              <a:latin typeface="Arial"/>
              <a:cs typeface="Arial"/>
            </a:endParaRPr>
          </a:p>
          <a:p>
            <a:pPr algn="ctr">
              <a:lnSpc>
                <a:spcPts val="1875"/>
              </a:lnSpc>
            </a:pPr>
            <a:endParaRPr sz="1650" dirty="0">
              <a:latin typeface="Arial"/>
              <a:cs typeface="Arial"/>
            </a:endParaRPr>
          </a:p>
        </p:txBody>
      </p:sp>
      <p:sp>
        <p:nvSpPr>
          <p:cNvPr id="10" name="object 10"/>
          <p:cNvSpPr/>
          <p:nvPr/>
        </p:nvSpPr>
        <p:spPr>
          <a:xfrm>
            <a:off x="219403" y="349469"/>
            <a:ext cx="8705193" cy="5323510"/>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6AC26F1-4113-614C-B4B9-DFB9C51DCD3D}"/>
              </a:ext>
            </a:extLst>
          </p:cNvPr>
          <p:cNvPicPr>
            <a:picLocks noChangeAspect="1"/>
          </p:cNvPicPr>
          <p:nvPr/>
        </p:nvPicPr>
        <p:blipFill>
          <a:blip r:embed="rId2"/>
          <a:stretch>
            <a:fillRect/>
          </a:stretch>
        </p:blipFill>
        <p:spPr>
          <a:xfrm>
            <a:off x="-7620" y="0"/>
            <a:ext cx="9144000" cy="6080645"/>
          </a:xfrm>
          <a:prstGeom prst="rect">
            <a:avLst/>
          </a:prstGeom>
        </p:spPr>
      </p:pic>
      <p:sp>
        <p:nvSpPr>
          <p:cNvPr id="7" name="TextBox 6">
            <a:extLst>
              <a:ext uri="{FF2B5EF4-FFF2-40B4-BE49-F238E27FC236}">
                <a16:creationId xmlns:a16="http://schemas.microsoft.com/office/drawing/2014/main" id="{AEB33C63-F846-B941-BF88-10C90AA17931}"/>
              </a:ext>
            </a:extLst>
          </p:cNvPr>
          <p:cNvSpPr txBox="1"/>
          <p:nvPr/>
        </p:nvSpPr>
        <p:spPr>
          <a:xfrm>
            <a:off x="3276600" y="6080645"/>
            <a:ext cx="1872885" cy="369332"/>
          </a:xfrm>
          <a:prstGeom prst="rect">
            <a:avLst/>
          </a:prstGeom>
          <a:noFill/>
        </p:spPr>
        <p:txBody>
          <a:bodyPr wrap="none" rtlCol="0">
            <a:spAutoFit/>
          </a:bodyPr>
          <a:lstStyle/>
          <a:p>
            <a:r>
              <a:rPr lang="en-US" dirty="0"/>
              <a:t>Chrome Dev Tools</a:t>
            </a:r>
          </a:p>
        </p:txBody>
      </p:sp>
    </p:spTree>
    <p:extLst>
      <p:ext uri="{BB962C8B-B14F-4D97-AF65-F5344CB8AC3E}">
        <p14:creationId xmlns:p14="http://schemas.microsoft.com/office/powerpoint/2010/main" val="1867238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2FAA0-9B47-1397-53DC-AFE0A90DBAA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3E8F9FD-7732-43DF-B433-30F50A7A8176}"/>
              </a:ext>
            </a:extLst>
          </p:cNvPr>
          <p:cNvPicPr>
            <a:picLocks noChangeAspect="1"/>
          </p:cNvPicPr>
          <p:nvPr/>
        </p:nvPicPr>
        <p:blipFill>
          <a:blip r:embed="rId2"/>
          <a:srcRect l="42897" r="778"/>
          <a:stretch/>
        </p:blipFill>
        <p:spPr>
          <a:xfrm>
            <a:off x="416015" y="255622"/>
            <a:ext cx="5591086" cy="5805736"/>
          </a:xfrm>
          <a:prstGeom prst="rect">
            <a:avLst/>
          </a:prstGeom>
          <a:ln>
            <a:solidFill>
              <a:schemeClr val="bg1">
                <a:lumMod val="65000"/>
              </a:schemeClr>
            </a:solidFill>
          </a:ln>
        </p:spPr>
      </p:pic>
      <p:sp>
        <p:nvSpPr>
          <p:cNvPr id="8" name="TextBox 7">
            <a:extLst>
              <a:ext uri="{FF2B5EF4-FFF2-40B4-BE49-F238E27FC236}">
                <a16:creationId xmlns:a16="http://schemas.microsoft.com/office/drawing/2014/main" id="{D9C15388-353F-B02F-8F19-426AB2384283}"/>
              </a:ext>
            </a:extLst>
          </p:cNvPr>
          <p:cNvSpPr txBox="1"/>
          <p:nvPr/>
        </p:nvSpPr>
        <p:spPr>
          <a:xfrm>
            <a:off x="416015" y="6236504"/>
            <a:ext cx="7076985" cy="369332"/>
          </a:xfrm>
          <a:prstGeom prst="rect">
            <a:avLst/>
          </a:prstGeom>
          <a:noFill/>
        </p:spPr>
        <p:txBody>
          <a:bodyPr wrap="square">
            <a:spAutoFit/>
          </a:bodyPr>
          <a:lstStyle/>
          <a:p>
            <a:r>
              <a:rPr lang="en-US" dirty="0">
                <a:hlinkClick r:id="rId3"/>
              </a:rPr>
              <a:t>https://developer.chrome.com/docs/devtools/css/grid</a:t>
            </a:r>
            <a:endParaRPr lang="en-US" dirty="0"/>
          </a:p>
        </p:txBody>
      </p:sp>
    </p:spTree>
    <p:extLst>
      <p:ext uri="{BB962C8B-B14F-4D97-AF65-F5344CB8AC3E}">
        <p14:creationId xmlns:p14="http://schemas.microsoft.com/office/powerpoint/2010/main" val="4124048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9A0E17-D810-92DC-F6CC-96ABB15943D8}"/>
              </a:ext>
            </a:extLst>
          </p:cNvPr>
          <p:cNvPicPr>
            <a:picLocks noChangeAspect="1"/>
          </p:cNvPicPr>
          <p:nvPr/>
        </p:nvPicPr>
        <p:blipFill>
          <a:blip r:embed="rId2"/>
          <a:stretch>
            <a:fillRect/>
          </a:stretch>
        </p:blipFill>
        <p:spPr>
          <a:xfrm>
            <a:off x="304800" y="814236"/>
            <a:ext cx="8585200" cy="4598045"/>
          </a:xfrm>
          <a:prstGeom prst="rect">
            <a:avLst/>
          </a:prstGeom>
          <a:ln>
            <a:solidFill>
              <a:schemeClr val="bg1">
                <a:lumMod val="65000"/>
              </a:schemeClr>
            </a:solidFill>
          </a:ln>
        </p:spPr>
      </p:pic>
      <p:sp>
        <p:nvSpPr>
          <p:cNvPr id="3" name="TextBox 2">
            <a:extLst>
              <a:ext uri="{FF2B5EF4-FFF2-40B4-BE49-F238E27FC236}">
                <a16:creationId xmlns:a16="http://schemas.microsoft.com/office/drawing/2014/main" id="{BB924258-C896-2B45-1DFD-1C2BCB00EDBD}"/>
              </a:ext>
            </a:extLst>
          </p:cNvPr>
          <p:cNvSpPr txBox="1"/>
          <p:nvPr/>
        </p:nvSpPr>
        <p:spPr>
          <a:xfrm>
            <a:off x="304800" y="6043764"/>
            <a:ext cx="8153400" cy="369332"/>
          </a:xfrm>
          <a:prstGeom prst="rect">
            <a:avLst/>
          </a:prstGeom>
          <a:noFill/>
        </p:spPr>
        <p:txBody>
          <a:bodyPr wrap="square">
            <a:spAutoFit/>
          </a:bodyPr>
          <a:lstStyle/>
          <a:p>
            <a:pPr algn="ctr"/>
            <a:r>
              <a:rPr lang="en-US" dirty="0">
                <a:hlinkClick r:id="rId3"/>
              </a:rPr>
              <a:t>https://developer.chrome.com/docs/devtools/overview</a:t>
            </a:r>
            <a:endParaRPr lang="en-US" dirty="0"/>
          </a:p>
        </p:txBody>
      </p:sp>
    </p:spTree>
    <p:extLst>
      <p:ext uri="{BB962C8B-B14F-4D97-AF65-F5344CB8AC3E}">
        <p14:creationId xmlns:p14="http://schemas.microsoft.com/office/powerpoint/2010/main" val="1454811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5F643-6DBB-DCFA-A410-84ACFE714309}"/>
            </a:ext>
          </a:extLst>
        </p:cNvPr>
        <p:cNvGrpSpPr/>
        <p:nvPr/>
      </p:nvGrpSpPr>
      <p:grpSpPr>
        <a:xfrm>
          <a:off x="0" y="0"/>
          <a:ext cx="0" cy="0"/>
          <a:chOff x="0" y="0"/>
          <a:chExt cx="0" cy="0"/>
        </a:xfrm>
      </p:grpSpPr>
      <p:pic>
        <p:nvPicPr>
          <p:cNvPr id="2" name="Picture 1">
            <a:hlinkClick r:id="rId2"/>
            <a:extLst>
              <a:ext uri="{FF2B5EF4-FFF2-40B4-BE49-F238E27FC236}">
                <a16:creationId xmlns:a16="http://schemas.microsoft.com/office/drawing/2014/main" id="{1561DD0B-62AB-835F-1096-D837D7B1363D}"/>
              </a:ext>
            </a:extLst>
          </p:cNvPr>
          <p:cNvPicPr>
            <a:picLocks noChangeAspect="1"/>
          </p:cNvPicPr>
          <p:nvPr/>
        </p:nvPicPr>
        <p:blipFill>
          <a:blip r:embed="rId3"/>
          <a:stretch>
            <a:fillRect/>
          </a:stretch>
        </p:blipFill>
        <p:spPr>
          <a:xfrm>
            <a:off x="246289" y="1632857"/>
            <a:ext cx="8651421" cy="4071257"/>
          </a:xfrm>
          <a:prstGeom prst="rect">
            <a:avLst/>
          </a:prstGeom>
          <a:ln>
            <a:solidFill>
              <a:schemeClr val="bg1">
                <a:lumMod val="65000"/>
              </a:schemeClr>
            </a:solidFill>
          </a:ln>
        </p:spPr>
      </p:pic>
      <p:pic>
        <p:nvPicPr>
          <p:cNvPr id="3" name="Picture 2">
            <a:extLst>
              <a:ext uri="{FF2B5EF4-FFF2-40B4-BE49-F238E27FC236}">
                <a16:creationId xmlns:a16="http://schemas.microsoft.com/office/drawing/2014/main" id="{71A38C24-FF61-54FF-3B6B-3D2041B75945}"/>
              </a:ext>
            </a:extLst>
          </p:cNvPr>
          <p:cNvPicPr>
            <a:picLocks noChangeAspect="1"/>
          </p:cNvPicPr>
          <p:nvPr/>
        </p:nvPicPr>
        <p:blipFill>
          <a:blip r:embed="rId4"/>
          <a:stretch>
            <a:fillRect/>
          </a:stretch>
        </p:blipFill>
        <p:spPr>
          <a:xfrm>
            <a:off x="2045049" y="293717"/>
            <a:ext cx="5053899" cy="1104901"/>
          </a:xfrm>
          <a:prstGeom prst="rect">
            <a:avLst/>
          </a:prstGeom>
        </p:spPr>
      </p:pic>
      <p:sp>
        <p:nvSpPr>
          <p:cNvPr id="5" name="TextBox 4">
            <a:extLst>
              <a:ext uri="{FF2B5EF4-FFF2-40B4-BE49-F238E27FC236}">
                <a16:creationId xmlns:a16="http://schemas.microsoft.com/office/drawing/2014/main" id="{69EBF39B-E676-2AD0-7344-E07AD9C38CAA}"/>
              </a:ext>
            </a:extLst>
          </p:cNvPr>
          <p:cNvSpPr txBox="1"/>
          <p:nvPr/>
        </p:nvSpPr>
        <p:spPr>
          <a:xfrm>
            <a:off x="2285999" y="6172592"/>
            <a:ext cx="4572000" cy="369332"/>
          </a:xfrm>
          <a:prstGeom prst="rect">
            <a:avLst/>
          </a:prstGeom>
          <a:noFill/>
        </p:spPr>
        <p:txBody>
          <a:bodyPr wrap="square">
            <a:spAutoFit/>
          </a:bodyPr>
          <a:lstStyle/>
          <a:p>
            <a:pPr algn="ctr"/>
            <a:r>
              <a:rPr lang="en-US" dirty="0">
                <a:hlinkClick r:id="rId2"/>
              </a:rPr>
              <a:t>https://blisk.io/</a:t>
            </a:r>
            <a:endParaRPr lang="en-US" dirty="0"/>
          </a:p>
        </p:txBody>
      </p:sp>
    </p:spTree>
    <p:extLst>
      <p:ext uri="{BB962C8B-B14F-4D97-AF65-F5344CB8AC3E}">
        <p14:creationId xmlns:p14="http://schemas.microsoft.com/office/powerpoint/2010/main" val="3457071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57183"/>
            <a:ext cx="8229600" cy="5783317"/>
          </a:xfrm>
        </p:spPr>
        <p:txBody>
          <a:bodyPr>
            <a:normAutofit/>
          </a:bodyPr>
          <a:lstStyle/>
          <a:p>
            <a:pPr marL="0" indent="0" algn="ctr">
              <a:lnSpc>
                <a:spcPct val="130000"/>
              </a:lnSpc>
              <a:buNone/>
            </a:pPr>
            <a:r>
              <a:rPr lang="en-GB" sz="3000" dirty="0">
                <a:solidFill>
                  <a:schemeClr val="tx1">
                    <a:lumMod val="85000"/>
                    <a:lumOff val="15000"/>
                  </a:schemeClr>
                </a:solidFill>
              </a:rPr>
              <a:t>The rise of mobile internet use means screen design must now encompass mobile design.</a:t>
            </a:r>
          </a:p>
          <a:p>
            <a:pPr marL="0" indent="0" algn="ctr">
              <a:lnSpc>
                <a:spcPct val="130000"/>
              </a:lnSpc>
              <a:buNone/>
            </a:pPr>
            <a:endParaRPr lang="en-GB" sz="3000" dirty="0">
              <a:solidFill>
                <a:schemeClr val="tx1">
                  <a:lumMod val="85000"/>
                  <a:lumOff val="15000"/>
                </a:schemeClr>
              </a:solidFill>
            </a:endParaRPr>
          </a:p>
          <a:p>
            <a:pPr marL="0" indent="0" algn="ctr">
              <a:lnSpc>
                <a:spcPct val="130000"/>
              </a:lnSpc>
              <a:buNone/>
            </a:pPr>
            <a:r>
              <a:rPr lang="en-GB" sz="3000" dirty="0">
                <a:solidFill>
                  <a:schemeClr val="tx1">
                    <a:lumMod val="85000"/>
                    <a:lumOff val="15000"/>
                  </a:schemeClr>
                </a:solidFill>
              </a:rPr>
              <a:t>3 main options for mobile design / delivery.</a:t>
            </a:r>
          </a:p>
          <a:p>
            <a:pPr lvl="1" algn="ctr">
              <a:lnSpc>
                <a:spcPct val="150000"/>
              </a:lnSpc>
            </a:pPr>
            <a:r>
              <a:rPr lang="en-GB" sz="2400" dirty="0">
                <a:solidFill>
                  <a:schemeClr val="tx1">
                    <a:lumMod val="85000"/>
                    <a:lumOff val="15000"/>
                  </a:schemeClr>
                </a:solidFill>
              </a:rPr>
              <a:t>Responsive web design</a:t>
            </a:r>
          </a:p>
          <a:p>
            <a:pPr lvl="1" algn="ctr">
              <a:lnSpc>
                <a:spcPct val="150000"/>
              </a:lnSpc>
            </a:pPr>
            <a:r>
              <a:rPr lang="en-GB" sz="2400" dirty="0">
                <a:solidFill>
                  <a:schemeClr val="tx1">
                    <a:lumMod val="85000"/>
                    <a:lumOff val="15000"/>
                  </a:schemeClr>
                </a:solidFill>
              </a:rPr>
              <a:t>Native app / web app</a:t>
            </a:r>
          </a:p>
          <a:p>
            <a:pPr lvl="1" algn="ctr">
              <a:lnSpc>
                <a:spcPct val="150000"/>
              </a:lnSpc>
            </a:pPr>
            <a:r>
              <a:rPr lang="en-GB" sz="2400" dirty="0">
                <a:solidFill>
                  <a:schemeClr val="tx1">
                    <a:lumMod val="85000"/>
                    <a:lumOff val="15000"/>
                  </a:schemeClr>
                </a:solidFill>
              </a:rPr>
              <a:t>Mobile specific site</a:t>
            </a:r>
          </a:p>
          <a:p>
            <a:pPr lvl="1">
              <a:lnSpc>
                <a:spcPct val="120000"/>
              </a:lnSpc>
            </a:pPr>
            <a:endParaRPr lang="en-US" sz="2000" dirty="0"/>
          </a:p>
          <a:p>
            <a:pPr lvl="1">
              <a:lnSpc>
                <a:spcPct val="120000"/>
              </a:lnSpc>
            </a:pPr>
            <a:endParaRPr lang="en-US" sz="2400" dirty="0"/>
          </a:p>
        </p:txBody>
      </p:sp>
    </p:spTree>
    <p:extLst>
      <p:ext uri="{BB962C8B-B14F-4D97-AF65-F5344CB8AC3E}">
        <p14:creationId xmlns:p14="http://schemas.microsoft.com/office/powerpoint/2010/main" val="4023932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8390" y="685800"/>
            <a:ext cx="6967220" cy="3348353"/>
          </a:xfrm>
          <a:prstGeom prst="rect">
            <a:avLst/>
          </a:prstGeom>
        </p:spPr>
        <p:txBody>
          <a:bodyPr vert="horz" wrap="square" lIns="0" tIns="16510" rIns="0" bIns="0" rtlCol="0">
            <a:spAutoFit/>
          </a:bodyPr>
          <a:lstStyle/>
          <a:p>
            <a:pPr marL="12700" algn="ctr">
              <a:lnSpc>
                <a:spcPct val="100000"/>
              </a:lnSpc>
              <a:spcBef>
                <a:spcPts val="130"/>
              </a:spcBef>
            </a:pPr>
            <a:r>
              <a:rPr sz="8000" spc="-65" dirty="0"/>
              <a:t>RWD</a:t>
            </a:r>
            <a:br>
              <a:rPr lang="en-GB" sz="4550" spc="-65" dirty="0"/>
            </a:br>
            <a:br>
              <a:rPr lang="en-GB" sz="4550" spc="-65" dirty="0"/>
            </a:br>
            <a:br>
              <a:rPr lang="en-GB" sz="4550" spc="-65" dirty="0"/>
            </a:br>
            <a:r>
              <a:rPr sz="4550" spc="-70" dirty="0"/>
              <a:t>responsive </a:t>
            </a:r>
            <a:r>
              <a:rPr sz="4550" spc="-60" dirty="0"/>
              <a:t>web</a:t>
            </a:r>
            <a:r>
              <a:rPr sz="4550" spc="-375" dirty="0"/>
              <a:t> </a:t>
            </a:r>
            <a:r>
              <a:rPr sz="4550" spc="-60" dirty="0"/>
              <a:t>design</a:t>
            </a:r>
            <a:endParaRPr sz="4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9721" y="6452846"/>
            <a:ext cx="3223260" cy="194310"/>
          </a:xfrm>
          <a:prstGeom prst="rect">
            <a:avLst/>
          </a:prstGeom>
        </p:spPr>
        <p:txBody>
          <a:bodyPr vert="horz" wrap="square" lIns="0" tIns="0" rIns="0" bIns="0" rtlCol="0">
            <a:spAutoFit/>
          </a:bodyPr>
          <a:lstStyle/>
          <a:p>
            <a:pPr>
              <a:lnSpc>
                <a:spcPts val="1440"/>
              </a:lnSpc>
            </a:pPr>
            <a:r>
              <a:rPr sz="1250" spc="-25" dirty="0">
                <a:solidFill>
                  <a:srgbClr val="9A9A99"/>
                </a:solidFill>
                <a:latin typeface="Arial"/>
                <a:cs typeface="Arial"/>
              </a:rPr>
              <a:t>COMP1678 </a:t>
            </a:r>
            <a:r>
              <a:rPr sz="1250" spc="-75" dirty="0">
                <a:solidFill>
                  <a:srgbClr val="9A9A99"/>
                </a:solidFill>
                <a:latin typeface="Arial"/>
                <a:cs typeface="Arial"/>
              </a:rPr>
              <a:t>– </a:t>
            </a:r>
            <a:r>
              <a:rPr sz="1250" spc="-30" dirty="0">
                <a:solidFill>
                  <a:srgbClr val="9A9A99"/>
                </a:solidFill>
                <a:latin typeface="Arial"/>
                <a:cs typeface="Arial"/>
              </a:rPr>
              <a:t>User </a:t>
            </a:r>
            <a:r>
              <a:rPr sz="1250" spc="0" dirty="0">
                <a:solidFill>
                  <a:srgbClr val="9A9A99"/>
                </a:solidFill>
                <a:latin typeface="Arial"/>
                <a:cs typeface="Arial"/>
              </a:rPr>
              <a:t>Centred </a:t>
            </a:r>
            <a:r>
              <a:rPr sz="1250" spc="-20" dirty="0">
                <a:solidFill>
                  <a:srgbClr val="9A9A99"/>
                </a:solidFill>
                <a:latin typeface="Arial"/>
                <a:cs typeface="Arial"/>
              </a:rPr>
              <a:t>Web</a:t>
            </a:r>
            <a:r>
              <a:rPr sz="1250" spc="-50" dirty="0">
                <a:solidFill>
                  <a:srgbClr val="9A9A99"/>
                </a:solidFill>
                <a:latin typeface="Arial"/>
                <a:cs typeface="Arial"/>
              </a:rPr>
              <a:t> </a:t>
            </a:r>
            <a:r>
              <a:rPr sz="1250" spc="15" dirty="0">
                <a:solidFill>
                  <a:srgbClr val="9A9A99"/>
                </a:solidFill>
                <a:latin typeface="Arial"/>
                <a:cs typeface="Arial"/>
              </a:rPr>
              <a:t>Engineering</a:t>
            </a:r>
            <a:endParaRPr sz="1250">
              <a:latin typeface="Arial"/>
              <a:cs typeface="Arial"/>
            </a:endParaRPr>
          </a:p>
        </p:txBody>
      </p:sp>
      <p:sp>
        <p:nvSpPr>
          <p:cNvPr id="3" name="object 3"/>
          <p:cNvSpPr/>
          <p:nvPr/>
        </p:nvSpPr>
        <p:spPr>
          <a:xfrm>
            <a:off x="241300" y="177800"/>
            <a:ext cx="7721600" cy="461010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3048000" y="1409700"/>
            <a:ext cx="4533900" cy="4152900"/>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6705600" y="2082800"/>
            <a:ext cx="2197100" cy="4445000"/>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179386" y="6308725"/>
            <a:ext cx="3529329" cy="433705"/>
          </a:xfrm>
          <a:custGeom>
            <a:avLst/>
            <a:gdLst/>
            <a:ahLst/>
            <a:cxnLst/>
            <a:rect l="l" t="t" r="r" b="b"/>
            <a:pathLst>
              <a:path w="3529329" h="433704">
                <a:moveTo>
                  <a:pt x="0" y="0"/>
                </a:moveTo>
                <a:lnTo>
                  <a:pt x="3529011" y="0"/>
                </a:lnTo>
                <a:lnTo>
                  <a:pt x="3529011" y="433387"/>
                </a:lnTo>
                <a:lnTo>
                  <a:pt x="0" y="433387"/>
                </a:lnTo>
                <a:lnTo>
                  <a:pt x="0" y="0"/>
                </a:lnTo>
                <a:close/>
              </a:path>
            </a:pathLst>
          </a:custGeom>
          <a:solidFill>
            <a:srgbClr val="FFFFFF"/>
          </a:solidFill>
        </p:spPr>
        <p:txBody>
          <a:bodyPr wrap="square" lIns="0" tIns="0" rIns="0" bIns="0" rtlCol="0"/>
          <a:lstStyle/>
          <a:p>
            <a:endParaRPr/>
          </a:p>
        </p:txBody>
      </p:sp>
      <p:sp>
        <p:nvSpPr>
          <p:cNvPr id="7" name="object 7"/>
          <p:cNvSpPr txBox="1"/>
          <p:nvPr/>
        </p:nvSpPr>
        <p:spPr>
          <a:xfrm>
            <a:off x="388302" y="5862461"/>
            <a:ext cx="4130040" cy="634148"/>
          </a:xfrm>
          <a:prstGeom prst="rect">
            <a:avLst/>
          </a:prstGeom>
        </p:spPr>
        <p:txBody>
          <a:bodyPr vert="horz" wrap="square" lIns="0" tIns="86995" rIns="0" bIns="0" rtlCol="0">
            <a:spAutoFit/>
          </a:bodyPr>
          <a:lstStyle/>
          <a:p>
            <a:pPr marL="12700">
              <a:lnSpc>
                <a:spcPct val="100000"/>
              </a:lnSpc>
              <a:spcBef>
                <a:spcPts val="685"/>
              </a:spcBef>
            </a:pPr>
            <a:r>
              <a:rPr sz="2050" b="1" spc="-60" dirty="0">
                <a:solidFill>
                  <a:srgbClr val="404040"/>
                </a:solidFill>
                <a:latin typeface="Arial"/>
                <a:cs typeface="Arial"/>
              </a:rPr>
              <a:t>47 </a:t>
            </a:r>
            <a:r>
              <a:rPr sz="2050" b="1" spc="-155" dirty="0">
                <a:solidFill>
                  <a:srgbClr val="404040"/>
                </a:solidFill>
                <a:latin typeface="Arial"/>
                <a:cs typeface="Arial"/>
              </a:rPr>
              <a:t>Responsive </a:t>
            </a:r>
            <a:r>
              <a:rPr sz="2050" b="1" spc="-145" dirty="0">
                <a:solidFill>
                  <a:srgbClr val="404040"/>
                </a:solidFill>
                <a:latin typeface="Arial"/>
                <a:cs typeface="Arial"/>
              </a:rPr>
              <a:t>Web </a:t>
            </a:r>
            <a:r>
              <a:rPr sz="2050" b="1" spc="-125" dirty="0">
                <a:solidFill>
                  <a:srgbClr val="404040"/>
                </a:solidFill>
                <a:latin typeface="Arial"/>
                <a:cs typeface="Arial"/>
              </a:rPr>
              <a:t>Design</a:t>
            </a:r>
            <a:r>
              <a:rPr sz="2050" b="1" spc="-250" dirty="0">
                <a:solidFill>
                  <a:srgbClr val="404040"/>
                </a:solidFill>
                <a:latin typeface="Arial"/>
                <a:cs typeface="Arial"/>
              </a:rPr>
              <a:t> </a:t>
            </a:r>
            <a:r>
              <a:rPr sz="2050" b="1" spc="-150" dirty="0">
                <a:solidFill>
                  <a:srgbClr val="404040"/>
                </a:solidFill>
                <a:latin typeface="Arial"/>
                <a:cs typeface="Arial"/>
              </a:rPr>
              <a:t>Examples</a:t>
            </a:r>
            <a:endParaRPr sz="2050" dirty="0">
              <a:latin typeface="Arial"/>
              <a:cs typeface="Arial"/>
            </a:endParaRPr>
          </a:p>
          <a:p>
            <a:pPr marL="12700">
              <a:lnSpc>
                <a:spcPct val="100000"/>
              </a:lnSpc>
              <a:spcBef>
                <a:spcPts val="340"/>
              </a:spcBef>
            </a:pPr>
            <a:r>
              <a:rPr lang="en-GB" sz="1250" spc="35" dirty="0">
                <a:solidFill>
                  <a:srgbClr val="0000FF"/>
                </a:solidFill>
                <a:latin typeface="Arial"/>
                <a:cs typeface="Arial"/>
                <a:hlinkClick r:id="rId5"/>
              </a:rPr>
              <a:t>https://</a:t>
            </a:r>
            <a:r>
              <a:rPr lang="en-GB" sz="1250" spc="35" dirty="0" err="1">
                <a:solidFill>
                  <a:srgbClr val="0000FF"/>
                </a:solidFill>
                <a:latin typeface="Arial"/>
                <a:cs typeface="Arial"/>
                <a:hlinkClick r:id="rId5"/>
              </a:rPr>
              <a:t>www.youtube.com</a:t>
            </a:r>
            <a:r>
              <a:rPr lang="en-GB" sz="1250" spc="35" dirty="0">
                <a:solidFill>
                  <a:srgbClr val="0000FF"/>
                </a:solidFill>
                <a:latin typeface="Arial"/>
                <a:cs typeface="Arial"/>
                <a:hlinkClick r:id="rId5"/>
              </a:rPr>
              <a:t>/</a:t>
            </a:r>
            <a:r>
              <a:rPr lang="en-GB" sz="1250" spc="35" dirty="0" err="1">
                <a:solidFill>
                  <a:srgbClr val="0000FF"/>
                </a:solidFill>
                <a:latin typeface="Arial"/>
                <a:cs typeface="Arial"/>
                <a:hlinkClick r:id="rId5"/>
              </a:rPr>
              <a:t>watch?v</a:t>
            </a:r>
            <a:r>
              <a:rPr lang="en-GB" sz="1250" spc="35" dirty="0">
                <a:solidFill>
                  <a:srgbClr val="0000FF"/>
                </a:solidFill>
                <a:latin typeface="Arial"/>
                <a:cs typeface="Arial"/>
                <a:hlinkClick r:id="rId5"/>
              </a:rPr>
              <a:t>=5M5A8PHta38</a:t>
            </a:r>
            <a:endParaRPr sz="1250" dirty="0">
              <a:latin typeface="Arial"/>
              <a:cs typeface="Arial"/>
            </a:endParaRPr>
          </a:p>
        </p:txBody>
      </p:sp>
      <p:sp>
        <p:nvSpPr>
          <p:cNvPr id="8" name="object 8"/>
          <p:cNvSpPr/>
          <p:nvPr/>
        </p:nvSpPr>
        <p:spPr>
          <a:xfrm>
            <a:off x="388302" y="6465040"/>
            <a:ext cx="3651250" cy="0"/>
          </a:xfrm>
          <a:custGeom>
            <a:avLst/>
            <a:gdLst/>
            <a:ahLst/>
            <a:cxnLst/>
            <a:rect l="l" t="t" r="r" b="b"/>
            <a:pathLst>
              <a:path w="3651250">
                <a:moveTo>
                  <a:pt x="0" y="0"/>
                </a:moveTo>
                <a:lnTo>
                  <a:pt x="3651249" y="0"/>
                </a:lnTo>
              </a:path>
            </a:pathLst>
          </a:custGeom>
          <a:ln w="11641">
            <a:solidFill>
              <a:srgbClr val="0000FF"/>
            </a:solidFill>
          </a:ln>
        </p:spPr>
        <p:txBody>
          <a:bodyPr wrap="square" lIns="0" tIns="0" rIns="0" bIns="0" rtlCol="0"/>
          <a:lstStyle/>
          <a:p>
            <a:endParaRPr/>
          </a:p>
        </p:txBody>
      </p:sp>
      <p:sp>
        <p:nvSpPr>
          <p:cNvPr id="9" name="object 9"/>
          <p:cNvSpPr/>
          <p:nvPr/>
        </p:nvSpPr>
        <p:spPr>
          <a:xfrm>
            <a:off x="401002" y="6497320"/>
            <a:ext cx="3797300" cy="0"/>
          </a:xfrm>
          <a:custGeom>
            <a:avLst/>
            <a:gdLst/>
            <a:ahLst/>
            <a:cxnLst/>
            <a:rect l="l" t="t" r="r" b="b"/>
            <a:pathLst>
              <a:path w="3797300">
                <a:moveTo>
                  <a:pt x="0" y="0"/>
                </a:moveTo>
                <a:lnTo>
                  <a:pt x="3797300" y="0"/>
                </a:lnTo>
              </a:path>
            </a:pathLst>
          </a:custGeom>
          <a:ln w="52916">
            <a:solidFill>
              <a:srgbClr val="F3E700"/>
            </a:solidFill>
          </a:ln>
        </p:spPr>
        <p:txBody>
          <a:bodyPr wrap="square" lIns="0" tIns="0" rIns="0" bIns="0" rtlCol="0"/>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88903"/>
            <a:ext cx="7432040" cy="648335"/>
          </a:xfrm>
          <a:prstGeom prst="rect">
            <a:avLst/>
          </a:prstGeom>
        </p:spPr>
        <p:txBody>
          <a:bodyPr vert="horz" wrap="square" lIns="0" tIns="17145" rIns="0" bIns="0" rtlCol="0">
            <a:spAutoFit/>
          </a:bodyPr>
          <a:lstStyle/>
          <a:p>
            <a:pPr marL="12700">
              <a:lnSpc>
                <a:spcPct val="100000"/>
              </a:lnSpc>
              <a:spcBef>
                <a:spcPts val="135"/>
              </a:spcBef>
            </a:pPr>
            <a:r>
              <a:rPr sz="4050" spc="-20" dirty="0"/>
              <a:t>What </a:t>
            </a:r>
            <a:r>
              <a:rPr sz="4050" spc="15" dirty="0"/>
              <a:t>Is </a:t>
            </a:r>
            <a:r>
              <a:rPr sz="4050" spc="-20" dirty="0"/>
              <a:t>Responsive </a:t>
            </a:r>
            <a:r>
              <a:rPr sz="4050" spc="-25" dirty="0"/>
              <a:t>Web</a:t>
            </a:r>
            <a:r>
              <a:rPr sz="4050" spc="-360" dirty="0"/>
              <a:t> </a:t>
            </a:r>
            <a:r>
              <a:rPr sz="4050" spc="-15" dirty="0"/>
              <a:t>Design?</a:t>
            </a:r>
            <a:endParaRPr sz="4050"/>
          </a:p>
        </p:txBody>
      </p:sp>
      <p:sp>
        <p:nvSpPr>
          <p:cNvPr id="3" name="object 3"/>
          <p:cNvSpPr txBox="1"/>
          <p:nvPr/>
        </p:nvSpPr>
        <p:spPr>
          <a:xfrm>
            <a:off x="535940" y="1576916"/>
            <a:ext cx="7982584" cy="4114800"/>
          </a:xfrm>
          <a:prstGeom prst="rect">
            <a:avLst/>
          </a:prstGeom>
        </p:spPr>
        <p:txBody>
          <a:bodyPr vert="horz" wrap="square" lIns="0" tIns="11430" rIns="0" bIns="0" rtlCol="0">
            <a:spAutoFit/>
          </a:bodyPr>
          <a:lstStyle/>
          <a:p>
            <a:pPr marL="12700" marR="5080">
              <a:lnSpc>
                <a:spcPct val="154500"/>
              </a:lnSpc>
              <a:spcBef>
                <a:spcPts val="90"/>
              </a:spcBef>
            </a:pPr>
            <a:r>
              <a:rPr sz="2050" spc="55" dirty="0">
                <a:latin typeface="HelveticaNeue-Light"/>
                <a:cs typeface="HelveticaNeue-Light"/>
              </a:rPr>
              <a:t>Responsive Web </a:t>
            </a:r>
            <a:r>
              <a:rPr sz="2050" spc="50" dirty="0">
                <a:latin typeface="HelveticaNeue-Light"/>
                <a:cs typeface="HelveticaNeue-Light"/>
              </a:rPr>
              <a:t>design </a:t>
            </a:r>
            <a:r>
              <a:rPr sz="2050" spc="15" dirty="0">
                <a:latin typeface="HelveticaNeue-Light"/>
                <a:cs typeface="HelveticaNeue-Light"/>
              </a:rPr>
              <a:t>is </a:t>
            </a:r>
            <a:r>
              <a:rPr sz="2050" spc="35" dirty="0">
                <a:latin typeface="HelveticaNeue-Light"/>
                <a:cs typeface="HelveticaNeue-Light"/>
              </a:rPr>
              <a:t>the </a:t>
            </a:r>
            <a:r>
              <a:rPr sz="2050" spc="50" dirty="0">
                <a:latin typeface="HelveticaNeue-Light"/>
                <a:cs typeface="HelveticaNeue-Light"/>
              </a:rPr>
              <a:t>approach </a:t>
            </a:r>
            <a:r>
              <a:rPr sz="2050" spc="40" dirty="0">
                <a:latin typeface="HelveticaNeue-Light"/>
                <a:cs typeface="HelveticaNeue-Light"/>
              </a:rPr>
              <a:t>that </a:t>
            </a:r>
            <a:r>
              <a:rPr sz="2050" spc="55" dirty="0">
                <a:latin typeface="HelveticaNeue-Light"/>
                <a:cs typeface="HelveticaNeue-Light"/>
              </a:rPr>
              <a:t>suggests </a:t>
            </a:r>
            <a:r>
              <a:rPr sz="2050" spc="40" dirty="0">
                <a:latin typeface="HelveticaNeue-Light"/>
                <a:cs typeface="HelveticaNeue-Light"/>
              </a:rPr>
              <a:t>that </a:t>
            </a:r>
            <a:r>
              <a:rPr sz="2050" spc="50" dirty="0">
                <a:latin typeface="HelveticaNeue-Light"/>
                <a:cs typeface="HelveticaNeue-Light"/>
              </a:rPr>
              <a:t>design  and </a:t>
            </a:r>
            <a:r>
              <a:rPr sz="2050" spc="60" dirty="0">
                <a:latin typeface="HelveticaNeue-Light"/>
                <a:cs typeface="HelveticaNeue-Light"/>
              </a:rPr>
              <a:t>development </a:t>
            </a:r>
            <a:r>
              <a:rPr sz="2050" spc="50" dirty="0">
                <a:latin typeface="HelveticaNeue-Light"/>
                <a:cs typeface="HelveticaNeue-Light"/>
              </a:rPr>
              <a:t>should respond </a:t>
            </a:r>
            <a:r>
              <a:rPr sz="2050" spc="25" dirty="0">
                <a:latin typeface="HelveticaNeue-Light"/>
                <a:cs typeface="HelveticaNeue-Light"/>
              </a:rPr>
              <a:t>to </a:t>
            </a:r>
            <a:r>
              <a:rPr sz="2050" spc="35" dirty="0">
                <a:latin typeface="HelveticaNeue-Light"/>
                <a:cs typeface="HelveticaNeue-Light"/>
              </a:rPr>
              <a:t>the </a:t>
            </a:r>
            <a:r>
              <a:rPr sz="2050" spc="5" dirty="0">
                <a:latin typeface="HelveticaNeue-Light"/>
                <a:cs typeface="HelveticaNeue-Light"/>
              </a:rPr>
              <a:t>user’s </a:t>
            </a:r>
            <a:r>
              <a:rPr sz="2050" spc="55" dirty="0">
                <a:latin typeface="HelveticaNeue-Light"/>
                <a:cs typeface="HelveticaNeue-Light"/>
              </a:rPr>
              <a:t>behaviour</a:t>
            </a:r>
            <a:r>
              <a:rPr sz="2050" spc="550" dirty="0">
                <a:latin typeface="HelveticaNeue-Light"/>
                <a:cs typeface="HelveticaNeue-Light"/>
              </a:rPr>
              <a:t> </a:t>
            </a:r>
            <a:r>
              <a:rPr sz="2050" spc="50" dirty="0">
                <a:latin typeface="HelveticaNeue-Light"/>
                <a:cs typeface="HelveticaNeue-Light"/>
              </a:rPr>
              <a:t>and</a:t>
            </a:r>
            <a:endParaRPr sz="2050">
              <a:latin typeface="HelveticaNeue-Light"/>
              <a:cs typeface="HelveticaNeue-Light"/>
            </a:endParaRPr>
          </a:p>
          <a:p>
            <a:pPr marL="12700">
              <a:lnSpc>
                <a:spcPct val="100000"/>
              </a:lnSpc>
              <a:spcBef>
                <a:spcPts val="1639"/>
              </a:spcBef>
            </a:pPr>
            <a:r>
              <a:rPr sz="2050" spc="55" dirty="0">
                <a:latin typeface="HelveticaNeue-Light"/>
                <a:cs typeface="HelveticaNeue-Light"/>
              </a:rPr>
              <a:t>environment based </a:t>
            </a:r>
            <a:r>
              <a:rPr sz="2050" spc="40" dirty="0">
                <a:latin typeface="HelveticaNeue-Light"/>
                <a:cs typeface="HelveticaNeue-Light"/>
              </a:rPr>
              <a:t>on screen size, platform </a:t>
            </a:r>
            <a:r>
              <a:rPr sz="2050" spc="50" dirty="0">
                <a:latin typeface="HelveticaNeue-Light"/>
                <a:cs typeface="HelveticaNeue-Light"/>
              </a:rPr>
              <a:t>and</a:t>
            </a:r>
            <a:r>
              <a:rPr sz="2050" spc="500" dirty="0">
                <a:latin typeface="HelveticaNeue-Light"/>
                <a:cs typeface="HelveticaNeue-Light"/>
              </a:rPr>
              <a:t> </a:t>
            </a:r>
            <a:r>
              <a:rPr sz="2050" spc="50" dirty="0">
                <a:latin typeface="HelveticaNeue-Light"/>
                <a:cs typeface="HelveticaNeue-Light"/>
              </a:rPr>
              <a:t>orientation.</a:t>
            </a:r>
            <a:endParaRPr sz="2050">
              <a:latin typeface="HelveticaNeue-Light"/>
              <a:cs typeface="HelveticaNeue-Light"/>
            </a:endParaRPr>
          </a:p>
          <a:p>
            <a:pPr>
              <a:lnSpc>
                <a:spcPct val="100000"/>
              </a:lnSpc>
            </a:pPr>
            <a:endParaRPr sz="2400">
              <a:latin typeface="Times New Roman"/>
              <a:cs typeface="Times New Roman"/>
            </a:endParaRPr>
          </a:p>
          <a:p>
            <a:pPr>
              <a:lnSpc>
                <a:spcPct val="100000"/>
              </a:lnSpc>
              <a:spcBef>
                <a:spcPts val="40"/>
              </a:spcBef>
            </a:pPr>
            <a:endParaRPr sz="2000">
              <a:latin typeface="Times New Roman"/>
              <a:cs typeface="Times New Roman"/>
            </a:endParaRPr>
          </a:p>
          <a:p>
            <a:pPr marL="12700" marR="36830">
              <a:lnSpc>
                <a:spcPct val="150400"/>
              </a:lnSpc>
            </a:pPr>
            <a:r>
              <a:rPr sz="2050" spc="50" dirty="0">
                <a:latin typeface="HelveticaNeue-Light"/>
                <a:cs typeface="HelveticaNeue-Light"/>
              </a:rPr>
              <a:t>The </a:t>
            </a:r>
            <a:r>
              <a:rPr sz="2050" spc="40" dirty="0">
                <a:latin typeface="HelveticaNeue-Light"/>
                <a:cs typeface="HelveticaNeue-Light"/>
              </a:rPr>
              <a:t>practice </a:t>
            </a:r>
            <a:r>
              <a:rPr sz="2050" spc="50" dirty="0">
                <a:latin typeface="HelveticaNeue-Light"/>
                <a:cs typeface="HelveticaNeue-Light"/>
              </a:rPr>
              <a:t>consists </a:t>
            </a:r>
            <a:r>
              <a:rPr sz="2050" spc="35" dirty="0">
                <a:latin typeface="HelveticaNeue-Light"/>
                <a:cs typeface="HelveticaNeue-Light"/>
              </a:rPr>
              <a:t>of </a:t>
            </a:r>
            <a:r>
              <a:rPr sz="2050" spc="10" dirty="0">
                <a:latin typeface="HelveticaNeue-Light"/>
                <a:cs typeface="HelveticaNeue-Light"/>
              </a:rPr>
              <a:t>a </a:t>
            </a:r>
            <a:r>
              <a:rPr sz="2050" spc="50" dirty="0">
                <a:latin typeface="HelveticaNeue-Light"/>
                <a:cs typeface="HelveticaNeue-Light"/>
              </a:rPr>
              <a:t>mix </a:t>
            </a:r>
            <a:r>
              <a:rPr sz="2050" spc="35" dirty="0">
                <a:latin typeface="HelveticaNeue-Light"/>
                <a:cs typeface="HelveticaNeue-Light"/>
              </a:rPr>
              <a:t>of </a:t>
            </a:r>
            <a:r>
              <a:rPr sz="2050" spc="40" dirty="0">
                <a:latin typeface="HelveticaNeue-Light"/>
                <a:cs typeface="HelveticaNeue-Light"/>
              </a:rPr>
              <a:t>flexible grids </a:t>
            </a:r>
            <a:r>
              <a:rPr sz="2050" spc="50" dirty="0">
                <a:latin typeface="HelveticaNeue-Light"/>
                <a:cs typeface="HelveticaNeue-Light"/>
              </a:rPr>
              <a:t>and layouts, </a:t>
            </a:r>
            <a:r>
              <a:rPr sz="2050" spc="55" dirty="0">
                <a:latin typeface="HelveticaNeue-Light"/>
                <a:cs typeface="HelveticaNeue-Light"/>
              </a:rPr>
              <a:t>images  </a:t>
            </a:r>
            <a:r>
              <a:rPr sz="2050" spc="50" dirty="0">
                <a:latin typeface="HelveticaNeue-Light"/>
                <a:cs typeface="HelveticaNeue-Light"/>
              </a:rPr>
              <a:t>and </a:t>
            </a:r>
            <a:r>
              <a:rPr sz="2050" spc="35" dirty="0">
                <a:latin typeface="HelveticaNeue-Light"/>
                <a:cs typeface="HelveticaNeue-Light"/>
              </a:rPr>
              <a:t>an </a:t>
            </a:r>
            <a:r>
              <a:rPr sz="2050" spc="40" dirty="0">
                <a:latin typeface="HelveticaNeue-Light"/>
                <a:cs typeface="HelveticaNeue-Light"/>
              </a:rPr>
              <a:t>intelligent </a:t>
            </a:r>
            <a:r>
              <a:rPr sz="2050" spc="50" dirty="0">
                <a:latin typeface="HelveticaNeue-Light"/>
                <a:cs typeface="HelveticaNeue-Light"/>
              </a:rPr>
              <a:t>use </a:t>
            </a:r>
            <a:r>
              <a:rPr sz="2050" spc="35" dirty="0">
                <a:latin typeface="HelveticaNeue-Light"/>
                <a:cs typeface="HelveticaNeue-Light"/>
              </a:rPr>
              <a:t>of </a:t>
            </a:r>
            <a:r>
              <a:rPr sz="2050" spc="65" dirty="0">
                <a:latin typeface="HelveticaNeue-Light"/>
                <a:cs typeface="HelveticaNeue-Light"/>
              </a:rPr>
              <a:t>CSS </a:t>
            </a:r>
            <a:r>
              <a:rPr sz="2050" spc="55" dirty="0">
                <a:latin typeface="HelveticaNeue-Light"/>
                <a:cs typeface="HelveticaNeue-Light"/>
              </a:rPr>
              <a:t>media </a:t>
            </a:r>
            <a:r>
              <a:rPr sz="2050" spc="50" dirty="0">
                <a:latin typeface="HelveticaNeue-Light"/>
                <a:cs typeface="HelveticaNeue-Light"/>
              </a:rPr>
              <a:t>queries. As </a:t>
            </a:r>
            <a:r>
              <a:rPr sz="2050" spc="35" dirty="0">
                <a:latin typeface="HelveticaNeue-Light"/>
                <a:cs typeface="HelveticaNeue-Light"/>
              </a:rPr>
              <a:t>the </a:t>
            </a:r>
            <a:r>
              <a:rPr sz="2050" spc="50" dirty="0">
                <a:latin typeface="HelveticaNeue-Light"/>
                <a:cs typeface="HelveticaNeue-Light"/>
              </a:rPr>
              <a:t>user</a:t>
            </a:r>
            <a:r>
              <a:rPr sz="2050" spc="110" dirty="0">
                <a:latin typeface="HelveticaNeue-Light"/>
                <a:cs typeface="HelveticaNeue-Light"/>
              </a:rPr>
              <a:t> </a:t>
            </a:r>
            <a:r>
              <a:rPr sz="2050" spc="55" dirty="0">
                <a:latin typeface="HelveticaNeue-Light"/>
                <a:cs typeface="HelveticaNeue-Light"/>
              </a:rPr>
              <a:t>switches</a:t>
            </a:r>
            <a:endParaRPr sz="2050">
              <a:latin typeface="HelveticaNeue-Light"/>
              <a:cs typeface="HelveticaNeue-Light"/>
            </a:endParaRPr>
          </a:p>
          <a:p>
            <a:pPr marL="12700" marR="155575">
              <a:lnSpc>
                <a:spcPct val="154500"/>
              </a:lnSpc>
              <a:spcBef>
                <a:spcPts val="400"/>
              </a:spcBef>
            </a:pPr>
            <a:r>
              <a:rPr sz="2050" spc="30" dirty="0">
                <a:latin typeface="HelveticaNeue-Light"/>
                <a:cs typeface="HelveticaNeue-Light"/>
              </a:rPr>
              <a:t>from </a:t>
            </a:r>
            <a:r>
              <a:rPr sz="2050" spc="35" dirty="0">
                <a:latin typeface="HelveticaNeue-Light"/>
                <a:cs typeface="HelveticaNeue-Light"/>
              </a:rPr>
              <a:t>their </a:t>
            </a:r>
            <a:r>
              <a:rPr sz="2050" spc="50" dirty="0">
                <a:latin typeface="HelveticaNeue-Light"/>
                <a:cs typeface="HelveticaNeue-Light"/>
              </a:rPr>
              <a:t>laptop </a:t>
            </a:r>
            <a:r>
              <a:rPr sz="2050" spc="25" dirty="0">
                <a:latin typeface="HelveticaNeue-Light"/>
                <a:cs typeface="HelveticaNeue-Light"/>
              </a:rPr>
              <a:t>to </a:t>
            </a:r>
            <a:r>
              <a:rPr sz="2050" spc="50" dirty="0">
                <a:latin typeface="HelveticaNeue-Light"/>
                <a:cs typeface="HelveticaNeue-Light"/>
              </a:rPr>
              <a:t>iPad, </a:t>
            </a:r>
            <a:r>
              <a:rPr sz="2050" spc="35" dirty="0">
                <a:latin typeface="HelveticaNeue-Light"/>
                <a:cs typeface="HelveticaNeue-Light"/>
              </a:rPr>
              <a:t>the </a:t>
            </a:r>
            <a:r>
              <a:rPr sz="2050" spc="50" dirty="0">
                <a:latin typeface="HelveticaNeue-Light"/>
                <a:cs typeface="HelveticaNeue-Light"/>
              </a:rPr>
              <a:t>website should automatically switch  </a:t>
            </a:r>
            <a:r>
              <a:rPr sz="2050" spc="25" dirty="0">
                <a:latin typeface="HelveticaNeue-Light"/>
                <a:cs typeface="HelveticaNeue-Light"/>
              </a:rPr>
              <a:t>to </a:t>
            </a:r>
            <a:r>
              <a:rPr sz="2050" spc="65" dirty="0">
                <a:latin typeface="HelveticaNeue-Light"/>
                <a:cs typeface="HelveticaNeue-Light"/>
              </a:rPr>
              <a:t>accommodate </a:t>
            </a:r>
            <a:r>
              <a:rPr sz="2050" spc="35" dirty="0">
                <a:latin typeface="HelveticaNeue-Light"/>
                <a:cs typeface="HelveticaNeue-Light"/>
              </a:rPr>
              <a:t>for </a:t>
            </a:r>
            <a:r>
              <a:rPr sz="2050" spc="50" dirty="0">
                <a:latin typeface="HelveticaNeue-Light"/>
                <a:cs typeface="HelveticaNeue-Light"/>
              </a:rPr>
              <a:t>resolution, </a:t>
            </a:r>
            <a:r>
              <a:rPr sz="2050" spc="55" dirty="0">
                <a:latin typeface="HelveticaNeue-Light"/>
                <a:cs typeface="HelveticaNeue-Light"/>
              </a:rPr>
              <a:t>image </a:t>
            </a:r>
            <a:r>
              <a:rPr sz="2050" spc="35" dirty="0">
                <a:latin typeface="HelveticaNeue-Light"/>
                <a:cs typeface="HelveticaNeue-Light"/>
              </a:rPr>
              <a:t>size </a:t>
            </a:r>
            <a:r>
              <a:rPr sz="2050" spc="50" dirty="0">
                <a:latin typeface="HelveticaNeue-Light"/>
                <a:cs typeface="HelveticaNeue-Light"/>
              </a:rPr>
              <a:t>and </a:t>
            </a:r>
            <a:r>
              <a:rPr sz="2050" spc="40" dirty="0">
                <a:latin typeface="HelveticaNeue-Light"/>
                <a:cs typeface="HelveticaNeue-Light"/>
              </a:rPr>
              <a:t>scripting</a:t>
            </a:r>
            <a:r>
              <a:rPr sz="2050" spc="625" dirty="0">
                <a:latin typeface="HelveticaNeue-Light"/>
                <a:cs typeface="HelveticaNeue-Light"/>
              </a:rPr>
              <a:t> </a:t>
            </a:r>
            <a:r>
              <a:rPr sz="2050" spc="40" dirty="0">
                <a:latin typeface="HelveticaNeue-Light"/>
                <a:cs typeface="HelveticaNeue-Light"/>
              </a:rPr>
              <a:t>abilities.</a:t>
            </a:r>
            <a:endParaRPr sz="2050">
              <a:latin typeface="HelveticaNeue-Light"/>
              <a:cs typeface="HelveticaNeue-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459316"/>
            <a:ext cx="3719195" cy="723900"/>
          </a:xfrm>
          <a:prstGeom prst="rect">
            <a:avLst/>
          </a:prstGeom>
        </p:spPr>
        <p:txBody>
          <a:bodyPr vert="horz" wrap="square" lIns="0" tIns="16510" rIns="0" bIns="0" rtlCol="0">
            <a:spAutoFit/>
          </a:bodyPr>
          <a:lstStyle/>
          <a:p>
            <a:pPr marL="12700">
              <a:lnSpc>
                <a:spcPct val="100000"/>
              </a:lnSpc>
              <a:spcBef>
                <a:spcPts val="130"/>
              </a:spcBef>
            </a:pPr>
            <a:r>
              <a:rPr sz="4550" spc="-60" dirty="0"/>
              <a:t>Ethan</a:t>
            </a:r>
            <a:r>
              <a:rPr sz="4550" spc="-180" dirty="0"/>
              <a:t> </a:t>
            </a:r>
            <a:r>
              <a:rPr sz="4550" spc="-75" dirty="0"/>
              <a:t>Marcotte</a:t>
            </a:r>
            <a:endParaRPr sz="4550"/>
          </a:p>
        </p:txBody>
      </p:sp>
      <p:sp>
        <p:nvSpPr>
          <p:cNvPr id="3" name="object 3"/>
          <p:cNvSpPr txBox="1"/>
          <p:nvPr/>
        </p:nvSpPr>
        <p:spPr>
          <a:xfrm>
            <a:off x="535940" y="1358900"/>
            <a:ext cx="7516495" cy="5003800"/>
          </a:xfrm>
          <a:prstGeom prst="rect">
            <a:avLst/>
          </a:prstGeom>
        </p:spPr>
        <p:txBody>
          <a:bodyPr vert="horz" wrap="square" lIns="0" tIns="44450" rIns="0" bIns="0" rtlCol="0">
            <a:spAutoFit/>
          </a:bodyPr>
          <a:lstStyle/>
          <a:p>
            <a:pPr marL="12700" marR="5080">
              <a:lnSpc>
                <a:spcPct val="131700"/>
              </a:lnSpc>
              <a:spcBef>
                <a:spcPts val="350"/>
              </a:spcBef>
            </a:pPr>
            <a:r>
              <a:rPr sz="3675" spc="-22" baseline="1133" dirty="0">
                <a:latin typeface="HelveticaNeue-Light"/>
                <a:cs typeface="HelveticaNeue-Light"/>
              </a:rPr>
              <a:t>Ethan </a:t>
            </a:r>
            <a:r>
              <a:rPr sz="3675" spc="-37" baseline="1133" dirty="0">
                <a:latin typeface="HelveticaNeue-Light"/>
                <a:cs typeface="HelveticaNeue-Light"/>
              </a:rPr>
              <a:t>Marcotte </a:t>
            </a:r>
            <a:r>
              <a:rPr sz="2500" spc="-40" dirty="0">
                <a:latin typeface="HelveticaNeue-Light"/>
                <a:cs typeface="HelveticaNeue-Light"/>
              </a:rPr>
              <a:t>coined </a:t>
            </a:r>
            <a:r>
              <a:rPr sz="2500" spc="-30" dirty="0">
                <a:latin typeface="HelveticaNeue-Light"/>
                <a:cs typeface="HelveticaNeue-Light"/>
              </a:rPr>
              <a:t>the term </a:t>
            </a:r>
            <a:r>
              <a:rPr sz="2500" spc="-50" dirty="0">
                <a:latin typeface="HelveticaNeue-Light"/>
                <a:cs typeface="HelveticaNeue-Light"/>
              </a:rPr>
              <a:t>responsive </a:t>
            </a:r>
            <a:r>
              <a:rPr sz="2500" spc="-45" dirty="0">
                <a:latin typeface="HelveticaNeue-Light"/>
                <a:cs typeface="HelveticaNeue-Light"/>
              </a:rPr>
              <a:t>web </a:t>
            </a:r>
            <a:r>
              <a:rPr sz="2500" spc="-40" dirty="0">
                <a:latin typeface="HelveticaNeue-Light"/>
                <a:cs typeface="HelveticaNeue-Light"/>
              </a:rPr>
              <a:t>design  </a:t>
            </a:r>
            <a:r>
              <a:rPr sz="2500" spc="-55" dirty="0">
                <a:latin typeface="HelveticaNeue-Light"/>
                <a:cs typeface="HelveticaNeue-Light"/>
              </a:rPr>
              <a:t>(RWD)—and </a:t>
            </a:r>
            <a:r>
              <a:rPr sz="2500" spc="-40" dirty="0">
                <a:latin typeface="HelveticaNeue-Light"/>
                <a:cs typeface="HelveticaNeue-Light"/>
              </a:rPr>
              <a:t>defined </a:t>
            </a:r>
            <a:r>
              <a:rPr sz="2500" spc="-10" dirty="0">
                <a:latin typeface="HelveticaNeue-Light"/>
                <a:cs typeface="HelveticaNeue-Light"/>
              </a:rPr>
              <a:t>it </a:t>
            </a:r>
            <a:r>
              <a:rPr sz="2500" spc="-15" dirty="0">
                <a:latin typeface="HelveticaNeue-Light"/>
                <a:cs typeface="HelveticaNeue-Light"/>
              </a:rPr>
              <a:t>to </a:t>
            </a:r>
            <a:r>
              <a:rPr sz="2500" spc="-50" dirty="0">
                <a:latin typeface="HelveticaNeue-Light"/>
                <a:cs typeface="HelveticaNeue-Light"/>
              </a:rPr>
              <a:t>mean </a:t>
            </a:r>
            <a:r>
              <a:rPr sz="2500" spc="-25" dirty="0">
                <a:latin typeface="HelveticaNeue-Light"/>
                <a:cs typeface="HelveticaNeue-Light"/>
              </a:rPr>
              <a:t>fluid </a:t>
            </a:r>
            <a:r>
              <a:rPr sz="2500" spc="-35" dirty="0">
                <a:latin typeface="HelveticaNeue-Light"/>
                <a:cs typeface="HelveticaNeue-Light"/>
              </a:rPr>
              <a:t>grid/ </a:t>
            </a:r>
            <a:r>
              <a:rPr sz="2500" spc="-30" dirty="0">
                <a:latin typeface="HelveticaNeue-Light"/>
                <a:cs typeface="HelveticaNeue-Light"/>
              </a:rPr>
              <a:t>flexible</a:t>
            </a:r>
            <a:r>
              <a:rPr sz="2500" spc="-445" dirty="0">
                <a:latin typeface="HelveticaNeue-Light"/>
                <a:cs typeface="HelveticaNeue-Light"/>
              </a:rPr>
              <a:t> </a:t>
            </a:r>
            <a:r>
              <a:rPr sz="2500" spc="-45" dirty="0">
                <a:latin typeface="HelveticaNeue-Light"/>
                <a:cs typeface="HelveticaNeue-Light"/>
              </a:rPr>
              <a:t>images/  media queries—in </a:t>
            </a:r>
            <a:r>
              <a:rPr sz="2500" dirty="0">
                <a:latin typeface="HelveticaNeue-Light"/>
                <a:cs typeface="HelveticaNeue-Light"/>
              </a:rPr>
              <a:t>a </a:t>
            </a:r>
            <a:r>
              <a:rPr sz="2500" spc="-45" dirty="0">
                <a:latin typeface="HelveticaNeue-Light"/>
                <a:cs typeface="HelveticaNeue-Light"/>
              </a:rPr>
              <a:t>May 2010 </a:t>
            </a:r>
            <a:r>
              <a:rPr sz="2500" spc="-30" dirty="0">
                <a:latin typeface="HelveticaNeue-Light"/>
                <a:cs typeface="HelveticaNeue-Light"/>
              </a:rPr>
              <a:t>article </a:t>
            </a:r>
            <a:r>
              <a:rPr sz="2500" spc="-10" dirty="0">
                <a:latin typeface="HelveticaNeue-Light"/>
                <a:cs typeface="HelveticaNeue-Light"/>
              </a:rPr>
              <a:t>in </a:t>
            </a:r>
            <a:r>
              <a:rPr sz="2500" dirty="0">
                <a:latin typeface="HelveticaNeue-Light"/>
                <a:cs typeface="HelveticaNeue-Light"/>
              </a:rPr>
              <a:t>A</a:t>
            </a:r>
            <a:r>
              <a:rPr sz="2500" spc="-484" dirty="0">
                <a:latin typeface="HelveticaNeue-Light"/>
                <a:cs typeface="HelveticaNeue-Light"/>
              </a:rPr>
              <a:t> </a:t>
            </a:r>
            <a:r>
              <a:rPr sz="2500" spc="-35" dirty="0">
                <a:latin typeface="HelveticaNeue-Light"/>
                <a:cs typeface="HelveticaNeue-Light"/>
              </a:rPr>
              <a:t>List </a:t>
            </a:r>
            <a:r>
              <a:rPr sz="2500" spc="-45" dirty="0">
                <a:latin typeface="HelveticaNeue-Light"/>
                <a:cs typeface="HelveticaNeue-Light"/>
              </a:rPr>
              <a:t>Apart.</a:t>
            </a:r>
            <a:endParaRPr sz="2500">
              <a:latin typeface="HelveticaNeue-Light"/>
              <a:cs typeface="HelveticaNeue-Light"/>
            </a:endParaRPr>
          </a:p>
          <a:p>
            <a:pPr>
              <a:lnSpc>
                <a:spcPct val="100000"/>
              </a:lnSpc>
            </a:pPr>
            <a:endParaRPr sz="4000">
              <a:latin typeface="Times New Roman"/>
              <a:cs typeface="Times New Roman"/>
            </a:endParaRPr>
          </a:p>
          <a:p>
            <a:pPr marL="12700" marR="4032885">
              <a:lnSpc>
                <a:spcPct val="153300"/>
              </a:lnSpc>
            </a:pPr>
            <a:r>
              <a:rPr sz="2500" spc="-40" dirty="0">
                <a:latin typeface="HelveticaNeue-Light"/>
                <a:cs typeface="HelveticaNeue-Light"/>
              </a:rPr>
              <a:t>He </a:t>
            </a:r>
            <a:r>
              <a:rPr sz="2500" spc="-45" dirty="0">
                <a:latin typeface="HelveticaNeue-Light"/>
                <a:cs typeface="HelveticaNeue-Light"/>
              </a:rPr>
              <a:t>described </a:t>
            </a:r>
            <a:r>
              <a:rPr sz="2500" spc="-30" dirty="0">
                <a:latin typeface="HelveticaNeue-Light"/>
                <a:cs typeface="HelveticaNeue-Light"/>
              </a:rPr>
              <a:t>the </a:t>
            </a:r>
            <a:r>
              <a:rPr sz="2500" spc="-40" dirty="0">
                <a:latin typeface="HelveticaNeue-Light"/>
                <a:cs typeface="HelveticaNeue-Light"/>
              </a:rPr>
              <a:t>theory  </a:t>
            </a:r>
            <a:r>
              <a:rPr sz="2500" spc="-35" dirty="0">
                <a:latin typeface="HelveticaNeue-Light"/>
                <a:cs typeface="HelveticaNeue-Light"/>
              </a:rPr>
              <a:t>and </a:t>
            </a:r>
            <a:r>
              <a:rPr sz="2500" spc="-40" dirty="0">
                <a:latin typeface="HelveticaNeue-Light"/>
                <a:cs typeface="HelveticaNeue-Light"/>
              </a:rPr>
              <a:t>practice </a:t>
            </a:r>
            <a:r>
              <a:rPr sz="2500" spc="-30" dirty="0">
                <a:latin typeface="HelveticaNeue-Light"/>
                <a:cs typeface="HelveticaNeue-Light"/>
              </a:rPr>
              <a:t>of</a:t>
            </a:r>
            <a:r>
              <a:rPr sz="2500" spc="-195" dirty="0">
                <a:latin typeface="HelveticaNeue-Light"/>
                <a:cs typeface="HelveticaNeue-Light"/>
              </a:rPr>
              <a:t> </a:t>
            </a:r>
            <a:r>
              <a:rPr sz="2500" spc="-50" dirty="0">
                <a:latin typeface="HelveticaNeue-Light"/>
                <a:cs typeface="HelveticaNeue-Light"/>
              </a:rPr>
              <a:t>responsive  </a:t>
            </a:r>
            <a:r>
              <a:rPr sz="2500" spc="-45" dirty="0">
                <a:latin typeface="HelveticaNeue-Light"/>
                <a:cs typeface="HelveticaNeue-Light"/>
              </a:rPr>
              <a:t>web </a:t>
            </a:r>
            <a:r>
              <a:rPr sz="2500" spc="-40" dirty="0">
                <a:latin typeface="HelveticaNeue-Light"/>
                <a:cs typeface="HelveticaNeue-Light"/>
              </a:rPr>
              <a:t>design </a:t>
            </a:r>
            <a:r>
              <a:rPr sz="2500" spc="-10" dirty="0">
                <a:latin typeface="HelveticaNeue-Light"/>
                <a:cs typeface="HelveticaNeue-Light"/>
              </a:rPr>
              <a:t>in</a:t>
            </a:r>
            <a:r>
              <a:rPr sz="2500" spc="-204" dirty="0">
                <a:latin typeface="HelveticaNeue-Light"/>
                <a:cs typeface="HelveticaNeue-Light"/>
              </a:rPr>
              <a:t> </a:t>
            </a:r>
            <a:r>
              <a:rPr sz="2500" spc="-25" dirty="0">
                <a:latin typeface="HelveticaNeue-Light"/>
                <a:cs typeface="HelveticaNeue-Light"/>
              </a:rPr>
              <a:t>his</a:t>
            </a:r>
            <a:endParaRPr sz="2500">
              <a:latin typeface="HelveticaNeue-Light"/>
              <a:cs typeface="HelveticaNeue-Light"/>
            </a:endParaRPr>
          </a:p>
          <a:p>
            <a:pPr marL="12700" marR="4210685">
              <a:lnSpc>
                <a:spcPct val="140000"/>
              </a:lnSpc>
              <a:spcBef>
                <a:spcPts val="300"/>
              </a:spcBef>
            </a:pPr>
            <a:r>
              <a:rPr sz="2500" spc="-35" dirty="0">
                <a:latin typeface="HelveticaNeue-Light"/>
                <a:cs typeface="HelveticaNeue-Light"/>
              </a:rPr>
              <a:t>brief </a:t>
            </a:r>
            <a:r>
              <a:rPr sz="2500" spc="-45" dirty="0">
                <a:latin typeface="HelveticaNeue-Light"/>
                <a:cs typeface="HelveticaNeue-Light"/>
              </a:rPr>
              <a:t>2011 book </a:t>
            </a:r>
            <a:r>
              <a:rPr sz="2500" spc="-25" dirty="0">
                <a:latin typeface="HelveticaNeue-Light"/>
                <a:cs typeface="HelveticaNeue-Light"/>
              </a:rPr>
              <a:t>titled  </a:t>
            </a:r>
            <a:r>
              <a:rPr sz="2500" spc="-50" dirty="0">
                <a:latin typeface="HelveticaNeue-Light"/>
                <a:cs typeface="HelveticaNeue-Light"/>
              </a:rPr>
              <a:t>Responsive </a:t>
            </a:r>
            <a:r>
              <a:rPr sz="2500" spc="-65" dirty="0">
                <a:latin typeface="HelveticaNeue-Light"/>
                <a:cs typeface="HelveticaNeue-Light"/>
              </a:rPr>
              <a:t>Web</a:t>
            </a:r>
            <a:r>
              <a:rPr sz="2500" spc="-155" dirty="0">
                <a:latin typeface="HelveticaNeue-Light"/>
                <a:cs typeface="HelveticaNeue-Light"/>
              </a:rPr>
              <a:t> </a:t>
            </a:r>
            <a:r>
              <a:rPr sz="2500" spc="-45" dirty="0">
                <a:latin typeface="HelveticaNeue-Light"/>
                <a:cs typeface="HelveticaNeue-Light"/>
              </a:rPr>
              <a:t>Design.</a:t>
            </a:r>
            <a:endParaRPr sz="2500">
              <a:latin typeface="HelveticaNeue-Light"/>
              <a:cs typeface="HelveticaNeue-Light"/>
            </a:endParaRPr>
          </a:p>
        </p:txBody>
      </p:sp>
      <p:sp>
        <p:nvSpPr>
          <p:cNvPr id="4" name="object 4"/>
          <p:cNvSpPr/>
          <p:nvPr/>
        </p:nvSpPr>
        <p:spPr>
          <a:xfrm>
            <a:off x="4089400" y="3111500"/>
            <a:ext cx="4826000" cy="335280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28600" y="393700"/>
            <a:ext cx="8737600" cy="2997200"/>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258127" y="3567149"/>
            <a:ext cx="6206173" cy="320601"/>
          </a:xfrm>
          <a:prstGeom prst="rect">
            <a:avLst/>
          </a:prstGeom>
        </p:spPr>
        <p:txBody>
          <a:bodyPr vert="horz" wrap="square" lIns="0" tIns="12700" rIns="0" bIns="0" rtlCol="0">
            <a:spAutoFit/>
          </a:bodyPr>
          <a:lstStyle/>
          <a:p>
            <a:pPr marL="12700">
              <a:lnSpc>
                <a:spcPct val="100000"/>
              </a:lnSpc>
              <a:spcBef>
                <a:spcPts val="100"/>
              </a:spcBef>
            </a:pPr>
            <a:r>
              <a:rPr sz="2000" b="1" spc="30" dirty="0">
                <a:solidFill>
                  <a:srgbClr val="404040"/>
                </a:solidFill>
                <a:latin typeface="Arial"/>
                <a:cs typeface="Arial"/>
              </a:rPr>
              <a:t>Media </a:t>
            </a:r>
            <a:r>
              <a:rPr sz="2000" b="1" dirty="0">
                <a:solidFill>
                  <a:srgbClr val="404040"/>
                </a:solidFill>
                <a:latin typeface="Arial"/>
                <a:cs typeface="Arial"/>
              </a:rPr>
              <a:t>Queries</a:t>
            </a:r>
            <a:r>
              <a:rPr sz="2000" b="1" spc="110" dirty="0">
                <a:solidFill>
                  <a:srgbClr val="404040"/>
                </a:solidFill>
                <a:latin typeface="Arial"/>
                <a:cs typeface="Arial"/>
              </a:rPr>
              <a:t> </a:t>
            </a:r>
            <a:endParaRPr sz="2000" u="sng" dirty="0">
              <a:latin typeface="Arial"/>
              <a:cs typeface="Arial"/>
            </a:endParaRPr>
          </a:p>
        </p:txBody>
      </p:sp>
      <p:sp>
        <p:nvSpPr>
          <p:cNvPr id="5" name="object 5"/>
          <p:cNvSpPr txBox="1"/>
          <p:nvPr/>
        </p:nvSpPr>
        <p:spPr>
          <a:xfrm>
            <a:off x="258127" y="4064000"/>
            <a:ext cx="8547100" cy="1892300"/>
          </a:xfrm>
          <a:prstGeom prst="rect">
            <a:avLst/>
          </a:prstGeom>
        </p:spPr>
        <p:txBody>
          <a:bodyPr vert="horz" wrap="square" lIns="0" tIns="20955" rIns="0" bIns="0" rtlCol="0">
            <a:spAutoFit/>
          </a:bodyPr>
          <a:lstStyle/>
          <a:p>
            <a:pPr marL="12700" marR="5080">
              <a:lnSpc>
                <a:spcPct val="97800"/>
              </a:lnSpc>
              <a:spcBef>
                <a:spcPts val="165"/>
              </a:spcBef>
              <a:tabLst>
                <a:tab pos="2174875" algn="l"/>
              </a:tabLst>
            </a:pPr>
            <a:r>
              <a:rPr sz="2500" spc="-35" dirty="0">
                <a:solidFill>
                  <a:srgbClr val="404040"/>
                </a:solidFill>
                <a:latin typeface="Times New Roman"/>
                <a:cs typeface="Times New Roman"/>
              </a:rPr>
              <a:t>“The </a:t>
            </a:r>
            <a:r>
              <a:rPr sz="2500" spc="-155" dirty="0">
                <a:solidFill>
                  <a:srgbClr val="404040"/>
                </a:solidFill>
                <a:latin typeface="Times New Roman"/>
                <a:cs typeface="Times New Roman"/>
              </a:rPr>
              <a:t>W3C </a:t>
            </a:r>
            <a:r>
              <a:rPr sz="2500" spc="-75" dirty="0">
                <a:solidFill>
                  <a:srgbClr val="404040"/>
                </a:solidFill>
                <a:latin typeface="Times New Roman"/>
                <a:cs typeface="Times New Roman"/>
              </a:rPr>
              <a:t>created </a:t>
            </a:r>
            <a:r>
              <a:rPr sz="2500" b="1" spc="-45" dirty="0">
                <a:solidFill>
                  <a:srgbClr val="404040"/>
                </a:solidFill>
                <a:latin typeface="Times New Roman"/>
                <a:cs typeface="Times New Roman"/>
              </a:rPr>
              <a:t>media </a:t>
            </a:r>
            <a:r>
              <a:rPr sz="2500" b="1" spc="-55" dirty="0">
                <a:solidFill>
                  <a:srgbClr val="404040"/>
                </a:solidFill>
                <a:latin typeface="Times New Roman"/>
                <a:cs typeface="Times New Roman"/>
              </a:rPr>
              <a:t>queries </a:t>
            </a:r>
            <a:r>
              <a:rPr sz="2500" spc="-105" dirty="0">
                <a:solidFill>
                  <a:srgbClr val="404040"/>
                </a:solidFill>
                <a:latin typeface="Times New Roman"/>
                <a:cs typeface="Times New Roman"/>
              </a:rPr>
              <a:t>as </a:t>
            </a:r>
            <a:r>
              <a:rPr sz="2500" spc="-25" dirty="0">
                <a:solidFill>
                  <a:srgbClr val="404040"/>
                </a:solidFill>
                <a:latin typeface="Times New Roman"/>
                <a:cs typeface="Times New Roman"/>
              </a:rPr>
              <a:t>part </a:t>
            </a:r>
            <a:r>
              <a:rPr sz="2500" spc="-30" dirty="0">
                <a:solidFill>
                  <a:srgbClr val="404040"/>
                </a:solidFill>
                <a:latin typeface="Times New Roman"/>
                <a:cs typeface="Times New Roman"/>
              </a:rPr>
              <a:t>of </a:t>
            </a:r>
            <a:r>
              <a:rPr sz="2500" spc="-35" dirty="0">
                <a:solidFill>
                  <a:srgbClr val="404040"/>
                </a:solidFill>
                <a:latin typeface="Times New Roman"/>
                <a:cs typeface="Times New Roman"/>
              </a:rPr>
              <a:t>the </a:t>
            </a:r>
            <a:r>
              <a:rPr sz="2500" spc="-180" dirty="0">
                <a:solidFill>
                  <a:srgbClr val="404040"/>
                </a:solidFill>
                <a:latin typeface="Times New Roman"/>
                <a:cs typeface="Times New Roman"/>
              </a:rPr>
              <a:t>CSS3 </a:t>
            </a:r>
            <a:r>
              <a:rPr sz="2500" spc="-95" dirty="0">
                <a:solidFill>
                  <a:srgbClr val="404040"/>
                </a:solidFill>
                <a:latin typeface="Times New Roman"/>
                <a:cs typeface="Times New Roman"/>
              </a:rPr>
              <a:t>specification,  improving </a:t>
            </a:r>
            <a:r>
              <a:rPr sz="2500" spc="-35" dirty="0">
                <a:solidFill>
                  <a:srgbClr val="404040"/>
                </a:solidFill>
                <a:latin typeface="Times New Roman"/>
                <a:cs typeface="Times New Roman"/>
              </a:rPr>
              <a:t>upon </a:t>
            </a:r>
            <a:r>
              <a:rPr sz="2500" spc="-30" dirty="0">
                <a:solidFill>
                  <a:srgbClr val="404040"/>
                </a:solidFill>
                <a:latin typeface="Times New Roman"/>
                <a:cs typeface="Times New Roman"/>
              </a:rPr>
              <a:t>the </a:t>
            </a:r>
            <a:r>
              <a:rPr sz="2500" spc="-80" dirty="0">
                <a:solidFill>
                  <a:srgbClr val="404040"/>
                </a:solidFill>
                <a:latin typeface="Times New Roman"/>
                <a:cs typeface="Times New Roman"/>
              </a:rPr>
              <a:t>promise </a:t>
            </a:r>
            <a:r>
              <a:rPr sz="2500" spc="-30" dirty="0">
                <a:solidFill>
                  <a:srgbClr val="404040"/>
                </a:solidFill>
                <a:latin typeface="Times New Roman"/>
                <a:cs typeface="Times New Roman"/>
              </a:rPr>
              <a:t>of </a:t>
            </a:r>
            <a:r>
              <a:rPr sz="2500" spc="-105" dirty="0">
                <a:solidFill>
                  <a:srgbClr val="404040"/>
                </a:solidFill>
                <a:latin typeface="Times New Roman"/>
                <a:cs typeface="Times New Roman"/>
              </a:rPr>
              <a:t>media </a:t>
            </a:r>
            <a:r>
              <a:rPr sz="2500" spc="-130" dirty="0">
                <a:solidFill>
                  <a:srgbClr val="404040"/>
                </a:solidFill>
                <a:latin typeface="Times New Roman"/>
                <a:cs typeface="Times New Roman"/>
              </a:rPr>
              <a:t>types. </a:t>
            </a:r>
            <a:r>
              <a:rPr sz="2500" spc="-114" dirty="0">
                <a:solidFill>
                  <a:srgbClr val="404040"/>
                </a:solidFill>
                <a:latin typeface="Times New Roman"/>
                <a:cs typeface="Times New Roman"/>
              </a:rPr>
              <a:t>A </a:t>
            </a:r>
            <a:r>
              <a:rPr sz="2500" spc="-105" dirty="0">
                <a:solidFill>
                  <a:srgbClr val="404040"/>
                </a:solidFill>
                <a:latin typeface="Times New Roman"/>
                <a:cs typeface="Times New Roman"/>
              </a:rPr>
              <a:t>media </a:t>
            </a:r>
            <a:r>
              <a:rPr sz="2500" spc="-85" dirty="0">
                <a:solidFill>
                  <a:srgbClr val="404040"/>
                </a:solidFill>
                <a:latin typeface="Times New Roman"/>
                <a:cs typeface="Times New Roman"/>
              </a:rPr>
              <a:t>query </a:t>
            </a:r>
            <a:r>
              <a:rPr sz="2500" spc="-140" dirty="0">
                <a:solidFill>
                  <a:srgbClr val="404040"/>
                </a:solidFill>
                <a:latin typeface="Times New Roman"/>
                <a:cs typeface="Times New Roman"/>
              </a:rPr>
              <a:t>allows </a:t>
            </a:r>
            <a:r>
              <a:rPr sz="2500" spc="-75" dirty="0">
                <a:solidFill>
                  <a:srgbClr val="404040"/>
                </a:solidFill>
                <a:latin typeface="Times New Roman"/>
                <a:cs typeface="Times New Roman"/>
              </a:rPr>
              <a:t>us </a:t>
            </a:r>
            <a:r>
              <a:rPr sz="2500" spc="-5" dirty="0">
                <a:solidFill>
                  <a:srgbClr val="404040"/>
                </a:solidFill>
                <a:latin typeface="Times New Roman"/>
                <a:cs typeface="Times New Roman"/>
              </a:rPr>
              <a:t>to  </a:t>
            </a:r>
            <a:r>
              <a:rPr sz="2500" spc="-60" dirty="0">
                <a:solidFill>
                  <a:srgbClr val="404040"/>
                </a:solidFill>
                <a:latin typeface="Times New Roman"/>
                <a:cs typeface="Times New Roman"/>
              </a:rPr>
              <a:t>target </a:t>
            </a:r>
            <a:r>
              <a:rPr sz="2500" spc="-10" dirty="0">
                <a:solidFill>
                  <a:srgbClr val="404040"/>
                </a:solidFill>
                <a:latin typeface="Times New Roman"/>
                <a:cs typeface="Times New Roman"/>
              </a:rPr>
              <a:t>not </a:t>
            </a:r>
            <a:r>
              <a:rPr sz="2500" spc="-105" dirty="0">
                <a:solidFill>
                  <a:srgbClr val="404040"/>
                </a:solidFill>
                <a:latin typeface="Times New Roman"/>
                <a:cs typeface="Times New Roman"/>
              </a:rPr>
              <a:t>only </a:t>
            </a:r>
            <a:r>
              <a:rPr sz="2500" spc="-65" dirty="0">
                <a:solidFill>
                  <a:srgbClr val="404040"/>
                </a:solidFill>
                <a:latin typeface="Times New Roman"/>
                <a:cs typeface="Times New Roman"/>
              </a:rPr>
              <a:t>certain </a:t>
            </a:r>
            <a:r>
              <a:rPr sz="2500" spc="-110" dirty="0">
                <a:solidFill>
                  <a:srgbClr val="404040"/>
                </a:solidFill>
                <a:latin typeface="Times New Roman"/>
                <a:cs typeface="Times New Roman"/>
              </a:rPr>
              <a:t>device </a:t>
            </a:r>
            <a:r>
              <a:rPr sz="2500" spc="-135" dirty="0">
                <a:solidFill>
                  <a:srgbClr val="404040"/>
                </a:solidFill>
                <a:latin typeface="Times New Roman"/>
                <a:cs typeface="Times New Roman"/>
              </a:rPr>
              <a:t>classes, </a:t>
            </a:r>
            <a:r>
              <a:rPr sz="2500" spc="-30" dirty="0">
                <a:solidFill>
                  <a:srgbClr val="404040"/>
                </a:solidFill>
                <a:latin typeface="Times New Roman"/>
                <a:cs typeface="Times New Roman"/>
              </a:rPr>
              <a:t>but </a:t>
            </a:r>
            <a:r>
              <a:rPr sz="2500" spc="5" dirty="0">
                <a:solidFill>
                  <a:srgbClr val="404040"/>
                </a:solidFill>
                <a:latin typeface="Times New Roman"/>
                <a:cs typeface="Times New Roman"/>
              </a:rPr>
              <a:t>to </a:t>
            </a:r>
            <a:r>
              <a:rPr sz="2500" spc="-130" dirty="0">
                <a:solidFill>
                  <a:srgbClr val="404040"/>
                </a:solidFill>
                <a:latin typeface="Times New Roman"/>
                <a:cs typeface="Times New Roman"/>
              </a:rPr>
              <a:t>actually </a:t>
            </a:r>
            <a:r>
              <a:rPr sz="2500" spc="-80" dirty="0">
                <a:solidFill>
                  <a:srgbClr val="404040"/>
                </a:solidFill>
                <a:latin typeface="Times New Roman"/>
                <a:cs typeface="Times New Roman"/>
              </a:rPr>
              <a:t>inspect </a:t>
            </a:r>
            <a:r>
              <a:rPr sz="2500" spc="-30" dirty="0">
                <a:solidFill>
                  <a:srgbClr val="404040"/>
                </a:solidFill>
                <a:latin typeface="Times New Roman"/>
                <a:cs typeface="Times New Roman"/>
              </a:rPr>
              <a:t>the </a:t>
            </a:r>
            <a:r>
              <a:rPr sz="2500" spc="-135" dirty="0">
                <a:solidFill>
                  <a:srgbClr val="404040"/>
                </a:solidFill>
                <a:latin typeface="Times New Roman"/>
                <a:cs typeface="Times New Roman"/>
              </a:rPr>
              <a:t>physical  </a:t>
            </a:r>
            <a:r>
              <a:rPr sz="2500" spc="-95" dirty="0">
                <a:solidFill>
                  <a:srgbClr val="404040"/>
                </a:solidFill>
                <a:latin typeface="Times New Roman"/>
                <a:cs typeface="Times New Roman"/>
              </a:rPr>
              <a:t>characteristics</a:t>
            </a:r>
            <a:r>
              <a:rPr sz="2500" spc="-75" dirty="0">
                <a:solidFill>
                  <a:srgbClr val="404040"/>
                </a:solidFill>
                <a:latin typeface="Times New Roman"/>
                <a:cs typeface="Times New Roman"/>
              </a:rPr>
              <a:t> </a:t>
            </a:r>
            <a:r>
              <a:rPr sz="2500" spc="-30" dirty="0">
                <a:solidFill>
                  <a:srgbClr val="404040"/>
                </a:solidFill>
                <a:latin typeface="Times New Roman"/>
                <a:cs typeface="Times New Roman"/>
              </a:rPr>
              <a:t>of	</a:t>
            </a:r>
            <a:r>
              <a:rPr sz="2500" spc="-35" dirty="0">
                <a:solidFill>
                  <a:srgbClr val="404040"/>
                </a:solidFill>
                <a:latin typeface="Times New Roman"/>
                <a:cs typeface="Times New Roman"/>
              </a:rPr>
              <a:t>the </a:t>
            </a:r>
            <a:r>
              <a:rPr sz="2500" spc="-110" dirty="0">
                <a:solidFill>
                  <a:srgbClr val="404040"/>
                </a:solidFill>
                <a:latin typeface="Times New Roman"/>
                <a:cs typeface="Times New Roman"/>
              </a:rPr>
              <a:t>device </a:t>
            </a:r>
            <a:r>
              <a:rPr sz="2500" spc="-80" dirty="0">
                <a:solidFill>
                  <a:srgbClr val="404040"/>
                </a:solidFill>
                <a:latin typeface="Times New Roman"/>
                <a:cs typeface="Times New Roman"/>
              </a:rPr>
              <a:t>rendering </a:t>
            </a:r>
            <a:r>
              <a:rPr sz="2500" spc="-40" dirty="0">
                <a:solidFill>
                  <a:srgbClr val="404040"/>
                </a:solidFill>
                <a:latin typeface="Times New Roman"/>
                <a:cs typeface="Times New Roman"/>
              </a:rPr>
              <a:t>our</a:t>
            </a:r>
            <a:r>
              <a:rPr sz="2500" spc="-370" dirty="0">
                <a:solidFill>
                  <a:srgbClr val="404040"/>
                </a:solidFill>
                <a:latin typeface="Times New Roman"/>
                <a:cs typeface="Times New Roman"/>
              </a:rPr>
              <a:t> </a:t>
            </a:r>
            <a:r>
              <a:rPr sz="2500" spc="-125" dirty="0">
                <a:solidFill>
                  <a:srgbClr val="404040"/>
                </a:solidFill>
                <a:latin typeface="Times New Roman"/>
                <a:cs typeface="Times New Roman"/>
              </a:rPr>
              <a:t>work.”</a:t>
            </a:r>
            <a:endParaRPr sz="2500" dirty="0">
              <a:latin typeface="Times New Roman"/>
              <a:cs typeface="Times New Roman"/>
            </a:endParaRPr>
          </a:p>
          <a:p>
            <a:pPr marL="12700">
              <a:lnSpc>
                <a:spcPts val="2900"/>
              </a:lnSpc>
            </a:pPr>
            <a:r>
              <a:rPr sz="2500" b="1" spc="-70" dirty="0">
                <a:solidFill>
                  <a:srgbClr val="A85F63"/>
                </a:solidFill>
                <a:latin typeface="Arial"/>
                <a:cs typeface="Arial"/>
              </a:rPr>
              <a:t>- </a:t>
            </a:r>
            <a:r>
              <a:rPr sz="2500" b="1" spc="-165" dirty="0">
                <a:solidFill>
                  <a:srgbClr val="A85F63"/>
                </a:solidFill>
                <a:latin typeface="Arial"/>
                <a:cs typeface="Arial"/>
              </a:rPr>
              <a:t>Ethan</a:t>
            </a:r>
            <a:r>
              <a:rPr sz="2500" b="1" spc="-390" dirty="0">
                <a:solidFill>
                  <a:srgbClr val="A85F63"/>
                </a:solidFill>
                <a:latin typeface="Arial"/>
                <a:cs typeface="Arial"/>
              </a:rPr>
              <a:t> </a:t>
            </a:r>
            <a:r>
              <a:rPr sz="2500" b="1" spc="-114" dirty="0">
                <a:solidFill>
                  <a:srgbClr val="A85F63"/>
                </a:solidFill>
                <a:latin typeface="Arial"/>
                <a:cs typeface="Arial"/>
              </a:rPr>
              <a:t>Marcotte</a:t>
            </a:r>
            <a:endParaRPr sz="2500" dirty="0">
              <a:latin typeface="Arial"/>
              <a:cs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47675" y="3888741"/>
            <a:ext cx="8229600" cy="23241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381000" y="241300"/>
            <a:ext cx="8445500" cy="4013200"/>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558800" y="482600"/>
            <a:ext cx="7670800" cy="2501900"/>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457200" y="292100"/>
            <a:ext cx="8305800" cy="3873500"/>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457200" y="297949"/>
            <a:ext cx="8296275" cy="3860800"/>
          </a:xfrm>
          <a:custGeom>
            <a:avLst/>
            <a:gdLst/>
            <a:ahLst/>
            <a:cxnLst/>
            <a:rect l="l" t="t" r="r" b="b"/>
            <a:pathLst>
              <a:path w="8296275" h="3860800">
                <a:moveTo>
                  <a:pt x="0" y="452071"/>
                </a:moveTo>
                <a:lnTo>
                  <a:pt x="2652" y="402813"/>
                </a:lnTo>
                <a:lnTo>
                  <a:pt x="10426" y="355091"/>
                </a:lnTo>
                <a:lnTo>
                  <a:pt x="23046" y="309182"/>
                </a:lnTo>
                <a:lnTo>
                  <a:pt x="40236" y="265360"/>
                </a:lnTo>
                <a:lnTo>
                  <a:pt x="61721" y="223902"/>
                </a:lnTo>
                <a:lnTo>
                  <a:pt x="87223" y="185084"/>
                </a:lnTo>
                <a:lnTo>
                  <a:pt x="116468" y="149180"/>
                </a:lnTo>
                <a:lnTo>
                  <a:pt x="149180" y="116468"/>
                </a:lnTo>
                <a:lnTo>
                  <a:pt x="185083" y="87223"/>
                </a:lnTo>
                <a:lnTo>
                  <a:pt x="223902" y="61721"/>
                </a:lnTo>
                <a:lnTo>
                  <a:pt x="265360" y="40236"/>
                </a:lnTo>
                <a:lnTo>
                  <a:pt x="309181" y="23046"/>
                </a:lnTo>
                <a:lnTo>
                  <a:pt x="355091" y="10426"/>
                </a:lnTo>
                <a:lnTo>
                  <a:pt x="402813" y="2652"/>
                </a:lnTo>
                <a:lnTo>
                  <a:pt x="452071" y="0"/>
                </a:lnTo>
                <a:lnTo>
                  <a:pt x="1382670" y="0"/>
                </a:lnTo>
                <a:lnTo>
                  <a:pt x="3456676" y="0"/>
                </a:lnTo>
                <a:lnTo>
                  <a:pt x="7843951" y="0"/>
                </a:lnTo>
                <a:lnTo>
                  <a:pt x="7893209" y="2652"/>
                </a:lnTo>
                <a:lnTo>
                  <a:pt x="7940930" y="10426"/>
                </a:lnTo>
                <a:lnTo>
                  <a:pt x="7986840" y="23046"/>
                </a:lnTo>
                <a:lnTo>
                  <a:pt x="8030662" y="40236"/>
                </a:lnTo>
                <a:lnTo>
                  <a:pt x="8072120" y="61721"/>
                </a:lnTo>
                <a:lnTo>
                  <a:pt x="8110938" y="87223"/>
                </a:lnTo>
                <a:lnTo>
                  <a:pt x="8146841" y="116468"/>
                </a:lnTo>
                <a:lnTo>
                  <a:pt x="8179553" y="149180"/>
                </a:lnTo>
                <a:lnTo>
                  <a:pt x="8208798" y="185084"/>
                </a:lnTo>
                <a:lnTo>
                  <a:pt x="8234301" y="223902"/>
                </a:lnTo>
                <a:lnTo>
                  <a:pt x="8255785" y="265360"/>
                </a:lnTo>
                <a:lnTo>
                  <a:pt x="8272975" y="309182"/>
                </a:lnTo>
                <a:lnTo>
                  <a:pt x="8285595" y="355091"/>
                </a:lnTo>
                <a:lnTo>
                  <a:pt x="8293369" y="402813"/>
                </a:lnTo>
                <a:lnTo>
                  <a:pt x="8296022" y="452071"/>
                </a:lnTo>
                <a:lnTo>
                  <a:pt x="8296022" y="1582224"/>
                </a:lnTo>
                <a:lnTo>
                  <a:pt x="8296022" y="2260314"/>
                </a:lnTo>
                <a:lnTo>
                  <a:pt x="8293369" y="2309563"/>
                </a:lnTo>
                <a:lnTo>
                  <a:pt x="8285595" y="2357285"/>
                </a:lnTo>
                <a:lnTo>
                  <a:pt x="8272975" y="2403194"/>
                </a:lnTo>
                <a:lnTo>
                  <a:pt x="8255785" y="2447016"/>
                </a:lnTo>
                <a:lnTo>
                  <a:pt x="8234301" y="2488474"/>
                </a:lnTo>
                <a:lnTo>
                  <a:pt x="8208798" y="2527293"/>
                </a:lnTo>
                <a:lnTo>
                  <a:pt x="8179553" y="2563196"/>
                </a:lnTo>
                <a:lnTo>
                  <a:pt x="8146841" y="2595908"/>
                </a:lnTo>
                <a:lnTo>
                  <a:pt x="8110938" y="2625153"/>
                </a:lnTo>
                <a:lnTo>
                  <a:pt x="8072120" y="2650656"/>
                </a:lnTo>
                <a:lnTo>
                  <a:pt x="8030662" y="2672140"/>
                </a:lnTo>
                <a:lnTo>
                  <a:pt x="7986840" y="2689330"/>
                </a:lnTo>
                <a:lnTo>
                  <a:pt x="7940930" y="2701950"/>
                </a:lnTo>
                <a:lnTo>
                  <a:pt x="7893209" y="2709724"/>
                </a:lnTo>
                <a:lnTo>
                  <a:pt x="7843951" y="2712377"/>
                </a:lnTo>
                <a:lnTo>
                  <a:pt x="3456676" y="2712377"/>
                </a:lnTo>
                <a:lnTo>
                  <a:pt x="992619" y="3860666"/>
                </a:lnTo>
                <a:lnTo>
                  <a:pt x="1382670" y="2712377"/>
                </a:lnTo>
                <a:lnTo>
                  <a:pt x="452071" y="2712377"/>
                </a:lnTo>
                <a:lnTo>
                  <a:pt x="402813" y="2709724"/>
                </a:lnTo>
                <a:lnTo>
                  <a:pt x="355091" y="2701950"/>
                </a:lnTo>
                <a:lnTo>
                  <a:pt x="309181" y="2689330"/>
                </a:lnTo>
                <a:lnTo>
                  <a:pt x="265360" y="2672140"/>
                </a:lnTo>
                <a:lnTo>
                  <a:pt x="223902" y="2650656"/>
                </a:lnTo>
                <a:lnTo>
                  <a:pt x="185083" y="2625153"/>
                </a:lnTo>
                <a:lnTo>
                  <a:pt x="149180" y="2595908"/>
                </a:lnTo>
                <a:lnTo>
                  <a:pt x="116468" y="2563196"/>
                </a:lnTo>
                <a:lnTo>
                  <a:pt x="87223" y="2527293"/>
                </a:lnTo>
                <a:lnTo>
                  <a:pt x="61721" y="2488474"/>
                </a:lnTo>
                <a:lnTo>
                  <a:pt x="40236" y="2447016"/>
                </a:lnTo>
                <a:lnTo>
                  <a:pt x="23046" y="2403194"/>
                </a:lnTo>
                <a:lnTo>
                  <a:pt x="10426" y="2357285"/>
                </a:lnTo>
                <a:lnTo>
                  <a:pt x="2652" y="2309563"/>
                </a:lnTo>
                <a:lnTo>
                  <a:pt x="0" y="2260305"/>
                </a:lnTo>
                <a:lnTo>
                  <a:pt x="0" y="1582224"/>
                </a:lnTo>
                <a:lnTo>
                  <a:pt x="0" y="452071"/>
                </a:lnTo>
                <a:close/>
              </a:path>
            </a:pathLst>
          </a:custGeom>
          <a:ln w="19050">
            <a:solidFill>
              <a:srgbClr val="000000"/>
            </a:solidFill>
          </a:ln>
        </p:spPr>
        <p:txBody>
          <a:bodyPr wrap="square" lIns="0" tIns="0" rIns="0" bIns="0" rtlCol="0"/>
          <a:lstStyle/>
          <a:p>
            <a:endParaRPr/>
          </a:p>
        </p:txBody>
      </p:sp>
      <p:sp>
        <p:nvSpPr>
          <p:cNvPr id="7" name="object 7"/>
          <p:cNvSpPr txBox="1"/>
          <p:nvPr/>
        </p:nvSpPr>
        <p:spPr>
          <a:xfrm>
            <a:off x="754071" y="408516"/>
            <a:ext cx="7213600" cy="2362200"/>
          </a:xfrm>
          <a:prstGeom prst="rect">
            <a:avLst/>
          </a:prstGeom>
        </p:spPr>
        <p:txBody>
          <a:bodyPr vert="horz" wrap="square" lIns="0" tIns="181610" rIns="0" bIns="0" rtlCol="0">
            <a:spAutoFit/>
          </a:bodyPr>
          <a:lstStyle/>
          <a:p>
            <a:pPr marL="12700">
              <a:lnSpc>
                <a:spcPct val="100000"/>
              </a:lnSpc>
              <a:spcBef>
                <a:spcPts val="1430"/>
              </a:spcBef>
            </a:pPr>
            <a:r>
              <a:rPr sz="2050" spc="-15" dirty="0">
                <a:latin typeface="Helvetica Neue"/>
                <a:cs typeface="Helvetica Neue"/>
              </a:rPr>
              <a:t>The </a:t>
            </a:r>
            <a:r>
              <a:rPr sz="2050" spc="-20" dirty="0">
                <a:latin typeface="Helvetica Neue"/>
                <a:cs typeface="Helvetica Neue"/>
              </a:rPr>
              <a:t>query </a:t>
            </a:r>
            <a:r>
              <a:rPr sz="2050" spc="-25" dirty="0">
                <a:latin typeface="Helvetica Neue"/>
                <a:cs typeface="Helvetica Neue"/>
              </a:rPr>
              <a:t>contains </a:t>
            </a:r>
            <a:r>
              <a:rPr sz="2050" spc="-20" dirty="0">
                <a:latin typeface="Helvetica Neue"/>
                <a:cs typeface="Helvetica Neue"/>
              </a:rPr>
              <a:t>two</a:t>
            </a:r>
            <a:r>
              <a:rPr sz="2050" spc="-210" dirty="0">
                <a:latin typeface="Helvetica Neue"/>
                <a:cs typeface="Helvetica Neue"/>
              </a:rPr>
              <a:t> </a:t>
            </a:r>
            <a:r>
              <a:rPr sz="2050" spc="-30" dirty="0">
                <a:latin typeface="Helvetica Neue"/>
                <a:cs typeface="Helvetica Neue"/>
              </a:rPr>
              <a:t>components:</a:t>
            </a:r>
            <a:endParaRPr sz="2050">
              <a:latin typeface="Helvetica Neue"/>
              <a:cs typeface="Helvetica Neue"/>
            </a:endParaRPr>
          </a:p>
          <a:p>
            <a:pPr marL="469900" indent="-457200">
              <a:lnSpc>
                <a:spcPct val="100000"/>
              </a:lnSpc>
              <a:spcBef>
                <a:spcPts val="1340"/>
              </a:spcBef>
              <a:buAutoNum type="arabicPeriod"/>
              <a:tabLst>
                <a:tab pos="469265" algn="l"/>
                <a:tab pos="469900" algn="l"/>
              </a:tabLst>
            </a:pPr>
            <a:r>
              <a:rPr sz="2050" spc="10" dirty="0">
                <a:latin typeface="Helvetica Neue"/>
                <a:cs typeface="Helvetica Neue"/>
              </a:rPr>
              <a:t>a </a:t>
            </a:r>
            <a:r>
              <a:rPr sz="2050" spc="-20" dirty="0">
                <a:latin typeface="Helvetica Neue"/>
                <a:cs typeface="Helvetica Neue"/>
              </a:rPr>
              <a:t>media type </a:t>
            </a:r>
            <a:r>
              <a:rPr sz="2050" spc="-30" dirty="0">
                <a:latin typeface="Helvetica Neue"/>
                <a:cs typeface="Helvetica Neue"/>
              </a:rPr>
              <a:t>(screen),</a:t>
            </a:r>
            <a:r>
              <a:rPr sz="2050" spc="-225" dirty="0">
                <a:latin typeface="Helvetica Neue"/>
                <a:cs typeface="Helvetica Neue"/>
              </a:rPr>
              <a:t> </a:t>
            </a:r>
            <a:r>
              <a:rPr sz="2050" spc="-15" dirty="0">
                <a:latin typeface="Helvetica Neue"/>
                <a:cs typeface="Helvetica Neue"/>
              </a:rPr>
              <a:t>and</a:t>
            </a:r>
            <a:endParaRPr sz="2050">
              <a:latin typeface="Helvetica Neue"/>
              <a:cs typeface="Helvetica Neue"/>
            </a:endParaRPr>
          </a:p>
          <a:p>
            <a:pPr marL="469900" marR="5080" indent="-457200">
              <a:lnSpc>
                <a:spcPct val="142300"/>
              </a:lnSpc>
              <a:spcBef>
                <a:spcPts val="300"/>
              </a:spcBef>
              <a:buAutoNum type="arabicPeriod"/>
              <a:tabLst>
                <a:tab pos="469265" algn="l"/>
                <a:tab pos="469900" algn="l"/>
                <a:tab pos="3737610" algn="l"/>
                <a:tab pos="5805170" algn="l"/>
              </a:tabLst>
            </a:pPr>
            <a:r>
              <a:rPr sz="2050" spc="-15" dirty="0">
                <a:latin typeface="Helvetica Neue"/>
                <a:cs typeface="Helvetica Neue"/>
              </a:rPr>
              <a:t>the </a:t>
            </a:r>
            <a:r>
              <a:rPr sz="2050" spc="-25" dirty="0">
                <a:latin typeface="Helvetica Neue"/>
                <a:cs typeface="Helvetica Neue"/>
              </a:rPr>
              <a:t>actual </a:t>
            </a:r>
            <a:r>
              <a:rPr sz="2050" spc="-20" dirty="0">
                <a:latin typeface="Helvetica Neue"/>
                <a:cs typeface="Helvetica Neue"/>
              </a:rPr>
              <a:t>query enclosed</a:t>
            </a:r>
            <a:r>
              <a:rPr sz="2050" spc="-130" dirty="0">
                <a:latin typeface="Helvetica Neue"/>
                <a:cs typeface="Helvetica Neue"/>
              </a:rPr>
              <a:t> </a:t>
            </a:r>
            <a:r>
              <a:rPr sz="2050" spc="-20" dirty="0">
                <a:latin typeface="Helvetica Neue"/>
                <a:cs typeface="Helvetica Neue"/>
              </a:rPr>
              <a:t>within</a:t>
            </a:r>
            <a:r>
              <a:rPr sz="2050" spc="-60" dirty="0">
                <a:latin typeface="Helvetica Neue"/>
                <a:cs typeface="Helvetica Neue"/>
              </a:rPr>
              <a:t> </a:t>
            </a:r>
            <a:r>
              <a:rPr sz="2050" spc="-30" dirty="0">
                <a:latin typeface="Helvetica Neue"/>
                <a:cs typeface="Helvetica Neue"/>
              </a:rPr>
              <a:t>parentheses,	</a:t>
            </a:r>
            <a:r>
              <a:rPr sz="2050" spc="-20" dirty="0">
                <a:latin typeface="Helvetica Neue"/>
                <a:cs typeface="Helvetica Neue"/>
              </a:rPr>
              <a:t>containing</a:t>
            </a:r>
            <a:r>
              <a:rPr sz="2050" spc="-160" dirty="0">
                <a:latin typeface="Helvetica Neue"/>
                <a:cs typeface="Helvetica Neue"/>
              </a:rPr>
              <a:t> </a:t>
            </a:r>
            <a:r>
              <a:rPr sz="2050" spc="10" dirty="0">
                <a:latin typeface="Helvetica Neue"/>
                <a:cs typeface="Helvetica Neue"/>
              </a:rPr>
              <a:t>a  </a:t>
            </a:r>
            <a:r>
              <a:rPr sz="2050" spc="-20" dirty="0">
                <a:latin typeface="Helvetica Neue"/>
                <a:cs typeface="Helvetica Neue"/>
              </a:rPr>
              <a:t>particular media </a:t>
            </a:r>
            <a:r>
              <a:rPr sz="2050" spc="-25" dirty="0">
                <a:latin typeface="Helvetica Neue"/>
                <a:cs typeface="Helvetica Neue"/>
              </a:rPr>
              <a:t>feature </a:t>
            </a:r>
            <a:r>
              <a:rPr sz="2050" spc="-30" dirty="0">
                <a:latin typeface="Helvetica Neue"/>
                <a:cs typeface="Helvetica Neue"/>
              </a:rPr>
              <a:t>(max-device-width) </a:t>
            </a:r>
            <a:r>
              <a:rPr sz="2050" spc="-5" dirty="0">
                <a:latin typeface="Helvetica Neue"/>
                <a:cs typeface="Helvetica Neue"/>
              </a:rPr>
              <a:t>to </a:t>
            </a:r>
            <a:r>
              <a:rPr sz="2050" spc="-25" dirty="0">
                <a:latin typeface="Helvetica Neue"/>
                <a:cs typeface="Helvetica Neue"/>
              </a:rPr>
              <a:t>inspect,  </a:t>
            </a:r>
            <a:r>
              <a:rPr sz="2050" spc="-20" dirty="0">
                <a:latin typeface="Helvetica Neue"/>
                <a:cs typeface="Helvetica Neue"/>
              </a:rPr>
              <a:t>followed </a:t>
            </a:r>
            <a:r>
              <a:rPr sz="2050" spc="-10" dirty="0">
                <a:latin typeface="Helvetica Neue"/>
                <a:cs typeface="Helvetica Neue"/>
              </a:rPr>
              <a:t>by </a:t>
            </a:r>
            <a:r>
              <a:rPr sz="2050" spc="-15" dirty="0">
                <a:latin typeface="Helvetica Neue"/>
                <a:cs typeface="Helvetica Neue"/>
              </a:rPr>
              <a:t>the</a:t>
            </a:r>
            <a:r>
              <a:rPr sz="2050" spc="-150" dirty="0">
                <a:latin typeface="Helvetica Neue"/>
                <a:cs typeface="Helvetica Neue"/>
              </a:rPr>
              <a:t> </a:t>
            </a:r>
            <a:r>
              <a:rPr sz="2050" spc="-30" dirty="0">
                <a:latin typeface="Helvetica Neue"/>
                <a:cs typeface="Helvetica Neue"/>
              </a:rPr>
              <a:t>target</a:t>
            </a:r>
            <a:r>
              <a:rPr sz="2050" spc="-50" dirty="0">
                <a:latin typeface="Helvetica Neue"/>
                <a:cs typeface="Helvetica Neue"/>
              </a:rPr>
              <a:t> </a:t>
            </a:r>
            <a:r>
              <a:rPr sz="2050" spc="-20" dirty="0">
                <a:latin typeface="Helvetica Neue"/>
                <a:cs typeface="Helvetica Neue"/>
              </a:rPr>
              <a:t>value	</a:t>
            </a:r>
            <a:r>
              <a:rPr sz="2050" spc="-30" dirty="0">
                <a:latin typeface="Helvetica Neue"/>
                <a:cs typeface="Helvetica Neue"/>
              </a:rPr>
              <a:t>(600px).</a:t>
            </a:r>
            <a:endParaRPr sz="2050">
              <a:latin typeface="Helvetica Neue"/>
              <a:cs typeface="Helvetica Neu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7200" y="3530600"/>
            <a:ext cx="8229600" cy="23241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381000" y="381000"/>
            <a:ext cx="8445500" cy="3556000"/>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546100" y="749300"/>
            <a:ext cx="7772400" cy="1968500"/>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457200" y="419100"/>
            <a:ext cx="8305800" cy="3429000"/>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457200" y="431514"/>
            <a:ext cx="8296275" cy="3407410"/>
          </a:xfrm>
          <a:custGeom>
            <a:avLst/>
            <a:gdLst/>
            <a:ahLst/>
            <a:cxnLst/>
            <a:rect l="l" t="t" r="r" b="b"/>
            <a:pathLst>
              <a:path w="8296275" h="3407410">
                <a:moveTo>
                  <a:pt x="0" y="398988"/>
                </a:moveTo>
                <a:lnTo>
                  <a:pt x="2684" y="352458"/>
                </a:lnTo>
                <a:lnTo>
                  <a:pt x="10537" y="307504"/>
                </a:lnTo>
                <a:lnTo>
                  <a:pt x="23260" y="264426"/>
                </a:lnTo>
                <a:lnTo>
                  <a:pt x="40553" y="223523"/>
                </a:lnTo>
                <a:lnTo>
                  <a:pt x="62117" y="185095"/>
                </a:lnTo>
                <a:lnTo>
                  <a:pt x="87653" y="149441"/>
                </a:lnTo>
                <a:lnTo>
                  <a:pt x="116860" y="116861"/>
                </a:lnTo>
                <a:lnTo>
                  <a:pt x="149441" y="87653"/>
                </a:lnTo>
                <a:lnTo>
                  <a:pt x="185095" y="62117"/>
                </a:lnTo>
                <a:lnTo>
                  <a:pt x="223522" y="40553"/>
                </a:lnTo>
                <a:lnTo>
                  <a:pt x="264425" y="23260"/>
                </a:lnTo>
                <a:lnTo>
                  <a:pt x="307503" y="10537"/>
                </a:lnTo>
                <a:lnTo>
                  <a:pt x="352457" y="2684"/>
                </a:lnTo>
                <a:lnTo>
                  <a:pt x="398987" y="0"/>
                </a:lnTo>
                <a:lnTo>
                  <a:pt x="1382670" y="0"/>
                </a:lnTo>
                <a:lnTo>
                  <a:pt x="3456676" y="0"/>
                </a:lnTo>
                <a:lnTo>
                  <a:pt x="7897035" y="0"/>
                </a:lnTo>
                <a:lnTo>
                  <a:pt x="7943565" y="2684"/>
                </a:lnTo>
                <a:lnTo>
                  <a:pt x="7988519" y="10537"/>
                </a:lnTo>
                <a:lnTo>
                  <a:pt x="8031596" y="23260"/>
                </a:lnTo>
                <a:lnTo>
                  <a:pt x="8072499" y="40553"/>
                </a:lnTo>
                <a:lnTo>
                  <a:pt x="8110927" y="62117"/>
                </a:lnTo>
                <a:lnTo>
                  <a:pt x="8146580" y="87653"/>
                </a:lnTo>
                <a:lnTo>
                  <a:pt x="8179161" y="116861"/>
                </a:lnTo>
                <a:lnTo>
                  <a:pt x="8208369" y="149441"/>
                </a:lnTo>
                <a:lnTo>
                  <a:pt x="8233904" y="185095"/>
                </a:lnTo>
                <a:lnTo>
                  <a:pt x="8255468" y="223523"/>
                </a:lnTo>
                <a:lnTo>
                  <a:pt x="8272761" y="264426"/>
                </a:lnTo>
                <a:lnTo>
                  <a:pt x="8285484" y="307504"/>
                </a:lnTo>
                <a:lnTo>
                  <a:pt x="8293337" y="352458"/>
                </a:lnTo>
                <a:lnTo>
                  <a:pt x="8296022" y="398988"/>
                </a:lnTo>
                <a:lnTo>
                  <a:pt x="8296022" y="1396429"/>
                </a:lnTo>
                <a:lnTo>
                  <a:pt x="8296022" y="1994898"/>
                </a:lnTo>
                <a:lnTo>
                  <a:pt x="8293337" y="2041419"/>
                </a:lnTo>
                <a:lnTo>
                  <a:pt x="8285484" y="2086373"/>
                </a:lnTo>
                <a:lnTo>
                  <a:pt x="8272761" y="2129451"/>
                </a:lnTo>
                <a:lnTo>
                  <a:pt x="8255468" y="2170354"/>
                </a:lnTo>
                <a:lnTo>
                  <a:pt x="8233904" y="2208782"/>
                </a:lnTo>
                <a:lnTo>
                  <a:pt x="8208369" y="2244436"/>
                </a:lnTo>
                <a:lnTo>
                  <a:pt x="8179161" y="2277017"/>
                </a:lnTo>
                <a:lnTo>
                  <a:pt x="8146580" y="2306224"/>
                </a:lnTo>
                <a:lnTo>
                  <a:pt x="8110927" y="2331760"/>
                </a:lnTo>
                <a:lnTo>
                  <a:pt x="8072499" y="2353324"/>
                </a:lnTo>
                <a:lnTo>
                  <a:pt x="8031596" y="2370617"/>
                </a:lnTo>
                <a:lnTo>
                  <a:pt x="7988519" y="2383340"/>
                </a:lnTo>
                <a:lnTo>
                  <a:pt x="7943565" y="2391193"/>
                </a:lnTo>
                <a:lnTo>
                  <a:pt x="7897035" y="2393878"/>
                </a:lnTo>
                <a:lnTo>
                  <a:pt x="3456676" y="2393878"/>
                </a:lnTo>
                <a:lnTo>
                  <a:pt x="992619" y="3407322"/>
                </a:lnTo>
                <a:lnTo>
                  <a:pt x="1382670" y="2393878"/>
                </a:lnTo>
                <a:lnTo>
                  <a:pt x="398987" y="2393878"/>
                </a:lnTo>
                <a:lnTo>
                  <a:pt x="352457" y="2391193"/>
                </a:lnTo>
                <a:lnTo>
                  <a:pt x="307503" y="2383340"/>
                </a:lnTo>
                <a:lnTo>
                  <a:pt x="264425" y="2370617"/>
                </a:lnTo>
                <a:lnTo>
                  <a:pt x="223522" y="2353324"/>
                </a:lnTo>
                <a:lnTo>
                  <a:pt x="185095" y="2331760"/>
                </a:lnTo>
                <a:lnTo>
                  <a:pt x="149441" y="2306224"/>
                </a:lnTo>
                <a:lnTo>
                  <a:pt x="116860" y="2277017"/>
                </a:lnTo>
                <a:lnTo>
                  <a:pt x="87653" y="2244436"/>
                </a:lnTo>
                <a:lnTo>
                  <a:pt x="62117" y="2208782"/>
                </a:lnTo>
                <a:lnTo>
                  <a:pt x="40553" y="2170354"/>
                </a:lnTo>
                <a:lnTo>
                  <a:pt x="23260" y="2129451"/>
                </a:lnTo>
                <a:lnTo>
                  <a:pt x="10537" y="2086373"/>
                </a:lnTo>
                <a:lnTo>
                  <a:pt x="2684" y="2041419"/>
                </a:lnTo>
                <a:lnTo>
                  <a:pt x="0" y="1994889"/>
                </a:lnTo>
                <a:lnTo>
                  <a:pt x="0" y="1396429"/>
                </a:lnTo>
                <a:lnTo>
                  <a:pt x="0" y="398988"/>
                </a:lnTo>
                <a:close/>
              </a:path>
            </a:pathLst>
          </a:custGeom>
          <a:ln w="19050">
            <a:solidFill>
              <a:srgbClr val="000000"/>
            </a:solidFill>
          </a:ln>
        </p:spPr>
        <p:txBody>
          <a:bodyPr wrap="square" lIns="0" tIns="0" rIns="0" bIns="0" rtlCol="0"/>
          <a:lstStyle/>
          <a:p>
            <a:endParaRPr/>
          </a:p>
        </p:txBody>
      </p:sp>
      <p:sp>
        <p:nvSpPr>
          <p:cNvPr id="7" name="object 7"/>
          <p:cNvSpPr txBox="1">
            <a:spLocks noGrp="1"/>
          </p:cNvSpPr>
          <p:nvPr>
            <p:ph type="title"/>
          </p:nvPr>
        </p:nvSpPr>
        <p:spPr>
          <a:xfrm>
            <a:off x="738523" y="643459"/>
            <a:ext cx="7579977" cy="927113"/>
          </a:xfrm>
          <a:prstGeom prst="rect">
            <a:avLst/>
          </a:prstGeom>
        </p:spPr>
        <p:txBody>
          <a:bodyPr vert="horz" wrap="square" lIns="0" tIns="11430" rIns="0" bIns="0" rtlCol="0">
            <a:spAutoFit/>
          </a:bodyPr>
          <a:lstStyle/>
          <a:p>
            <a:pPr marL="12700" marR="5080">
              <a:lnSpc>
                <a:spcPct val="154500"/>
              </a:lnSpc>
              <a:spcBef>
                <a:spcPts val="90"/>
              </a:spcBef>
            </a:pPr>
            <a:r>
              <a:rPr sz="2050" spc="-5" dirty="0">
                <a:latin typeface="Arial"/>
                <a:cs typeface="Arial"/>
              </a:rPr>
              <a:t>If</a:t>
            </a:r>
            <a:r>
              <a:rPr sz="2050" spc="-140" dirty="0">
                <a:latin typeface="Arial"/>
                <a:cs typeface="Arial"/>
              </a:rPr>
              <a:t> </a:t>
            </a:r>
            <a:r>
              <a:rPr sz="2050" spc="-35" dirty="0">
                <a:latin typeface="Arial"/>
                <a:cs typeface="Arial"/>
              </a:rPr>
              <a:t>the</a:t>
            </a:r>
            <a:r>
              <a:rPr sz="2050" spc="-155" dirty="0">
                <a:latin typeface="Arial"/>
                <a:cs typeface="Arial"/>
              </a:rPr>
              <a:t> </a:t>
            </a:r>
            <a:r>
              <a:rPr sz="2050" spc="-75" dirty="0">
                <a:latin typeface="Arial"/>
                <a:cs typeface="Arial"/>
              </a:rPr>
              <a:t>horizontal</a:t>
            </a:r>
            <a:r>
              <a:rPr sz="2050" spc="-135" dirty="0">
                <a:latin typeface="Arial"/>
                <a:cs typeface="Arial"/>
              </a:rPr>
              <a:t> </a:t>
            </a:r>
            <a:r>
              <a:rPr sz="2050" spc="-65" dirty="0">
                <a:latin typeface="Arial"/>
                <a:cs typeface="Arial"/>
              </a:rPr>
              <a:t>resolution</a:t>
            </a:r>
            <a:r>
              <a:rPr sz="2050" spc="-160" dirty="0">
                <a:latin typeface="Arial"/>
                <a:cs typeface="Arial"/>
              </a:rPr>
              <a:t> </a:t>
            </a:r>
            <a:r>
              <a:rPr sz="2050" spc="-15" dirty="0">
                <a:latin typeface="Arial"/>
                <a:cs typeface="Arial"/>
              </a:rPr>
              <a:t>of</a:t>
            </a:r>
            <a:r>
              <a:rPr sz="2050" spc="-140" dirty="0">
                <a:latin typeface="Arial"/>
                <a:cs typeface="Arial"/>
              </a:rPr>
              <a:t> </a:t>
            </a:r>
            <a:r>
              <a:rPr sz="2050" spc="-35" dirty="0">
                <a:latin typeface="Arial"/>
                <a:cs typeface="Arial"/>
              </a:rPr>
              <a:t>the</a:t>
            </a:r>
            <a:r>
              <a:rPr sz="2050" spc="-155" dirty="0">
                <a:latin typeface="Arial"/>
                <a:cs typeface="Arial"/>
              </a:rPr>
              <a:t> </a:t>
            </a:r>
            <a:r>
              <a:rPr sz="2050" spc="-110" dirty="0">
                <a:latin typeface="Arial"/>
                <a:cs typeface="Arial"/>
              </a:rPr>
              <a:t>device</a:t>
            </a:r>
            <a:r>
              <a:rPr sz="2050" spc="-155" dirty="0">
                <a:latin typeface="Arial"/>
                <a:cs typeface="Arial"/>
              </a:rPr>
              <a:t> </a:t>
            </a:r>
            <a:r>
              <a:rPr sz="2050" spc="-130" dirty="0">
                <a:latin typeface="Arial"/>
                <a:cs typeface="Arial"/>
              </a:rPr>
              <a:t>(max-</a:t>
            </a:r>
            <a:r>
              <a:rPr sz="2050" spc="-125" dirty="0">
                <a:latin typeface="Arial"/>
                <a:cs typeface="Arial"/>
              </a:rPr>
              <a:t> </a:t>
            </a:r>
            <a:r>
              <a:rPr sz="2050" spc="-80" dirty="0">
                <a:latin typeface="Arial"/>
                <a:cs typeface="Arial"/>
              </a:rPr>
              <a:t>device-width)</a:t>
            </a:r>
            <a:r>
              <a:rPr lang="en-GB" sz="2050" spc="-80" dirty="0">
                <a:latin typeface="Arial"/>
                <a:cs typeface="Arial"/>
              </a:rPr>
              <a:t> </a:t>
            </a:r>
            <a:r>
              <a:rPr sz="2050" spc="-80" dirty="0">
                <a:latin typeface="Arial"/>
                <a:cs typeface="Arial"/>
              </a:rPr>
              <a:t>is  </a:t>
            </a:r>
            <a:r>
              <a:rPr sz="2050" spc="-100" dirty="0">
                <a:latin typeface="Arial"/>
                <a:cs typeface="Arial"/>
              </a:rPr>
              <a:t>equal</a:t>
            </a:r>
            <a:r>
              <a:rPr sz="2050" spc="-145" dirty="0">
                <a:latin typeface="Arial"/>
                <a:cs typeface="Arial"/>
              </a:rPr>
              <a:t> </a:t>
            </a:r>
            <a:r>
              <a:rPr sz="2050" spc="15" dirty="0">
                <a:latin typeface="Arial"/>
                <a:cs typeface="Arial"/>
              </a:rPr>
              <a:t>to</a:t>
            </a:r>
            <a:r>
              <a:rPr sz="2050" spc="-175" dirty="0">
                <a:latin typeface="Arial"/>
                <a:cs typeface="Arial"/>
              </a:rPr>
              <a:t> </a:t>
            </a:r>
            <a:r>
              <a:rPr sz="2050" spc="-25" dirty="0">
                <a:latin typeface="Arial"/>
                <a:cs typeface="Arial"/>
              </a:rPr>
              <a:t>or</a:t>
            </a:r>
            <a:r>
              <a:rPr sz="2050" spc="-155" dirty="0">
                <a:latin typeface="Arial"/>
                <a:cs typeface="Arial"/>
              </a:rPr>
              <a:t> </a:t>
            </a:r>
            <a:r>
              <a:rPr sz="2050" spc="-150" dirty="0">
                <a:latin typeface="Arial"/>
                <a:cs typeface="Arial"/>
              </a:rPr>
              <a:t>less</a:t>
            </a:r>
            <a:r>
              <a:rPr sz="2050" spc="-155" dirty="0">
                <a:latin typeface="Arial"/>
                <a:cs typeface="Arial"/>
              </a:rPr>
              <a:t> </a:t>
            </a:r>
            <a:r>
              <a:rPr sz="2050" spc="-55" dirty="0">
                <a:latin typeface="Arial"/>
                <a:cs typeface="Arial"/>
              </a:rPr>
              <a:t>than</a:t>
            </a:r>
            <a:r>
              <a:rPr sz="2050" spc="-175" dirty="0">
                <a:latin typeface="Arial"/>
                <a:cs typeface="Arial"/>
              </a:rPr>
              <a:t> </a:t>
            </a:r>
            <a:r>
              <a:rPr sz="2050" spc="-150" dirty="0">
                <a:latin typeface="Arial"/>
                <a:cs typeface="Arial"/>
              </a:rPr>
              <a:t>600px</a:t>
            </a:r>
            <a:endParaRPr sz="2050" dirty="0">
              <a:latin typeface="Arial"/>
              <a:cs typeface="Arial"/>
            </a:endParaRPr>
          </a:p>
        </p:txBody>
      </p:sp>
      <p:sp>
        <p:nvSpPr>
          <p:cNvPr id="8" name="object 8"/>
          <p:cNvSpPr txBox="1"/>
          <p:nvPr/>
        </p:nvSpPr>
        <p:spPr>
          <a:xfrm>
            <a:off x="738523" y="1513416"/>
            <a:ext cx="7579977" cy="927113"/>
          </a:xfrm>
          <a:prstGeom prst="rect">
            <a:avLst/>
          </a:prstGeom>
        </p:spPr>
        <p:txBody>
          <a:bodyPr vert="horz" wrap="square" lIns="0" tIns="11430" rIns="0" bIns="0" rtlCol="0">
            <a:spAutoFit/>
          </a:bodyPr>
          <a:lstStyle/>
          <a:p>
            <a:pPr marL="12700" marR="5080">
              <a:lnSpc>
                <a:spcPct val="154500"/>
              </a:lnSpc>
              <a:spcBef>
                <a:spcPts val="90"/>
              </a:spcBef>
            </a:pPr>
            <a:r>
              <a:rPr sz="2050" spc="-70" dirty="0">
                <a:latin typeface="Arial"/>
                <a:cs typeface="Arial"/>
              </a:rPr>
              <a:t>(i.e.</a:t>
            </a:r>
            <a:r>
              <a:rPr sz="2050" spc="-150" dirty="0">
                <a:latin typeface="Arial"/>
                <a:cs typeface="Arial"/>
              </a:rPr>
              <a:t> </a:t>
            </a:r>
            <a:r>
              <a:rPr sz="2050" spc="25" dirty="0">
                <a:latin typeface="Arial"/>
                <a:cs typeface="Arial"/>
              </a:rPr>
              <a:t>if</a:t>
            </a:r>
            <a:r>
              <a:rPr sz="2050" spc="-145" dirty="0">
                <a:latin typeface="Arial"/>
                <a:cs typeface="Arial"/>
              </a:rPr>
              <a:t> </a:t>
            </a:r>
            <a:r>
              <a:rPr sz="2050" spc="-70" dirty="0">
                <a:latin typeface="Arial"/>
                <a:cs typeface="Arial"/>
              </a:rPr>
              <a:t>we’re</a:t>
            </a:r>
            <a:r>
              <a:rPr sz="2050" spc="-160" dirty="0">
                <a:latin typeface="Arial"/>
                <a:cs typeface="Arial"/>
              </a:rPr>
              <a:t> </a:t>
            </a:r>
            <a:r>
              <a:rPr sz="2050" spc="-85" dirty="0">
                <a:latin typeface="Arial"/>
                <a:cs typeface="Arial"/>
              </a:rPr>
              <a:t>viewing</a:t>
            </a:r>
            <a:r>
              <a:rPr sz="2050" spc="-165" dirty="0">
                <a:latin typeface="Arial"/>
                <a:cs typeface="Arial"/>
              </a:rPr>
              <a:t> </a:t>
            </a:r>
            <a:r>
              <a:rPr sz="2050" spc="-50" dirty="0">
                <a:latin typeface="Arial"/>
                <a:cs typeface="Arial"/>
              </a:rPr>
              <a:t>our</a:t>
            </a:r>
            <a:r>
              <a:rPr sz="2050" spc="-150" dirty="0">
                <a:latin typeface="Arial"/>
                <a:cs typeface="Arial"/>
              </a:rPr>
              <a:t> </a:t>
            </a:r>
            <a:r>
              <a:rPr sz="2050" spc="-60" dirty="0">
                <a:latin typeface="Arial"/>
                <a:cs typeface="Arial"/>
              </a:rPr>
              <a:t>work</a:t>
            </a:r>
            <a:r>
              <a:rPr sz="2050" spc="-155" dirty="0">
                <a:latin typeface="Arial"/>
                <a:cs typeface="Arial"/>
              </a:rPr>
              <a:t> </a:t>
            </a:r>
            <a:r>
              <a:rPr sz="2050" spc="-70" dirty="0">
                <a:latin typeface="Arial"/>
                <a:cs typeface="Arial"/>
              </a:rPr>
              <a:t>on</a:t>
            </a:r>
            <a:r>
              <a:rPr sz="2050" spc="-165" dirty="0">
                <a:latin typeface="Arial"/>
                <a:cs typeface="Arial"/>
              </a:rPr>
              <a:t> </a:t>
            </a:r>
            <a:r>
              <a:rPr sz="2050" spc="-145" dirty="0">
                <a:latin typeface="Arial"/>
                <a:cs typeface="Arial"/>
              </a:rPr>
              <a:t>a</a:t>
            </a:r>
            <a:r>
              <a:rPr sz="2050" spc="-155" dirty="0">
                <a:latin typeface="Arial"/>
                <a:cs typeface="Arial"/>
              </a:rPr>
              <a:t> </a:t>
            </a:r>
            <a:r>
              <a:rPr sz="2050" spc="-114" dirty="0">
                <a:latin typeface="Arial"/>
                <a:cs typeface="Arial"/>
              </a:rPr>
              <a:t>small-screen</a:t>
            </a:r>
            <a:r>
              <a:rPr sz="2050" spc="-165" dirty="0">
                <a:latin typeface="Arial"/>
                <a:cs typeface="Arial"/>
              </a:rPr>
              <a:t> </a:t>
            </a:r>
            <a:r>
              <a:rPr sz="2050" spc="-110" dirty="0">
                <a:latin typeface="Arial"/>
                <a:cs typeface="Arial"/>
              </a:rPr>
              <a:t>device</a:t>
            </a:r>
            <a:r>
              <a:rPr sz="2050" spc="-160" dirty="0">
                <a:latin typeface="Arial"/>
                <a:cs typeface="Arial"/>
              </a:rPr>
              <a:t> </a:t>
            </a:r>
            <a:r>
              <a:rPr sz="2050" spc="-70" dirty="0">
                <a:latin typeface="Arial"/>
                <a:cs typeface="Arial"/>
              </a:rPr>
              <a:t>like</a:t>
            </a:r>
            <a:r>
              <a:rPr sz="2050" spc="-160" dirty="0">
                <a:latin typeface="Arial"/>
                <a:cs typeface="Arial"/>
              </a:rPr>
              <a:t> </a:t>
            </a:r>
            <a:r>
              <a:rPr sz="2050" spc="-35" dirty="0">
                <a:latin typeface="Arial"/>
                <a:cs typeface="Arial"/>
              </a:rPr>
              <a:t>the</a:t>
            </a:r>
            <a:r>
              <a:rPr sz="2050" spc="-160" dirty="0">
                <a:latin typeface="Arial"/>
                <a:cs typeface="Arial"/>
              </a:rPr>
              <a:t> </a:t>
            </a:r>
            <a:r>
              <a:rPr sz="2050" spc="-114" dirty="0">
                <a:latin typeface="Arial"/>
                <a:cs typeface="Arial"/>
              </a:rPr>
              <a:t>iPhone)  </a:t>
            </a:r>
            <a:r>
              <a:rPr sz="2050" spc="-45" dirty="0">
                <a:latin typeface="Arial"/>
                <a:cs typeface="Arial"/>
              </a:rPr>
              <a:t>then </a:t>
            </a:r>
            <a:r>
              <a:rPr sz="2050" spc="-35" dirty="0">
                <a:latin typeface="Arial"/>
                <a:cs typeface="Arial"/>
              </a:rPr>
              <a:t>the </a:t>
            </a:r>
            <a:r>
              <a:rPr sz="2050" spc="-100" dirty="0">
                <a:latin typeface="Arial"/>
                <a:cs typeface="Arial"/>
              </a:rPr>
              <a:t>background-color </a:t>
            </a:r>
            <a:r>
              <a:rPr sz="2050" spc="-10" dirty="0">
                <a:latin typeface="Arial"/>
                <a:cs typeface="Arial"/>
              </a:rPr>
              <a:t>will</a:t>
            </a:r>
            <a:r>
              <a:rPr sz="2050" spc="5" dirty="0">
                <a:latin typeface="Arial"/>
                <a:cs typeface="Arial"/>
              </a:rPr>
              <a:t> </a:t>
            </a:r>
            <a:r>
              <a:rPr sz="2050" spc="-145" dirty="0">
                <a:latin typeface="Arial"/>
                <a:cs typeface="Arial"/>
              </a:rPr>
              <a:t>change</a:t>
            </a:r>
            <a:endParaRPr sz="2050" dirty="0">
              <a:latin typeface="Arial"/>
              <a:cs typeface="Arial"/>
            </a:endParaRPr>
          </a:p>
        </p:txBody>
      </p:sp>
      <p:sp>
        <p:nvSpPr>
          <p:cNvPr id="9" name="object 9"/>
          <p:cNvSpPr txBox="1"/>
          <p:nvPr/>
        </p:nvSpPr>
        <p:spPr>
          <a:xfrm>
            <a:off x="457200" y="6292155"/>
            <a:ext cx="7425055" cy="268662"/>
          </a:xfrm>
          <a:prstGeom prst="rect">
            <a:avLst/>
          </a:prstGeom>
        </p:spPr>
        <p:txBody>
          <a:bodyPr vert="horz" wrap="square" lIns="0" tIns="14604" rIns="0" bIns="0" rtlCol="0">
            <a:spAutoFit/>
          </a:bodyPr>
          <a:lstStyle/>
          <a:p>
            <a:pPr marL="12700">
              <a:lnSpc>
                <a:spcPct val="100000"/>
              </a:lnSpc>
              <a:spcBef>
                <a:spcPts val="114"/>
              </a:spcBef>
            </a:pPr>
            <a:r>
              <a:rPr sz="1650" spc="5" dirty="0">
                <a:solidFill>
                  <a:srgbClr val="0000FF"/>
                </a:solidFill>
                <a:latin typeface="Arial"/>
                <a:cs typeface="Arial"/>
                <a:hlinkClick r:id="rId6"/>
              </a:rPr>
              <a:t>https://www.w3schools.com/css/tryit.asp?filename=tryresponsive_mediaquery</a:t>
            </a:r>
            <a:endParaRPr sz="1650" dirty="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2616200"/>
            <a:ext cx="9144000" cy="3111500"/>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355600" y="469900"/>
            <a:ext cx="8432800" cy="4216400"/>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457200" y="774700"/>
            <a:ext cx="7035800" cy="1079500"/>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419100" y="520700"/>
            <a:ext cx="8305800" cy="4076700"/>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423988" y="523981"/>
            <a:ext cx="8296275" cy="4072254"/>
          </a:xfrm>
          <a:custGeom>
            <a:avLst/>
            <a:gdLst/>
            <a:ahLst/>
            <a:cxnLst/>
            <a:rect l="l" t="t" r="r" b="b"/>
            <a:pathLst>
              <a:path w="8296275" h="4072254">
                <a:moveTo>
                  <a:pt x="0" y="227751"/>
                </a:moveTo>
                <a:lnTo>
                  <a:pt x="4627" y="181851"/>
                </a:lnTo>
                <a:lnTo>
                  <a:pt x="17897" y="139100"/>
                </a:lnTo>
                <a:lnTo>
                  <a:pt x="38896" y="100413"/>
                </a:lnTo>
                <a:lnTo>
                  <a:pt x="66706" y="66706"/>
                </a:lnTo>
                <a:lnTo>
                  <a:pt x="100413" y="38896"/>
                </a:lnTo>
                <a:lnTo>
                  <a:pt x="139099" y="17897"/>
                </a:lnTo>
                <a:lnTo>
                  <a:pt x="181850" y="4627"/>
                </a:lnTo>
                <a:lnTo>
                  <a:pt x="227750" y="0"/>
                </a:lnTo>
                <a:lnTo>
                  <a:pt x="1382670" y="0"/>
                </a:lnTo>
                <a:lnTo>
                  <a:pt x="3456676" y="0"/>
                </a:lnTo>
                <a:lnTo>
                  <a:pt x="8068272" y="0"/>
                </a:lnTo>
                <a:lnTo>
                  <a:pt x="8114171" y="4627"/>
                </a:lnTo>
                <a:lnTo>
                  <a:pt x="8156922" y="17897"/>
                </a:lnTo>
                <a:lnTo>
                  <a:pt x="8195609" y="38896"/>
                </a:lnTo>
                <a:lnTo>
                  <a:pt x="8229315" y="66706"/>
                </a:lnTo>
                <a:lnTo>
                  <a:pt x="8257126" y="100413"/>
                </a:lnTo>
                <a:lnTo>
                  <a:pt x="8278124" y="139100"/>
                </a:lnTo>
                <a:lnTo>
                  <a:pt x="8291395" y="181851"/>
                </a:lnTo>
                <a:lnTo>
                  <a:pt x="8296022" y="227751"/>
                </a:lnTo>
                <a:lnTo>
                  <a:pt x="8296022" y="797106"/>
                </a:lnTo>
                <a:lnTo>
                  <a:pt x="8296022" y="1138720"/>
                </a:lnTo>
                <a:lnTo>
                  <a:pt x="8291395" y="1184610"/>
                </a:lnTo>
                <a:lnTo>
                  <a:pt x="8278124" y="1227361"/>
                </a:lnTo>
                <a:lnTo>
                  <a:pt x="8257126" y="1266048"/>
                </a:lnTo>
                <a:lnTo>
                  <a:pt x="8229315" y="1299755"/>
                </a:lnTo>
                <a:lnTo>
                  <a:pt x="8195609" y="1327565"/>
                </a:lnTo>
                <a:lnTo>
                  <a:pt x="8156922" y="1348564"/>
                </a:lnTo>
                <a:lnTo>
                  <a:pt x="8114171" y="1361834"/>
                </a:lnTo>
                <a:lnTo>
                  <a:pt x="8068272" y="1366462"/>
                </a:lnTo>
                <a:lnTo>
                  <a:pt x="3456676" y="1366462"/>
                </a:lnTo>
                <a:lnTo>
                  <a:pt x="3715292" y="4071705"/>
                </a:lnTo>
                <a:lnTo>
                  <a:pt x="1382670" y="1366462"/>
                </a:lnTo>
                <a:lnTo>
                  <a:pt x="227750" y="1366462"/>
                </a:lnTo>
                <a:lnTo>
                  <a:pt x="181850" y="1361834"/>
                </a:lnTo>
                <a:lnTo>
                  <a:pt x="139099" y="1348564"/>
                </a:lnTo>
                <a:lnTo>
                  <a:pt x="100413" y="1327565"/>
                </a:lnTo>
                <a:lnTo>
                  <a:pt x="66706" y="1299755"/>
                </a:lnTo>
                <a:lnTo>
                  <a:pt x="38896" y="1266048"/>
                </a:lnTo>
                <a:lnTo>
                  <a:pt x="17897" y="1227361"/>
                </a:lnTo>
                <a:lnTo>
                  <a:pt x="4627" y="1184610"/>
                </a:lnTo>
                <a:lnTo>
                  <a:pt x="0" y="1138711"/>
                </a:lnTo>
                <a:lnTo>
                  <a:pt x="0" y="797106"/>
                </a:lnTo>
                <a:lnTo>
                  <a:pt x="0" y="227751"/>
                </a:lnTo>
                <a:close/>
              </a:path>
            </a:pathLst>
          </a:custGeom>
          <a:ln w="22225">
            <a:solidFill>
              <a:srgbClr val="000000"/>
            </a:solidFill>
          </a:ln>
        </p:spPr>
        <p:txBody>
          <a:bodyPr wrap="square" lIns="0" tIns="0" rIns="0" bIns="0" rtlCol="0"/>
          <a:lstStyle/>
          <a:p>
            <a:endParaRPr/>
          </a:p>
        </p:txBody>
      </p:sp>
      <p:sp>
        <p:nvSpPr>
          <p:cNvPr id="7" name="object 7"/>
          <p:cNvSpPr txBox="1">
            <a:spLocks noGrp="1"/>
          </p:cNvSpPr>
          <p:nvPr>
            <p:ph type="title"/>
          </p:nvPr>
        </p:nvSpPr>
        <p:spPr>
          <a:xfrm>
            <a:off x="655158" y="681559"/>
            <a:ext cx="7358542" cy="927113"/>
          </a:xfrm>
          <a:prstGeom prst="rect">
            <a:avLst/>
          </a:prstGeom>
        </p:spPr>
        <p:txBody>
          <a:bodyPr vert="horz" wrap="square" lIns="0" tIns="11430" rIns="0" bIns="0" rtlCol="0">
            <a:spAutoFit/>
          </a:bodyPr>
          <a:lstStyle/>
          <a:p>
            <a:pPr marL="12700" marR="5080">
              <a:lnSpc>
                <a:spcPct val="154500"/>
              </a:lnSpc>
              <a:spcBef>
                <a:spcPts val="90"/>
              </a:spcBef>
            </a:pPr>
            <a:r>
              <a:rPr sz="2050" spc="-170" dirty="0">
                <a:latin typeface="Arial"/>
                <a:cs typeface="Arial"/>
              </a:rPr>
              <a:t>We</a:t>
            </a:r>
            <a:r>
              <a:rPr sz="2050" spc="-165" dirty="0">
                <a:latin typeface="Arial"/>
                <a:cs typeface="Arial"/>
              </a:rPr>
              <a:t> </a:t>
            </a:r>
            <a:r>
              <a:rPr sz="2050" spc="-145" dirty="0">
                <a:latin typeface="Arial"/>
                <a:cs typeface="Arial"/>
              </a:rPr>
              <a:t>can</a:t>
            </a:r>
            <a:r>
              <a:rPr sz="2050" spc="-170" dirty="0">
                <a:latin typeface="Arial"/>
                <a:cs typeface="Arial"/>
              </a:rPr>
              <a:t> </a:t>
            </a:r>
            <a:r>
              <a:rPr sz="2050" spc="-120" dirty="0">
                <a:latin typeface="Arial"/>
                <a:cs typeface="Arial"/>
              </a:rPr>
              <a:t>also</a:t>
            </a:r>
            <a:r>
              <a:rPr sz="2050" spc="-175" dirty="0">
                <a:latin typeface="Arial"/>
                <a:cs typeface="Arial"/>
              </a:rPr>
              <a:t> </a:t>
            </a:r>
            <a:r>
              <a:rPr sz="2050" spc="-80" dirty="0">
                <a:latin typeface="Arial"/>
                <a:cs typeface="Arial"/>
              </a:rPr>
              <a:t>load</a:t>
            </a:r>
            <a:r>
              <a:rPr sz="2050" spc="-170" dirty="0">
                <a:latin typeface="Arial"/>
                <a:cs typeface="Arial"/>
              </a:rPr>
              <a:t> </a:t>
            </a:r>
            <a:r>
              <a:rPr sz="2050" spc="-25" dirty="0">
                <a:latin typeface="Arial"/>
                <a:cs typeface="Arial"/>
              </a:rPr>
              <a:t>in</a:t>
            </a:r>
            <a:r>
              <a:rPr sz="2050" spc="-170" dirty="0">
                <a:latin typeface="Arial"/>
                <a:cs typeface="Arial"/>
              </a:rPr>
              <a:t> </a:t>
            </a:r>
            <a:r>
              <a:rPr sz="2050" spc="-114" dirty="0">
                <a:latin typeface="Arial"/>
                <a:cs typeface="Arial"/>
              </a:rPr>
              <a:t>an</a:t>
            </a:r>
            <a:r>
              <a:rPr sz="2050" spc="-170" dirty="0">
                <a:latin typeface="Arial"/>
                <a:cs typeface="Arial"/>
              </a:rPr>
              <a:t> </a:t>
            </a:r>
            <a:r>
              <a:rPr sz="2050" spc="-50" dirty="0">
                <a:latin typeface="Arial"/>
                <a:cs typeface="Arial"/>
              </a:rPr>
              <a:t>entirely</a:t>
            </a:r>
            <a:r>
              <a:rPr sz="2050" spc="-170" dirty="0">
                <a:latin typeface="Arial"/>
                <a:cs typeface="Arial"/>
              </a:rPr>
              <a:t> </a:t>
            </a:r>
            <a:r>
              <a:rPr sz="2050" spc="-40" dirty="0">
                <a:latin typeface="Arial"/>
                <a:cs typeface="Arial"/>
              </a:rPr>
              <a:t>different</a:t>
            </a:r>
            <a:r>
              <a:rPr sz="2050" spc="-150" dirty="0">
                <a:latin typeface="Arial"/>
                <a:cs typeface="Arial"/>
              </a:rPr>
              <a:t> </a:t>
            </a:r>
            <a:r>
              <a:rPr sz="2050" spc="-425" dirty="0">
                <a:latin typeface="Arial"/>
                <a:cs typeface="Arial"/>
              </a:rPr>
              <a:t>CSS</a:t>
            </a:r>
            <a:r>
              <a:rPr sz="2050" spc="-305" dirty="0">
                <a:latin typeface="Arial"/>
                <a:cs typeface="Arial"/>
              </a:rPr>
              <a:t> </a:t>
            </a:r>
            <a:r>
              <a:rPr lang="en-GB" sz="2050" spc="-305" dirty="0">
                <a:latin typeface="Arial"/>
                <a:cs typeface="Arial"/>
              </a:rPr>
              <a:t> </a:t>
            </a:r>
            <a:r>
              <a:rPr sz="2050" spc="-150" dirty="0">
                <a:latin typeface="Arial"/>
                <a:cs typeface="Arial"/>
              </a:rPr>
              <a:t>page</a:t>
            </a:r>
            <a:r>
              <a:rPr sz="2050" spc="-165" dirty="0">
                <a:latin typeface="Arial"/>
                <a:cs typeface="Arial"/>
              </a:rPr>
              <a:t> </a:t>
            </a:r>
            <a:r>
              <a:rPr sz="2050" spc="-100" dirty="0">
                <a:latin typeface="Arial"/>
                <a:cs typeface="Arial"/>
              </a:rPr>
              <a:t>depending</a:t>
            </a:r>
            <a:r>
              <a:rPr sz="2050" spc="-170" dirty="0">
                <a:latin typeface="Arial"/>
                <a:cs typeface="Arial"/>
              </a:rPr>
              <a:t> </a:t>
            </a:r>
            <a:r>
              <a:rPr sz="2050" spc="-70" dirty="0">
                <a:latin typeface="Arial"/>
                <a:cs typeface="Arial"/>
              </a:rPr>
              <a:t>on  </a:t>
            </a:r>
            <a:r>
              <a:rPr sz="2050" spc="-130" dirty="0">
                <a:latin typeface="Arial"/>
                <a:cs typeface="Arial"/>
              </a:rPr>
              <a:t>screen</a:t>
            </a:r>
            <a:r>
              <a:rPr sz="2050" spc="-165" dirty="0">
                <a:latin typeface="Arial"/>
                <a:cs typeface="Arial"/>
              </a:rPr>
              <a:t> </a:t>
            </a:r>
            <a:r>
              <a:rPr sz="2050" spc="-20" dirty="0">
                <a:latin typeface="Arial"/>
                <a:cs typeface="Arial"/>
              </a:rPr>
              <a:t>width</a:t>
            </a:r>
            <a:r>
              <a:rPr sz="2050" spc="-165" dirty="0">
                <a:latin typeface="Arial"/>
                <a:cs typeface="Arial"/>
              </a:rPr>
              <a:t> </a:t>
            </a:r>
            <a:r>
              <a:rPr sz="2050" spc="-50" dirty="0">
                <a:latin typeface="Arial"/>
                <a:cs typeface="Arial"/>
              </a:rPr>
              <a:t>too,</a:t>
            </a:r>
            <a:r>
              <a:rPr sz="2050" spc="-140" dirty="0">
                <a:latin typeface="Arial"/>
                <a:cs typeface="Arial"/>
              </a:rPr>
              <a:t> </a:t>
            </a:r>
            <a:r>
              <a:rPr sz="2050" spc="-50" dirty="0">
                <a:latin typeface="Arial"/>
                <a:cs typeface="Arial"/>
              </a:rPr>
              <a:t>this</a:t>
            </a:r>
            <a:r>
              <a:rPr sz="2050" spc="-150" dirty="0">
                <a:latin typeface="Arial"/>
                <a:cs typeface="Arial"/>
              </a:rPr>
              <a:t> </a:t>
            </a:r>
            <a:r>
              <a:rPr sz="2050" spc="-145" dirty="0">
                <a:latin typeface="Arial"/>
                <a:cs typeface="Arial"/>
              </a:rPr>
              <a:t>can</a:t>
            </a:r>
            <a:r>
              <a:rPr sz="2050" spc="-165" dirty="0">
                <a:latin typeface="Arial"/>
                <a:cs typeface="Arial"/>
              </a:rPr>
              <a:t> </a:t>
            </a:r>
            <a:r>
              <a:rPr sz="2050" spc="-100" dirty="0">
                <a:latin typeface="Arial"/>
                <a:cs typeface="Arial"/>
              </a:rPr>
              <a:t>be</a:t>
            </a:r>
            <a:r>
              <a:rPr sz="2050" spc="-160" dirty="0">
                <a:latin typeface="Arial"/>
                <a:cs typeface="Arial"/>
              </a:rPr>
              <a:t> </a:t>
            </a:r>
            <a:r>
              <a:rPr sz="2050" spc="-130" dirty="0">
                <a:latin typeface="Arial"/>
                <a:cs typeface="Arial"/>
              </a:rPr>
              <a:t>used</a:t>
            </a:r>
            <a:r>
              <a:rPr sz="2050" spc="-165" dirty="0">
                <a:latin typeface="Arial"/>
                <a:cs typeface="Arial"/>
              </a:rPr>
              <a:t> </a:t>
            </a:r>
            <a:r>
              <a:rPr sz="2050" spc="15" dirty="0">
                <a:latin typeface="Arial"/>
                <a:cs typeface="Arial"/>
              </a:rPr>
              <a:t>to</a:t>
            </a:r>
            <a:r>
              <a:rPr sz="2050" spc="-170" dirty="0">
                <a:latin typeface="Arial"/>
                <a:cs typeface="Arial"/>
              </a:rPr>
              <a:t> </a:t>
            </a:r>
            <a:r>
              <a:rPr sz="2050" spc="-95" dirty="0">
                <a:latin typeface="Arial"/>
                <a:cs typeface="Arial"/>
              </a:rPr>
              <a:t>create</a:t>
            </a:r>
            <a:r>
              <a:rPr sz="2050" spc="-160" dirty="0">
                <a:latin typeface="Arial"/>
                <a:cs typeface="Arial"/>
              </a:rPr>
              <a:t> </a:t>
            </a:r>
            <a:r>
              <a:rPr sz="2050" spc="-45" dirty="0">
                <a:latin typeface="Arial"/>
                <a:cs typeface="Arial"/>
              </a:rPr>
              <a:t>“adaptive”</a:t>
            </a:r>
            <a:r>
              <a:rPr sz="2050" spc="-155" dirty="0">
                <a:latin typeface="Arial"/>
                <a:cs typeface="Arial"/>
              </a:rPr>
              <a:t> </a:t>
            </a:r>
            <a:r>
              <a:rPr sz="2050" spc="-140" dirty="0">
                <a:latin typeface="Arial"/>
                <a:cs typeface="Arial"/>
              </a:rPr>
              <a:t>designs</a:t>
            </a:r>
            <a:endParaRPr sz="2050" dirty="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655" y="2303213"/>
            <a:ext cx="6790690" cy="1292019"/>
          </a:xfrm>
          <a:prstGeom prst="rect">
            <a:avLst/>
          </a:prstGeom>
        </p:spPr>
        <p:txBody>
          <a:bodyPr vert="horz" wrap="square" lIns="0" tIns="14604" rIns="0" bIns="0" rtlCol="0">
            <a:spAutoFit/>
          </a:bodyPr>
          <a:lstStyle/>
          <a:p>
            <a:pPr marL="12700" algn="ctr">
              <a:lnSpc>
                <a:spcPct val="100000"/>
              </a:lnSpc>
              <a:spcBef>
                <a:spcPts val="114"/>
              </a:spcBef>
            </a:pPr>
            <a:r>
              <a:rPr sz="4150" spc="-80" dirty="0"/>
              <a:t>Demo </a:t>
            </a:r>
            <a:r>
              <a:rPr sz="4150" spc="-70" dirty="0"/>
              <a:t>responsive </a:t>
            </a:r>
            <a:r>
              <a:rPr sz="4150" spc="-60" dirty="0"/>
              <a:t>design</a:t>
            </a:r>
            <a:r>
              <a:rPr sz="4150" spc="-295" dirty="0"/>
              <a:t> </a:t>
            </a:r>
            <a:r>
              <a:rPr sz="4150" spc="-55" dirty="0"/>
              <a:t>folder</a:t>
            </a:r>
            <a:br>
              <a:rPr lang="en-GB" sz="4150" spc="-55" dirty="0"/>
            </a:br>
            <a:r>
              <a:rPr lang="en-GB" sz="4150" spc="-55" dirty="0"/>
              <a:t>and adaptive design folder</a:t>
            </a:r>
            <a:endParaRPr sz="4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Fluid vs Static layout</a:t>
            </a:r>
          </a:p>
        </p:txBody>
      </p:sp>
      <p:sp>
        <p:nvSpPr>
          <p:cNvPr id="3" name="Content Placeholder 2"/>
          <p:cNvSpPr>
            <a:spLocks noGrp="1"/>
          </p:cNvSpPr>
          <p:nvPr>
            <p:ph idx="1"/>
          </p:nvPr>
        </p:nvSpPr>
        <p:spPr/>
        <p:txBody>
          <a:bodyPr>
            <a:normAutofit/>
          </a:bodyPr>
          <a:lstStyle/>
          <a:p>
            <a:pPr>
              <a:lnSpc>
                <a:spcPct val="130000"/>
              </a:lnSpc>
            </a:pPr>
            <a:r>
              <a:rPr lang="en-GB" sz="3000" dirty="0"/>
              <a:t>What is the difference ?</a:t>
            </a:r>
          </a:p>
          <a:p>
            <a:pPr lvl="1">
              <a:lnSpc>
                <a:spcPct val="120000"/>
              </a:lnSpc>
            </a:pPr>
            <a:endParaRPr lang="en-US" sz="2000" dirty="0"/>
          </a:p>
          <a:p>
            <a:pPr lvl="1">
              <a:lnSpc>
                <a:spcPct val="120000"/>
              </a:lnSpc>
            </a:pPr>
            <a:endParaRPr lang="en-US" sz="2400" dirty="0"/>
          </a:p>
        </p:txBody>
      </p:sp>
      <p:pic>
        <p:nvPicPr>
          <p:cNvPr id="4" name="Picture 3" descr="3038367-inline-i-2-9-gifs-that-explain-responsive-design-brilliantly-02relative-units-vs-static-units-1-copy.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200" y="2919413"/>
            <a:ext cx="8128000" cy="2959100"/>
          </a:xfrm>
          <a:prstGeom prst="rect">
            <a:avLst/>
          </a:prstGeom>
        </p:spPr>
      </p:pic>
    </p:spTree>
    <p:extLst>
      <p:ext uri="{BB962C8B-B14F-4D97-AF65-F5344CB8AC3E}">
        <p14:creationId xmlns:p14="http://schemas.microsoft.com/office/powerpoint/2010/main" val="535707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Responsive vs Adaptive</a:t>
            </a:r>
          </a:p>
        </p:txBody>
      </p:sp>
      <p:sp>
        <p:nvSpPr>
          <p:cNvPr id="3" name="Content Placeholder 2"/>
          <p:cNvSpPr>
            <a:spLocks noGrp="1"/>
          </p:cNvSpPr>
          <p:nvPr>
            <p:ph idx="1"/>
          </p:nvPr>
        </p:nvSpPr>
        <p:spPr/>
        <p:txBody>
          <a:bodyPr>
            <a:normAutofit/>
          </a:bodyPr>
          <a:lstStyle/>
          <a:p>
            <a:pPr>
              <a:lnSpc>
                <a:spcPct val="130000"/>
              </a:lnSpc>
            </a:pPr>
            <a:r>
              <a:rPr lang="en-GB" sz="3000" dirty="0"/>
              <a:t>What is the difference</a:t>
            </a:r>
            <a:endParaRPr lang="en-US" sz="2000" dirty="0"/>
          </a:p>
          <a:p>
            <a:pPr lvl="1">
              <a:lnSpc>
                <a:spcPct val="120000"/>
              </a:lnSpc>
            </a:pPr>
            <a:endParaRPr lang="en-US" sz="2400" dirty="0"/>
          </a:p>
        </p:txBody>
      </p:sp>
      <p:pic>
        <p:nvPicPr>
          <p:cNvPr id="7" name="Picture 6" descr="gif-responsive.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01072"/>
            <a:ext cx="9144000" cy="3325091"/>
          </a:xfrm>
          <a:prstGeom prst="rect">
            <a:avLst/>
          </a:prstGeom>
        </p:spPr>
      </p:pic>
    </p:spTree>
    <p:extLst>
      <p:ext uri="{BB962C8B-B14F-4D97-AF65-F5344CB8AC3E}">
        <p14:creationId xmlns:p14="http://schemas.microsoft.com/office/powerpoint/2010/main" val="732228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7340" y="6457950"/>
            <a:ext cx="3248660" cy="215900"/>
          </a:xfrm>
          <a:prstGeom prst="rect">
            <a:avLst/>
          </a:prstGeom>
        </p:spPr>
        <p:txBody>
          <a:bodyPr vert="horz" wrap="square" lIns="0" tIns="12700" rIns="0" bIns="0" rtlCol="0">
            <a:spAutoFit/>
          </a:bodyPr>
          <a:lstStyle/>
          <a:p>
            <a:pPr marL="12700">
              <a:lnSpc>
                <a:spcPct val="100000"/>
              </a:lnSpc>
              <a:spcBef>
                <a:spcPts val="100"/>
              </a:spcBef>
            </a:pPr>
            <a:r>
              <a:rPr sz="1250" spc="-25" dirty="0">
                <a:solidFill>
                  <a:srgbClr val="9A9A99"/>
                </a:solidFill>
                <a:latin typeface="Arial"/>
                <a:cs typeface="Arial"/>
              </a:rPr>
              <a:t>COMP1678 </a:t>
            </a:r>
            <a:r>
              <a:rPr sz="1250" spc="-75" dirty="0">
                <a:solidFill>
                  <a:srgbClr val="9A9A99"/>
                </a:solidFill>
                <a:latin typeface="Arial"/>
                <a:cs typeface="Arial"/>
              </a:rPr>
              <a:t>– </a:t>
            </a:r>
            <a:r>
              <a:rPr sz="1250" spc="-30" dirty="0">
                <a:solidFill>
                  <a:srgbClr val="9A9A99"/>
                </a:solidFill>
                <a:latin typeface="Arial"/>
                <a:cs typeface="Arial"/>
              </a:rPr>
              <a:t>User </a:t>
            </a:r>
            <a:r>
              <a:rPr sz="1250" spc="0" dirty="0">
                <a:solidFill>
                  <a:srgbClr val="9A9A99"/>
                </a:solidFill>
                <a:latin typeface="Arial"/>
                <a:cs typeface="Arial"/>
              </a:rPr>
              <a:t>Centred </a:t>
            </a:r>
            <a:r>
              <a:rPr sz="1250" spc="-20" dirty="0">
                <a:solidFill>
                  <a:srgbClr val="9A9A99"/>
                </a:solidFill>
                <a:latin typeface="Arial"/>
                <a:cs typeface="Arial"/>
              </a:rPr>
              <a:t>Web</a:t>
            </a:r>
            <a:r>
              <a:rPr sz="1250" spc="-55" dirty="0">
                <a:solidFill>
                  <a:srgbClr val="9A9A99"/>
                </a:solidFill>
                <a:latin typeface="Arial"/>
                <a:cs typeface="Arial"/>
              </a:rPr>
              <a:t> </a:t>
            </a:r>
            <a:r>
              <a:rPr sz="1250" spc="15" dirty="0">
                <a:solidFill>
                  <a:srgbClr val="9A9A99"/>
                </a:solidFill>
                <a:latin typeface="Arial"/>
                <a:cs typeface="Arial"/>
              </a:rPr>
              <a:t>Engineering</a:t>
            </a:r>
            <a:endParaRPr sz="1250">
              <a:latin typeface="Arial"/>
              <a:cs typeface="Arial"/>
            </a:endParaRPr>
          </a:p>
        </p:txBody>
      </p:sp>
      <p:sp>
        <p:nvSpPr>
          <p:cNvPr id="3" name="object 3"/>
          <p:cNvSpPr/>
          <p:nvPr/>
        </p:nvSpPr>
        <p:spPr>
          <a:xfrm>
            <a:off x="0" y="0"/>
            <a:ext cx="5346700" cy="6858000"/>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6195440" y="179916"/>
            <a:ext cx="2790825" cy="1409700"/>
          </a:xfrm>
          <a:prstGeom prst="rect">
            <a:avLst/>
          </a:prstGeom>
        </p:spPr>
        <p:txBody>
          <a:bodyPr vert="horz" wrap="square" lIns="0" tIns="45720" rIns="0" bIns="0" rtlCol="0">
            <a:spAutoFit/>
          </a:bodyPr>
          <a:lstStyle/>
          <a:p>
            <a:pPr marL="12700" marR="5080" indent="1583055">
              <a:lnSpc>
                <a:spcPts val="5400"/>
              </a:lnSpc>
              <a:spcBef>
                <a:spcPts val="360"/>
              </a:spcBef>
            </a:pPr>
            <a:r>
              <a:rPr sz="4550" spc="-85" dirty="0">
                <a:latin typeface="HelveticaNeue-Light"/>
                <a:cs typeface="HelveticaNeue-Light"/>
              </a:rPr>
              <a:t>Lu</a:t>
            </a:r>
            <a:r>
              <a:rPr sz="4550" spc="-75" dirty="0">
                <a:latin typeface="HelveticaNeue-Light"/>
                <a:cs typeface="HelveticaNeue-Light"/>
              </a:rPr>
              <a:t>k</a:t>
            </a:r>
            <a:r>
              <a:rPr sz="4550" spc="5" dirty="0">
                <a:latin typeface="HelveticaNeue-Light"/>
                <a:cs typeface="HelveticaNeue-Light"/>
              </a:rPr>
              <a:t>e  </a:t>
            </a:r>
            <a:r>
              <a:rPr sz="4550" spc="-220" dirty="0">
                <a:latin typeface="HelveticaNeue-Light"/>
                <a:cs typeface="HelveticaNeue-Light"/>
              </a:rPr>
              <a:t>W</a:t>
            </a:r>
            <a:r>
              <a:rPr sz="4550" spc="-125" dirty="0">
                <a:latin typeface="HelveticaNeue-Light"/>
                <a:cs typeface="HelveticaNeue-Light"/>
              </a:rPr>
              <a:t>r</a:t>
            </a:r>
            <a:r>
              <a:rPr sz="4550" spc="-85" dirty="0">
                <a:latin typeface="HelveticaNeue-Light"/>
                <a:cs typeface="HelveticaNeue-Light"/>
              </a:rPr>
              <a:t>o</a:t>
            </a:r>
            <a:r>
              <a:rPr sz="4550" spc="-95" dirty="0">
                <a:latin typeface="HelveticaNeue-Light"/>
                <a:cs typeface="HelveticaNeue-Light"/>
              </a:rPr>
              <a:t>b</a:t>
            </a:r>
            <a:r>
              <a:rPr sz="4550" spc="-30" dirty="0">
                <a:latin typeface="HelveticaNeue-Light"/>
                <a:cs typeface="HelveticaNeue-Light"/>
              </a:rPr>
              <a:t>l</a:t>
            </a:r>
            <a:r>
              <a:rPr sz="4550" spc="-80" dirty="0">
                <a:latin typeface="HelveticaNeue-Light"/>
                <a:cs typeface="HelveticaNeue-Light"/>
              </a:rPr>
              <a:t>e</a:t>
            </a:r>
            <a:r>
              <a:rPr sz="4550" spc="-114" dirty="0">
                <a:latin typeface="HelveticaNeue-Light"/>
                <a:cs typeface="HelveticaNeue-Light"/>
              </a:rPr>
              <a:t>w</a:t>
            </a:r>
            <a:r>
              <a:rPr sz="4550" spc="-80" dirty="0">
                <a:latin typeface="HelveticaNeue-Light"/>
                <a:cs typeface="HelveticaNeue-Light"/>
              </a:rPr>
              <a:t>sk</a:t>
            </a:r>
            <a:r>
              <a:rPr sz="4550" spc="0" dirty="0">
                <a:latin typeface="HelveticaNeue-Light"/>
                <a:cs typeface="HelveticaNeue-Light"/>
              </a:rPr>
              <a:t>i</a:t>
            </a:r>
            <a:endParaRPr sz="4550">
              <a:latin typeface="HelveticaNeue-Light"/>
              <a:cs typeface="HelveticaNeue-Light"/>
            </a:endParaRPr>
          </a:p>
        </p:txBody>
      </p:sp>
      <p:sp>
        <p:nvSpPr>
          <p:cNvPr id="5" name="object 5"/>
          <p:cNvSpPr txBox="1"/>
          <p:nvPr/>
        </p:nvSpPr>
        <p:spPr>
          <a:xfrm>
            <a:off x="4164710" y="6323619"/>
            <a:ext cx="4821555" cy="268662"/>
          </a:xfrm>
          <a:prstGeom prst="rect">
            <a:avLst/>
          </a:prstGeom>
        </p:spPr>
        <p:txBody>
          <a:bodyPr vert="horz" wrap="square" lIns="0" tIns="14604" rIns="0" bIns="0" rtlCol="0">
            <a:spAutoFit/>
          </a:bodyPr>
          <a:lstStyle/>
          <a:p>
            <a:pPr marL="12700">
              <a:lnSpc>
                <a:spcPct val="100000"/>
              </a:lnSpc>
              <a:spcBef>
                <a:spcPts val="114"/>
              </a:spcBef>
            </a:pPr>
            <a:r>
              <a:rPr sz="1650" spc="15" dirty="0">
                <a:solidFill>
                  <a:srgbClr val="800080"/>
                </a:solidFill>
                <a:latin typeface="Arial"/>
                <a:cs typeface="Arial"/>
                <a:hlinkClick r:id="rId3"/>
              </a:rPr>
              <a:t>https://www.lukew.com/resources/mobile_first.asp</a:t>
            </a:r>
            <a:endParaRPr sz="1650" dirty="0">
              <a:latin typeface="Arial"/>
              <a:cs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Mobile first</a:t>
            </a:r>
          </a:p>
        </p:txBody>
      </p:sp>
      <p:sp>
        <p:nvSpPr>
          <p:cNvPr id="3" name="Content Placeholder 2"/>
          <p:cNvSpPr>
            <a:spLocks noGrp="1"/>
          </p:cNvSpPr>
          <p:nvPr>
            <p:ph idx="1"/>
          </p:nvPr>
        </p:nvSpPr>
        <p:spPr/>
        <p:txBody>
          <a:bodyPr>
            <a:normAutofit/>
          </a:bodyPr>
          <a:lstStyle/>
          <a:p>
            <a:pPr lvl="1">
              <a:lnSpc>
                <a:spcPct val="120000"/>
              </a:lnSpc>
            </a:pPr>
            <a:endParaRPr lang="en-US" sz="2000" dirty="0"/>
          </a:p>
          <a:p>
            <a:pPr lvl="1">
              <a:lnSpc>
                <a:spcPct val="120000"/>
              </a:lnSpc>
            </a:pPr>
            <a:endParaRPr lang="en-US" sz="2400" dirty="0"/>
          </a:p>
        </p:txBody>
      </p:sp>
      <p:pic>
        <p:nvPicPr>
          <p:cNvPr id="4" name="Picture 3" descr="progressive_enhancement.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425" y="1235075"/>
            <a:ext cx="8255000" cy="5384800"/>
          </a:xfrm>
          <a:prstGeom prst="rect">
            <a:avLst/>
          </a:prstGeom>
        </p:spPr>
      </p:pic>
      <p:sp>
        <p:nvSpPr>
          <p:cNvPr id="5" name="Rectangle 4"/>
          <p:cNvSpPr/>
          <p:nvPr/>
        </p:nvSpPr>
        <p:spPr>
          <a:xfrm>
            <a:off x="479425" y="1417638"/>
            <a:ext cx="3298825" cy="40798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479425" y="3887788"/>
            <a:ext cx="3790950" cy="54133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344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2580362"/>
            <a:ext cx="9144000" cy="1346602"/>
          </a:xfrm>
        </p:spPr>
        <p:txBody>
          <a:bodyPr>
            <a:noAutofit/>
          </a:bodyPr>
          <a:lstStyle/>
          <a:p>
            <a:pPr algn="ctr"/>
            <a:r>
              <a:rPr lang="en-US" sz="6000" dirty="0">
                <a:latin typeface="Helvetica Neue Light "/>
                <a:cs typeface="Helvetica Neue Light "/>
              </a:rPr>
              <a:t>CSS Frameworks</a:t>
            </a:r>
          </a:p>
        </p:txBody>
      </p:sp>
    </p:spTree>
    <p:extLst>
      <p:ext uri="{BB962C8B-B14F-4D97-AF65-F5344CB8AC3E}">
        <p14:creationId xmlns:p14="http://schemas.microsoft.com/office/powerpoint/2010/main" val="29671407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5B1FC7B-B037-2847-AC8C-6E1916EEE5D6}"/>
              </a:ext>
            </a:extLst>
          </p:cNvPr>
          <p:cNvPicPr>
            <a:picLocks noChangeAspect="1"/>
          </p:cNvPicPr>
          <p:nvPr/>
        </p:nvPicPr>
        <p:blipFill>
          <a:blip r:embed="rId2"/>
          <a:stretch>
            <a:fillRect/>
          </a:stretch>
        </p:blipFill>
        <p:spPr>
          <a:xfrm>
            <a:off x="0" y="1373790"/>
            <a:ext cx="9144000" cy="4110420"/>
          </a:xfrm>
          <a:prstGeom prst="rect">
            <a:avLst/>
          </a:prstGeom>
        </p:spPr>
      </p:pic>
    </p:spTree>
    <p:extLst>
      <p:ext uri="{BB962C8B-B14F-4D97-AF65-F5344CB8AC3E}">
        <p14:creationId xmlns:p14="http://schemas.microsoft.com/office/powerpoint/2010/main" val="41984677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7219" y="494729"/>
            <a:ext cx="8286750" cy="476092"/>
          </a:xfrm>
        </p:spPr>
        <p:txBody>
          <a:bodyPr>
            <a:normAutofit fontScale="90000"/>
          </a:bodyPr>
          <a:lstStyle/>
          <a:p>
            <a:r>
              <a:rPr lang="en-US" sz="3094" dirty="0">
                <a:latin typeface="Helvetica Neue Light "/>
                <a:cs typeface="Helvetica Neue Light "/>
              </a:rPr>
              <a:t>What is Bootstrap</a:t>
            </a:r>
          </a:p>
        </p:txBody>
      </p:sp>
      <p:sp>
        <p:nvSpPr>
          <p:cNvPr id="2" name="Rectangle 1"/>
          <p:cNvSpPr/>
          <p:nvPr/>
        </p:nvSpPr>
        <p:spPr>
          <a:xfrm>
            <a:off x="607219" y="1553766"/>
            <a:ext cx="7822406" cy="4547014"/>
          </a:xfrm>
          <a:prstGeom prst="rect">
            <a:avLst/>
          </a:prstGeom>
        </p:spPr>
        <p:txBody>
          <a:bodyPr wrap="square">
            <a:spAutoFit/>
          </a:bodyPr>
          <a:lstStyle/>
          <a:p>
            <a:pPr>
              <a:lnSpc>
                <a:spcPct val="130000"/>
              </a:lnSpc>
            </a:pPr>
            <a:r>
              <a:rPr lang="en-US" sz="1969" dirty="0">
                <a:solidFill>
                  <a:schemeClr val="tx1">
                    <a:lumMod val="50000"/>
                    <a:lumOff val="50000"/>
                  </a:schemeClr>
                </a:solidFill>
                <a:latin typeface="Helvetica Neue Light"/>
                <a:cs typeface="Helvetica Neue Light"/>
              </a:rPr>
              <a:t>Bootstrap is a front-end framework that helps developers to jump start the web development process.</a:t>
            </a:r>
          </a:p>
          <a:p>
            <a:pPr>
              <a:lnSpc>
                <a:spcPct val="130000"/>
              </a:lnSpc>
            </a:pPr>
            <a:endParaRPr lang="en-US" sz="1969" dirty="0">
              <a:solidFill>
                <a:schemeClr val="tx1">
                  <a:lumMod val="50000"/>
                  <a:lumOff val="50000"/>
                </a:schemeClr>
              </a:solidFill>
              <a:latin typeface="Helvetica Neue Light"/>
              <a:cs typeface="Helvetica Neue Light"/>
            </a:endParaRPr>
          </a:p>
          <a:p>
            <a:pPr>
              <a:lnSpc>
                <a:spcPct val="130000"/>
              </a:lnSpc>
            </a:pPr>
            <a:r>
              <a:rPr lang="en-US" sz="1969" dirty="0">
                <a:solidFill>
                  <a:schemeClr val="tx1">
                    <a:lumMod val="50000"/>
                    <a:lumOff val="50000"/>
                  </a:schemeClr>
                </a:solidFill>
                <a:latin typeface="Helvetica Neue Light"/>
                <a:cs typeface="Helvetica Neue Light"/>
              </a:rPr>
              <a:t>Bootstrap is not only useful for novice web developers, but for expert coders too.</a:t>
            </a:r>
          </a:p>
          <a:p>
            <a:pPr>
              <a:lnSpc>
                <a:spcPct val="130000"/>
              </a:lnSpc>
            </a:pPr>
            <a:endParaRPr lang="en-US" sz="1969" dirty="0">
              <a:solidFill>
                <a:schemeClr val="tx1">
                  <a:lumMod val="50000"/>
                  <a:lumOff val="50000"/>
                </a:schemeClr>
              </a:solidFill>
              <a:latin typeface="Helvetica Neue Light"/>
              <a:cs typeface="Helvetica Neue Light"/>
            </a:endParaRPr>
          </a:p>
          <a:p>
            <a:pPr>
              <a:lnSpc>
                <a:spcPct val="130000"/>
              </a:lnSpc>
            </a:pPr>
            <a:r>
              <a:rPr lang="en-US" sz="1969" dirty="0">
                <a:solidFill>
                  <a:schemeClr val="tx1">
                    <a:lumMod val="50000"/>
                    <a:lumOff val="50000"/>
                  </a:schemeClr>
                </a:solidFill>
                <a:latin typeface="Helvetica Neue Light"/>
                <a:cs typeface="Helvetica Neue Light"/>
              </a:rPr>
              <a:t>The idea is that with  Bootstrap you only have to concentrate on writing proper HTML, leaving the tricky CSS and JavaScript to Bootstrap. </a:t>
            </a:r>
          </a:p>
          <a:p>
            <a:endParaRPr lang="en-US" sz="1969" dirty="0">
              <a:solidFill>
                <a:schemeClr val="tx1">
                  <a:lumMod val="50000"/>
                  <a:lumOff val="50000"/>
                </a:schemeClr>
              </a:solidFill>
              <a:latin typeface="Helvetica Neue Light"/>
              <a:cs typeface="Helvetica Neue Light"/>
            </a:endParaRPr>
          </a:p>
          <a:p>
            <a:endParaRPr lang="en-US" sz="1969" dirty="0">
              <a:solidFill>
                <a:schemeClr val="tx1">
                  <a:lumMod val="50000"/>
                  <a:lumOff val="50000"/>
                </a:schemeClr>
              </a:solidFill>
              <a:latin typeface="Helvetica Neue Light"/>
              <a:cs typeface="Helvetica Neue Light"/>
            </a:endParaRPr>
          </a:p>
          <a:p>
            <a:endParaRPr lang="en-US" sz="1969" dirty="0">
              <a:solidFill>
                <a:schemeClr val="tx1">
                  <a:lumMod val="50000"/>
                  <a:lumOff val="50000"/>
                </a:schemeClr>
              </a:solidFill>
              <a:latin typeface="Helvetica Neue Light"/>
              <a:cs typeface="Helvetica Neue Light"/>
            </a:endParaRPr>
          </a:p>
        </p:txBody>
      </p:sp>
    </p:spTree>
    <p:extLst>
      <p:ext uri="{BB962C8B-B14F-4D97-AF65-F5344CB8AC3E}">
        <p14:creationId xmlns:p14="http://schemas.microsoft.com/office/powerpoint/2010/main" val="26573364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7219" y="482203"/>
            <a:ext cx="8286750" cy="476092"/>
          </a:xfrm>
        </p:spPr>
        <p:txBody>
          <a:bodyPr>
            <a:normAutofit fontScale="90000"/>
          </a:bodyPr>
          <a:lstStyle/>
          <a:p>
            <a:r>
              <a:rPr lang="en-US" sz="3094" dirty="0">
                <a:latin typeface="Helvetica Neue Light "/>
                <a:cs typeface="Helvetica Neue Light "/>
              </a:rPr>
              <a:t>Why Bootstrap</a:t>
            </a:r>
          </a:p>
        </p:txBody>
      </p:sp>
      <p:sp>
        <p:nvSpPr>
          <p:cNvPr id="2" name="Rectangle 1"/>
          <p:cNvSpPr/>
          <p:nvPr/>
        </p:nvSpPr>
        <p:spPr>
          <a:xfrm>
            <a:off x="607219" y="1553766"/>
            <a:ext cx="7822406" cy="4074129"/>
          </a:xfrm>
          <a:prstGeom prst="rect">
            <a:avLst/>
          </a:prstGeom>
        </p:spPr>
        <p:txBody>
          <a:bodyPr wrap="square">
            <a:spAutoFit/>
          </a:bodyPr>
          <a:lstStyle/>
          <a:p>
            <a:pPr>
              <a:lnSpc>
                <a:spcPct val="130000"/>
              </a:lnSpc>
            </a:pPr>
            <a:r>
              <a:rPr lang="en-US" sz="1828" dirty="0">
                <a:solidFill>
                  <a:schemeClr val="tx1">
                    <a:lumMod val="50000"/>
                    <a:lumOff val="50000"/>
                  </a:schemeClr>
                </a:solidFill>
                <a:latin typeface="Helvetica Neue Light"/>
                <a:cs typeface="Helvetica Neue Light"/>
              </a:rPr>
              <a:t>Imagine you have to design a website with an attractive navigation bar, stylish buttons, nice typography </a:t>
            </a:r>
            <a:r>
              <a:rPr lang="en-US" sz="1828" dirty="0" err="1">
                <a:solidFill>
                  <a:schemeClr val="tx1">
                    <a:lumMod val="50000"/>
                    <a:lumOff val="50000"/>
                  </a:schemeClr>
                </a:solidFill>
                <a:latin typeface="Helvetica Neue Light"/>
                <a:cs typeface="Helvetica Neue Light"/>
              </a:rPr>
              <a:t>etc</a:t>
            </a:r>
            <a:r>
              <a:rPr lang="en-US" sz="1828" dirty="0">
                <a:solidFill>
                  <a:schemeClr val="tx1">
                    <a:lumMod val="50000"/>
                    <a:lumOff val="50000"/>
                  </a:schemeClr>
                </a:solidFill>
                <a:latin typeface="Helvetica Neue Light"/>
                <a:cs typeface="Helvetica Neue Light"/>
              </a:rPr>
              <a:t>—yet you aren't a front end development expert. </a:t>
            </a:r>
          </a:p>
          <a:p>
            <a:pPr>
              <a:lnSpc>
                <a:spcPct val="130000"/>
              </a:lnSpc>
            </a:pPr>
            <a:endParaRPr lang="en-US" sz="1828" dirty="0">
              <a:solidFill>
                <a:schemeClr val="tx1">
                  <a:lumMod val="50000"/>
                  <a:lumOff val="50000"/>
                </a:schemeClr>
              </a:solidFill>
              <a:latin typeface="Helvetica Neue Light"/>
              <a:cs typeface="Helvetica Neue Light"/>
            </a:endParaRPr>
          </a:p>
          <a:p>
            <a:pPr>
              <a:lnSpc>
                <a:spcPct val="130000"/>
              </a:lnSpc>
            </a:pPr>
            <a:r>
              <a:rPr lang="en-US" sz="1828" dirty="0">
                <a:solidFill>
                  <a:schemeClr val="tx1">
                    <a:lumMod val="50000"/>
                    <a:lumOff val="50000"/>
                  </a:schemeClr>
                </a:solidFill>
                <a:latin typeface="Helvetica Neue Light"/>
                <a:cs typeface="Helvetica Neue Light"/>
              </a:rPr>
              <a:t>But what if these features were already coded for you, and you just had to write a little HTML to use them? This is Bootstrap.</a:t>
            </a:r>
          </a:p>
          <a:p>
            <a:pPr>
              <a:lnSpc>
                <a:spcPct val="130000"/>
              </a:lnSpc>
            </a:pPr>
            <a:endParaRPr lang="en-US" sz="1828" dirty="0">
              <a:solidFill>
                <a:schemeClr val="tx1">
                  <a:lumMod val="50000"/>
                  <a:lumOff val="50000"/>
                </a:schemeClr>
              </a:solidFill>
              <a:latin typeface="Helvetica Neue Light"/>
              <a:cs typeface="Helvetica Neue Light"/>
            </a:endParaRPr>
          </a:p>
          <a:p>
            <a:pPr>
              <a:lnSpc>
                <a:spcPct val="130000"/>
              </a:lnSpc>
            </a:pPr>
            <a:r>
              <a:rPr lang="en-US" sz="1828" dirty="0">
                <a:solidFill>
                  <a:schemeClr val="tx1">
                    <a:lumMod val="50000"/>
                    <a:lumOff val="50000"/>
                  </a:schemeClr>
                </a:solidFill>
                <a:latin typeface="Helvetica Neue Light"/>
                <a:cs typeface="Helvetica Neue Light"/>
              </a:rPr>
              <a:t>Bootstrap is more than just decorating links, images and typography. One of its most important features is the </a:t>
            </a:r>
            <a:r>
              <a:rPr lang="en-US" sz="1828" dirty="0">
                <a:solidFill>
                  <a:schemeClr val="tx1">
                    <a:lumMod val="95000"/>
                    <a:lumOff val="5000"/>
                  </a:schemeClr>
                </a:solidFill>
                <a:latin typeface="Helvetica Neue Light"/>
                <a:cs typeface="Helvetica Neue Light"/>
              </a:rPr>
              <a:t>grid system</a:t>
            </a:r>
            <a:r>
              <a:rPr lang="en-US" sz="1828" dirty="0">
                <a:solidFill>
                  <a:schemeClr val="tx1">
                    <a:lumMod val="50000"/>
                    <a:lumOff val="50000"/>
                  </a:schemeClr>
                </a:solidFill>
                <a:latin typeface="Helvetica Neue Light"/>
                <a:cs typeface="Helvetica Neue Light"/>
              </a:rPr>
              <a:t>. You cannot create a mobile-friendly and responsive website without the grid system.</a:t>
            </a:r>
          </a:p>
          <a:p>
            <a:pPr>
              <a:lnSpc>
                <a:spcPct val="130000"/>
              </a:lnSpc>
            </a:pPr>
            <a:endParaRPr lang="en-US" sz="1828" dirty="0">
              <a:solidFill>
                <a:schemeClr val="tx1">
                  <a:lumMod val="50000"/>
                  <a:lumOff val="50000"/>
                </a:schemeClr>
              </a:solidFill>
              <a:latin typeface="Helvetica Neue Light"/>
              <a:cs typeface="Helvetica Neue Light"/>
            </a:endParaRPr>
          </a:p>
        </p:txBody>
      </p:sp>
    </p:spTree>
    <p:extLst>
      <p:ext uri="{BB962C8B-B14F-4D97-AF65-F5344CB8AC3E}">
        <p14:creationId xmlns:p14="http://schemas.microsoft.com/office/powerpoint/2010/main" val="41428315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7219" y="457151"/>
            <a:ext cx="8286750" cy="476092"/>
          </a:xfrm>
        </p:spPr>
        <p:txBody>
          <a:bodyPr>
            <a:normAutofit fontScale="90000"/>
          </a:bodyPr>
          <a:lstStyle/>
          <a:p>
            <a:r>
              <a:rPr lang="en-US" sz="3094" dirty="0">
                <a:latin typeface="Helvetica Neue Light "/>
                <a:cs typeface="Helvetica Neue Light "/>
              </a:rPr>
              <a:t>Why Bootstrap </a:t>
            </a:r>
            <a:r>
              <a:rPr lang="en-US" sz="3094" dirty="0" err="1">
                <a:latin typeface="Helvetica Neue Light "/>
                <a:cs typeface="Helvetica Neue Light "/>
              </a:rPr>
              <a:t>cont</a:t>
            </a:r>
            <a:r>
              <a:rPr lang="is-IS" sz="3094" dirty="0">
                <a:latin typeface="Helvetica Neue Light "/>
                <a:cs typeface="Helvetica Neue Light "/>
              </a:rPr>
              <a:t>…</a:t>
            </a:r>
            <a:endParaRPr lang="en-US" sz="3094" dirty="0">
              <a:latin typeface="Helvetica Neue Light "/>
              <a:cs typeface="Helvetica Neue Light "/>
            </a:endParaRPr>
          </a:p>
        </p:txBody>
      </p:sp>
      <p:sp>
        <p:nvSpPr>
          <p:cNvPr id="2" name="Rectangle 1"/>
          <p:cNvSpPr/>
          <p:nvPr/>
        </p:nvSpPr>
        <p:spPr>
          <a:xfrm>
            <a:off x="607219" y="1071563"/>
            <a:ext cx="7822406" cy="3146246"/>
          </a:xfrm>
          <a:prstGeom prst="rect">
            <a:avLst/>
          </a:prstGeom>
        </p:spPr>
        <p:txBody>
          <a:bodyPr wrap="square">
            <a:spAutoFit/>
          </a:bodyPr>
          <a:lstStyle/>
          <a:p>
            <a:pPr>
              <a:lnSpc>
                <a:spcPct val="140000"/>
              </a:lnSpc>
            </a:pPr>
            <a:r>
              <a:rPr lang="en-US" sz="1828" dirty="0">
                <a:solidFill>
                  <a:schemeClr val="tx1">
                    <a:lumMod val="50000"/>
                    <a:lumOff val="50000"/>
                  </a:schemeClr>
                </a:solidFill>
                <a:latin typeface="Helvetica Neue Light"/>
                <a:cs typeface="Helvetica Neue Light"/>
              </a:rPr>
              <a:t>All the CSS classes and JavaScript code needed are already included in the Bootstrap package. For example, using the class </a:t>
            </a:r>
            <a:r>
              <a:rPr lang="en-US" sz="1828" dirty="0" err="1">
                <a:solidFill>
                  <a:schemeClr val="tx1">
                    <a:lumMod val="50000"/>
                    <a:lumOff val="50000"/>
                  </a:schemeClr>
                </a:solidFill>
                <a:latin typeface="Helvetica Neue Light"/>
                <a:cs typeface="Helvetica Neue Light"/>
              </a:rPr>
              <a:t>btn</a:t>
            </a:r>
            <a:r>
              <a:rPr lang="en-US" sz="1828" dirty="0">
                <a:solidFill>
                  <a:schemeClr val="tx1">
                    <a:lumMod val="50000"/>
                    <a:lumOff val="50000"/>
                  </a:schemeClr>
                </a:solidFill>
                <a:latin typeface="Helvetica Neue Light"/>
                <a:cs typeface="Helvetica Neue Light"/>
              </a:rPr>
              <a:t> with link (&lt;a&gt;&lt;/a&gt;) elements will make them appear like a button below. </a:t>
            </a:r>
          </a:p>
          <a:p>
            <a:pPr>
              <a:lnSpc>
                <a:spcPct val="140000"/>
              </a:lnSpc>
            </a:pPr>
            <a:r>
              <a:rPr lang="en-US" sz="1828" dirty="0">
                <a:solidFill>
                  <a:schemeClr val="tx1">
                    <a:lumMod val="50000"/>
                    <a:lumOff val="50000"/>
                  </a:schemeClr>
                </a:solidFill>
                <a:latin typeface="Helvetica Neue Light"/>
                <a:cs typeface="Helvetica Neue Light"/>
              </a:rPr>
              <a:t>Also using the </a:t>
            </a:r>
            <a:r>
              <a:rPr lang="en-US" sz="1828" dirty="0" err="1">
                <a:solidFill>
                  <a:schemeClr val="tx1">
                    <a:lumMod val="50000"/>
                    <a:lumOff val="50000"/>
                  </a:schemeClr>
                </a:solidFill>
                <a:latin typeface="Helvetica Neue Light"/>
                <a:cs typeface="Helvetica Neue Light"/>
              </a:rPr>
              <a:t>btn</a:t>
            </a:r>
            <a:r>
              <a:rPr lang="en-US" sz="1828" dirty="0">
                <a:solidFill>
                  <a:schemeClr val="tx1">
                    <a:lumMod val="50000"/>
                    <a:lumOff val="50000"/>
                  </a:schemeClr>
                </a:solidFill>
                <a:latin typeface="Helvetica Neue Light"/>
                <a:cs typeface="Helvetica Neue Light"/>
              </a:rPr>
              <a:t>-primary class with a link will make it a dark blue button: </a:t>
            </a:r>
          </a:p>
          <a:p>
            <a:pPr>
              <a:lnSpc>
                <a:spcPct val="130000"/>
              </a:lnSpc>
            </a:pPr>
            <a:endParaRPr lang="en-US" sz="1828" dirty="0">
              <a:solidFill>
                <a:schemeClr val="tx1">
                  <a:lumMod val="50000"/>
                  <a:lumOff val="50000"/>
                </a:schemeClr>
              </a:solidFill>
              <a:latin typeface="Helvetica Neue Light"/>
              <a:cs typeface="Helvetica Neue Light"/>
            </a:endParaRPr>
          </a:p>
          <a:p>
            <a:pPr>
              <a:lnSpc>
                <a:spcPct val="130000"/>
              </a:lnSpc>
            </a:pPr>
            <a:r>
              <a:rPr lang="en-US" sz="1969" dirty="0">
                <a:latin typeface="Courier New"/>
                <a:cs typeface="Courier New"/>
              </a:rPr>
              <a:t>&lt;a </a:t>
            </a:r>
            <a:r>
              <a:rPr lang="en-US" sz="1969" dirty="0" err="1">
                <a:latin typeface="Courier New"/>
                <a:cs typeface="Courier New"/>
              </a:rPr>
              <a:t>href</a:t>
            </a:r>
            <a:r>
              <a:rPr lang="en-US" sz="1969" dirty="0">
                <a:latin typeface="Courier New"/>
                <a:cs typeface="Courier New"/>
              </a:rPr>
              <a:t>="http://</a:t>
            </a:r>
            <a:r>
              <a:rPr lang="en-US" sz="1969" dirty="0" err="1">
                <a:latin typeface="Courier New"/>
                <a:cs typeface="Courier New"/>
              </a:rPr>
              <a:t>www.google.com</a:t>
            </a:r>
            <a:r>
              <a:rPr lang="en-US" sz="1969" dirty="0">
                <a:latin typeface="Courier New"/>
                <a:cs typeface="Courier New"/>
              </a:rPr>
              <a:t>" class="</a:t>
            </a:r>
            <a:r>
              <a:rPr lang="en-US" sz="1969" dirty="0" err="1">
                <a:latin typeface="Courier New"/>
                <a:cs typeface="Courier New"/>
              </a:rPr>
              <a:t>btn</a:t>
            </a:r>
            <a:r>
              <a:rPr lang="en-US" sz="1969" dirty="0">
                <a:latin typeface="Courier New"/>
                <a:cs typeface="Courier New"/>
              </a:rPr>
              <a:t> </a:t>
            </a:r>
            <a:r>
              <a:rPr lang="en-US" sz="1969" dirty="0" err="1">
                <a:latin typeface="Courier New"/>
                <a:cs typeface="Courier New"/>
              </a:rPr>
              <a:t>btn</a:t>
            </a:r>
            <a:r>
              <a:rPr lang="en-US" sz="1969" dirty="0">
                <a:latin typeface="Courier New"/>
                <a:cs typeface="Courier New"/>
              </a:rPr>
              <a:t>-primary”&gt;Visit Google&lt;/a&gt; </a:t>
            </a:r>
          </a:p>
          <a:p>
            <a:pPr>
              <a:lnSpc>
                <a:spcPct val="130000"/>
              </a:lnSpc>
            </a:pPr>
            <a:endParaRPr lang="en-US" sz="1828" dirty="0">
              <a:solidFill>
                <a:schemeClr val="tx1">
                  <a:lumMod val="50000"/>
                  <a:lumOff val="50000"/>
                </a:schemeClr>
              </a:solidFill>
              <a:latin typeface="Helvetica Neue Light"/>
              <a:cs typeface="Helvetica Neue Light"/>
            </a:endParaRPr>
          </a:p>
        </p:txBody>
      </p:sp>
      <p:pic>
        <p:nvPicPr>
          <p:cNvPr id="5" name="Picture 4" descr="Screen Shot 2016-02-29 at 11.06.52.png"/>
          <p:cNvPicPr>
            <a:picLocks noChangeAspect="1"/>
          </p:cNvPicPr>
          <p:nvPr/>
        </p:nvPicPr>
        <p:blipFill rotWithShape="1">
          <a:blip r:embed="rId2">
            <a:extLst>
              <a:ext uri="{28A0092B-C50C-407E-A947-70E740481C1C}">
                <a14:useLocalDpi xmlns:a14="http://schemas.microsoft.com/office/drawing/2010/main" val="0"/>
              </a:ext>
            </a:extLst>
          </a:blip>
          <a:srcRect l="15078" t="27690" r="44996" b="42224"/>
          <a:stretch/>
        </p:blipFill>
        <p:spPr>
          <a:xfrm>
            <a:off x="463462" y="4217809"/>
            <a:ext cx="2818357" cy="1177446"/>
          </a:xfrm>
          <a:prstGeom prst="rect">
            <a:avLst/>
          </a:prstGeom>
        </p:spPr>
      </p:pic>
      <p:sp>
        <p:nvSpPr>
          <p:cNvPr id="4" name="Rectangle 3">
            <a:extLst>
              <a:ext uri="{FF2B5EF4-FFF2-40B4-BE49-F238E27FC236}">
                <a16:creationId xmlns:a16="http://schemas.microsoft.com/office/drawing/2014/main" id="{4D3D2D3C-45EF-7746-8AF1-B178F99B16DD}"/>
              </a:ext>
            </a:extLst>
          </p:cNvPr>
          <p:cNvSpPr/>
          <p:nvPr/>
        </p:nvSpPr>
        <p:spPr>
          <a:xfrm>
            <a:off x="544393" y="5786437"/>
            <a:ext cx="7948058" cy="369332"/>
          </a:xfrm>
          <a:prstGeom prst="rect">
            <a:avLst/>
          </a:prstGeom>
        </p:spPr>
        <p:txBody>
          <a:bodyPr wrap="square">
            <a:spAutoFit/>
          </a:bodyPr>
          <a:lstStyle/>
          <a:p>
            <a:r>
              <a:rPr lang="en-GB" dirty="0">
                <a:hlinkClick r:id="rId3"/>
              </a:rPr>
              <a:t>https://getbootstrap.com/docs/5.3/components/buttons/</a:t>
            </a:r>
            <a:endParaRPr lang="en-GB" dirty="0"/>
          </a:p>
        </p:txBody>
      </p:sp>
    </p:spTree>
    <p:extLst>
      <p:ext uri="{BB962C8B-B14F-4D97-AF65-F5344CB8AC3E}">
        <p14:creationId xmlns:p14="http://schemas.microsoft.com/office/powerpoint/2010/main" val="33904533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7219" y="381995"/>
            <a:ext cx="8286750" cy="476092"/>
          </a:xfrm>
        </p:spPr>
        <p:txBody>
          <a:bodyPr>
            <a:normAutofit fontScale="90000"/>
          </a:bodyPr>
          <a:lstStyle/>
          <a:p>
            <a:r>
              <a:rPr lang="en-GB" sz="3094" dirty="0">
                <a:latin typeface="Helvetica Neue Light "/>
                <a:cs typeface="Helvetica Neue Light "/>
              </a:rPr>
              <a:t>The origins of Bootstrap</a:t>
            </a:r>
            <a:endParaRPr lang="en-US" sz="3094" dirty="0">
              <a:latin typeface="Helvetica Neue Light "/>
              <a:cs typeface="Helvetica Neue Light "/>
            </a:endParaRPr>
          </a:p>
        </p:txBody>
      </p:sp>
      <p:sp>
        <p:nvSpPr>
          <p:cNvPr id="2" name="Rectangle 1"/>
          <p:cNvSpPr/>
          <p:nvPr/>
        </p:nvSpPr>
        <p:spPr>
          <a:xfrm>
            <a:off x="607219" y="1071563"/>
            <a:ext cx="7822406" cy="5104859"/>
          </a:xfrm>
          <a:prstGeom prst="rect">
            <a:avLst/>
          </a:prstGeom>
        </p:spPr>
        <p:txBody>
          <a:bodyPr wrap="square">
            <a:spAutoFit/>
          </a:bodyPr>
          <a:lstStyle/>
          <a:p>
            <a:pPr>
              <a:lnSpc>
                <a:spcPct val="140000"/>
              </a:lnSpc>
            </a:pPr>
            <a:r>
              <a:rPr lang="en-US" sz="1969" dirty="0">
                <a:solidFill>
                  <a:schemeClr val="tx1">
                    <a:lumMod val="50000"/>
                    <a:lumOff val="50000"/>
                  </a:schemeClr>
                </a:solidFill>
                <a:latin typeface="Helvetica Neue Light"/>
                <a:cs typeface="Helvetica Neue Light"/>
              </a:rPr>
              <a:t>Bootstrap was developed in 2011 by Mark Otto and Jacob Thornton, a pair of web developers at Twitter. Their main focus was to bring consistency and maintainability in their code. </a:t>
            </a:r>
          </a:p>
          <a:p>
            <a:pPr>
              <a:lnSpc>
                <a:spcPct val="140000"/>
              </a:lnSpc>
            </a:pPr>
            <a:endParaRPr lang="en-US" sz="1969" dirty="0">
              <a:solidFill>
                <a:schemeClr val="tx1">
                  <a:lumMod val="50000"/>
                  <a:lumOff val="50000"/>
                </a:schemeClr>
              </a:solidFill>
              <a:latin typeface="Helvetica Neue Light"/>
              <a:cs typeface="Helvetica Neue Light"/>
            </a:endParaRPr>
          </a:p>
          <a:p>
            <a:pPr>
              <a:lnSpc>
                <a:spcPct val="140000"/>
              </a:lnSpc>
            </a:pPr>
            <a:r>
              <a:rPr lang="en-US" sz="1969" dirty="0">
                <a:solidFill>
                  <a:schemeClr val="tx1">
                    <a:lumMod val="50000"/>
                    <a:lumOff val="50000"/>
                  </a:schemeClr>
                </a:solidFill>
                <a:latin typeface="Helvetica Neue Light"/>
                <a:cs typeface="Helvetica Neue Light"/>
              </a:rPr>
              <a:t>Bootstrap 1.0.0 was launched in 2011 with only CSS and HTML components. There were no JavaScript plugins included in it until Bootstrap 1.3.0, a version that was also compatible with IE7 and IE8. </a:t>
            </a:r>
          </a:p>
          <a:p>
            <a:pPr>
              <a:lnSpc>
                <a:spcPct val="140000"/>
              </a:lnSpc>
            </a:pPr>
            <a:endParaRPr lang="en-US" sz="1969" dirty="0">
              <a:solidFill>
                <a:schemeClr val="tx1">
                  <a:lumMod val="50000"/>
                  <a:lumOff val="50000"/>
                </a:schemeClr>
              </a:solidFill>
              <a:latin typeface="Helvetica Neue Light"/>
              <a:cs typeface="Helvetica Neue Light"/>
            </a:endParaRPr>
          </a:p>
          <a:p>
            <a:pPr>
              <a:lnSpc>
                <a:spcPct val="140000"/>
              </a:lnSpc>
            </a:pPr>
            <a:r>
              <a:rPr lang="en-US" sz="1969" dirty="0">
                <a:solidFill>
                  <a:schemeClr val="tx1">
                    <a:lumMod val="50000"/>
                    <a:lumOff val="50000"/>
                  </a:schemeClr>
                </a:solidFill>
                <a:latin typeface="Helvetica Neue Light"/>
                <a:cs typeface="Helvetica Neue Light"/>
              </a:rPr>
              <a:t>After 15 major updates, Bootstrap 3 in 2013 was another significant release, becoming a “Mobile First and always responsive” framework. </a:t>
            </a:r>
          </a:p>
          <a:p>
            <a:pPr>
              <a:lnSpc>
                <a:spcPct val="140000"/>
              </a:lnSpc>
            </a:pPr>
            <a:r>
              <a:rPr lang="en-US" sz="1969" dirty="0">
                <a:solidFill>
                  <a:schemeClr val="tx1">
                    <a:lumMod val="50000"/>
                    <a:lumOff val="50000"/>
                  </a:schemeClr>
                </a:solidFill>
                <a:latin typeface="Helvetica Neue Light"/>
                <a:cs typeface="Helvetica Neue Light"/>
              </a:rPr>
              <a:t>The current and very new version is 5.3</a:t>
            </a:r>
          </a:p>
          <a:p>
            <a:pPr>
              <a:lnSpc>
                <a:spcPct val="140000"/>
              </a:lnSpc>
            </a:pPr>
            <a:endParaRPr lang="en-US" sz="1828" dirty="0">
              <a:solidFill>
                <a:schemeClr val="tx1">
                  <a:lumMod val="50000"/>
                  <a:lumOff val="50000"/>
                </a:schemeClr>
              </a:solidFill>
              <a:latin typeface="Helvetica Neue Light"/>
              <a:cs typeface="Helvetica Neue Light"/>
            </a:endParaRPr>
          </a:p>
        </p:txBody>
      </p:sp>
    </p:spTree>
    <p:extLst>
      <p:ext uri="{BB962C8B-B14F-4D97-AF65-F5344CB8AC3E}">
        <p14:creationId xmlns:p14="http://schemas.microsoft.com/office/powerpoint/2010/main" val="32340692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016F80-313B-2371-91D3-76717A982911}"/>
              </a:ext>
            </a:extLst>
          </p:cNvPr>
          <p:cNvPicPr>
            <a:picLocks noChangeAspect="1"/>
          </p:cNvPicPr>
          <p:nvPr/>
        </p:nvPicPr>
        <p:blipFill>
          <a:blip r:embed="rId2"/>
          <a:stretch>
            <a:fillRect/>
          </a:stretch>
        </p:blipFill>
        <p:spPr>
          <a:xfrm>
            <a:off x="571500" y="127169"/>
            <a:ext cx="8001000" cy="6020554"/>
          </a:xfrm>
          <a:prstGeom prst="rect">
            <a:avLst/>
          </a:prstGeom>
          <a:ln>
            <a:solidFill>
              <a:schemeClr val="bg1">
                <a:lumMod val="65000"/>
              </a:schemeClr>
            </a:solidFill>
          </a:ln>
        </p:spPr>
      </p:pic>
      <p:sp>
        <p:nvSpPr>
          <p:cNvPr id="5" name="Rectangle 4"/>
          <p:cNvSpPr/>
          <p:nvPr/>
        </p:nvSpPr>
        <p:spPr>
          <a:xfrm>
            <a:off x="1481014" y="6317000"/>
            <a:ext cx="7179469" cy="338554"/>
          </a:xfrm>
          <a:prstGeom prst="rect">
            <a:avLst/>
          </a:prstGeom>
        </p:spPr>
        <p:txBody>
          <a:bodyPr wrap="square">
            <a:spAutoFit/>
          </a:bodyPr>
          <a:lstStyle/>
          <a:p>
            <a:r>
              <a:rPr lang="en-GB" sz="1600" dirty="0">
                <a:hlinkClick r:id="rId3"/>
              </a:rPr>
              <a:t>https://getbootstrap.com/docs/5.3/getting-started/download/</a:t>
            </a:r>
            <a:endParaRPr lang="en-GB" sz="1600" dirty="0"/>
          </a:p>
        </p:txBody>
      </p:sp>
      <p:cxnSp>
        <p:nvCxnSpPr>
          <p:cNvPr id="6" name="Straight Arrow Connector 5"/>
          <p:cNvCxnSpPr>
            <a:cxnSpLocks/>
          </p:cNvCxnSpPr>
          <p:nvPr/>
        </p:nvCxnSpPr>
        <p:spPr>
          <a:xfrm flipV="1">
            <a:off x="2889557" y="5029087"/>
            <a:ext cx="0" cy="1287913"/>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21038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66602" y="5419691"/>
            <a:ext cx="7086698" cy="1077218"/>
          </a:xfrm>
          <a:prstGeom prst="rect">
            <a:avLst/>
          </a:prstGeom>
        </p:spPr>
        <p:txBody>
          <a:bodyPr wrap="square">
            <a:spAutoFit/>
          </a:bodyPr>
          <a:lstStyle/>
          <a:p>
            <a:r>
              <a:rPr lang="en-GB" sz="1600" dirty="0">
                <a:hlinkClick r:id="rId2"/>
              </a:rPr>
              <a:t>https://getbootstrap.com/</a:t>
            </a:r>
            <a:endParaRPr lang="en-GB" sz="1600" dirty="0"/>
          </a:p>
          <a:p>
            <a:endParaRPr lang="en-GB" sz="1600" dirty="0"/>
          </a:p>
          <a:p>
            <a:r>
              <a:rPr lang="en-GB" sz="1600" dirty="0">
                <a:hlinkClick r:id="rId3"/>
              </a:rPr>
              <a:t>https://getbootstrap.com/docs/5.3/getting-started/introduction/#quick-start</a:t>
            </a:r>
            <a:endParaRPr lang="en-GB" sz="1600" dirty="0"/>
          </a:p>
          <a:p>
            <a:endParaRPr lang="en-GB" sz="1600" dirty="0"/>
          </a:p>
        </p:txBody>
      </p:sp>
      <p:sp>
        <p:nvSpPr>
          <p:cNvPr id="8" name="Title 2">
            <a:extLst>
              <a:ext uri="{FF2B5EF4-FFF2-40B4-BE49-F238E27FC236}">
                <a16:creationId xmlns:a16="http://schemas.microsoft.com/office/drawing/2014/main" id="{E8716339-CB58-6943-A43D-BEC57BEDD270}"/>
              </a:ext>
            </a:extLst>
          </p:cNvPr>
          <p:cNvSpPr>
            <a:spLocks noGrp="1"/>
          </p:cNvSpPr>
          <p:nvPr>
            <p:ph type="title"/>
          </p:nvPr>
        </p:nvSpPr>
        <p:spPr>
          <a:xfrm>
            <a:off x="266602" y="192660"/>
            <a:ext cx="8286750" cy="519373"/>
          </a:xfrm>
        </p:spPr>
        <p:txBody>
          <a:bodyPr>
            <a:normAutofit/>
          </a:bodyPr>
          <a:lstStyle/>
          <a:p>
            <a:r>
              <a:rPr lang="en-US" sz="2400" dirty="0">
                <a:latin typeface="Helvetica Neue Medium"/>
                <a:cs typeface="Helvetica Neue Medium"/>
              </a:rPr>
              <a:t>Even easier  - use the CDN  (content delivery network)</a:t>
            </a:r>
          </a:p>
        </p:txBody>
      </p:sp>
      <p:pic>
        <p:nvPicPr>
          <p:cNvPr id="3" name="Picture 2">
            <a:extLst>
              <a:ext uri="{FF2B5EF4-FFF2-40B4-BE49-F238E27FC236}">
                <a16:creationId xmlns:a16="http://schemas.microsoft.com/office/drawing/2014/main" id="{0F22D970-8E17-7A26-9D47-29D367F8CC74}"/>
              </a:ext>
            </a:extLst>
          </p:cNvPr>
          <p:cNvPicPr>
            <a:picLocks noChangeAspect="1"/>
          </p:cNvPicPr>
          <p:nvPr/>
        </p:nvPicPr>
        <p:blipFill>
          <a:blip r:embed="rId4"/>
          <a:stretch>
            <a:fillRect/>
          </a:stretch>
        </p:blipFill>
        <p:spPr>
          <a:xfrm>
            <a:off x="266602" y="899700"/>
            <a:ext cx="6438998" cy="4280312"/>
          </a:xfrm>
          <a:prstGeom prst="rect">
            <a:avLst/>
          </a:prstGeom>
          <a:ln>
            <a:solidFill>
              <a:schemeClr val="bg1">
                <a:lumMod val="65000"/>
              </a:schemeClr>
            </a:solidFill>
          </a:ln>
        </p:spPr>
      </p:pic>
    </p:spTree>
    <p:extLst>
      <p:ext uri="{BB962C8B-B14F-4D97-AF65-F5344CB8AC3E}">
        <p14:creationId xmlns:p14="http://schemas.microsoft.com/office/powerpoint/2010/main" val="1151558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8E5A7E-56E0-7A4B-8113-BBD4D86B870C}"/>
              </a:ext>
            </a:extLst>
          </p:cNvPr>
          <p:cNvPicPr>
            <a:picLocks noChangeAspect="1"/>
          </p:cNvPicPr>
          <p:nvPr/>
        </p:nvPicPr>
        <p:blipFill>
          <a:blip r:embed="rId2"/>
          <a:stretch>
            <a:fillRect/>
          </a:stretch>
        </p:blipFill>
        <p:spPr>
          <a:xfrm>
            <a:off x="0" y="1000856"/>
            <a:ext cx="9144000" cy="4856287"/>
          </a:xfrm>
          <a:prstGeom prst="rect">
            <a:avLst/>
          </a:prstGeom>
        </p:spPr>
      </p:pic>
      <p:sp>
        <p:nvSpPr>
          <p:cNvPr id="3" name="Title 2"/>
          <p:cNvSpPr>
            <a:spLocks noGrp="1"/>
          </p:cNvSpPr>
          <p:nvPr>
            <p:ph type="title"/>
          </p:nvPr>
        </p:nvSpPr>
        <p:spPr>
          <a:xfrm>
            <a:off x="446484" y="428625"/>
            <a:ext cx="8286750" cy="519373"/>
          </a:xfrm>
        </p:spPr>
        <p:txBody>
          <a:bodyPr>
            <a:normAutofit fontScale="90000"/>
          </a:bodyPr>
          <a:lstStyle/>
          <a:p>
            <a:r>
              <a:rPr lang="en-US" sz="3375" dirty="0">
                <a:latin typeface="Helvetica Neue Medium"/>
                <a:cs typeface="Helvetica Neue Medium"/>
              </a:rPr>
              <a:t>Example templates</a:t>
            </a:r>
          </a:p>
        </p:txBody>
      </p:sp>
      <p:cxnSp>
        <p:nvCxnSpPr>
          <p:cNvPr id="6" name="Straight Arrow Connector 5"/>
          <p:cNvCxnSpPr>
            <a:cxnSpLocks/>
          </p:cNvCxnSpPr>
          <p:nvPr/>
        </p:nvCxnSpPr>
        <p:spPr>
          <a:xfrm flipV="1">
            <a:off x="1571625" y="2720622"/>
            <a:ext cx="0" cy="3333706"/>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E483C1C0-F6B4-B348-9A76-A8992166C69B}"/>
              </a:ext>
            </a:extLst>
          </p:cNvPr>
          <p:cNvSpPr/>
          <p:nvPr/>
        </p:nvSpPr>
        <p:spPr>
          <a:xfrm>
            <a:off x="263172" y="6244709"/>
            <a:ext cx="4535793" cy="369332"/>
          </a:xfrm>
          <a:prstGeom prst="rect">
            <a:avLst/>
          </a:prstGeom>
        </p:spPr>
        <p:txBody>
          <a:bodyPr wrap="none">
            <a:spAutoFit/>
          </a:bodyPr>
          <a:lstStyle/>
          <a:p>
            <a:r>
              <a:rPr lang="en-US" dirty="0">
                <a:hlinkClick r:id="rId3"/>
              </a:rPr>
              <a:t>https://getbootstrap.com/docs/5.3/examples/</a:t>
            </a:r>
            <a:endParaRPr lang="en-US" dirty="0"/>
          </a:p>
        </p:txBody>
      </p:sp>
    </p:spTree>
    <p:extLst>
      <p:ext uri="{BB962C8B-B14F-4D97-AF65-F5344CB8AC3E}">
        <p14:creationId xmlns:p14="http://schemas.microsoft.com/office/powerpoint/2010/main" val="20727126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6484" y="428625"/>
            <a:ext cx="8286750" cy="476092"/>
          </a:xfrm>
        </p:spPr>
        <p:txBody>
          <a:bodyPr>
            <a:normAutofit fontScale="90000"/>
          </a:bodyPr>
          <a:lstStyle/>
          <a:p>
            <a:pPr algn="ctr"/>
            <a:r>
              <a:rPr lang="en-US" sz="3094" dirty="0">
                <a:latin typeface="Helvetica Neue Medium"/>
                <a:cs typeface="Helvetica Neue Medium"/>
              </a:rPr>
              <a:t>Try the excellent tutorials at W3schools</a:t>
            </a:r>
          </a:p>
        </p:txBody>
      </p:sp>
      <p:sp>
        <p:nvSpPr>
          <p:cNvPr id="4" name="Rectangle 3"/>
          <p:cNvSpPr/>
          <p:nvPr/>
        </p:nvSpPr>
        <p:spPr>
          <a:xfrm>
            <a:off x="107817" y="1129335"/>
            <a:ext cx="8358188" cy="460126"/>
          </a:xfrm>
          <a:prstGeom prst="rect">
            <a:avLst/>
          </a:prstGeom>
        </p:spPr>
        <p:txBody>
          <a:bodyPr wrap="square">
            <a:spAutoFit/>
          </a:bodyPr>
          <a:lstStyle/>
          <a:p>
            <a:pPr algn="ctr">
              <a:lnSpc>
                <a:spcPct val="130000"/>
              </a:lnSpc>
            </a:pPr>
            <a:r>
              <a:rPr lang="en-GB" sz="2000" dirty="0">
                <a:hlinkClick r:id="rId2"/>
              </a:rPr>
              <a:t>https://www.w3schools.com/bootstrap/bootstrap_ver.asp</a:t>
            </a:r>
            <a:endParaRPr lang="en-GB" sz="2000" dirty="0"/>
          </a:p>
        </p:txBody>
      </p:sp>
      <p:pic>
        <p:nvPicPr>
          <p:cNvPr id="2" name="Picture 1">
            <a:extLst>
              <a:ext uri="{FF2B5EF4-FFF2-40B4-BE49-F238E27FC236}">
                <a16:creationId xmlns:a16="http://schemas.microsoft.com/office/drawing/2014/main" id="{91B9EFB3-46E9-1A43-97B1-5C71257C1329}"/>
              </a:ext>
            </a:extLst>
          </p:cNvPr>
          <p:cNvPicPr>
            <a:picLocks noChangeAspect="1"/>
          </p:cNvPicPr>
          <p:nvPr/>
        </p:nvPicPr>
        <p:blipFill>
          <a:blip r:embed="rId3"/>
          <a:stretch>
            <a:fillRect/>
          </a:stretch>
        </p:blipFill>
        <p:spPr>
          <a:xfrm>
            <a:off x="0" y="1870078"/>
            <a:ext cx="9144000" cy="4887634"/>
          </a:xfrm>
          <a:prstGeom prst="rect">
            <a:avLst/>
          </a:prstGeom>
        </p:spPr>
      </p:pic>
    </p:spTree>
    <p:extLst>
      <p:ext uri="{BB962C8B-B14F-4D97-AF65-F5344CB8AC3E}">
        <p14:creationId xmlns:p14="http://schemas.microsoft.com/office/powerpoint/2010/main" val="40712742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 Shot 2017-03-20 at 12.58.07.png">
            <a:hlinkClick r:id="rId2"/>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0678" y="1887512"/>
            <a:ext cx="7162800" cy="4164560"/>
          </a:xfrm>
          <a:prstGeom prst="rect">
            <a:avLst/>
          </a:prstGeom>
          <a:ln>
            <a:solidFill>
              <a:schemeClr val="tx1"/>
            </a:solidFill>
          </a:ln>
        </p:spPr>
      </p:pic>
      <p:sp>
        <p:nvSpPr>
          <p:cNvPr id="6" name="object 3"/>
          <p:cNvSpPr txBox="1">
            <a:spLocks noGrp="1"/>
          </p:cNvSpPr>
          <p:nvPr>
            <p:ph type="title"/>
          </p:nvPr>
        </p:nvSpPr>
        <p:spPr>
          <a:xfrm>
            <a:off x="870678" y="729299"/>
            <a:ext cx="6835515" cy="930576"/>
          </a:xfrm>
          <a:prstGeom prst="rect">
            <a:avLst/>
          </a:prstGeom>
        </p:spPr>
        <p:txBody>
          <a:bodyPr vert="horz" wrap="square" lIns="0" tIns="0" rIns="0" bIns="0" rtlCol="0">
            <a:spAutoFit/>
          </a:bodyPr>
          <a:lstStyle/>
          <a:p>
            <a:pPr>
              <a:lnSpc>
                <a:spcPts val="3820"/>
              </a:lnSpc>
            </a:pPr>
            <a:r>
              <a:rPr lang="en-GB" sz="3200" b="1" spc="114" dirty="0">
                <a:solidFill>
                  <a:srgbClr val="000000"/>
                </a:solidFill>
              </a:rPr>
              <a:t>Bootstrap is responsive by default</a:t>
            </a:r>
            <a:br>
              <a:rPr lang="en-GB" sz="3200" b="1" spc="114" dirty="0">
                <a:solidFill>
                  <a:srgbClr val="000000"/>
                </a:solidFill>
              </a:rPr>
            </a:br>
            <a:endParaRPr sz="2400" dirty="0"/>
          </a:p>
        </p:txBody>
      </p:sp>
    </p:spTree>
    <p:extLst>
      <p:ext uri="{BB962C8B-B14F-4D97-AF65-F5344CB8AC3E}">
        <p14:creationId xmlns:p14="http://schemas.microsoft.com/office/powerpoint/2010/main" val="16664955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507584"/>
            <a:ext cx="8229600" cy="677108"/>
          </a:xfrm>
          <a:prstGeom prst="rect">
            <a:avLst/>
          </a:prstGeom>
        </p:spPr>
        <p:txBody>
          <a:bodyPr vert="horz" wrap="square" lIns="0" tIns="0" rIns="0" bIns="0" rtlCol="0">
            <a:spAutoFit/>
          </a:bodyPr>
          <a:lstStyle/>
          <a:p>
            <a:pPr marL="8929"/>
            <a:r>
              <a:rPr spc="-53" dirty="0"/>
              <a:t>CSS </a:t>
            </a:r>
            <a:r>
              <a:rPr spc="4" dirty="0"/>
              <a:t>Frameworks</a:t>
            </a:r>
            <a:r>
              <a:rPr spc="49" dirty="0"/>
              <a:t> </a:t>
            </a:r>
            <a:r>
              <a:rPr spc="-25" dirty="0"/>
              <a:t>(cont...)</a:t>
            </a:r>
          </a:p>
        </p:txBody>
      </p:sp>
      <p:sp>
        <p:nvSpPr>
          <p:cNvPr id="3" name="object 3"/>
          <p:cNvSpPr txBox="1">
            <a:spLocks noGrp="1"/>
          </p:cNvSpPr>
          <p:nvPr>
            <p:ph type="body" idx="1"/>
          </p:nvPr>
        </p:nvSpPr>
        <p:spPr>
          <a:xfrm>
            <a:off x="457200" y="1600200"/>
            <a:ext cx="8229600" cy="4506670"/>
          </a:xfrm>
          <a:prstGeom prst="rect">
            <a:avLst/>
          </a:prstGeom>
        </p:spPr>
        <p:txBody>
          <a:bodyPr vert="horz" wrap="square" lIns="0" tIns="0" rIns="0" bIns="0" rtlCol="0">
            <a:spAutoFit/>
          </a:bodyPr>
          <a:lstStyle/>
          <a:p>
            <a:pPr marL="33931" marR="314760" indent="0">
              <a:lnSpc>
                <a:spcPct val="150600"/>
              </a:lnSpc>
              <a:buNone/>
              <a:tabLst>
                <a:tab pos="256719" algn="l"/>
                <a:tab pos="257612" algn="l"/>
              </a:tabLst>
            </a:pPr>
            <a:r>
              <a:rPr dirty="0"/>
              <a:t>There are many other CSS frameworks out there, some very  specialised and others very general. </a:t>
            </a:r>
            <a:endParaRPr lang="en-GB" dirty="0"/>
          </a:p>
          <a:p>
            <a:pPr marL="33931" marR="314760" indent="0">
              <a:lnSpc>
                <a:spcPct val="150600"/>
              </a:lnSpc>
              <a:buNone/>
              <a:tabLst>
                <a:tab pos="256719" algn="l"/>
                <a:tab pos="257612" algn="l"/>
              </a:tabLst>
            </a:pPr>
            <a:r>
              <a:rPr dirty="0"/>
              <a:t>Let’s have a look at a couple to  see how they diﬀer from Bootstrap and what they could oﬀer your  work.</a:t>
            </a:r>
          </a:p>
        </p:txBody>
      </p:sp>
    </p:spTree>
    <p:extLst>
      <p:ext uri="{BB962C8B-B14F-4D97-AF65-F5344CB8AC3E}">
        <p14:creationId xmlns:p14="http://schemas.microsoft.com/office/powerpoint/2010/main" val="36955933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28625" y="1313922"/>
            <a:ext cx="8231556" cy="1637495"/>
          </a:xfrm>
          <a:prstGeom prst="rect">
            <a:avLst/>
          </a:prstGeom>
        </p:spPr>
        <p:txBody>
          <a:bodyPr vert="horz" wrap="square" lIns="0" tIns="0" rIns="0" bIns="0" rtlCol="0">
            <a:spAutoFit/>
          </a:bodyPr>
          <a:lstStyle/>
          <a:p>
            <a:pPr marL="8929" marR="3572">
              <a:lnSpc>
                <a:spcPct val="150600"/>
              </a:lnSpc>
              <a:spcBef>
                <a:spcPts val="844"/>
              </a:spcBef>
              <a:tabLst>
                <a:tab pos="166086" algn="l"/>
              </a:tabLst>
            </a:pPr>
            <a:r>
              <a:rPr sz="2400" spc="-39" dirty="0">
                <a:solidFill>
                  <a:srgbClr val="747474"/>
                </a:solidFill>
                <a:latin typeface="Helvetica Neue Light"/>
                <a:cs typeface="Helvetica Neue Light"/>
              </a:rPr>
              <a:t>A </a:t>
            </a:r>
            <a:r>
              <a:rPr sz="2400" spc="21" dirty="0">
                <a:solidFill>
                  <a:srgbClr val="747474"/>
                </a:solidFill>
                <a:latin typeface="Helvetica Neue Light"/>
                <a:cs typeface="Helvetica Neue Light"/>
              </a:rPr>
              <a:t>fluid </a:t>
            </a:r>
            <a:r>
              <a:rPr sz="2400" spc="-4" dirty="0">
                <a:solidFill>
                  <a:srgbClr val="747474"/>
                </a:solidFill>
                <a:latin typeface="Helvetica Neue Light"/>
                <a:cs typeface="Helvetica Neue Light"/>
              </a:rPr>
              <a:t>version </a:t>
            </a:r>
            <a:r>
              <a:rPr sz="2400" spc="35" dirty="0">
                <a:solidFill>
                  <a:srgbClr val="747474"/>
                </a:solidFill>
                <a:latin typeface="Helvetica Neue Light"/>
                <a:cs typeface="Helvetica Neue Light"/>
              </a:rPr>
              <a:t>of </a:t>
            </a:r>
            <a:r>
              <a:rPr sz="2400" spc="4" dirty="0">
                <a:solidFill>
                  <a:srgbClr val="747474"/>
                </a:solidFill>
                <a:latin typeface="Helvetica Neue Light"/>
                <a:cs typeface="Helvetica Neue Light"/>
              </a:rPr>
              <a:t>960.gs </a:t>
            </a:r>
            <a:r>
              <a:rPr sz="2400" spc="109" dirty="0">
                <a:solidFill>
                  <a:srgbClr val="747474"/>
                </a:solidFill>
                <a:latin typeface="Helvetica Neue Light"/>
                <a:cs typeface="Helvetica Neue Light"/>
              </a:rPr>
              <a:t>- </a:t>
            </a:r>
            <a:r>
              <a:rPr sz="2400" spc="35" dirty="0">
                <a:solidFill>
                  <a:srgbClr val="747474"/>
                </a:solidFill>
                <a:latin typeface="Helvetica Neue Light"/>
                <a:cs typeface="Helvetica Neue Light"/>
              </a:rPr>
              <a:t>it </a:t>
            </a:r>
            <a:r>
              <a:rPr sz="2400" spc="32" dirty="0">
                <a:solidFill>
                  <a:srgbClr val="747474"/>
                </a:solidFill>
                <a:latin typeface="Helvetica Neue Light"/>
                <a:cs typeface="Helvetica Neue Light"/>
              </a:rPr>
              <a:t>supports </a:t>
            </a:r>
            <a:r>
              <a:rPr sz="2400" spc="18" dirty="0">
                <a:solidFill>
                  <a:srgbClr val="747474"/>
                </a:solidFill>
                <a:latin typeface="Helvetica Neue Light"/>
                <a:cs typeface="Helvetica Neue Light"/>
              </a:rPr>
              <a:t>columns </a:t>
            </a:r>
            <a:r>
              <a:rPr sz="2400" spc="-11" dirty="0">
                <a:solidFill>
                  <a:srgbClr val="747474"/>
                </a:solidFill>
                <a:latin typeface="Helvetica Neue Light"/>
                <a:cs typeface="Helvetica Neue Light"/>
              </a:rPr>
              <a:t>resizing </a:t>
            </a:r>
            <a:r>
              <a:rPr sz="2400" spc="-21" dirty="0">
                <a:solidFill>
                  <a:srgbClr val="747474"/>
                </a:solidFill>
                <a:latin typeface="Helvetica Neue Light"/>
                <a:cs typeface="Helvetica Neue Light"/>
              </a:rPr>
              <a:t>as </a:t>
            </a:r>
            <a:r>
              <a:rPr sz="2400" spc="11" dirty="0">
                <a:solidFill>
                  <a:srgbClr val="747474"/>
                </a:solidFill>
                <a:latin typeface="Helvetica Neue Light"/>
                <a:cs typeface="Helvetica Neue Light"/>
              </a:rPr>
              <a:t>the</a:t>
            </a:r>
            <a:r>
              <a:rPr sz="2400" spc="-158" dirty="0">
                <a:solidFill>
                  <a:srgbClr val="747474"/>
                </a:solidFill>
                <a:latin typeface="Helvetica Neue Light"/>
                <a:cs typeface="Helvetica Neue Light"/>
              </a:rPr>
              <a:t> </a:t>
            </a:r>
            <a:r>
              <a:rPr sz="2400" spc="39" dirty="0">
                <a:solidFill>
                  <a:srgbClr val="747474"/>
                </a:solidFill>
                <a:latin typeface="Helvetica Neue Light"/>
                <a:cs typeface="Helvetica Neue Light"/>
              </a:rPr>
              <a:t>window  </a:t>
            </a:r>
            <a:r>
              <a:rPr sz="2400" spc="-21" dirty="0">
                <a:solidFill>
                  <a:srgbClr val="747474"/>
                </a:solidFill>
                <a:latin typeface="Helvetica Neue Light"/>
                <a:cs typeface="Helvetica Neue Light"/>
              </a:rPr>
              <a:t>size </a:t>
            </a:r>
            <a:r>
              <a:rPr sz="2400" spc="4" dirty="0">
                <a:solidFill>
                  <a:srgbClr val="747474"/>
                </a:solidFill>
                <a:latin typeface="Helvetica Neue Light"/>
                <a:cs typeface="Helvetica Neue Light"/>
              </a:rPr>
              <a:t>changes, </a:t>
            </a:r>
            <a:r>
              <a:rPr sz="2400" spc="-21" dirty="0">
                <a:solidFill>
                  <a:srgbClr val="747474"/>
                </a:solidFill>
                <a:latin typeface="Helvetica Neue Light"/>
                <a:cs typeface="Helvetica Neue Light"/>
              </a:rPr>
              <a:t>as </a:t>
            </a:r>
            <a:r>
              <a:rPr sz="2400" spc="7" dirty="0">
                <a:solidFill>
                  <a:srgbClr val="747474"/>
                </a:solidFill>
                <a:latin typeface="Helvetica Neue Light"/>
                <a:cs typeface="Helvetica Neue Light"/>
              </a:rPr>
              <a:t>they </a:t>
            </a:r>
            <a:r>
              <a:rPr sz="2400" spc="-39" dirty="0">
                <a:solidFill>
                  <a:srgbClr val="747474"/>
                </a:solidFill>
                <a:latin typeface="Helvetica Neue Light"/>
                <a:cs typeface="Helvetica Neue Light"/>
              </a:rPr>
              <a:t>are </a:t>
            </a:r>
            <a:r>
              <a:rPr sz="2400" spc="-14" dirty="0">
                <a:solidFill>
                  <a:srgbClr val="747474"/>
                </a:solidFill>
                <a:latin typeface="Helvetica Neue Light"/>
                <a:cs typeface="Helvetica Neue Light"/>
              </a:rPr>
              <a:t>all </a:t>
            </a:r>
            <a:r>
              <a:rPr sz="2400" spc="11" dirty="0">
                <a:solidFill>
                  <a:srgbClr val="747474"/>
                </a:solidFill>
                <a:latin typeface="Helvetica Neue Light"/>
                <a:cs typeface="Helvetica Neue Light"/>
              </a:rPr>
              <a:t>based </a:t>
            </a:r>
            <a:r>
              <a:rPr sz="2400" spc="14" dirty="0">
                <a:solidFill>
                  <a:srgbClr val="747474"/>
                </a:solidFill>
                <a:latin typeface="Helvetica Neue Light"/>
                <a:cs typeface="Helvetica Neue Light"/>
              </a:rPr>
              <a:t>on </a:t>
            </a:r>
            <a:r>
              <a:rPr sz="2400" spc="4" dirty="0">
                <a:solidFill>
                  <a:srgbClr val="747474"/>
                </a:solidFill>
                <a:latin typeface="Helvetica Neue Light"/>
                <a:cs typeface="Helvetica Neue Light"/>
              </a:rPr>
              <a:t>percentages </a:t>
            </a:r>
            <a:r>
              <a:rPr sz="2400" spc="-4" dirty="0">
                <a:solidFill>
                  <a:srgbClr val="747474"/>
                </a:solidFill>
                <a:latin typeface="Helvetica Neue Light"/>
                <a:cs typeface="Helvetica Neue Light"/>
              </a:rPr>
              <a:t>rather </a:t>
            </a:r>
            <a:r>
              <a:rPr sz="2400" spc="7" dirty="0">
                <a:solidFill>
                  <a:srgbClr val="747474"/>
                </a:solidFill>
                <a:latin typeface="Helvetica Neue Light"/>
                <a:cs typeface="Helvetica Neue Light"/>
              </a:rPr>
              <a:t>than </a:t>
            </a:r>
            <a:r>
              <a:rPr sz="2400" spc="21" dirty="0">
                <a:solidFill>
                  <a:srgbClr val="747474"/>
                </a:solidFill>
                <a:latin typeface="Helvetica Neue Light"/>
                <a:cs typeface="Helvetica Neue Light"/>
              </a:rPr>
              <a:t>fixed  </a:t>
            </a:r>
            <a:r>
              <a:rPr sz="2400" spc="35" dirty="0">
                <a:solidFill>
                  <a:srgbClr val="747474"/>
                </a:solidFill>
                <a:latin typeface="Helvetica Neue Light"/>
                <a:cs typeface="Helvetica Neue Light"/>
              </a:rPr>
              <a:t>widths </a:t>
            </a:r>
            <a:r>
              <a:rPr sz="2400" spc="-21" dirty="0">
                <a:solidFill>
                  <a:srgbClr val="747474"/>
                </a:solidFill>
                <a:latin typeface="Helvetica Neue Light"/>
                <a:cs typeface="Helvetica Neue Light"/>
              </a:rPr>
              <a:t>as </a:t>
            </a:r>
            <a:r>
              <a:rPr sz="2400" spc="-4" dirty="0">
                <a:solidFill>
                  <a:srgbClr val="747474"/>
                </a:solidFill>
                <a:latin typeface="Helvetica Neue Light"/>
                <a:cs typeface="Helvetica Neue Light"/>
              </a:rPr>
              <a:t>in</a:t>
            </a:r>
            <a:r>
              <a:rPr sz="2400" spc="-60" dirty="0">
                <a:solidFill>
                  <a:srgbClr val="747474"/>
                </a:solidFill>
                <a:latin typeface="Helvetica Neue Light"/>
                <a:cs typeface="Helvetica Neue Light"/>
              </a:rPr>
              <a:t> </a:t>
            </a:r>
            <a:r>
              <a:rPr sz="2400" spc="4" dirty="0">
                <a:solidFill>
                  <a:srgbClr val="747474"/>
                </a:solidFill>
                <a:latin typeface="Helvetica Neue Light"/>
                <a:cs typeface="Helvetica Neue Light"/>
              </a:rPr>
              <a:t>960.gs.</a:t>
            </a:r>
            <a:endParaRPr sz="2400" dirty="0">
              <a:latin typeface="Helvetica Neue Light"/>
              <a:cs typeface="Helvetica Neue Light"/>
            </a:endParaRPr>
          </a:p>
        </p:txBody>
      </p:sp>
      <p:sp>
        <p:nvSpPr>
          <p:cNvPr id="5" name="Rectangle 4"/>
          <p:cNvSpPr/>
          <p:nvPr/>
        </p:nvSpPr>
        <p:spPr>
          <a:xfrm>
            <a:off x="3031734" y="6173388"/>
            <a:ext cx="3080531" cy="369332"/>
          </a:xfrm>
          <a:prstGeom prst="rect">
            <a:avLst/>
          </a:prstGeom>
        </p:spPr>
        <p:txBody>
          <a:bodyPr wrap="square">
            <a:spAutoFit/>
          </a:bodyPr>
          <a:lstStyle/>
          <a:p>
            <a:pPr marL="8929" algn="ctr">
              <a:tabLst>
                <a:tab pos="166086" algn="l"/>
              </a:tabLst>
            </a:pPr>
            <a:r>
              <a:rPr lang="en-GB" dirty="0">
                <a:hlinkClick r:id="rId2"/>
              </a:rPr>
              <a:t>https://semantic-ui.com/</a:t>
            </a:r>
            <a:endParaRPr lang="en-US" dirty="0">
              <a:latin typeface="Arial"/>
              <a:cs typeface="Arial"/>
            </a:endParaRPr>
          </a:p>
        </p:txBody>
      </p:sp>
      <p:pic>
        <p:nvPicPr>
          <p:cNvPr id="7" name="Picture 6">
            <a:extLst>
              <a:ext uri="{FF2B5EF4-FFF2-40B4-BE49-F238E27FC236}">
                <a16:creationId xmlns:a16="http://schemas.microsoft.com/office/drawing/2014/main" id="{15144D36-7632-D546-A0C4-320E093F12AC}"/>
              </a:ext>
            </a:extLst>
          </p:cNvPr>
          <p:cNvPicPr>
            <a:picLocks noChangeAspect="1"/>
          </p:cNvPicPr>
          <p:nvPr/>
        </p:nvPicPr>
        <p:blipFill>
          <a:blip r:embed="rId3"/>
          <a:stretch>
            <a:fillRect/>
          </a:stretch>
        </p:blipFill>
        <p:spPr>
          <a:xfrm>
            <a:off x="0" y="1296138"/>
            <a:ext cx="9144000" cy="4265724"/>
          </a:xfrm>
          <a:prstGeom prst="rect">
            <a:avLst/>
          </a:prstGeom>
        </p:spPr>
      </p:pic>
    </p:spTree>
    <p:extLst>
      <p:ext uri="{BB962C8B-B14F-4D97-AF65-F5344CB8AC3E}">
        <p14:creationId xmlns:p14="http://schemas.microsoft.com/office/powerpoint/2010/main" val="7098310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D1584E3-7F86-F442-B606-8BF772E3752E}"/>
              </a:ext>
            </a:extLst>
          </p:cNvPr>
          <p:cNvPicPr>
            <a:picLocks noChangeAspect="1"/>
          </p:cNvPicPr>
          <p:nvPr/>
        </p:nvPicPr>
        <p:blipFill>
          <a:blip r:embed="rId2"/>
          <a:stretch>
            <a:fillRect/>
          </a:stretch>
        </p:blipFill>
        <p:spPr>
          <a:xfrm>
            <a:off x="0" y="1160130"/>
            <a:ext cx="9144000" cy="4663548"/>
          </a:xfrm>
          <a:prstGeom prst="rect">
            <a:avLst/>
          </a:prstGeom>
        </p:spPr>
      </p:pic>
      <p:sp>
        <p:nvSpPr>
          <p:cNvPr id="7" name="Rectangle 6">
            <a:extLst>
              <a:ext uri="{FF2B5EF4-FFF2-40B4-BE49-F238E27FC236}">
                <a16:creationId xmlns:a16="http://schemas.microsoft.com/office/drawing/2014/main" id="{6580B830-7CDF-6342-97CD-F5CF860E59D9}"/>
              </a:ext>
            </a:extLst>
          </p:cNvPr>
          <p:cNvSpPr/>
          <p:nvPr/>
        </p:nvSpPr>
        <p:spPr>
          <a:xfrm>
            <a:off x="2767436" y="6233832"/>
            <a:ext cx="3609128" cy="369332"/>
          </a:xfrm>
          <a:prstGeom prst="rect">
            <a:avLst/>
          </a:prstGeom>
        </p:spPr>
        <p:txBody>
          <a:bodyPr wrap="square">
            <a:spAutoFit/>
          </a:bodyPr>
          <a:lstStyle/>
          <a:p>
            <a:pPr algn="ctr"/>
            <a:r>
              <a:rPr lang="en-GB" dirty="0">
                <a:hlinkClick r:id="rId3"/>
              </a:rPr>
              <a:t>https://picnicss.com/</a:t>
            </a:r>
            <a:endParaRPr lang="en-US" dirty="0"/>
          </a:p>
        </p:txBody>
      </p:sp>
    </p:spTree>
    <p:extLst>
      <p:ext uri="{BB962C8B-B14F-4D97-AF65-F5344CB8AC3E}">
        <p14:creationId xmlns:p14="http://schemas.microsoft.com/office/powerpoint/2010/main" val="20527525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50B9887-C22D-824E-871E-7634A7BB4C31}"/>
              </a:ext>
            </a:extLst>
          </p:cNvPr>
          <p:cNvPicPr>
            <a:picLocks noChangeAspect="1"/>
          </p:cNvPicPr>
          <p:nvPr/>
        </p:nvPicPr>
        <p:blipFill>
          <a:blip r:embed="rId2"/>
          <a:stretch>
            <a:fillRect/>
          </a:stretch>
        </p:blipFill>
        <p:spPr>
          <a:xfrm>
            <a:off x="0" y="355094"/>
            <a:ext cx="9144000" cy="5318683"/>
          </a:xfrm>
          <a:prstGeom prst="rect">
            <a:avLst/>
          </a:prstGeom>
        </p:spPr>
      </p:pic>
      <p:sp>
        <p:nvSpPr>
          <p:cNvPr id="9" name="Rectangle 8">
            <a:extLst>
              <a:ext uri="{FF2B5EF4-FFF2-40B4-BE49-F238E27FC236}">
                <a16:creationId xmlns:a16="http://schemas.microsoft.com/office/drawing/2014/main" id="{C6A06C5E-B66E-C741-9537-2064660112D4}"/>
              </a:ext>
            </a:extLst>
          </p:cNvPr>
          <p:cNvSpPr/>
          <p:nvPr/>
        </p:nvSpPr>
        <p:spPr>
          <a:xfrm>
            <a:off x="3011220" y="5987534"/>
            <a:ext cx="3121560" cy="369332"/>
          </a:xfrm>
          <a:prstGeom prst="rect">
            <a:avLst/>
          </a:prstGeom>
        </p:spPr>
        <p:txBody>
          <a:bodyPr wrap="none">
            <a:spAutoFit/>
          </a:bodyPr>
          <a:lstStyle/>
          <a:p>
            <a:r>
              <a:rPr lang="en-GB" dirty="0">
                <a:hlinkClick r:id="rId3"/>
              </a:rPr>
              <a:t>https://www.getpapercss.com/</a:t>
            </a:r>
            <a:endParaRPr lang="en-US" dirty="0"/>
          </a:p>
        </p:txBody>
      </p:sp>
    </p:spTree>
    <p:extLst>
      <p:ext uri="{BB962C8B-B14F-4D97-AF65-F5344CB8AC3E}">
        <p14:creationId xmlns:p14="http://schemas.microsoft.com/office/powerpoint/2010/main" val="21134185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9D6BC9E-0B33-5546-A6DD-610D5F687898}"/>
              </a:ext>
            </a:extLst>
          </p:cNvPr>
          <p:cNvPicPr>
            <a:picLocks noChangeAspect="1"/>
          </p:cNvPicPr>
          <p:nvPr/>
        </p:nvPicPr>
        <p:blipFill>
          <a:blip r:embed="rId2"/>
          <a:stretch>
            <a:fillRect/>
          </a:stretch>
        </p:blipFill>
        <p:spPr>
          <a:xfrm>
            <a:off x="0" y="659579"/>
            <a:ext cx="9144000" cy="5257998"/>
          </a:xfrm>
          <a:prstGeom prst="rect">
            <a:avLst/>
          </a:prstGeom>
        </p:spPr>
      </p:pic>
      <p:sp>
        <p:nvSpPr>
          <p:cNvPr id="9" name="Rectangle 8">
            <a:extLst>
              <a:ext uri="{FF2B5EF4-FFF2-40B4-BE49-F238E27FC236}">
                <a16:creationId xmlns:a16="http://schemas.microsoft.com/office/drawing/2014/main" id="{AA8E123F-715A-B34C-8E59-1B4A9B43A8FD}"/>
              </a:ext>
            </a:extLst>
          </p:cNvPr>
          <p:cNvSpPr/>
          <p:nvPr/>
        </p:nvSpPr>
        <p:spPr>
          <a:xfrm>
            <a:off x="2642048" y="6197396"/>
            <a:ext cx="3859903" cy="369332"/>
          </a:xfrm>
          <a:prstGeom prst="rect">
            <a:avLst/>
          </a:prstGeom>
        </p:spPr>
        <p:txBody>
          <a:bodyPr wrap="none">
            <a:spAutoFit/>
          </a:bodyPr>
          <a:lstStyle/>
          <a:p>
            <a:r>
              <a:rPr lang="en-GB" dirty="0">
                <a:hlinkClick r:id="rId3"/>
              </a:rPr>
              <a:t>https://nostalgic-css.github.io/NES.css/</a:t>
            </a:r>
            <a:endParaRPr lang="en-US" dirty="0"/>
          </a:p>
        </p:txBody>
      </p:sp>
    </p:spTree>
    <p:extLst>
      <p:ext uri="{BB962C8B-B14F-4D97-AF65-F5344CB8AC3E}">
        <p14:creationId xmlns:p14="http://schemas.microsoft.com/office/powerpoint/2010/main" val="9177245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W3 schools have one too</a:t>
            </a:r>
          </a:p>
        </p:txBody>
      </p:sp>
      <p:pic>
        <p:nvPicPr>
          <p:cNvPr id="4" name="Content Placeholder 3" descr="Screen Shot 2017-03-26 at 08.56.38.png"/>
          <p:cNvPicPr>
            <a:picLocks noGrp="1" noChangeAspect="1"/>
          </p:cNvPicPr>
          <p:nvPr>
            <p:ph idx="1"/>
          </p:nvPr>
        </p:nvPicPr>
        <p:blipFill rotWithShape="1">
          <a:blip r:embed="rId2">
            <a:extLst>
              <a:ext uri="{28A0092B-C50C-407E-A947-70E740481C1C}">
                <a14:useLocalDpi xmlns:a14="http://schemas.microsoft.com/office/drawing/2010/main" val="0"/>
              </a:ext>
            </a:extLst>
          </a:blip>
          <a:srcRect t="1451" b="-1877"/>
          <a:stretch/>
        </p:blipFill>
        <p:spPr>
          <a:xfrm>
            <a:off x="457200" y="1900789"/>
            <a:ext cx="8229600" cy="3649579"/>
          </a:xfrm>
          <a:ln>
            <a:solidFill>
              <a:schemeClr val="tx1"/>
            </a:solidFill>
          </a:ln>
        </p:spPr>
      </p:pic>
      <p:sp>
        <p:nvSpPr>
          <p:cNvPr id="5" name="Rectangle 4"/>
          <p:cNvSpPr/>
          <p:nvPr/>
        </p:nvSpPr>
        <p:spPr>
          <a:xfrm>
            <a:off x="457200" y="6033519"/>
            <a:ext cx="8229600" cy="369332"/>
          </a:xfrm>
          <a:prstGeom prst="rect">
            <a:avLst/>
          </a:prstGeom>
        </p:spPr>
        <p:txBody>
          <a:bodyPr wrap="square">
            <a:spAutoFit/>
          </a:bodyPr>
          <a:lstStyle/>
          <a:p>
            <a:pPr algn="ctr"/>
            <a:r>
              <a:rPr lang="en-US" dirty="0">
                <a:hlinkClick r:id="rId3"/>
              </a:rPr>
              <a:t>https://www.w3schools.com/w3css/</a:t>
            </a:r>
            <a:r>
              <a:rPr lang="en-US" dirty="0" err="1">
                <a:hlinkClick r:id="rId3"/>
              </a:rPr>
              <a:t>default.asp</a:t>
            </a:r>
            <a:endParaRPr lang="en-US" dirty="0"/>
          </a:p>
        </p:txBody>
      </p:sp>
    </p:spTree>
    <p:extLst>
      <p:ext uri="{BB962C8B-B14F-4D97-AF65-F5344CB8AC3E}">
        <p14:creationId xmlns:p14="http://schemas.microsoft.com/office/powerpoint/2010/main" val="22648976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39422" y="6098430"/>
            <a:ext cx="8229600" cy="646331"/>
          </a:xfrm>
          <a:prstGeom prst="rect">
            <a:avLst/>
          </a:prstGeom>
        </p:spPr>
        <p:txBody>
          <a:bodyPr wrap="square">
            <a:spAutoFit/>
          </a:bodyPr>
          <a:lstStyle/>
          <a:p>
            <a:r>
              <a:rPr lang="en-US" dirty="0">
                <a:hlinkClick r:id="rId2"/>
              </a:rPr>
              <a:t>https://www.browserstack.com/guide/top-css-frameworks</a:t>
            </a:r>
            <a:endParaRPr lang="en-US" dirty="0"/>
          </a:p>
          <a:p>
            <a:pPr algn="ctr"/>
            <a:endParaRPr lang="en-US" dirty="0"/>
          </a:p>
        </p:txBody>
      </p:sp>
      <p:pic>
        <p:nvPicPr>
          <p:cNvPr id="3" name="Picture 2">
            <a:extLst>
              <a:ext uri="{FF2B5EF4-FFF2-40B4-BE49-F238E27FC236}">
                <a16:creationId xmlns:a16="http://schemas.microsoft.com/office/drawing/2014/main" id="{16908844-16A8-334A-92A6-1CA20BCD1C5E}"/>
              </a:ext>
            </a:extLst>
          </p:cNvPr>
          <p:cNvPicPr>
            <a:picLocks noChangeAspect="1"/>
          </p:cNvPicPr>
          <p:nvPr/>
        </p:nvPicPr>
        <p:blipFill>
          <a:blip r:embed="rId3"/>
          <a:stretch>
            <a:fillRect/>
          </a:stretch>
        </p:blipFill>
        <p:spPr>
          <a:xfrm>
            <a:off x="558800" y="294744"/>
            <a:ext cx="7658100" cy="5200296"/>
          </a:xfrm>
          <a:prstGeom prst="rect">
            <a:avLst/>
          </a:prstGeom>
        </p:spPr>
      </p:pic>
    </p:spTree>
    <p:extLst>
      <p:ext uri="{BB962C8B-B14F-4D97-AF65-F5344CB8AC3E}">
        <p14:creationId xmlns:p14="http://schemas.microsoft.com/office/powerpoint/2010/main" val="42752640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235CEE-33C3-03C4-6F8E-24DE53FD932E}"/>
              </a:ext>
            </a:extLst>
          </p:cNvPr>
          <p:cNvSpPr>
            <a:spLocks noGrp="1"/>
          </p:cNvSpPr>
          <p:nvPr>
            <p:ph idx="1"/>
          </p:nvPr>
        </p:nvSpPr>
        <p:spPr>
          <a:xfrm>
            <a:off x="304800" y="508000"/>
            <a:ext cx="8229600" cy="6007100"/>
          </a:xfrm>
        </p:spPr>
        <p:txBody>
          <a:bodyPr>
            <a:normAutofit/>
          </a:bodyPr>
          <a:lstStyle/>
          <a:p>
            <a:pPr>
              <a:lnSpc>
                <a:spcPct val="160000"/>
              </a:lnSpc>
            </a:pPr>
            <a:r>
              <a:rPr lang="en-US" sz="2000" dirty="0">
                <a:solidFill>
                  <a:schemeClr val="tx1">
                    <a:lumMod val="75000"/>
                    <a:lumOff val="25000"/>
                  </a:schemeClr>
                </a:solidFill>
                <a:latin typeface="Helvetica Neue Light" panose="02000403000000020004" pitchFamily="2" charset="0"/>
                <a:ea typeface="Helvetica Neue Light" panose="02000403000000020004" pitchFamily="2" charset="0"/>
              </a:rPr>
              <a:t>For your coursework I would like you to at least try and hand code the CSS.</a:t>
            </a:r>
          </a:p>
          <a:p>
            <a:pPr>
              <a:lnSpc>
                <a:spcPct val="160000"/>
              </a:lnSpc>
            </a:pPr>
            <a:r>
              <a:rPr lang="en-US" sz="2000" dirty="0">
                <a:solidFill>
                  <a:schemeClr val="tx1">
                    <a:lumMod val="75000"/>
                    <a:lumOff val="25000"/>
                  </a:schemeClr>
                </a:solidFill>
                <a:latin typeface="Helvetica Neue Light" panose="02000403000000020004" pitchFamily="2" charset="0"/>
                <a:ea typeface="Helvetica Neue Light" panose="02000403000000020004" pitchFamily="2" charset="0"/>
              </a:rPr>
              <a:t>In later modules in the 2</a:t>
            </a:r>
            <a:r>
              <a:rPr lang="en-US" sz="2000" baseline="30000" dirty="0">
                <a:solidFill>
                  <a:schemeClr val="tx1">
                    <a:lumMod val="75000"/>
                    <a:lumOff val="25000"/>
                  </a:schemeClr>
                </a:solidFill>
                <a:latin typeface="Helvetica Neue Light" panose="02000403000000020004" pitchFamily="2" charset="0"/>
                <a:ea typeface="Helvetica Neue Light" panose="02000403000000020004" pitchFamily="2" charset="0"/>
              </a:rPr>
              <a:t>nd</a:t>
            </a:r>
            <a:r>
              <a:rPr lang="en-US" sz="2000" dirty="0">
                <a:solidFill>
                  <a:schemeClr val="tx1">
                    <a:lumMod val="75000"/>
                    <a:lumOff val="25000"/>
                  </a:schemeClr>
                </a:solidFill>
                <a:latin typeface="Helvetica Neue Light" panose="02000403000000020004" pitchFamily="2" charset="0"/>
                <a:ea typeface="Helvetica Neue Light" panose="02000403000000020004" pitchFamily="2" charset="0"/>
              </a:rPr>
              <a:t> Also, you are free to use frameworks. But it is worth the experience of trying to hand code CSS at least once.</a:t>
            </a:r>
          </a:p>
          <a:p>
            <a:pPr>
              <a:lnSpc>
                <a:spcPct val="160000"/>
              </a:lnSpc>
            </a:pPr>
            <a:r>
              <a:rPr lang="en-US" sz="2000" dirty="0">
                <a:solidFill>
                  <a:schemeClr val="tx1">
                    <a:lumMod val="75000"/>
                    <a:lumOff val="25000"/>
                  </a:schemeClr>
                </a:solidFill>
                <a:latin typeface="Helvetica Neue Light" panose="02000403000000020004" pitchFamily="2" charset="0"/>
                <a:ea typeface="Helvetica Neue Light" panose="02000403000000020004" pitchFamily="2" charset="0"/>
              </a:rPr>
              <a:t>Also, an</a:t>
            </a:r>
            <a:r>
              <a:rPr lang="en-US" sz="2000" dirty="0">
                <a:solidFill>
                  <a:schemeClr val="tx1">
                    <a:lumMod val="75000"/>
                    <a:lumOff val="25000"/>
                  </a:schemeClr>
                </a:solidFill>
                <a:latin typeface="Helvetica Neue Light" panose="02000403000000020004" pitchFamily="2" charset="0"/>
                <a:ea typeface="Helvetica Neue Light" panose="02000403000000020004" pitchFamily="2" charset="0"/>
              </a:rPr>
              <a:t> understanding of vanilla CSS will be essential for debugging and tweaking code from </a:t>
            </a:r>
            <a:r>
              <a:rPr lang="en-US" sz="2000" dirty="0">
                <a:solidFill>
                  <a:schemeClr val="tx1">
                    <a:lumMod val="75000"/>
                    <a:lumOff val="25000"/>
                  </a:schemeClr>
                </a:solidFill>
                <a:latin typeface="Helvetica Neue Light" panose="02000403000000020004" pitchFamily="2" charset="0"/>
                <a:ea typeface="Helvetica Neue Light" panose="02000403000000020004" pitchFamily="2" charset="0"/>
              </a:rPr>
              <a:t>frameworks.</a:t>
            </a:r>
          </a:p>
          <a:p>
            <a:pPr>
              <a:lnSpc>
                <a:spcPct val="160000"/>
              </a:lnSpc>
            </a:pPr>
            <a:r>
              <a:rPr lang="en-US" sz="2000" dirty="0">
                <a:solidFill>
                  <a:schemeClr val="tx1">
                    <a:lumMod val="75000"/>
                    <a:lumOff val="25000"/>
                  </a:schemeClr>
                </a:solidFill>
                <a:latin typeface="Helvetica Neue Light" panose="02000403000000020004" pitchFamily="2" charset="0"/>
                <a:ea typeface="Helvetica Neue Light" panose="02000403000000020004" pitchFamily="2" charset="0"/>
              </a:rPr>
              <a:t>But you are absolutely allowed to use online resources to help with your CSS and use components from W3 schools for example, just make sure your reference it in your code comments </a:t>
            </a:r>
          </a:p>
          <a:p>
            <a:pPr>
              <a:lnSpc>
                <a:spcPct val="160000"/>
              </a:lnSpc>
            </a:pPr>
            <a:r>
              <a:rPr lang="en-US" sz="2000" dirty="0">
                <a:solidFill>
                  <a:schemeClr val="tx1">
                    <a:lumMod val="75000"/>
                    <a:lumOff val="25000"/>
                  </a:schemeClr>
                </a:solidFill>
                <a:latin typeface="Helvetica Neue Light" panose="02000403000000020004" pitchFamily="2" charset="0"/>
                <a:ea typeface="Helvetica Neue Light" panose="02000403000000020004" pitchFamily="2" charset="0"/>
              </a:rPr>
              <a:t>See below for a list:</a:t>
            </a:r>
          </a:p>
          <a:p>
            <a:pPr marL="0" indent="0">
              <a:buNone/>
            </a:pPr>
            <a:endParaRPr lang="en-US" sz="2000" dirty="0">
              <a:solidFill>
                <a:schemeClr val="tx1">
                  <a:lumMod val="75000"/>
                  <a:lumOff val="25000"/>
                </a:schemeClr>
              </a:solidFill>
              <a:latin typeface="Helvetica Neue Light" panose="02000403000000020004" pitchFamily="2" charset="0"/>
              <a:ea typeface="Helvetica Neue Light" panose="02000403000000020004" pitchFamily="2" charset="0"/>
            </a:endParaRPr>
          </a:p>
          <a:p>
            <a:pPr marL="0" indent="0">
              <a:buNone/>
            </a:pPr>
            <a:r>
              <a:rPr lang="en-US" sz="2000" dirty="0">
                <a:solidFill>
                  <a:schemeClr val="tx1">
                    <a:lumMod val="75000"/>
                    <a:lumOff val="25000"/>
                  </a:schemeClr>
                </a:solidFill>
                <a:latin typeface="Helvetica Neue Light" panose="02000403000000020004" pitchFamily="2" charset="0"/>
                <a:ea typeface="Helvetica Neue Light" panose="02000403000000020004" pitchFamily="2" charset="0"/>
                <a:hlinkClick r:id="rId2"/>
              </a:rPr>
              <a:t>https://www.w3schools.com/howto/default.asp</a:t>
            </a:r>
            <a:endParaRPr lang="en-US" sz="2000" dirty="0">
              <a:solidFill>
                <a:schemeClr val="tx1">
                  <a:lumMod val="75000"/>
                  <a:lumOff val="25000"/>
                </a:schemeClr>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445605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Questions</a:t>
            </a:r>
          </a:p>
        </p:txBody>
      </p:sp>
      <p:sp>
        <p:nvSpPr>
          <p:cNvPr id="3" name="Content Placeholder 2"/>
          <p:cNvSpPr>
            <a:spLocks noGrp="1"/>
          </p:cNvSpPr>
          <p:nvPr>
            <p:ph idx="1"/>
          </p:nvPr>
        </p:nvSpPr>
        <p:spPr>
          <a:xfrm>
            <a:off x="457200" y="606191"/>
            <a:ext cx="8229600" cy="4525963"/>
          </a:xfrm>
        </p:spPr>
        <p:txBody>
          <a:bodyPr>
            <a:noAutofit/>
          </a:bodyPr>
          <a:lstStyle/>
          <a:p>
            <a:pPr marL="0" indent="0" algn="ctr">
              <a:buNone/>
            </a:pPr>
            <a:r>
              <a:rPr lang="en-US" sz="40000" dirty="0"/>
              <a:t>?</a:t>
            </a:r>
          </a:p>
        </p:txBody>
      </p:sp>
    </p:spTree>
    <p:extLst>
      <p:ext uri="{BB962C8B-B14F-4D97-AF65-F5344CB8AC3E}">
        <p14:creationId xmlns:p14="http://schemas.microsoft.com/office/powerpoint/2010/main" val="775180000"/>
      </p:ext>
    </p:extLst>
  </p:cSld>
  <p:clrMapOvr>
    <a:masterClrMapping/>
  </p:clrMapOvr>
</p:sld>
</file>

<file path=ppt/theme/theme1.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3749</TotalTime>
  <Words>1312</Words>
  <Application>Microsoft Macintosh PowerPoint</Application>
  <PresentationFormat>On-screen Show (4:3)</PresentationFormat>
  <Paragraphs>123</Paragraphs>
  <Slides>47</Slides>
  <Notes>0</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47</vt:i4>
      </vt:variant>
    </vt:vector>
  </HeadingPairs>
  <TitlesOfParts>
    <vt:vector size="61" baseType="lpstr">
      <vt:lpstr>Arial</vt:lpstr>
      <vt:lpstr>Calibri</vt:lpstr>
      <vt:lpstr>Courier New</vt:lpstr>
      <vt:lpstr>Helvetica Neue</vt:lpstr>
      <vt:lpstr>HELVETICA NEUE LIGHT</vt:lpstr>
      <vt:lpstr>HELVETICA NEUE LIGHT</vt:lpstr>
      <vt:lpstr>Helvetica Neue Light </vt:lpstr>
      <vt:lpstr>Helvetica Neue Medium</vt:lpstr>
      <vt:lpstr>HelveticaNeue-Light</vt:lpstr>
      <vt:lpstr>Times New Roman</vt:lpstr>
      <vt:lpstr>3_Custom Design</vt:lpstr>
      <vt:lpstr>Custom Design</vt:lpstr>
      <vt:lpstr>1_Custom Design</vt:lpstr>
      <vt:lpstr>2_Custom Design</vt:lpstr>
      <vt:lpstr> responsive design CSS Frameworks</vt:lpstr>
      <vt:lpstr>Mobile/Responsive Design</vt:lpstr>
      <vt:lpstr>PowerPoint Presentation</vt:lpstr>
      <vt:lpstr>PowerPoint Presentation</vt:lpstr>
      <vt:lpstr>Smartphone ownership UK</vt:lpstr>
      <vt:lpstr>Which is the most important device you use to  connect to the internet, at home or elsewhere?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RWD   responsive web design</vt:lpstr>
      <vt:lpstr>PowerPoint Presentation</vt:lpstr>
      <vt:lpstr>What Is Responsive Web Design?</vt:lpstr>
      <vt:lpstr>Ethan Marcotte</vt:lpstr>
      <vt:lpstr>PowerPoint Presentation</vt:lpstr>
      <vt:lpstr>PowerPoint Presentation</vt:lpstr>
      <vt:lpstr>If the horizontal resolution of the device (max- device-width) is  equal to or less than 600px</vt:lpstr>
      <vt:lpstr>We can also load in an entirely different CSS  page depending on  screen width too, this can be used to create “adaptive” designs</vt:lpstr>
      <vt:lpstr>Demo responsive design folder and adaptive design folder</vt:lpstr>
      <vt:lpstr>Fluid vs Static layout</vt:lpstr>
      <vt:lpstr>Responsive vs Adaptive</vt:lpstr>
      <vt:lpstr>PowerPoint Presentation</vt:lpstr>
      <vt:lpstr>Mobile first</vt:lpstr>
      <vt:lpstr>CSS Frameworks</vt:lpstr>
      <vt:lpstr>PowerPoint Presentation</vt:lpstr>
      <vt:lpstr>What is Bootstrap</vt:lpstr>
      <vt:lpstr>Why Bootstrap</vt:lpstr>
      <vt:lpstr>Why Bootstrap cont…</vt:lpstr>
      <vt:lpstr>The origins of Bootstrap</vt:lpstr>
      <vt:lpstr>PowerPoint Presentation</vt:lpstr>
      <vt:lpstr>Even easier  - use the CDN  (content delivery network)</vt:lpstr>
      <vt:lpstr>Example templates</vt:lpstr>
      <vt:lpstr>Try the excellent tutorials at W3schools</vt:lpstr>
      <vt:lpstr>Bootstrap is responsive by default </vt:lpstr>
      <vt:lpstr>CSS Frameworks (cont...)</vt:lpstr>
      <vt:lpstr>PowerPoint Presentation</vt:lpstr>
      <vt:lpstr>PowerPoint Presentation</vt:lpstr>
      <vt:lpstr>PowerPoint Presentation</vt:lpstr>
      <vt:lpstr>PowerPoint Presentation</vt:lpstr>
      <vt:lpstr>W3 schools have one too</vt:lpstr>
      <vt:lpstr>PowerPoint Presentation</vt:lpstr>
      <vt:lpstr>PowerPoint Presentation</vt:lpstr>
      <vt:lpstr>Questions</vt:lpstr>
    </vt:vector>
  </TitlesOfParts>
  <Company>UoG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PHP</dc:title>
  <dc:creator>CMS Dept</dc:creator>
  <cp:lastModifiedBy>Matthew Prichard</cp:lastModifiedBy>
  <cp:revision>179</cp:revision>
  <dcterms:created xsi:type="dcterms:W3CDTF">2015-10-08T10:17:10Z</dcterms:created>
  <dcterms:modified xsi:type="dcterms:W3CDTF">2025-02-09T16:54:14Z</dcterms:modified>
</cp:coreProperties>
</file>