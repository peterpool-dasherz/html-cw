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91" r:id="rId4"/>
    <p:sldId id="258" r:id="rId5"/>
    <p:sldId id="425" r:id="rId6"/>
    <p:sldId id="426" r:id="rId7"/>
    <p:sldId id="427" r:id="rId8"/>
    <p:sldId id="428" r:id="rId9"/>
    <p:sldId id="275" r:id="rId10"/>
    <p:sldId id="279" r:id="rId11"/>
    <p:sldId id="280" r:id="rId12"/>
    <p:sldId id="429" r:id="rId13"/>
    <p:sldId id="430" r:id="rId14"/>
    <p:sldId id="284" r:id="rId15"/>
    <p:sldId id="431" r:id="rId16"/>
    <p:sldId id="368" r:id="rId17"/>
    <p:sldId id="4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74B"/>
    <a:srgbClr val="FF5B50"/>
    <a:srgbClr val="D347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019"/>
    <p:restoredTop sz="86395"/>
  </p:normalViewPr>
  <p:slideViewPr>
    <p:cSldViewPr snapToGrid="0" snapToObjects="1">
      <p:cViewPr varScale="1">
        <p:scale>
          <a:sx n="118" d="100"/>
          <a:sy n="118" d="100"/>
        </p:scale>
        <p:origin x="240" y="4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4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24575,'0'-6'0,"0"2"0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5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24575,'5'5'0,"-1"-1"0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0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24575,'0'-5'0,"0"1"0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6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8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24575,'5'0'0,"-1"0"0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F539-EFFE-4545-8560-8B85D420C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7E099-A4CF-C148-8D5A-DC7DCE6EA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F13F-321A-6C44-A529-3C63949C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77D4B-E972-3F48-8AB6-BC30D35A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37F83-FC1F-964D-9D14-71EC1C06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8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8E1E-8C7B-BF49-ADDF-0DBF11C1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981E-8F9B-D64C-9D10-A1DF5903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20193-341C-E347-A42A-A1A21E43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18F1D-D2AE-3E45-9684-41082CDD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7C00-9FE2-D644-877F-E440C7FD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4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FB7A-866B-8144-B7A1-B3D2CE8B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9333F-7620-324C-821F-9AD4629D8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1DDB4-466A-D142-8FFA-437B8B3B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B42E0-284F-5746-B82C-C36E036E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C5C72-09E6-E047-BEF5-956CDC65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8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2E35-2AE7-6F47-B4DA-83DE0DF4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AD58-35EE-E345-9223-93C0D708C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EF8E7-11C7-6E44-9C23-E6F8B255F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88C67-D211-A347-94D3-2566B042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FAA6E-E7CE-1B4F-A78D-8055C20F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079D9-12B3-A149-9192-6D6EE5E5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0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7B05-85DB-5A4D-931F-231EBBA1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10373-280F-CA46-BE02-633860BE9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A25CD-D56D-9749-8FA7-012A6FFB1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40AEA-A232-8E45-B81D-24868FB2C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DB3D5C-B45E-294F-899C-37B8ABB44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43D68E-FDF7-C045-8CAA-189B56B2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13D46-B78B-B34E-A26D-1E905B74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BDADF-5108-CD45-9618-15BBE060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2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9E0C-142B-1A4D-89C5-B127E318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F2823E-3DFF-BC40-A52F-4043983F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D8986-40E4-9C4C-9000-D7F27294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A2C31-69A8-2541-8800-BF609339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4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6F4BA-B7C3-0B40-A517-3063895B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7E2D8-25FE-5D4E-AA84-54C5D96B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C8086-56AB-5846-9B21-24E9FACF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5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128B-CB7D-4949-BDCD-CEA57AD6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2BEB-180F-2C4F-AD00-7398A27FF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49D24-1922-914E-8AE1-EDB93293A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C72B2-DD18-5848-8941-A617E3E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227D4-8A18-8847-B7F4-B294D0E2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41A7C-E471-BB41-A5AE-D7F2A5EF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BA7A-65F6-804A-9941-BCE8970B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8F054-1226-C841-8344-D63DBC021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1DC94-414C-3F41-B393-D969AAC6A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E8132-7D31-F647-A931-5987A506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F137E-B2CD-DD4D-BF38-E08630C9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F7E92-EA36-7B48-A10F-1F43EE78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6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4E04-9F9F-AB48-88B1-E1883CD33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57EA1-F037-8B4E-9A3A-2DE41A3DE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B8C3C-2D4F-BE41-8BC7-084B83BE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0DE-14FE-1D40-BE53-A452852B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1D8C1-DBB4-6047-9F3A-27574BE7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9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564D8-A2EB-6040-A321-450F2B3B5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19CC6-DE46-8941-A1E0-A04320741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B8749-56EB-B24A-9291-4EBB8B55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BE29-13B7-C144-9FE6-C43F1BC6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BD64-DA0B-7445-BB80-5A502968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19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14587" y="545083"/>
            <a:ext cx="5965613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393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695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0736" y="1566165"/>
            <a:ext cx="53543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778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60847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5562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0610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0518A-80A7-B946-A2C0-357FF80B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66F8D-B95D-3748-A8C1-B613B61AC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1E4AA-0008-E746-A8C3-917D9ECC1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38E33-E634-164E-9160-E9D257145221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44B1-065E-4C4F-8DD6-AB2140588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1CFFB-C884-9249-B66F-52213D904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46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4588" y="545083"/>
            <a:ext cx="936074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587" y="1563116"/>
            <a:ext cx="106705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972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form.asp" TargetMode="External"/><Relationship Id="rId2" Type="http://schemas.openxmlformats.org/officeDocument/2006/relationships/hyperlink" Target="https://www.w3schools.com/html/html_forms.asp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8B91-A0EF-6441-AC27-9667FD447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375"/>
            <a:ext cx="12192000" cy="2472633"/>
          </a:xfrm>
          <a:ln>
            <a:noFill/>
          </a:ln>
          <a:effectLst>
            <a:outerShdw blurRad="165100" dist="1016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1500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COMP 1589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15634-394B-C140-BAEF-ABAB8B492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640041"/>
            <a:ext cx="12192000" cy="1244392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Introduction to HTML forms</a:t>
            </a:r>
          </a:p>
          <a:p>
            <a:endParaRPr lang="en-US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Matt Prichard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14:cNvPr>
              <p14:cNvContentPartPr/>
              <p14:nvPr/>
            </p14:nvContentPartPr>
            <p14:xfrm>
              <a:off x="8651014" y="2840692"/>
              <a:ext cx="3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2374" y="283169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14:cNvPr>
              <p14:cNvContentPartPr/>
              <p14:nvPr/>
            </p14:nvContentPartPr>
            <p14:xfrm>
              <a:off x="7568494" y="1355692"/>
              <a:ext cx="3600" cy="3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59854" y="1347052"/>
                <a:ext cx="212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14:cNvPr>
              <p14:cNvContentPartPr/>
              <p14:nvPr/>
            </p14:nvContentPartPr>
            <p14:xfrm>
              <a:off x="5078734" y="3049852"/>
              <a:ext cx="360" cy="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0094" y="304121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14:cNvPr>
              <p14:cNvContentPartPr/>
              <p14:nvPr/>
            </p14:nvContentPartPr>
            <p14:xfrm>
              <a:off x="5525854" y="177653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17214" y="17675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14:cNvPr>
              <p14:cNvContentPartPr/>
              <p14:nvPr/>
            </p14:nvContentPartPr>
            <p14:xfrm>
              <a:off x="768814" y="1290172"/>
              <a:ext cx="360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9814" y="1281532"/>
                <a:ext cx="2124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20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720BD256-7E1C-66E0-65C7-9C0C675647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1788" y="251251"/>
            <a:ext cx="6308424" cy="635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HTML Forms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3"/>
            <a:ext cx="10951029" cy="4831151"/>
          </a:xfrm>
        </p:spPr>
        <p:txBody>
          <a:bodyPr>
            <a:noAutofit/>
          </a:bodyPr>
          <a:lstStyle/>
          <a:p>
            <a:pPr marL="12700" marR="5080" indent="0">
              <a:lnSpc>
                <a:spcPct val="150000"/>
              </a:lnSpc>
              <a:spcBef>
                <a:spcPts val="250"/>
              </a:spcBef>
              <a:buNone/>
              <a:tabLst>
                <a:tab pos="355600" algn="l"/>
              </a:tabLst>
            </a:pPr>
            <a:r>
              <a:rPr lang="en-GB" sz="24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Forms</a:t>
            </a:r>
            <a:r>
              <a:rPr lang="en-GB" sz="2400" spc="-114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are</a:t>
            </a:r>
            <a:r>
              <a:rPr lang="en-GB" sz="2400" spc="-1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</a:t>
            </a:r>
            <a:r>
              <a:rPr lang="en-GB" sz="2400" spc="-1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way</a:t>
            </a:r>
            <a:r>
              <a:rPr lang="en-GB" sz="2400" spc="-1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of</a:t>
            </a:r>
            <a:r>
              <a:rPr lang="en-GB" sz="2400" spc="-9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collecting</a:t>
            </a:r>
            <a:r>
              <a:rPr lang="en-GB" sz="2400" spc="-7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information</a:t>
            </a:r>
            <a:r>
              <a:rPr lang="en-GB" sz="2400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or</a:t>
            </a:r>
            <a:r>
              <a:rPr lang="en-GB" sz="240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data</a:t>
            </a:r>
            <a:r>
              <a:rPr lang="en-GB" sz="2400" spc="-7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from</a:t>
            </a:r>
            <a:r>
              <a:rPr lang="en-GB" sz="2400" spc="-9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our </a:t>
            </a:r>
            <a:r>
              <a:rPr lang="en-GB" sz="2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site</a:t>
            </a:r>
            <a:r>
              <a:rPr lang="en-GB" sz="2400" spc="-1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visitors.</a:t>
            </a:r>
            <a:endParaRPr lang="en-GB" sz="240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12700" indent="0">
              <a:lnSpc>
                <a:spcPct val="150000"/>
              </a:lnSpc>
              <a:spcBef>
                <a:spcPts val="350"/>
              </a:spcBef>
              <a:buNone/>
              <a:tabLst>
                <a:tab pos="354965" algn="l"/>
              </a:tabLst>
            </a:pP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How</a:t>
            </a:r>
            <a:r>
              <a:rPr lang="en-GB" sz="24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do</a:t>
            </a:r>
            <a:r>
              <a:rPr lang="en-GB" sz="2400" spc="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4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they</a:t>
            </a:r>
            <a:r>
              <a:rPr lang="en-GB" sz="2400" spc="-16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work?</a:t>
            </a:r>
            <a:endParaRPr lang="en-GB" sz="240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812800" marR="248920" lvl="1" indent="-342900">
              <a:lnSpc>
                <a:spcPct val="150000"/>
              </a:lnSpc>
              <a:spcBef>
                <a:spcPts val="85"/>
              </a:spcBef>
              <a:tabLst>
                <a:tab pos="749300" algn="l"/>
              </a:tabLst>
            </a:pPr>
            <a:r>
              <a:rPr lang="en-GB" spc="-7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We</a:t>
            </a:r>
            <a:r>
              <a:rPr lang="en-GB" spc="-1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place</a:t>
            </a:r>
            <a:r>
              <a:rPr lang="en-GB" spc="-114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data-</a:t>
            </a:r>
            <a:r>
              <a:rPr lang="en-GB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entry</a:t>
            </a:r>
            <a:r>
              <a:rPr lang="en-GB" spc="-10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4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fields</a:t>
            </a:r>
            <a:r>
              <a:rPr lang="en-GB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or</a:t>
            </a:r>
            <a:r>
              <a:rPr lang="en-GB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controls</a:t>
            </a:r>
            <a:r>
              <a:rPr lang="en-GB" spc="-6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on</a:t>
            </a:r>
            <a:r>
              <a:rPr lang="en-GB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pc="-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6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Web</a:t>
            </a:r>
            <a:r>
              <a:rPr lang="en-GB" spc="-114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page</a:t>
            </a:r>
            <a:r>
              <a:rPr lang="en-GB" spc="-9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such</a:t>
            </a:r>
            <a:r>
              <a:rPr lang="en-GB" spc="-6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as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text</a:t>
            </a:r>
            <a:r>
              <a:rPr lang="en-GB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boxes,</a:t>
            </a:r>
            <a:r>
              <a:rPr lang="en-GB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check</a:t>
            </a:r>
            <a:r>
              <a:rPr lang="en-GB" spc="-7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boxes</a:t>
            </a:r>
            <a:r>
              <a:rPr lang="en-GB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</a:t>
            </a:r>
            <a:r>
              <a:rPr lang="en-GB" spc="-1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submit </a:t>
            </a:r>
            <a:r>
              <a:rPr lang="en-GB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buttons.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812800" marR="248920" lvl="1" indent="-342900">
              <a:lnSpc>
                <a:spcPct val="150000"/>
              </a:lnSpc>
              <a:spcBef>
                <a:spcPts val="85"/>
              </a:spcBef>
              <a:tabLst>
                <a:tab pos="749300" algn="l"/>
              </a:tabLst>
            </a:pPr>
            <a:r>
              <a:rPr lang="en-GB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pc="-1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site</a:t>
            </a:r>
            <a:r>
              <a:rPr lang="en-GB" spc="-10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visitor</a:t>
            </a:r>
            <a:r>
              <a:rPr lang="en-GB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5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fills</a:t>
            </a:r>
            <a:r>
              <a:rPr lang="en-GB" spc="-1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in</a:t>
            </a:r>
            <a:r>
              <a:rPr lang="en-GB" spc="-1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pc="-114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4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fields</a:t>
            </a:r>
            <a:r>
              <a:rPr lang="en-GB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</a:t>
            </a:r>
            <a:r>
              <a:rPr lang="en-GB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clicks</a:t>
            </a:r>
            <a:r>
              <a:rPr lang="en-GB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</a:t>
            </a:r>
            <a:r>
              <a:rPr lang="en-GB" spc="-1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submit button.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812800" marR="248920" lvl="1" indent="-342900">
              <a:lnSpc>
                <a:spcPct val="150000"/>
              </a:lnSpc>
              <a:spcBef>
                <a:spcPts val="85"/>
              </a:spcBef>
              <a:tabLst>
                <a:tab pos="749300" algn="l"/>
              </a:tabLst>
            </a:pPr>
            <a:r>
              <a:rPr lang="en-GB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pc="-1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data</a:t>
            </a:r>
            <a:r>
              <a:rPr lang="en-GB" spc="-1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user</a:t>
            </a:r>
            <a:r>
              <a:rPr lang="en-GB" spc="-114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enters</a:t>
            </a:r>
            <a:r>
              <a:rPr lang="en-GB" spc="-10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is</a:t>
            </a:r>
            <a:r>
              <a:rPr lang="en-GB" spc="-1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sent</a:t>
            </a:r>
            <a:r>
              <a:rPr lang="en-GB" spc="-9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over</a:t>
            </a:r>
            <a:r>
              <a:rPr lang="en-GB" spc="-114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pc="-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Internet</a:t>
            </a:r>
            <a:r>
              <a:rPr lang="en-GB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to</a:t>
            </a:r>
            <a:r>
              <a:rPr lang="en-GB" spc="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our</a:t>
            </a:r>
            <a:r>
              <a:rPr lang="en-GB" spc="3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server.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812800" marR="129539" lvl="1" indent="-342900">
              <a:lnSpc>
                <a:spcPct val="150000"/>
              </a:lnSpc>
              <a:spcBef>
                <a:spcPts val="95"/>
              </a:spcBef>
              <a:tabLst>
                <a:tab pos="749300" algn="l"/>
              </a:tabLst>
            </a:pPr>
            <a:r>
              <a:rPr lang="en-GB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pc="-15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server,</a:t>
            </a:r>
            <a:r>
              <a:rPr lang="en-GB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through</a:t>
            </a:r>
            <a:r>
              <a:rPr lang="en-GB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</a:t>
            </a:r>
            <a:r>
              <a:rPr lang="en-GB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5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server-side</a:t>
            </a:r>
            <a:r>
              <a:rPr lang="en-GB" spc="-7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scripting</a:t>
            </a:r>
            <a:r>
              <a:rPr lang="en-GB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5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language,</a:t>
            </a:r>
            <a:r>
              <a:rPr lang="en-GB" spc="-9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takes</a:t>
            </a:r>
            <a:r>
              <a:rPr lang="en-GB" spc="-5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action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on</a:t>
            </a:r>
            <a:r>
              <a:rPr lang="en-GB" spc="-10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</a:t>
            </a:r>
            <a:r>
              <a:rPr lang="en-GB" spc="-10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processes</a:t>
            </a:r>
            <a:r>
              <a:rPr lang="en-GB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pc="-5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data.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13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B0CC3-4413-7A06-C075-A0EACD30D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3405ED-B07E-5007-1495-F8F54FABC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Creating the form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0C3052-5C90-FB4A-42CF-84DF18A5C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3"/>
            <a:ext cx="10951029" cy="4831151"/>
          </a:xfrm>
        </p:spPr>
        <p:txBody>
          <a:bodyPr>
            <a:no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250"/>
              </a:spcBef>
              <a:tabLst>
                <a:tab pos="355600" algn="l"/>
              </a:tabLst>
            </a:pPr>
            <a:r>
              <a:rPr lang="en-GB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 form is an invisible element that contains the form controls.</a:t>
            </a:r>
          </a:p>
          <a:p>
            <a:pPr marL="469900" marR="5080" indent="-457200">
              <a:lnSpc>
                <a:spcPct val="150000"/>
              </a:lnSpc>
              <a:spcBef>
                <a:spcPts val="250"/>
              </a:spcBef>
              <a:tabLst>
                <a:tab pos="355600" algn="l"/>
              </a:tabLst>
            </a:pPr>
            <a:r>
              <a:rPr lang="en-GB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Form controls are the fields or elements that allow the user to enter information (like text fields, drop-down menus, radio buttons, checkboxes, etc.)</a:t>
            </a:r>
          </a:p>
          <a:p>
            <a:pPr marL="469900" marR="5080" indent="-457200">
              <a:lnSpc>
                <a:spcPct val="150000"/>
              </a:lnSpc>
              <a:spcBef>
                <a:spcPts val="250"/>
              </a:spcBef>
              <a:tabLst>
                <a:tab pos="355600" algn="l"/>
              </a:tabLst>
            </a:pPr>
            <a:r>
              <a:rPr lang="en-GB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 form is defined with the </a:t>
            </a:r>
            <a:r>
              <a:rPr lang="en-GB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&lt;form&gt;  &lt;/form&gt; </a:t>
            </a:r>
            <a:r>
              <a:rPr lang="en-GB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tags.</a:t>
            </a:r>
          </a:p>
          <a:p>
            <a:pPr marL="469900" marR="5080" indent="-457200">
              <a:lnSpc>
                <a:spcPct val="150000"/>
              </a:lnSpc>
              <a:spcBef>
                <a:spcPts val="250"/>
              </a:spcBef>
              <a:tabLst>
                <a:tab pos="355600" algn="l"/>
              </a:tabLst>
            </a:pPr>
            <a:r>
              <a:rPr lang="en-GB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All other controls must be nested within these tags.</a:t>
            </a:r>
          </a:p>
        </p:txBody>
      </p:sp>
    </p:spTree>
    <p:extLst>
      <p:ext uri="{BB962C8B-B14F-4D97-AF65-F5344CB8AC3E}">
        <p14:creationId xmlns:p14="http://schemas.microsoft.com/office/powerpoint/2010/main" val="416700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F08F2-AEB1-9B3F-6B79-06006069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3FA300-1DEE-2D33-7CCA-932AB7CC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Input element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0D3998-A3F4-C6C9-E727-0976C3AFE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3"/>
            <a:ext cx="10951029" cy="4831151"/>
          </a:xfrm>
        </p:spPr>
        <p:txBody>
          <a:bodyPr>
            <a:no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250"/>
              </a:spcBef>
              <a:tabLst>
                <a:tab pos="355600" algn="l"/>
              </a:tabLst>
            </a:pP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 most general type of control is the INPUT element.</a:t>
            </a:r>
          </a:p>
          <a:p>
            <a:pPr marL="469900" marR="5080" indent="-457200">
              <a:lnSpc>
                <a:spcPct val="150000"/>
              </a:lnSpc>
              <a:spcBef>
                <a:spcPts val="250"/>
              </a:spcBef>
              <a:tabLst>
                <a:tab pos="355600" algn="l"/>
              </a:tabLst>
            </a:pP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 type of INPUT is specified with the </a:t>
            </a:r>
            <a:r>
              <a:rPr lang="en-GB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typeattribute</a:t>
            </a: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.</a:t>
            </a:r>
          </a:p>
          <a:p>
            <a:pPr marL="469900" marR="5080" indent="-457200">
              <a:lnSpc>
                <a:spcPct val="150000"/>
              </a:lnSpc>
              <a:spcBef>
                <a:spcPts val="250"/>
              </a:spcBef>
              <a:tabLst>
                <a:tab pos="355600" algn="l"/>
              </a:tabLst>
            </a:pP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&lt;input type="text"/&gt;</a:t>
            </a:r>
          </a:p>
          <a:p>
            <a:pPr marL="469900" marR="5080" indent="-457200">
              <a:lnSpc>
                <a:spcPct val="150000"/>
              </a:lnSpc>
              <a:spcBef>
                <a:spcPts val="250"/>
              </a:spcBef>
              <a:tabLst>
                <a:tab pos="355600" algn="l"/>
              </a:tabLst>
            </a:pP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Notice this is a self-closing html tag. This creates an empty text box on the screen.</a:t>
            </a:r>
          </a:p>
          <a:p>
            <a:pPr marL="469900" marR="5080" indent="-457200">
              <a:lnSpc>
                <a:spcPct val="150000"/>
              </a:lnSpc>
              <a:spcBef>
                <a:spcPts val="250"/>
              </a:spcBef>
              <a:tabLst>
                <a:tab pos="355600" algn="l"/>
              </a:tabLst>
            </a:pP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&lt;input type=</a:t>
            </a:r>
            <a:r>
              <a:rPr lang="en-GB" sz="24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</a:t>
            </a: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text</a:t>
            </a:r>
            <a:r>
              <a:rPr lang="en-GB" sz="24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</a:t>
            </a: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name=</a:t>
            </a:r>
            <a:r>
              <a:rPr lang="en-GB" sz="24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</a:t>
            </a:r>
            <a:r>
              <a:rPr lang="en-GB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firstname</a:t>
            </a:r>
            <a:r>
              <a:rPr lang="en-GB" sz="24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</a:t>
            </a: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size=</a:t>
            </a:r>
            <a:r>
              <a:rPr lang="en-GB" sz="24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</a:t>
            </a: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30</a:t>
            </a:r>
            <a:r>
              <a:rPr lang="en-GB" sz="24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"</a:t>
            </a: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/&gt;</a:t>
            </a:r>
          </a:p>
          <a:p>
            <a:pPr marL="469900" marR="5080" indent="-457200">
              <a:lnSpc>
                <a:spcPct val="150000"/>
              </a:lnSpc>
              <a:spcBef>
                <a:spcPts val="250"/>
              </a:spcBef>
              <a:tabLst>
                <a:tab pos="355600" algn="l"/>
              </a:tabLst>
            </a:pP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This creates an empty text box 30 characters wide and its name is “</a:t>
            </a:r>
            <a:r>
              <a:rPr lang="en-GB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firstname</a:t>
            </a: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” for processing purposes later.</a:t>
            </a:r>
          </a:p>
        </p:txBody>
      </p:sp>
    </p:spTree>
    <p:extLst>
      <p:ext uri="{BB962C8B-B14F-4D97-AF65-F5344CB8AC3E}">
        <p14:creationId xmlns:p14="http://schemas.microsoft.com/office/powerpoint/2010/main" val="51086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D3B0-5B7B-8DA9-BADE-58FF68F15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0E3681-BFED-F7BE-A95B-68BC962FE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Text Area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41AABF-8B68-EB99-F1DC-6C9CC8C20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3"/>
            <a:ext cx="10951029" cy="4831151"/>
          </a:xfrm>
        </p:spPr>
        <p:txBody>
          <a:bodyPr>
            <a:noAutofit/>
          </a:bodyPr>
          <a:lstStyle/>
          <a:p>
            <a:pPr marL="12700" indent="0">
              <a:spcBef>
                <a:spcPts val="100"/>
              </a:spcBef>
              <a:buNone/>
              <a:tabLst>
                <a:tab pos="354965" algn="l"/>
              </a:tabLst>
            </a:pPr>
            <a:r>
              <a:rPr lang="en-GB" sz="2400" b="1" dirty="0">
                <a:solidFill>
                  <a:srgbClr val="7F7F7F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</a:t>
            </a:r>
            <a:r>
              <a:rPr lang="en-GB" sz="2400" b="1" dirty="0" err="1">
                <a:solidFill>
                  <a:srgbClr val="7F7F7F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textarea</a:t>
            </a:r>
            <a:r>
              <a:rPr lang="en-GB" sz="2400" b="1" dirty="0">
                <a:solidFill>
                  <a:srgbClr val="7F7F7F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name="message"</a:t>
            </a:r>
            <a:r>
              <a:rPr lang="en-GB" sz="2400" b="1" spc="-30" dirty="0">
                <a:solidFill>
                  <a:srgbClr val="7F7F7F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GB" sz="2400" b="1" dirty="0">
                <a:solidFill>
                  <a:srgbClr val="7F7F7F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rows="5"</a:t>
            </a:r>
            <a:r>
              <a:rPr lang="en-GB" sz="2400" b="1" spc="-45" dirty="0">
                <a:solidFill>
                  <a:srgbClr val="7F7F7F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GB" sz="2400" b="1" spc="-10" dirty="0">
                <a:solidFill>
                  <a:srgbClr val="7F7F7F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cols="30"&gt;</a:t>
            </a:r>
            <a:endParaRPr lang="en-GB" sz="2400" b="1" dirty="0"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  <a:p>
            <a:pPr marL="94615" indent="0">
              <a:spcBef>
                <a:spcPts val="1560"/>
              </a:spcBef>
              <a:buNone/>
            </a:pPr>
            <a:r>
              <a:rPr lang="en-GB" sz="2400" b="1" spc="-10" dirty="0">
                <a:solidFill>
                  <a:srgbClr val="7F7F7F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&lt;/</a:t>
            </a:r>
            <a:r>
              <a:rPr lang="en-GB" sz="2400" b="1" spc="-10" dirty="0" err="1">
                <a:solidFill>
                  <a:srgbClr val="7F7F7F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textarea</a:t>
            </a:r>
            <a:r>
              <a:rPr lang="en-GB" sz="2400" b="1" spc="-10" dirty="0">
                <a:solidFill>
                  <a:srgbClr val="7F7F7F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&gt;</a:t>
            </a:r>
            <a:endParaRPr lang="en-GB" sz="2400" b="1" dirty="0"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  <a:p>
            <a:pPr marL="12700" marR="109220" indent="0">
              <a:lnSpc>
                <a:spcPct val="140900"/>
              </a:lnSpc>
              <a:spcBef>
                <a:spcPts val="70"/>
              </a:spcBef>
              <a:buNone/>
              <a:tabLst>
                <a:tab pos="355600" algn="l"/>
              </a:tabLst>
            </a:pPr>
            <a:r>
              <a:rPr lang="en-GB" sz="240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This</a:t>
            </a:r>
            <a:r>
              <a:rPr lang="en-GB" sz="2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5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creates</a:t>
            </a:r>
            <a:r>
              <a:rPr lang="en-GB" sz="2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</a:t>
            </a:r>
            <a:r>
              <a:rPr lang="en-GB" sz="2400" spc="-17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text</a:t>
            </a:r>
            <a:r>
              <a:rPr lang="en-GB" sz="2400" spc="-114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area</a:t>
            </a:r>
            <a:r>
              <a:rPr lang="en-GB" sz="2400" spc="-17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with</a:t>
            </a:r>
            <a:r>
              <a:rPr lang="en-GB" sz="240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scrollbars</a:t>
            </a:r>
            <a:r>
              <a:rPr lang="en-GB" sz="2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which</a:t>
            </a:r>
            <a:r>
              <a:rPr lang="en-GB" sz="2400" spc="-5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allow</a:t>
            </a:r>
            <a:r>
              <a:rPr lang="en-GB" sz="2400" spc="-10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z="2400" spc="-7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6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user</a:t>
            </a:r>
            <a:r>
              <a:rPr lang="en-GB" sz="2400" spc="-10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2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to </a:t>
            </a:r>
            <a:r>
              <a:rPr lang="en-GB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enter</a:t>
            </a:r>
            <a:r>
              <a:rPr lang="en-GB" sz="2400" spc="-10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6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large</a:t>
            </a:r>
            <a:r>
              <a:rPr lang="en-GB" sz="2400" spc="-12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2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amounts</a:t>
            </a:r>
            <a:r>
              <a:rPr lang="en-GB" sz="240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of</a:t>
            </a:r>
            <a:r>
              <a:rPr lang="en-GB" sz="2400" spc="4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text.</a:t>
            </a:r>
            <a:endParaRPr lang="en-GB" sz="2400" dirty="0">
              <a:solidFill>
                <a:schemeClr val="tx1">
                  <a:lumMod val="75000"/>
                  <a:lumOff val="2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12700" marR="5080" indent="0">
              <a:lnSpc>
                <a:spcPct val="140000"/>
              </a:lnSpc>
              <a:spcBef>
                <a:spcPts val="505"/>
              </a:spcBef>
              <a:buNone/>
              <a:tabLst>
                <a:tab pos="355600" algn="l"/>
              </a:tabLst>
            </a:pPr>
            <a:r>
              <a:rPr lang="en-GB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Again,</a:t>
            </a:r>
            <a:r>
              <a:rPr lang="en-GB" sz="2400" spc="-10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we</a:t>
            </a:r>
            <a:r>
              <a:rPr lang="en-GB" sz="2400" spc="-15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7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have</a:t>
            </a:r>
            <a:r>
              <a:rPr lang="en-GB" sz="2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4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named</a:t>
            </a:r>
            <a:r>
              <a:rPr lang="en-GB" sz="240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it</a:t>
            </a:r>
            <a:r>
              <a:rPr lang="en-GB" sz="2400" spc="-7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3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something</a:t>
            </a:r>
            <a:r>
              <a:rPr lang="en-GB" sz="240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6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sensible</a:t>
            </a:r>
            <a:r>
              <a:rPr lang="en-GB" sz="2400" spc="-12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</a:t>
            </a:r>
            <a:r>
              <a:rPr lang="en-GB" sz="240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set</a:t>
            </a:r>
            <a:r>
              <a:rPr lang="en-GB" sz="2400" spc="-8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its</a:t>
            </a:r>
            <a:r>
              <a:rPr lang="en-GB" sz="240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6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size</a:t>
            </a:r>
            <a:r>
              <a:rPr lang="en-GB" sz="2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2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to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5</a:t>
            </a:r>
            <a:r>
              <a:rPr lang="en-GB" sz="2400" spc="-14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rows</a:t>
            </a:r>
            <a:r>
              <a:rPr lang="en-GB" sz="2400" spc="-7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high</a:t>
            </a:r>
            <a:r>
              <a:rPr lang="en-GB" sz="2400" spc="-11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</a:t>
            </a:r>
            <a:r>
              <a:rPr lang="en-GB" sz="240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30</a:t>
            </a:r>
            <a:r>
              <a:rPr lang="en-GB" sz="240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3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characters</a:t>
            </a:r>
            <a:r>
              <a:rPr lang="en-GB" sz="2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wide.</a:t>
            </a:r>
            <a:r>
              <a:rPr lang="en-GB" sz="2400" spc="-7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5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If</a:t>
            </a:r>
            <a:r>
              <a:rPr lang="en-GB" sz="2400" spc="-17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z="2400" spc="-9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6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user</a:t>
            </a:r>
            <a:r>
              <a:rPr lang="en-GB" sz="2400" spc="-10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enters</a:t>
            </a:r>
            <a:r>
              <a:rPr lang="en-GB" sz="2400" spc="-11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more than</a:t>
            </a:r>
            <a:r>
              <a:rPr lang="en-GB" sz="2400" spc="-13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5</a:t>
            </a:r>
            <a:r>
              <a:rPr lang="en-GB" sz="2400" spc="-114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6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lines</a:t>
            </a:r>
            <a:r>
              <a:rPr lang="en-GB" sz="2400" spc="-14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of</a:t>
            </a:r>
            <a:r>
              <a:rPr lang="en-GB" sz="2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text,</a:t>
            </a:r>
            <a:r>
              <a:rPr lang="en-GB" sz="2400" spc="-7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z="2400" spc="-11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scrollbars</a:t>
            </a:r>
            <a:r>
              <a:rPr lang="en-GB" sz="2400" spc="-10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become</a:t>
            </a:r>
            <a:r>
              <a:rPr lang="en-GB" sz="2400" spc="12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active.</a:t>
            </a:r>
            <a:endParaRPr lang="en-GB" sz="2400" dirty="0">
              <a:solidFill>
                <a:schemeClr val="tx1">
                  <a:lumMod val="75000"/>
                  <a:lumOff val="2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12700" indent="0">
              <a:spcBef>
                <a:spcPts val="1970"/>
              </a:spcBef>
              <a:buNone/>
              <a:tabLst>
                <a:tab pos="354965" algn="l"/>
              </a:tabLst>
            </a:pPr>
            <a:r>
              <a:rPr lang="en-GB" sz="24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Notice</a:t>
            </a:r>
            <a:r>
              <a:rPr lang="en-GB" sz="2400" spc="-13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this</a:t>
            </a:r>
            <a:r>
              <a:rPr lang="en-GB" sz="2400" spc="-13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5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element</a:t>
            </a:r>
            <a:r>
              <a:rPr lang="en-GB" sz="2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65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requires</a:t>
            </a:r>
            <a:r>
              <a:rPr lang="en-GB" sz="2400" spc="-114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</a:t>
            </a:r>
            <a:r>
              <a:rPr lang="en-GB" sz="2400" spc="-17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closing</a:t>
            </a:r>
            <a:r>
              <a:rPr lang="en-GB" sz="2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tag.</a:t>
            </a:r>
            <a:endParaRPr lang="en-GB" sz="2400" dirty="0">
              <a:solidFill>
                <a:schemeClr val="tx1">
                  <a:lumMod val="75000"/>
                  <a:lumOff val="2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77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416F-3E63-9765-9E21-A64BF5FF9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0C7DC2-6EE5-1B1E-CF64-23DDA96CD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Buttons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C6324A-06F8-8EAC-0DDE-6F39BCDBB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3"/>
            <a:ext cx="10951029" cy="4831151"/>
          </a:xfrm>
        </p:spPr>
        <p:txBody>
          <a:bodyPr>
            <a:noAutofit/>
          </a:bodyPr>
          <a:lstStyle/>
          <a:p>
            <a:pPr marL="12700" indent="0">
              <a:lnSpc>
                <a:spcPct val="150000"/>
              </a:lnSpc>
              <a:spcBef>
                <a:spcPts val="100"/>
              </a:spcBef>
              <a:buNone/>
              <a:tabLst>
                <a:tab pos="354965" algn="l"/>
              </a:tabLst>
            </a:pP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There are two types of pre-defined button; a submit button that sends the form to the server for processing and a reset button that clears or empties the form.</a:t>
            </a:r>
          </a:p>
          <a:p>
            <a:pPr marL="12700" indent="0">
              <a:lnSpc>
                <a:spcPct val="150000"/>
              </a:lnSpc>
              <a:spcBef>
                <a:spcPts val="100"/>
              </a:spcBef>
              <a:buNone/>
              <a:tabLst>
                <a:tab pos="354965" algn="l"/>
              </a:tabLst>
            </a:pPr>
            <a:endParaRPr lang="en-GB" sz="2400" dirty="0">
              <a:solidFill>
                <a:schemeClr val="tx1">
                  <a:lumMod val="75000"/>
                  <a:lumOff val="2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  <a:p>
            <a:pPr marL="12700" indent="0">
              <a:lnSpc>
                <a:spcPct val="150000"/>
              </a:lnSpc>
              <a:spcBef>
                <a:spcPts val="100"/>
              </a:spcBef>
              <a:buNone/>
              <a:tabLst>
                <a:tab pos="354965" algn="l"/>
              </a:tabLst>
            </a:pPr>
            <a:r>
              <a:rPr lang="en-GB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&lt;input type="submit" value="submit"/&gt;</a:t>
            </a:r>
          </a:p>
          <a:p>
            <a:pPr marL="12700" indent="0">
              <a:lnSpc>
                <a:spcPct val="150000"/>
              </a:lnSpc>
              <a:spcBef>
                <a:spcPts val="100"/>
              </a:spcBef>
              <a:buNone/>
              <a:tabLst>
                <a:tab pos="354965" algn="l"/>
              </a:tabLst>
            </a:pP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This creates a submit button, the value is what is written on the button.</a:t>
            </a:r>
          </a:p>
          <a:p>
            <a:pPr marL="12700" indent="0">
              <a:lnSpc>
                <a:spcPct val="150000"/>
              </a:lnSpc>
              <a:spcBef>
                <a:spcPts val="100"/>
              </a:spcBef>
              <a:buNone/>
              <a:tabLst>
                <a:tab pos="354965" algn="l"/>
              </a:tabLst>
            </a:pPr>
            <a:r>
              <a:rPr lang="en-GB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&lt;input type="reset" value="clear"/&gt;</a:t>
            </a:r>
          </a:p>
          <a:p>
            <a:pPr marL="12700" indent="0">
              <a:lnSpc>
                <a:spcPct val="150000"/>
              </a:lnSpc>
              <a:spcBef>
                <a:spcPts val="100"/>
              </a:spcBef>
              <a:buNone/>
              <a:tabLst>
                <a:tab pos="354965" algn="l"/>
              </a:tabLst>
            </a:pP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This creates a reset button, the value is what is written on the button.</a:t>
            </a:r>
          </a:p>
        </p:txBody>
      </p:sp>
    </p:spTree>
    <p:extLst>
      <p:ext uri="{BB962C8B-B14F-4D97-AF65-F5344CB8AC3E}">
        <p14:creationId xmlns:p14="http://schemas.microsoft.com/office/powerpoint/2010/main" val="304360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595" y="269908"/>
            <a:ext cx="9360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/>
              <a:t>Basic</a:t>
            </a:r>
            <a:r>
              <a:rPr spc="-235" dirty="0"/>
              <a:t> </a:t>
            </a:r>
            <a:r>
              <a:rPr dirty="0"/>
              <a:t>form</a:t>
            </a:r>
            <a:r>
              <a:rPr spc="-195" dirty="0"/>
              <a:t> </a:t>
            </a:r>
            <a:r>
              <a:rPr spc="-20" dirty="0"/>
              <a:t>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ED8B76-F678-26B3-D1F7-20E954212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94" y="1005131"/>
            <a:ext cx="8477895" cy="23693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FC17B0-8325-DEE5-A121-3FEC1969C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07" y="4062970"/>
            <a:ext cx="4553497" cy="252512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B436F22F-CA72-DAEA-834C-B627C5FFD6AC}"/>
              </a:ext>
            </a:extLst>
          </p:cNvPr>
          <p:cNvSpPr txBox="1">
            <a:spLocks/>
          </p:cNvSpPr>
          <p:nvPr/>
        </p:nvSpPr>
        <p:spPr>
          <a:xfrm>
            <a:off x="471595" y="3483501"/>
            <a:ext cx="740462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GB" sz="2400" kern="0" spc="-100" dirty="0">
                <a:solidFill>
                  <a:prstClr val="black"/>
                </a:solidFill>
              </a:rPr>
              <a:t>The</a:t>
            </a:r>
            <a:r>
              <a:rPr lang="en-GB" sz="2400" kern="0" spc="-275" dirty="0">
                <a:solidFill>
                  <a:prstClr val="black"/>
                </a:solidFill>
              </a:rPr>
              <a:t> </a:t>
            </a:r>
            <a:r>
              <a:rPr lang="en-GB" sz="2400" kern="0" spc="-70" dirty="0">
                <a:solidFill>
                  <a:prstClr val="black"/>
                </a:solidFill>
              </a:rPr>
              <a:t>result</a:t>
            </a:r>
            <a:r>
              <a:rPr lang="en-GB" sz="2400" kern="0" spc="-150" dirty="0">
                <a:solidFill>
                  <a:prstClr val="black"/>
                </a:solidFill>
              </a:rPr>
              <a:t> </a:t>
            </a:r>
            <a:r>
              <a:rPr lang="en-GB" sz="2400" kern="0" spc="-60" dirty="0">
                <a:solidFill>
                  <a:prstClr val="black"/>
                </a:solidFill>
              </a:rPr>
              <a:t>in</a:t>
            </a:r>
            <a:r>
              <a:rPr lang="en-GB" sz="2400" kern="0" spc="-204" dirty="0">
                <a:solidFill>
                  <a:prstClr val="black"/>
                </a:solidFill>
              </a:rPr>
              <a:t> </a:t>
            </a:r>
            <a:r>
              <a:rPr lang="en-GB" sz="2400" kern="0" dirty="0">
                <a:solidFill>
                  <a:prstClr val="black"/>
                </a:solidFill>
              </a:rPr>
              <a:t>a</a:t>
            </a:r>
            <a:r>
              <a:rPr lang="en-GB" sz="2400" kern="0" spc="130" dirty="0">
                <a:solidFill>
                  <a:prstClr val="black"/>
                </a:solidFill>
              </a:rPr>
              <a:t> </a:t>
            </a:r>
            <a:r>
              <a:rPr lang="en-GB" sz="2400" kern="0" spc="-35" dirty="0">
                <a:solidFill>
                  <a:prstClr val="black"/>
                </a:solidFill>
              </a:rPr>
              <a:t>browser – ugly but functional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0" dirty="0"/>
              <a:t>Quick</a:t>
            </a:r>
            <a:r>
              <a:rPr spc="-175" dirty="0"/>
              <a:t> </a:t>
            </a:r>
            <a:r>
              <a:rPr spc="-35" dirty="0"/>
              <a:t>list</a:t>
            </a:r>
            <a:r>
              <a:rPr spc="-204" dirty="0"/>
              <a:t> </a:t>
            </a:r>
            <a:r>
              <a:rPr dirty="0"/>
              <a:t>of</a:t>
            </a:r>
            <a:r>
              <a:rPr spc="-140" dirty="0"/>
              <a:t> </a:t>
            </a:r>
            <a:r>
              <a:rPr dirty="0"/>
              <a:t>most</a:t>
            </a:r>
            <a:r>
              <a:rPr spc="-85" dirty="0"/>
              <a:t> </a:t>
            </a:r>
            <a:r>
              <a:rPr dirty="0"/>
              <a:t>common</a:t>
            </a:r>
            <a:r>
              <a:rPr spc="60" dirty="0"/>
              <a:t> </a:t>
            </a:r>
            <a:r>
              <a:rPr spc="-20" dirty="0"/>
              <a:t>controls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194955"/>
              </p:ext>
            </p:extLst>
          </p:nvPr>
        </p:nvGraphicFramePr>
        <p:xfrm>
          <a:off x="714588" y="1299029"/>
          <a:ext cx="9572412" cy="51344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5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4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09955">
                        <a:lnSpc>
                          <a:spcPts val="2055"/>
                        </a:lnSpc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will</a:t>
                      </a:r>
                      <a:r>
                        <a:rPr sz="1800" b="1" spc="-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be</a:t>
                      </a:r>
                      <a:r>
                        <a:rPr sz="1800" b="1" spc="-20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displayed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51535">
                        <a:lnSpc>
                          <a:spcPts val="2055"/>
                        </a:lnSpc>
                      </a:pP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r>
                        <a:rPr sz="1800" b="1" spc="-1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800" b="1" spc="-1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422">
                <a:tc>
                  <a:txBody>
                    <a:bodyPr/>
                    <a:lstStyle/>
                    <a:p>
                      <a:pPr marL="83820">
                        <a:lnSpc>
                          <a:spcPts val="2055"/>
                        </a:lnSpc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Text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925"/>
                        </a:lnSpc>
                      </a:pPr>
                      <a:r>
                        <a:rPr sz="1800" spc="-70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800" spc="-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entry</a:t>
                      </a:r>
                      <a:r>
                        <a:rPr sz="18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ﬁeld,</a:t>
                      </a:r>
                      <a:r>
                        <a:rPr sz="1800" spc="-110" dirty="0">
                          <a:latin typeface="Arial"/>
                          <a:cs typeface="Arial"/>
                        </a:rPr>
                        <a:t> size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deﬁned</a:t>
                      </a:r>
                      <a:r>
                        <a:rPr sz="18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800" spc="-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spc="-20" dirty="0">
                          <a:latin typeface="Arial"/>
                          <a:cs typeface="Arial"/>
                        </a:rPr>
                        <a:t>size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84455">
                        <a:lnSpc>
                          <a:spcPts val="2125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attribute.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925"/>
                        </a:lnSpc>
                      </a:pPr>
                      <a:r>
                        <a:rPr sz="1800" spc="-40" dirty="0">
                          <a:latin typeface="Arial"/>
                          <a:cs typeface="Arial"/>
                        </a:rPr>
                        <a:t>&lt;input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type=“text”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84455">
                        <a:lnSpc>
                          <a:spcPts val="2125"/>
                        </a:lnSpc>
                      </a:pPr>
                      <a:r>
                        <a:rPr sz="1800" spc="-40" dirty="0">
                          <a:latin typeface="Arial"/>
                          <a:cs typeface="Arial"/>
                        </a:rPr>
                        <a:t>name=“text1”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size=“25”/&gt;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750">
                <a:tc>
                  <a:txBody>
                    <a:bodyPr/>
                    <a:lstStyle/>
                    <a:p>
                      <a:pPr marL="83820">
                        <a:lnSpc>
                          <a:spcPts val="2055"/>
                        </a:lnSpc>
                      </a:pPr>
                      <a:r>
                        <a:rPr sz="1800" spc="-70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800" spc="-2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area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925"/>
                        </a:lnSpc>
                      </a:pPr>
                      <a:r>
                        <a:rPr sz="1800" spc="-6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8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large</a:t>
                      </a:r>
                      <a:r>
                        <a:rPr sz="18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8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95" dirty="0">
                          <a:latin typeface="Arial"/>
                          <a:cs typeface="Arial"/>
                        </a:rPr>
                        <a:t>area</a:t>
                      </a:r>
                      <a:r>
                        <a:rPr sz="18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ﬁeld,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 size</a:t>
                      </a:r>
                      <a:r>
                        <a:rPr sz="18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deﬁned</a:t>
                      </a:r>
                      <a:r>
                        <a:rPr sz="1800" spc="-2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by</a:t>
                      </a:r>
                      <a:endParaRPr sz="1800" dirty="0">
                        <a:latin typeface="Arial"/>
                        <a:cs typeface="Arial"/>
                      </a:endParaRPr>
                    </a:p>
                    <a:p>
                      <a:pPr marL="84455">
                        <a:lnSpc>
                          <a:spcPts val="2125"/>
                        </a:lnSpc>
                      </a:pPr>
                      <a:r>
                        <a:rPr sz="1800" i="1" spc="-95" dirty="0">
                          <a:latin typeface="Arial"/>
                          <a:cs typeface="Arial"/>
                        </a:rPr>
                        <a:t>rows</a:t>
                      </a:r>
                      <a:r>
                        <a:rPr sz="1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spc="-120" dirty="0">
                          <a:latin typeface="Arial"/>
                          <a:cs typeface="Arial"/>
                        </a:rPr>
                        <a:t>cols</a:t>
                      </a:r>
                      <a:r>
                        <a:rPr sz="1800" i="1" spc="-2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attributes.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925"/>
                        </a:lnSpc>
                      </a:pPr>
                      <a:r>
                        <a:rPr sz="1800" spc="-55" dirty="0">
                          <a:latin typeface="Arial"/>
                          <a:cs typeface="Arial"/>
                        </a:rPr>
                        <a:t>&lt;textarea</a:t>
                      </a:r>
                      <a:r>
                        <a:rPr sz="18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name=“”</a:t>
                      </a:r>
                      <a:r>
                        <a:rPr sz="1800" spc="-1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rows=“8”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84455">
                        <a:lnSpc>
                          <a:spcPts val="2125"/>
                        </a:lnSpc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cols=“25”&gt;&lt;/textarea&gt;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422">
                <a:tc>
                  <a:txBody>
                    <a:bodyPr/>
                    <a:lstStyle/>
                    <a:p>
                      <a:pPr marL="83820">
                        <a:lnSpc>
                          <a:spcPts val="2055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Password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925"/>
                        </a:lnSpc>
                      </a:pPr>
                      <a:r>
                        <a:rPr sz="1800" spc="-70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800" spc="-1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entry</a:t>
                      </a:r>
                      <a:r>
                        <a:rPr sz="18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ﬁeld,</a:t>
                      </a:r>
                      <a:r>
                        <a:rPr sz="18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80" dirty="0">
                          <a:latin typeface="Arial"/>
                          <a:cs typeface="Arial"/>
                        </a:rPr>
                        <a:t>characters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appear</a:t>
                      </a:r>
                      <a:r>
                        <a:rPr sz="1800" spc="-1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as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84455">
                        <a:lnSpc>
                          <a:spcPts val="2125"/>
                        </a:lnSpc>
                      </a:pPr>
                      <a:r>
                        <a:rPr sz="1800" spc="-45" dirty="0">
                          <a:latin typeface="Arial"/>
                          <a:cs typeface="Arial"/>
                        </a:rPr>
                        <a:t>dots</a:t>
                      </a:r>
                      <a:r>
                        <a:rPr sz="18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800" spc="-229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asterisks.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925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&lt;inputtype=“password”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84455">
                        <a:lnSpc>
                          <a:spcPts val="2125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name=“pass1”/&gt;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7422">
                <a:tc>
                  <a:txBody>
                    <a:bodyPr/>
                    <a:lstStyle/>
                    <a:p>
                      <a:pPr marL="83820">
                        <a:lnSpc>
                          <a:spcPts val="2055"/>
                        </a:lnSpc>
                      </a:pPr>
                      <a:r>
                        <a:rPr sz="1800" spc="-125" dirty="0">
                          <a:latin typeface="Arial"/>
                          <a:cs typeface="Arial"/>
                        </a:rPr>
                        <a:t>Check</a:t>
                      </a:r>
                      <a:r>
                        <a:rPr sz="1800" spc="-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box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925"/>
                        </a:lnSpc>
                      </a:pPr>
                      <a:r>
                        <a:rPr sz="1800" spc="-100" dirty="0">
                          <a:latin typeface="Arial"/>
                          <a:cs typeface="Arial"/>
                        </a:rPr>
                        <a:t>Unchecked</a:t>
                      </a:r>
                      <a:r>
                        <a:rPr sz="18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90" dirty="0">
                          <a:latin typeface="Arial"/>
                          <a:cs typeface="Arial"/>
                        </a:rPr>
                        <a:t>check</a:t>
                      </a:r>
                      <a:r>
                        <a:rPr sz="18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box,</a:t>
                      </a:r>
                      <a:r>
                        <a:rPr sz="18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unless</a:t>
                      </a:r>
                      <a:r>
                        <a:rPr sz="1800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spc="-10" dirty="0">
                          <a:latin typeface="Arial"/>
                          <a:cs typeface="Arial"/>
                        </a:rPr>
                        <a:t>checked</a:t>
                      </a:r>
                      <a:endParaRPr sz="1800" dirty="0">
                        <a:latin typeface="Arial"/>
                        <a:cs typeface="Arial"/>
                      </a:endParaRPr>
                    </a:p>
                    <a:p>
                      <a:pPr marL="84455">
                        <a:lnSpc>
                          <a:spcPts val="212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attribute</a:t>
                      </a:r>
                      <a:r>
                        <a:rPr sz="18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95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1800" spc="-229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present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925"/>
                        </a:lnSpc>
                      </a:pPr>
                      <a:r>
                        <a:rPr sz="1800" spc="-40" dirty="0">
                          <a:latin typeface="Arial"/>
                          <a:cs typeface="Arial"/>
                        </a:rPr>
                        <a:t>&lt;input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type=“checkbox”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84455">
                        <a:lnSpc>
                          <a:spcPts val="2125"/>
                        </a:lnSpc>
                      </a:pPr>
                      <a:r>
                        <a:rPr sz="1800" spc="-60" dirty="0">
                          <a:latin typeface="Arial"/>
                          <a:cs typeface="Arial"/>
                        </a:rPr>
                        <a:t>name=“box1”</a:t>
                      </a:r>
                      <a:r>
                        <a:rPr sz="1800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value=“yes”/&gt;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422">
                <a:tc>
                  <a:txBody>
                    <a:bodyPr/>
                    <a:lstStyle/>
                    <a:p>
                      <a:pPr marL="83820">
                        <a:lnSpc>
                          <a:spcPts val="2055"/>
                        </a:lnSpc>
                      </a:pPr>
                      <a:r>
                        <a:rPr sz="1800" spc="-100" dirty="0">
                          <a:latin typeface="Arial"/>
                          <a:cs typeface="Arial"/>
                        </a:rPr>
                        <a:t>Radio</a:t>
                      </a:r>
                      <a:r>
                        <a:rPr sz="1800" spc="-2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button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925"/>
                        </a:lnSpc>
                      </a:pPr>
                      <a:r>
                        <a:rPr sz="1800" spc="-95" dirty="0">
                          <a:latin typeface="Arial"/>
                          <a:cs typeface="Arial"/>
                        </a:rPr>
                        <a:t>Unchecked</a:t>
                      </a:r>
                      <a:r>
                        <a:rPr sz="18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radio</a:t>
                      </a:r>
                      <a:r>
                        <a:rPr sz="18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button,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unless</a:t>
                      </a:r>
                      <a:r>
                        <a:rPr sz="1800" spc="-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spc="-10" dirty="0">
                          <a:latin typeface="Arial"/>
                          <a:cs typeface="Arial"/>
                        </a:rPr>
                        <a:t>checked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84455">
                        <a:lnSpc>
                          <a:spcPts val="212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attribute</a:t>
                      </a:r>
                      <a:r>
                        <a:rPr sz="18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95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1800" spc="-229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present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925"/>
                        </a:lnSpc>
                      </a:pPr>
                      <a:r>
                        <a:rPr sz="1800" spc="-40" dirty="0">
                          <a:latin typeface="Arial"/>
                          <a:cs typeface="Arial"/>
                        </a:rPr>
                        <a:t>&lt;input</a:t>
                      </a:r>
                      <a:r>
                        <a:rPr sz="18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type=“radio”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84455">
                        <a:lnSpc>
                          <a:spcPts val="2125"/>
                        </a:lnSpc>
                      </a:pPr>
                      <a:r>
                        <a:rPr sz="1800" spc="-60" dirty="0">
                          <a:latin typeface="Arial"/>
                          <a:cs typeface="Arial"/>
                        </a:rPr>
                        <a:t>name=“set1”</a:t>
                      </a:r>
                      <a:r>
                        <a:rPr sz="1800" spc="-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value=“ﬁrst”/&gt;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7422">
                <a:tc>
                  <a:txBody>
                    <a:bodyPr/>
                    <a:lstStyle/>
                    <a:p>
                      <a:pPr marL="83820">
                        <a:lnSpc>
                          <a:spcPts val="2055"/>
                        </a:lnSpc>
                      </a:pPr>
                      <a:r>
                        <a:rPr sz="1800" spc="-145" dirty="0">
                          <a:latin typeface="Arial"/>
                          <a:cs typeface="Arial"/>
                        </a:rPr>
                        <a:t>DropMdown</a:t>
                      </a:r>
                      <a:r>
                        <a:rPr sz="1800" spc="-2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list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055"/>
                        </a:lnSpc>
                      </a:pPr>
                      <a:r>
                        <a:rPr sz="1800" spc="-145" dirty="0">
                          <a:latin typeface="Arial"/>
                          <a:cs typeface="Arial"/>
                        </a:rPr>
                        <a:t>DropMdown</a:t>
                      </a:r>
                      <a:r>
                        <a:rPr sz="1800" spc="-3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list</a:t>
                      </a:r>
                      <a:r>
                        <a:rPr sz="18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choices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925"/>
                        </a:lnSpc>
                      </a:pPr>
                      <a:r>
                        <a:rPr sz="1800" spc="-85" dirty="0">
                          <a:latin typeface="Arial"/>
                          <a:cs typeface="Arial"/>
                        </a:rPr>
                        <a:t>&lt;select</a:t>
                      </a:r>
                      <a:r>
                        <a:rPr sz="18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name=“drop1”</a:t>
                      </a:r>
                      <a:r>
                        <a:rPr sz="18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option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84455">
                        <a:lnSpc>
                          <a:spcPts val="2125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value=“ﬁrst”/&gt;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7422">
                <a:tc>
                  <a:txBody>
                    <a:bodyPr/>
                    <a:lstStyle/>
                    <a:p>
                      <a:pPr marL="83820">
                        <a:lnSpc>
                          <a:spcPts val="2055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Button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055"/>
                        </a:lnSpc>
                      </a:pPr>
                      <a:r>
                        <a:rPr sz="1800" spc="-45" dirty="0">
                          <a:latin typeface="Arial"/>
                          <a:cs typeface="Arial"/>
                        </a:rPr>
                        <a:t>Submit</a:t>
                      </a:r>
                      <a:r>
                        <a:rPr sz="18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form</a:t>
                      </a:r>
                      <a:r>
                        <a:rPr sz="18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8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resetform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925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&lt;inputtype=“submit”/&gt;</a:t>
                      </a:r>
                      <a:endParaRPr sz="1800" dirty="0">
                        <a:latin typeface="Arial"/>
                        <a:cs typeface="Arial"/>
                      </a:endParaRPr>
                    </a:p>
                    <a:p>
                      <a:pPr marL="84455">
                        <a:lnSpc>
                          <a:spcPts val="2125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&lt;inputtype=“reset”/&gt;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Common</a:t>
            </a:r>
            <a:r>
              <a:rPr spc="-240" dirty="0"/>
              <a:t> </a:t>
            </a:r>
            <a:r>
              <a:rPr spc="-25" dirty="0"/>
              <a:t>controls</a:t>
            </a:r>
            <a:r>
              <a:rPr spc="-225" dirty="0"/>
              <a:t> </a:t>
            </a:r>
            <a:r>
              <a:rPr spc="-55" dirty="0"/>
              <a:t>as</a:t>
            </a:r>
            <a:r>
              <a:rPr spc="-215" dirty="0"/>
              <a:t> </a:t>
            </a:r>
            <a:r>
              <a:rPr dirty="0"/>
              <a:t>they</a:t>
            </a:r>
            <a:r>
              <a:rPr spc="-90" dirty="0"/>
              <a:t> </a:t>
            </a:r>
            <a:r>
              <a:rPr spc="-30" dirty="0"/>
              <a:t>appear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426" y="1250763"/>
            <a:ext cx="6012651" cy="53477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37FB4-E7C7-839A-ED85-3C4742D93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C43C0B-4306-77B1-DE76-1A3E18AAF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Other controls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E01D5D-FCAC-E708-A661-4F01E187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3"/>
            <a:ext cx="10951029" cy="4831151"/>
          </a:xfrm>
        </p:spPr>
        <p:txBody>
          <a:bodyPr>
            <a:noAutofit/>
          </a:bodyPr>
          <a:lstStyle/>
          <a:p>
            <a:pPr marL="12700" indent="0">
              <a:lnSpc>
                <a:spcPct val="150000"/>
              </a:lnSpc>
              <a:spcBef>
                <a:spcPts val="1210"/>
              </a:spcBef>
              <a:buNone/>
              <a:tabLst>
                <a:tab pos="354965" algn="l"/>
              </a:tabLst>
            </a:pPr>
            <a:r>
              <a:rPr lang="en-GB" sz="2400" spc="-4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Other</a:t>
            </a:r>
            <a:r>
              <a:rPr lang="en-GB" sz="2400" spc="-1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attributes</a:t>
            </a:r>
            <a:r>
              <a:rPr lang="en-GB" sz="2400" spc="-1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that</a:t>
            </a:r>
            <a:r>
              <a:rPr lang="en-GB" sz="24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form</a:t>
            </a:r>
            <a:r>
              <a:rPr lang="en-GB" sz="2400" spc="-9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elements</a:t>
            </a:r>
            <a:r>
              <a:rPr lang="en-GB" sz="2400" spc="-1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can</a:t>
            </a:r>
            <a:r>
              <a:rPr lang="en-GB" sz="2400" spc="7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have;</a:t>
            </a:r>
            <a:endParaRPr lang="en-GB" sz="240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812800" marR="13970" lvl="1" indent="-342900">
              <a:lnSpc>
                <a:spcPct val="150000"/>
              </a:lnSpc>
              <a:spcBef>
                <a:spcPts val="235"/>
              </a:spcBef>
              <a:tabLst>
                <a:tab pos="749300" algn="l"/>
              </a:tabLst>
            </a:pPr>
            <a:r>
              <a:rPr lang="en-GB" sz="2200" spc="-3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Maxlength</a:t>
            </a:r>
            <a:r>
              <a:rPr lang="en-GB" sz="220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=“11”</a:t>
            </a:r>
            <a:r>
              <a:rPr lang="en-GB" sz="2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this</a:t>
            </a:r>
            <a:r>
              <a:rPr lang="en-GB" sz="2200" spc="-10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restricts</a:t>
            </a:r>
            <a:r>
              <a:rPr lang="en-GB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amount</a:t>
            </a:r>
            <a:r>
              <a:rPr lang="en-GB" sz="2200" spc="-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of</a:t>
            </a:r>
            <a:r>
              <a:rPr lang="en-GB" sz="2200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characters</a:t>
            </a:r>
            <a:r>
              <a:rPr lang="en-GB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that</a:t>
            </a:r>
            <a:r>
              <a:rPr lang="en-GB" sz="2200" spc="-6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can</a:t>
            </a:r>
            <a:r>
              <a:rPr lang="en-GB" sz="2200" spc="-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be </a:t>
            </a:r>
            <a:r>
              <a:rPr lang="en-GB" sz="2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entered</a:t>
            </a:r>
            <a:r>
              <a:rPr lang="en-GB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into</a:t>
            </a:r>
            <a:r>
              <a:rPr lang="en-GB" sz="2200" spc="-1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</a:t>
            </a:r>
            <a:r>
              <a:rPr lang="en-GB" sz="2200" spc="-1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text</a:t>
            </a:r>
            <a:r>
              <a:rPr lang="en-GB" sz="22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box.</a:t>
            </a:r>
            <a:endParaRPr lang="en-GB" sz="220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812800" marR="5080" lvl="1" indent="-342900">
              <a:lnSpc>
                <a:spcPct val="150000"/>
              </a:lnSpc>
              <a:spcBef>
                <a:spcPts val="600"/>
              </a:spcBef>
              <a:tabLst>
                <a:tab pos="749300" algn="l"/>
              </a:tabLst>
            </a:pP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Id=“</a:t>
            </a:r>
            <a:r>
              <a:rPr lang="en-GB" sz="220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someid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”</a:t>
            </a:r>
            <a:r>
              <a:rPr lang="en-GB" sz="2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id,</a:t>
            </a:r>
            <a:r>
              <a:rPr lang="en-GB" sz="2200" spc="-6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5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again</a:t>
            </a:r>
            <a:r>
              <a:rPr lang="en-GB" sz="2200" spc="-1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can</a:t>
            </a:r>
            <a:r>
              <a:rPr lang="en-GB" sz="2200" spc="-7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be</a:t>
            </a:r>
            <a:r>
              <a:rPr lang="en-GB" sz="2200" spc="-7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accessed</a:t>
            </a:r>
            <a:r>
              <a:rPr lang="en-GB" sz="2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by</a:t>
            </a:r>
            <a:r>
              <a:rPr lang="en-GB" sz="220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JavaScript</a:t>
            </a:r>
            <a:r>
              <a:rPr lang="en-GB" sz="2200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</a:t>
            </a:r>
            <a:r>
              <a:rPr lang="en-GB" sz="2200" spc="-9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CSS</a:t>
            </a:r>
            <a:r>
              <a:rPr lang="en-GB" sz="2200" spc="-1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for </a:t>
            </a:r>
            <a:r>
              <a:rPr lang="en-GB" sz="2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styling</a:t>
            </a:r>
            <a:r>
              <a:rPr lang="en-GB" sz="2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5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individual</a:t>
            </a:r>
            <a:r>
              <a:rPr lang="en-GB" sz="2200" spc="-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form</a:t>
            </a:r>
            <a:r>
              <a:rPr lang="en-GB" sz="22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elements.</a:t>
            </a:r>
            <a:endParaRPr lang="en-GB" sz="220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812800" marR="277495" lvl="1" indent="-342900">
              <a:lnSpc>
                <a:spcPct val="150000"/>
              </a:lnSpc>
              <a:spcBef>
                <a:spcPts val="505"/>
              </a:spcBef>
              <a:tabLst>
                <a:tab pos="749300" algn="l"/>
              </a:tabLst>
            </a:pPr>
            <a:r>
              <a:rPr lang="en-GB" sz="2200" spc="-6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Tabindex</a:t>
            </a:r>
            <a:r>
              <a:rPr lang="en-GB" sz="22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=“1”</a:t>
            </a:r>
            <a:r>
              <a:rPr lang="en-GB" sz="2200" spc="-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for</a:t>
            </a:r>
            <a:r>
              <a:rPr lang="en-GB" sz="2200" spc="-1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selecting</a:t>
            </a:r>
            <a:r>
              <a:rPr lang="en-GB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form</a:t>
            </a:r>
            <a:r>
              <a:rPr lang="en-GB" sz="220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4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elements</a:t>
            </a:r>
            <a:r>
              <a:rPr lang="en-GB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when</a:t>
            </a:r>
            <a:r>
              <a:rPr lang="en-GB" sz="2200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z="2200" spc="-9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tab</a:t>
            </a:r>
            <a:r>
              <a:rPr lang="en-GB" sz="2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button</a:t>
            </a:r>
            <a:r>
              <a:rPr lang="en-GB" sz="220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is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pressed.</a:t>
            </a:r>
            <a:endParaRPr lang="en-GB" sz="220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812800" lvl="1" indent="-342900">
              <a:lnSpc>
                <a:spcPct val="150000"/>
              </a:lnSpc>
              <a:spcBef>
                <a:spcPts val="1605"/>
              </a:spcBef>
              <a:tabLst>
                <a:tab pos="755015" algn="l"/>
              </a:tabLst>
            </a:pP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checked=“checked”</a:t>
            </a:r>
            <a:r>
              <a:rPr lang="en-GB" sz="2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for</a:t>
            </a:r>
            <a:r>
              <a:rPr lang="en-GB" sz="2200" spc="-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preselecting</a:t>
            </a:r>
            <a:r>
              <a:rPr lang="en-GB" sz="2200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radio</a:t>
            </a:r>
            <a:r>
              <a:rPr lang="en-GB" sz="2200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</a:t>
            </a:r>
            <a:r>
              <a:rPr lang="en-GB" sz="2200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check</a:t>
            </a:r>
            <a:r>
              <a:rPr lang="en-GB" sz="2200" spc="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boxes.</a:t>
            </a:r>
            <a:endParaRPr lang="en-GB" sz="220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249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B469-D546-D06C-B38C-8873D9C27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85B0DF-684D-AB2C-D894-C2F7880F4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Other controls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6C5570-3835-9A03-4E14-5D0160620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3"/>
            <a:ext cx="10951029" cy="4831151"/>
          </a:xfrm>
        </p:spPr>
        <p:txBody>
          <a:bodyPr>
            <a:noAutofit/>
          </a:bodyPr>
          <a:lstStyle/>
          <a:p>
            <a:pPr marL="12700" indent="0">
              <a:lnSpc>
                <a:spcPct val="150000"/>
              </a:lnSpc>
              <a:spcBef>
                <a:spcPts val="1210"/>
              </a:spcBef>
              <a:buNone/>
              <a:tabLst>
                <a:tab pos="354965" algn="l"/>
              </a:tabLst>
            </a:pPr>
            <a:r>
              <a:rPr lang="en-GB" sz="2400" spc="-4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Other</a:t>
            </a:r>
            <a:r>
              <a:rPr lang="en-GB" sz="2400" spc="-1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attributes</a:t>
            </a:r>
            <a:r>
              <a:rPr lang="en-GB" sz="2400" spc="-1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that</a:t>
            </a:r>
            <a:r>
              <a:rPr lang="en-GB" sz="24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form</a:t>
            </a:r>
            <a:r>
              <a:rPr lang="en-GB" sz="2400" spc="-9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elements</a:t>
            </a:r>
            <a:r>
              <a:rPr lang="en-GB" sz="2400" spc="-1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can</a:t>
            </a:r>
            <a:r>
              <a:rPr lang="en-GB" sz="2400" spc="7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have;</a:t>
            </a:r>
            <a:endParaRPr lang="en-GB" sz="240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812800" marR="13970" lvl="1" indent="-342900">
              <a:lnSpc>
                <a:spcPct val="150000"/>
              </a:lnSpc>
              <a:spcBef>
                <a:spcPts val="235"/>
              </a:spcBef>
              <a:tabLst>
                <a:tab pos="749300" algn="l"/>
              </a:tabLst>
            </a:pPr>
            <a:r>
              <a:rPr lang="en-GB" sz="2200" spc="-3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Maxlength</a:t>
            </a:r>
            <a:r>
              <a:rPr lang="en-GB" sz="220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=“11”</a:t>
            </a:r>
            <a:r>
              <a:rPr lang="en-GB" sz="2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this</a:t>
            </a:r>
            <a:r>
              <a:rPr lang="en-GB" sz="2200" spc="-10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restricts</a:t>
            </a:r>
            <a:r>
              <a:rPr lang="en-GB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amount</a:t>
            </a:r>
            <a:r>
              <a:rPr lang="en-GB" sz="2200" spc="-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of</a:t>
            </a:r>
            <a:r>
              <a:rPr lang="en-GB" sz="2200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characters</a:t>
            </a:r>
            <a:r>
              <a:rPr lang="en-GB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that</a:t>
            </a:r>
            <a:r>
              <a:rPr lang="en-GB" sz="2200" spc="-6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can</a:t>
            </a:r>
            <a:r>
              <a:rPr lang="en-GB" sz="2200" spc="-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be </a:t>
            </a:r>
            <a:r>
              <a:rPr lang="en-GB" sz="2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entered</a:t>
            </a:r>
            <a:r>
              <a:rPr lang="en-GB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into</a:t>
            </a:r>
            <a:r>
              <a:rPr lang="en-GB" sz="2200" spc="-1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</a:t>
            </a:r>
            <a:r>
              <a:rPr lang="en-GB" sz="2200" spc="-1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text</a:t>
            </a:r>
            <a:r>
              <a:rPr lang="en-GB" sz="22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box.</a:t>
            </a:r>
            <a:endParaRPr lang="en-GB" sz="220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812800" marR="5080" lvl="1" indent="-342900">
              <a:lnSpc>
                <a:spcPct val="150000"/>
              </a:lnSpc>
              <a:spcBef>
                <a:spcPts val="600"/>
              </a:spcBef>
              <a:tabLst>
                <a:tab pos="749300" algn="l"/>
              </a:tabLst>
            </a:pP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Id=“</a:t>
            </a:r>
            <a:r>
              <a:rPr lang="en-GB" sz="220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someid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”</a:t>
            </a:r>
            <a:r>
              <a:rPr lang="en-GB" sz="2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id,</a:t>
            </a:r>
            <a:r>
              <a:rPr lang="en-GB" sz="2200" spc="-6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5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again</a:t>
            </a:r>
            <a:r>
              <a:rPr lang="en-GB" sz="2200" spc="-1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can</a:t>
            </a:r>
            <a:r>
              <a:rPr lang="en-GB" sz="2200" spc="-7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be</a:t>
            </a:r>
            <a:r>
              <a:rPr lang="en-GB" sz="2200" spc="-7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accessed</a:t>
            </a:r>
            <a:r>
              <a:rPr lang="en-GB" sz="2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by</a:t>
            </a:r>
            <a:r>
              <a:rPr lang="en-GB" sz="220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JavaScript</a:t>
            </a:r>
            <a:r>
              <a:rPr lang="en-GB" sz="2200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</a:t>
            </a:r>
            <a:r>
              <a:rPr lang="en-GB" sz="2200" spc="-9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CSS</a:t>
            </a:r>
            <a:r>
              <a:rPr lang="en-GB" sz="2200" spc="-1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for </a:t>
            </a:r>
            <a:r>
              <a:rPr lang="en-GB" sz="2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styling</a:t>
            </a:r>
            <a:r>
              <a:rPr lang="en-GB" sz="22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5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individual</a:t>
            </a:r>
            <a:r>
              <a:rPr lang="en-GB" sz="2200" spc="-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form</a:t>
            </a:r>
            <a:r>
              <a:rPr lang="en-GB" sz="22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elements.</a:t>
            </a:r>
            <a:endParaRPr lang="en-GB" sz="220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812800" marR="277495" lvl="1" indent="-342900">
              <a:lnSpc>
                <a:spcPct val="150000"/>
              </a:lnSpc>
              <a:spcBef>
                <a:spcPts val="505"/>
              </a:spcBef>
              <a:tabLst>
                <a:tab pos="749300" algn="l"/>
              </a:tabLst>
            </a:pPr>
            <a:r>
              <a:rPr lang="en-GB" sz="2200" spc="-6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Tabindex</a:t>
            </a:r>
            <a:r>
              <a:rPr lang="en-GB" sz="22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=“1”</a:t>
            </a:r>
            <a:r>
              <a:rPr lang="en-GB" sz="2200" spc="-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for</a:t>
            </a:r>
            <a:r>
              <a:rPr lang="en-GB" sz="2200" spc="-13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selecting</a:t>
            </a:r>
            <a:r>
              <a:rPr lang="en-GB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form</a:t>
            </a:r>
            <a:r>
              <a:rPr lang="en-GB" sz="2200" spc="-7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4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elements</a:t>
            </a:r>
            <a:r>
              <a:rPr lang="en-GB" sz="22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3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when</a:t>
            </a:r>
            <a:r>
              <a:rPr lang="en-GB" sz="2200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</a:t>
            </a:r>
            <a:r>
              <a:rPr lang="en-GB" sz="2200" spc="-9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tab</a:t>
            </a:r>
            <a:r>
              <a:rPr lang="en-GB" sz="2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button</a:t>
            </a:r>
            <a:r>
              <a:rPr lang="en-GB" sz="220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is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pressed.</a:t>
            </a:r>
            <a:endParaRPr lang="en-GB" sz="220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812800" lvl="1" indent="-342900">
              <a:lnSpc>
                <a:spcPct val="150000"/>
              </a:lnSpc>
              <a:spcBef>
                <a:spcPts val="1605"/>
              </a:spcBef>
              <a:tabLst>
                <a:tab pos="755015" algn="l"/>
              </a:tabLst>
            </a:pP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checked=“checked”</a:t>
            </a:r>
            <a:r>
              <a:rPr lang="en-GB" sz="220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for</a:t>
            </a:r>
            <a:r>
              <a:rPr lang="en-GB" sz="2200" spc="-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preselecting</a:t>
            </a:r>
            <a:r>
              <a:rPr lang="en-GB" sz="2200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radio</a:t>
            </a:r>
            <a:r>
              <a:rPr lang="en-GB" sz="2200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2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</a:t>
            </a:r>
            <a:r>
              <a:rPr lang="en-GB" sz="2200" spc="-9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check</a:t>
            </a:r>
            <a:r>
              <a:rPr lang="en-GB" sz="2200" spc="85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20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boxes.</a:t>
            </a:r>
            <a:endParaRPr lang="en-GB" sz="220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098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5915" y="41079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Forms</a:t>
            </a:r>
            <a:r>
              <a:rPr spc="-170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 </a:t>
            </a:r>
            <a:r>
              <a:rPr lang="en-GB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with CSS</a:t>
            </a:r>
            <a:endParaRPr spc="-45" dirty="0">
              <a:solidFill>
                <a:schemeClr val="accent6"/>
              </a:solidFill>
              <a:latin typeface="American Typewriter" panose="02090604020004020304" pitchFamily="18" charset="77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55915" y="1483859"/>
            <a:ext cx="3376929" cy="2233930"/>
            <a:chOff x="204788" y="1919288"/>
            <a:chExt cx="3376929" cy="22339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312" y="1928825"/>
              <a:ext cx="3357561" cy="20140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9550" y="1924050"/>
              <a:ext cx="3367404" cy="2224405"/>
            </a:xfrm>
            <a:custGeom>
              <a:avLst/>
              <a:gdLst/>
              <a:ahLst/>
              <a:cxnLst/>
              <a:rect l="l" t="t" r="r" b="b"/>
              <a:pathLst>
                <a:path w="3367404" h="2224404">
                  <a:moveTo>
                    <a:pt x="0" y="0"/>
                  </a:moveTo>
                  <a:lnTo>
                    <a:pt x="3367080" y="0"/>
                  </a:lnTo>
                  <a:lnTo>
                    <a:pt x="3367080" y="2224081"/>
                  </a:lnTo>
                  <a:lnTo>
                    <a:pt x="0" y="222408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83A0F4A-096C-AB55-0556-8025747EF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461" y="1242876"/>
            <a:ext cx="5626100" cy="4940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DCF72-C50F-7176-48B3-37B41A31C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E91DD7-D058-322E-49CB-07C19B6B8C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2470" y="40755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80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The </a:t>
            </a:r>
            <a:r>
              <a:rPr lang="en-GB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CSS</a:t>
            </a:r>
            <a:endParaRPr spc="-45" dirty="0">
              <a:solidFill>
                <a:schemeClr val="accent6"/>
              </a:solidFill>
              <a:latin typeface="American Typewriter" panose="02090604020004020304" pitchFamily="18" charset="77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9550A4A-74D1-835C-C238-C1D06A0B72FA}"/>
              </a:ext>
            </a:extLst>
          </p:cNvPr>
          <p:cNvGrpSpPr/>
          <p:nvPr/>
        </p:nvGrpSpPr>
        <p:grpSpPr>
          <a:xfrm>
            <a:off x="657708" y="1541657"/>
            <a:ext cx="3376929" cy="2233930"/>
            <a:chOff x="204788" y="1919288"/>
            <a:chExt cx="3376929" cy="223393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2465919-8E6A-64C0-A850-031702B5F10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312" y="1928825"/>
              <a:ext cx="3357561" cy="2014093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A3184A7-BC2F-A2F4-B6A0-38A21BF3BA00}"/>
                </a:ext>
              </a:extLst>
            </p:cNvPr>
            <p:cNvSpPr/>
            <p:nvPr/>
          </p:nvSpPr>
          <p:spPr>
            <a:xfrm>
              <a:off x="209550" y="1924050"/>
              <a:ext cx="3367404" cy="2224405"/>
            </a:xfrm>
            <a:custGeom>
              <a:avLst/>
              <a:gdLst/>
              <a:ahLst/>
              <a:cxnLst/>
              <a:rect l="l" t="t" r="r" b="b"/>
              <a:pathLst>
                <a:path w="3367404" h="2224404">
                  <a:moveTo>
                    <a:pt x="0" y="0"/>
                  </a:moveTo>
                  <a:lnTo>
                    <a:pt x="3367080" y="0"/>
                  </a:lnTo>
                  <a:lnTo>
                    <a:pt x="3367080" y="2224081"/>
                  </a:lnTo>
                  <a:lnTo>
                    <a:pt x="0" y="222408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2F14789-CF5F-8296-9BF1-767EB2E75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576" y="578429"/>
            <a:ext cx="7295917" cy="587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63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5915"/>
            <a:ext cx="12192000" cy="4397828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n-GB" spc="7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  <a:hlinkClick r:id="rId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4800" b="1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Look at these tutorials</a:t>
            </a:r>
            <a:endParaRPr lang="en-GB" sz="4800" b="1" spc="70" dirty="0">
              <a:solidFill>
                <a:srgbClr val="0563C1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https://www.w3schools.com/html/html_forms.asp</a:t>
            </a:r>
            <a:endParaRPr lang="en-GB" spc="7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https://www.w3schools.com/css/css_form.asp</a:t>
            </a:r>
            <a:endParaRPr lang="en-GB" spc="7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GB" spc="7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276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195DA0-807E-2D8B-89D2-9C2B7BA2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F8DF25-F8E6-59C7-2326-B1DCDC75B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247136"/>
            <a:ext cx="12192000" cy="5152767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400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13628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0313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15165</TotalTime>
  <Words>788</Words>
  <Application>Microsoft Macintosh PowerPoint</Application>
  <PresentationFormat>Widescreen</PresentationFormat>
  <Paragraphs>94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American Typewriter</vt:lpstr>
      <vt:lpstr>Arial</vt:lpstr>
      <vt:lpstr>Calibri</vt:lpstr>
      <vt:lpstr>Calibri Light</vt:lpstr>
      <vt:lpstr>Courier New</vt:lpstr>
      <vt:lpstr>Helvetica Neue Light</vt:lpstr>
      <vt:lpstr>Helvetica Neue Thin</vt:lpstr>
      <vt:lpstr>Times New Roman</vt:lpstr>
      <vt:lpstr>Office Theme</vt:lpstr>
      <vt:lpstr>1_Office Theme</vt:lpstr>
      <vt:lpstr>COMP 1589</vt:lpstr>
      <vt:lpstr>PowerPoint Presentation</vt:lpstr>
      <vt:lpstr>HTML Forms</vt:lpstr>
      <vt:lpstr>Creating the form</vt:lpstr>
      <vt:lpstr>Input element</vt:lpstr>
      <vt:lpstr>Text Area</vt:lpstr>
      <vt:lpstr>Buttons</vt:lpstr>
      <vt:lpstr>Basic form code</vt:lpstr>
      <vt:lpstr>Quick list of most common controls</vt:lpstr>
      <vt:lpstr>Common controls as they appear</vt:lpstr>
      <vt:lpstr>Other controls</vt:lpstr>
      <vt:lpstr>Other controls</vt:lpstr>
      <vt:lpstr>Forms with CSS</vt:lpstr>
      <vt:lpstr>The CSS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 1321</dc:title>
  <dc:creator>Matthew Prichard</dc:creator>
  <cp:lastModifiedBy>Matthew Prichard</cp:lastModifiedBy>
  <cp:revision>149</cp:revision>
  <dcterms:created xsi:type="dcterms:W3CDTF">2020-06-28T01:46:05Z</dcterms:created>
  <dcterms:modified xsi:type="dcterms:W3CDTF">2025-02-09T16:56:13Z</dcterms:modified>
</cp:coreProperties>
</file>