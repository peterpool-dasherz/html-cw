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256" r:id="rId3"/>
    <p:sldId id="289" r:id="rId4"/>
    <p:sldId id="290" r:id="rId5"/>
    <p:sldId id="258" r:id="rId6"/>
    <p:sldId id="291" r:id="rId7"/>
    <p:sldId id="292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2" r:id="rId17"/>
    <p:sldId id="273" r:id="rId18"/>
    <p:sldId id="274" r:id="rId19"/>
    <p:sldId id="293" r:id="rId20"/>
    <p:sldId id="304" r:id="rId21"/>
    <p:sldId id="276" r:id="rId22"/>
    <p:sldId id="294" r:id="rId23"/>
    <p:sldId id="295" r:id="rId24"/>
    <p:sldId id="296" r:id="rId25"/>
    <p:sldId id="270" r:id="rId26"/>
    <p:sldId id="300" r:id="rId27"/>
    <p:sldId id="301" r:id="rId28"/>
    <p:sldId id="302" r:id="rId29"/>
    <p:sldId id="303" r:id="rId3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/>
    <p:restoredTop sz="94658"/>
  </p:normalViewPr>
  <p:slideViewPr>
    <p:cSldViewPr>
      <p:cViewPr varScale="1">
        <p:scale>
          <a:sx n="160" d="100"/>
          <a:sy n="160" d="100"/>
        </p:scale>
        <p:origin x="552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 u="heavy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1" i="0" u="heavy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1/10/25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3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25198" y="415650"/>
            <a:ext cx="183515" cy="0"/>
          </a:xfrm>
          <a:custGeom>
            <a:avLst/>
            <a:gdLst/>
            <a:ahLst/>
            <a:cxnLst/>
            <a:rect l="l" t="t" r="r" b="b"/>
            <a:pathLst>
              <a:path w="183515">
                <a:moveTo>
                  <a:pt x="0" y="0"/>
                </a:moveTo>
                <a:lnTo>
                  <a:pt x="1832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1/10/25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1796" y="4736048"/>
            <a:ext cx="1069515" cy="33689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1/10/25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13328" y="689991"/>
            <a:ext cx="7717345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13726" y="2617850"/>
            <a:ext cx="5516549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9A9A99"/>
                </a:solidFill>
                <a:latin typeface="Trebuchet MS"/>
                <a:cs typeface="Trebuchet MS"/>
              </a:defRPr>
            </a:lvl1pPr>
          </a:lstStyle>
          <a:p>
            <a:pPr marL="9525">
              <a:spcBef>
                <a:spcPts val="23"/>
              </a:spcBef>
            </a:pPr>
            <a:r>
              <a:rPr lang="en-GB" spc="4"/>
              <a:t>MEDS1119</a:t>
            </a:r>
            <a:r>
              <a:rPr lang="en-GB" spc="-98"/>
              <a:t> </a:t>
            </a:r>
            <a:r>
              <a:rPr lang="en-GB" spc="139"/>
              <a:t>–</a:t>
            </a:r>
            <a:r>
              <a:rPr lang="en-GB" spc="-94"/>
              <a:t> </a:t>
            </a:r>
            <a:r>
              <a:rPr lang="en-GB" spc="-11"/>
              <a:t>Media</a:t>
            </a:r>
            <a:r>
              <a:rPr lang="en-GB" spc="-94"/>
              <a:t> </a:t>
            </a:r>
            <a:r>
              <a:rPr lang="en-GB" spc="-41"/>
              <a:t>Relations</a:t>
            </a:r>
            <a:r>
              <a:rPr lang="en-GB" spc="-101"/>
              <a:t> </a:t>
            </a:r>
            <a:r>
              <a:rPr lang="en-GB" spc="-11"/>
              <a:t>and</a:t>
            </a:r>
            <a:r>
              <a:rPr lang="en-GB" spc="-94"/>
              <a:t> </a:t>
            </a:r>
            <a:r>
              <a:rPr lang="en-GB" spc="-38"/>
              <a:t>Social</a:t>
            </a:r>
            <a:r>
              <a:rPr lang="en-GB" spc="-98"/>
              <a:t> </a:t>
            </a:r>
            <a:r>
              <a:rPr lang="en-GB" spc="-11"/>
              <a:t>Media</a:t>
            </a:r>
            <a:endParaRPr lang="en-GB" spc="-11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4095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8433" y="886586"/>
            <a:ext cx="7211059" cy="830997"/>
          </a:xfrm>
        </p:spPr>
        <p:txBody>
          <a:bodyPr lIns="0" tIns="0" rIns="0" bIns="0"/>
          <a:lstStyle>
            <a:lvl1pPr>
              <a:defRPr sz="5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18462" y="1723263"/>
            <a:ext cx="5984240" cy="623248"/>
          </a:xfrm>
        </p:spPr>
        <p:txBody>
          <a:bodyPr lIns="0" tIns="0" rIns="0" bIns="0"/>
          <a:lstStyle>
            <a:lvl1pPr>
              <a:defRPr sz="40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9A9A99"/>
                </a:solidFill>
                <a:latin typeface="Trebuchet MS"/>
                <a:cs typeface="Trebuchet MS"/>
              </a:defRPr>
            </a:lvl1pPr>
          </a:lstStyle>
          <a:p>
            <a:pPr marL="9525">
              <a:spcBef>
                <a:spcPts val="23"/>
              </a:spcBef>
            </a:pPr>
            <a:r>
              <a:rPr lang="en-GB" spc="4"/>
              <a:t>MEDS1119</a:t>
            </a:r>
            <a:r>
              <a:rPr lang="en-GB" spc="-98"/>
              <a:t> </a:t>
            </a:r>
            <a:r>
              <a:rPr lang="en-GB" spc="139"/>
              <a:t>–</a:t>
            </a:r>
            <a:r>
              <a:rPr lang="en-GB" spc="-94"/>
              <a:t> </a:t>
            </a:r>
            <a:r>
              <a:rPr lang="en-GB" spc="-11"/>
              <a:t>Media</a:t>
            </a:r>
            <a:r>
              <a:rPr lang="en-GB" spc="-94"/>
              <a:t> </a:t>
            </a:r>
            <a:r>
              <a:rPr lang="en-GB" spc="-41"/>
              <a:t>Relations</a:t>
            </a:r>
            <a:r>
              <a:rPr lang="en-GB" spc="-101"/>
              <a:t> </a:t>
            </a:r>
            <a:r>
              <a:rPr lang="en-GB" spc="-11"/>
              <a:t>and</a:t>
            </a:r>
            <a:r>
              <a:rPr lang="en-GB" spc="-94"/>
              <a:t> </a:t>
            </a:r>
            <a:r>
              <a:rPr lang="en-GB" spc="-38"/>
              <a:t>Social</a:t>
            </a:r>
            <a:r>
              <a:rPr lang="en-GB" spc="-98"/>
              <a:t> </a:t>
            </a:r>
            <a:r>
              <a:rPr lang="en-GB" spc="-11"/>
              <a:t>Media</a:t>
            </a:r>
            <a:endParaRPr lang="en-GB" spc="-11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6353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8433" y="886586"/>
            <a:ext cx="7211059" cy="830997"/>
          </a:xfrm>
        </p:spPr>
        <p:txBody>
          <a:bodyPr lIns="0" tIns="0" rIns="0" bIns="0"/>
          <a:lstStyle>
            <a:lvl1pPr>
              <a:defRPr sz="5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9A9A99"/>
                </a:solidFill>
                <a:latin typeface="Trebuchet MS"/>
                <a:cs typeface="Trebuchet MS"/>
              </a:defRPr>
            </a:lvl1pPr>
          </a:lstStyle>
          <a:p>
            <a:pPr marL="9525">
              <a:spcBef>
                <a:spcPts val="23"/>
              </a:spcBef>
            </a:pPr>
            <a:r>
              <a:rPr lang="en-GB" spc="4"/>
              <a:t>MEDS1119</a:t>
            </a:r>
            <a:r>
              <a:rPr lang="en-GB" spc="-98"/>
              <a:t> </a:t>
            </a:r>
            <a:r>
              <a:rPr lang="en-GB" spc="139"/>
              <a:t>–</a:t>
            </a:r>
            <a:r>
              <a:rPr lang="en-GB" spc="-94"/>
              <a:t> </a:t>
            </a:r>
            <a:r>
              <a:rPr lang="en-GB" spc="-11"/>
              <a:t>Media</a:t>
            </a:r>
            <a:r>
              <a:rPr lang="en-GB" spc="-94"/>
              <a:t> </a:t>
            </a:r>
            <a:r>
              <a:rPr lang="en-GB" spc="-41"/>
              <a:t>Relations</a:t>
            </a:r>
            <a:r>
              <a:rPr lang="en-GB" spc="-101"/>
              <a:t> </a:t>
            </a:r>
            <a:r>
              <a:rPr lang="en-GB" spc="-11"/>
              <a:t>and</a:t>
            </a:r>
            <a:r>
              <a:rPr lang="en-GB" spc="-94"/>
              <a:t> </a:t>
            </a:r>
            <a:r>
              <a:rPr lang="en-GB" spc="-38"/>
              <a:t>Social</a:t>
            </a:r>
            <a:r>
              <a:rPr lang="en-GB" spc="-98"/>
              <a:t> </a:t>
            </a:r>
            <a:r>
              <a:rPr lang="en-GB" spc="-11"/>
              <a:t>Media</a:t>
            </a:r>
            <a:endParaRPr lang="en-GB" spc="-11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1/10/25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97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8433" y="886586"/>
            <a:ext cx="7211059" cy="830997"/>
          </a:xfrm>
        </p:spPr>
        <p:txBody>
          <a:bodyPr lIns="0" tIns="0" rIns="0" bIns="0"/>
          <a:lstStyle>
            <a:lvl1pPr>
              <a:defRPr sz="5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9A9A99"/>
                </a:solidFill>
                <a:latin typeface="Trebuchet MS"/>
                <a:cs typeface="Trebuchet MS"/>
              </a:defRPr>
            </a:lvl1pPr>
          </a:lstStyle>
          <a:p>
            <a:pPr marL="9525">
              <a:spcBef>
                <a:spcPts val="23"/>
              </a:spcBef>
            </a:pPr>
            <a:r>
              <a:rPr lang="en-GB" spc="4"/>
              <a:t>MEDS1119</a:t>
            </a:r>
            <a:r>
              <a:rPr lang="en-GB" spc="-98"/>
              <a:t> </a:t>
            </a:r>
            <a:r>
              <a:rPr lang="en-GB" spc="139"/>
              <a:t>–</a:t>
            </a:r>
            <a:r>
              <a:rPr lang="en-GB" spc="-94"/>
              <a:t> </a:t>
            </a:r>
            <a:r>
              <a:rPr lang="en-GB" spc="-11"/>
              <a:t>Media</a:t>
            </a:r>
            <a:r>
              <a:rPr lang="en-GB" spc="-94"/>
              <a:t> </a:t>
            </a:r>
            <a:r>
              <a:rPr lang="en-GB" spc="-41"/>
              <a:t>Relations</a:t>
            </a:r>
            <a:r>
              <a:rPr lang="en-GB" spc="-101"/>
              <a:t> </a:t>
            </a:r>
            <a:r>
              <a:rPr lang="en-GB" spc="-11"/>
              <a:t>and</a:t>
            </a:r>
            <a:r>
              <a:rPr lang="en-GB" spc="-94"/>
              <a:t> </a:t>
            </a:r>
            <a:r>
              <a:rPr lang="en-GB" spc="-38"/>
              <a:t>Social</a:t>
            </a:r>
            <a:r>
              <a:rPr lang="en-GB" spc="-98"/>
              <a:t> </a:t>
            </a:r>
            <a:r>
              <a:rPr lang="en-GB" spc="-11"/>
              <a:t>Media</a:t>
            </a:r>
            <a:endParaRPr lang="en-GB" spc="-11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1/10/25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3173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9A9A99"/>
                </a:solidFill>
                <a:latin typeface="Trebuchet MS"/>
                <a:cs typeface="Trebuchet MS"/>
              </a:defRPr>
            </a:lvl1pPr>
          </a:lstStyle>
          <a:p>
            <a:pPr marL="9525">
              <a:spcBef>
                <a:spcPts val="23"/>
              </a:spcBef>
            </a:pPr>
            <a:r>
              <a:rPr lang="en-GB" spc="4"/>
              <a:t>MEDS1119</a:t>
            </a:r>
            <a:r>
              <a:rPr lang="en-GB" spc="-98"/>
              <a:t> </a:t>
            </a:r>
            <a:r>
              <a:rPr lang="en-GB" spc="139"/>
              <a:t>–</a:t>
            </a:r>
            <a:r>
              <a:rPr lang="en-GB" spc="-94"/>
              <a:t> </a:t>
            </a:r>
            <a:r>
              <a:rPr lang="en-GB" spc="-11"/>
              <a:t>Media</a:t>
            </a:r>
            <a:r>
              <a:rPr lang="en-GB" spc="-94"/>
              <a:t> </a:t>
            </a:r>
            <a:r>
              <a:rPr lang="en-GB" spc="-41"/>
              <a:t>Relations</a:t>
            </a:r>
            <a:r>
              <a:rPr lang="en-GB" spc="-101"/>
              <a:t> </a:t>
            </a:r>
            <a:r>
              <a:rPr lang="en-GB" spc="-11"/>
              <a:t>and</a:t>
            </a:r>
            <a:r>
              <a:rPr lang="en-GB" spc="-94"/>
              <a:t> </a:t>
            </a:r>
            <a:r>
              <a:rPr lang="en-GB" spc="-38"/>
              <a:t>Social</a:t>
            </a:r>
            <a:r>
              <a:rPr lang="en-GB" spc="-98"/>
              <a:t> </a:t>
            </a:r>
            <a:r>
              <a:rPr lang="en-GB" spc="-11"/>
              <a:t>Media</a:t>
            </a:r>
            <a:endParaRPr lang="en-GB" spc="-11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1/10/25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6393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6123" y="760791"/>
            <a:ext cx="5488305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44750" y="1371905"/>
            <a:ext cx="6045834" cy="3225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 u="heavy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8433" y="886586"/>
            <a:ext cx="7211059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18462" y="1723263"/>
            <a:ext cx="5984240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07341" y="4821860"/>
            <a:ext cx="3451225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9A9A99"/>
                </a:solidFill>
                <a:latin typeface="Trebuchet MS"/>
                <a:cs typeface="Trebuchet MS"/>
              </a:defRPr>
            </a:lvl1pPr>
          </a:lstStyle>
          <a:p>
            <a:pPr marL="9525">
              <a:spcBef>
                <a:spcPts val="23"/>
              </a:spcBef>
            </a:pPr>
            <a:r>
              <a:rPr lang="en-GB" spc="4"/>
              <a:t>MEDS1119</a:t>
            </a:r>
            <a:r>
              <a:rPr lang="en-GB" spc="-98"/>
              <a:t> </a:t>
            </a:r>
            <a:r>
              <a:rPr lang="en-GB" spc="139"/>
              <a:t>–</a:t>
            </a:r>
            <a:r>
              <a:rPr lang="en-GB" spc="-94"/>
              <a:t> </a:t>
            </a:r>
            <a:r>
              <a:rPr lang="en-GB" spc="-11"/>
              <a:t>Media</a:t>
            </a:r>
            <a:r>
              <a:rPr lang="en-GB" spc="-94"/>
              <a:t> </a:t>
            </a:r>
            <a:r>
              <a:rPr lang="en-GB" spc="-41"/>
              <a:t>Relations</a:t>
            </a:r>
            <a:r>
              <a:rPr lang="en-GB" spc="-101"/>
              <a:t> </a:t>
            </a:r>
            <a:r>
              <a:rPr lang="en-GB" spc="-11"/>
              <a:t>and</a:t>
            </a:r>
            <a:r>
              <a:rPr lang="en-GB" spc="-94"/>
              <a:t> </a:t>
            </a:r>
            <a:r>
              <a:rPr lang="en-GB" spc="-38"/>
              <a:t>Social</a:t>
            </a:r>
            <a:r>
              <a:rPr lang="en-GB" spc="-98"/>
              <a:t> </a:t>
            </a:r>
            <a:r>
              <a:rPr lang="en-GB" spc="-11"/>
              <a:t>Media</a:t>
            </a:r>
            <a:endParaRPr lang="en-GB" spc="-11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554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devdevout.com/html/how-many-html-tags-are-ther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HTML5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tags/tag_doctype.asp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Semantics" TargetMode="Externa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pexels.com/photo/photo-of-computers-near-window-3747486/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33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3325" y="1535200"/>
            <a:ext cx="5677349" cy="20730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255488"/>
            <a:ext cx="39522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033D"/>
                </a:solidFill>
              </a:rPr>
              <a:t>How</a:t>
            </a:r>
            <a:r>
              <a:rPr sz="2800" spc="-145" dirty="0">
                <a:solidFill>
                  <a:srgbClr val="00033D"/>
                </a:solidFill>
              </a:rPr>
              <a:t> </a:t>
            </a:r>
            <a:r>
              <a:rPr sz="2800" spc="50" dirty="0">
                <a:solidFill>
                  <a:srgbClr val="00033D"/>
                </a:solidFill>
              </a:rPr>
              <a:t>to</a:t>
            </a:r>
            <a:r>
              <a:rPr sz="2800" spc="-65" dirty="0">
                <a:solidFill>
                  <a:srgbClr val="00033D"/>
                </a:solidFill>
              </a:rPr>
              <a:t> </a:t>
            </a:r>
            <a:r>
              <a:rPr sz="2800" spc="50" dirty="0">
                <a:solidFill>
                  <a:srgbClr val="00033D"/>
                </a:solidFill>
              </a:rPr>
              <a:t>make</a:t>
            </a:r>
            <a:r>
              <a:rPr sz="2800" spc="-65" dirty="0">
                <a:solidFill>
                  <a:srgbClr val="00033D"/>
                </a:solidFill>
              </a:rPr>
              <a:t> </a:t>
            </a:r>
            <a:r>
              <a:rPr sz="2800" dirty="0">
                <a:solidFill>
                  <a:srgbClr val="00033D"/>
                </a:solidFill>
              </a:rPr>
              <a:t>a</a:t>
            </a:r>
            <a:r>
              <a:rPr sz="2800" spc="-145" dirty="0">
                <a:solidFill>
                  <a:srgbClr val="00033D"/>
                </a:solidFill>
              </a:rPr>
              <a:t> </a:t>
            </a:r>
            <a:r>
              <a:rPr sz="2800" spc="-10" dirty="0">
                <a:solidFill>
                  <a:srgbClr val="00033D"/>
                </a:solidFill>
              </a:rPr>
              <a:t>website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39924" y="890742"/>
            <a:ext cx="4210685" cy="402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78155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Arial"/>
                <a:cs typeface="Arial"/>
              </a:rPr>
              <a:t>Websites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mixture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many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technologies </a:t>
            </a:r>
            <a:r>
              <a:rPr sz="1500" dirty="0">
                <a:latin typeface="Arial"/>
                <a:cs typeface="Arial"/>
              </a:rPr>
              <a:t>working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together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provide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our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online experiences.</a:t>
            </a:r>
            <a:endParaRPr sz="1500">
              <a:latin typeface="Arial"/>
              <a:cs typeface="Arial"/>
            </a:endParaRPr>
          </a:p>
          <a:p>
            <a:pPr marL="12700" marR="119380">
              <a:lnSpc>
                <a:spcPct val="100000"/>
              </a:lnSpc>
              <a:spcBef>
                <a:spcPts val="1575"/>
              </a:spcBef>
            </a:pPr>
            <a:r>
              <a:rPr sz="1500" dirty="0">
                <a:latin typeface="Arial"/>
                <a:cs typeface="Arial"/>
              </a:rPr>
              <a:t>However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45" dirty="0">
                <a:latin typeface="Arial"/>
                <a:cs typeface="Arial"/>
              </a:rPr>
              <a:t>basic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building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blocks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relatively </a:t>
            </a:r>
            <a:r>
              <a:rPr sz="1500" dirty="0">
                <a:latin typeface="Arial"/>
                <a:cs typeface="Arial"/>
              </a:rPr>
              <a:t>straightforward.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spc="-110" dirty="0">
                <a:latin typeface="Arial"/>
                <a:cs typeface="Arial"/>
              </a:rPr>
              <a:t>To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get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started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building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website </a:t>
            </a:r>
            <a:r>
              <a:rPr sz="1500" dirty="0">
                <a:latin typeface="Arial"/>
                <a:cs typeface="Arial"/>
              </a:rPr>
              <a:t>we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simply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need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60" dirty="0">
                <a:latin typeface="Arial"/>
                <a:cs typeface="Arial"/>
              </a:rPr>
              <a:t>two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things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on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our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computer:</a:t>
            </a:r>
            <a:endParaRPr sz="1500">
              <a:latin typeface="Arial"/>
              <a:cs typeface="Arial"/>
            </a:endParaRPr>
          </a:p>
          <a:p>
            <a:pPr marL="469265" indent="-379095">
              <a:lnSpc>
                <a:spcPct val="100000"/>
              </a:lnSpc>
              <a:spcBef>
                <a:spcPts val="1575"/>
              </a:spcBef>
              <a:buAutoNum type="arabicPeriod"/>
              <a:tabLst>
                <a:tab pos="469265" algn="l"/>
              </a:tabLst>
            </a:pPr>
            <a:r>
              <a:rPr sz="1500" dirty="0">
                <a:latin typeface="Arial"/>
                <a:cs typeface="Arial"/>
              </a:rPr>
              <a:t>Web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Browser</a:t>
            </a:r>
            <a:endParaRPr sz="1500">
              <a:latin typeface="Arial"/>
              <a:cs typeface="Arial"/>
            </a:endParaRPr>
          </a:p>
          <a:p>
            <a:pPr marL="469265" indent="-37909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1500" spc="-45" dirty="0">
                <a:latin typeface="Arial"/>
                <a:cs typeface="Arial"/>
              </a:rPr>
              <a:t>Text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Editor</a:t>
            </a:r>
            <a:endParaRPr sz="15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1575"/>
              </a:spcBef>
            </a:pPr>
            <a:r>
              <a:rPr sz="1500" spc="65" dirty="0">
                <a:latin typeface="Arial"/>
                <a:cs typeface="Arial"/>
              </a:rPr>
              <a:t>With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these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tools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you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95" dirty="0">
                <a:latin typeface="Arial"/>
                <a:cs typeface="Arial"/>
              </a:rPr>
              <a:t>can</a:t>
            </a:r>
            <a:r>
              <a:rPr sz="1500" spc="-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create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HTML,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-265" dirty="0">
                <a:latin typeface="Arial"/>
                <a:cs typeface="Arial"/>
              </a:rPr>
              <a:t>CSS</a:t>
            </a:r>
            <a:r>
              <a:rPr sz="1500" spc="160" dirty="0">
                <a:latin typeface="Arial"/>
                <a:cs typeface="Arial"/>
              </a:rPr>
              <a:t> </a:t>
            </a:r>
            <a:r>
              <a:rPr sz="1500" spc="-60" dirty="0">
                <a:latin typeface="Arial"/>
                <a:cs typeface="Arial"/>
              </a:rPr>
              <a:t>and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JS </a:t>
            </a:r>
            <a:r>
              <a:rPr sz="1500" spc="-10" dirty="0">
                <a:latin typeface="Arial"/>
                <a:cs typeface="Arial"/>
              </a:rPr>
              <a:t>ﬁles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locally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60" dirty="0">
                <a:latin typeface="Arial"/>
                <a:cs typeface="Arial"/>
              </a:rPr>
              <a:t>and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run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website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locally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50" dirty="0">
                <a:latin typeface="Arial"/>
                <a:cs typeface="Arial"/>
              </a:rPr>
              <a:t>without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any </a:t>
            </a:r>
            <a:r>
              <a:rPr sz="1500" dirty="0">
                <a:latin typeface="Arial"/>
                <a:cs typeface="Arial"/>
              </a:rPr>
              <a:t>additional</a:t>
            </a:r>
            <a:r>
              <a:rPr sz="1500" spc="-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software.</a:t>
            </a:r>
            <a:endParaRPr sz="1500">
              <a:latin typeface="Arial"/>
              <a:cs typeface="Arial"/>
            </a:endParaRPr>
          </a:p>
          <a:p>
            <a:pPr marL="12700" marR="59055" algn="just">
              <a:lnSpc>
                <a:spcPct val="100000"/>
              </a:lnSpc>
              <a:spcBef>
                <a:spcPts val="1575"/>
              </a:spcBef>
            </a:pPr>
            <a:r>
              <a:rPr sz="1500" spc="40" dirty="0">
                <a:latin typeface="Arial"/>
                <a:cs typeface="Arial"/>
              </a:rPr>
              <a:t>If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you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want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55" dirty="0">
                <a:latin typeface="Arial"/>
                <a:cs typeface="Arial"/>
              </a:rPr>
              <a:t>to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65" dirty="0">
                <a:latin typeface="Arial"/>
                <a:cs typeface="Arial"/>
              </a:rPr>
              <a:t>have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more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complex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behaviour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using </a:t>
            </a:r>
            <a:r>
              <a:rPr sz="1500" spc="-50" dirty="0">
                <a:latin typeface="Arial"/>
                <a:cs typeface="Arial"/>
              </a:rPr>
              <a:t>databases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spc="-60" dirty="0">
                <a:latin typeface="Arial"/>
                <a:cs typeface="Arial"/>
              </a:rPr>
              <a:t>and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backend </a:t>
            </a:r>
            <a:r>
              <a:rPr sz="1500" spc="-20" dirty="0">
                <a:latin typeface="Arial"/>
                <a:cs typeface="Arial"/>
              </a:rPr>
              <a:t>components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then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you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30" dirty="0">
                <a:latin typeface="Arial"/>
                <a:cs typeface="Arial"/>
              </a:rPr>
              <a:t>will </a:t>
            </a:r>
            <a:r>
              <a:rPr sz="1500" spc="-35" dirty="0">
                <a:latin typeface="Arial"/>
                <a:cs typeface="Arial"/>
              </a:rPr>
              <a:t>need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more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tools,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but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not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many!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9150" y="1252350"/>
              <a:ext cx="3511700" cy="26387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355500"/>
            <a:ext cx="12185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35" dirty="0">
                <a:solidFill>
                  <a:srgbClr val="00033D"/>
                </a:solidFill>
              </a:rPr>
              <a:t>Editors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39924" y="990755"/>
            <a:ext cx="4282440" cy="3825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24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Arial"/>
                <a:cs typeface="Arial"/>
              </a:rPr>
              <a:t>One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core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tools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60" dirty="0">
                <a:latin typeface="Arial"/>
                <a:cs typeface="Arial"/>
              </a:rPr>
              <a:t>for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any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programming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the </a:t>
            </a:r>
            <a:r>
              <a:rPr sz="1500" dirty="0">
                <a:latin typeface="Arial"/>
                <a:cs typeface="Arial"/>
              </a:rPr>
              <a:t>editor.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There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variety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tools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60" dirty="0">
                <a:latin typeface="Arial"/>
                <a:cs typeface="Arial"/>
              </a:rPr>
              <a:t>for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developers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40" dirty="0">
                <a:latin typeface="Arial"/>
                <a:cs typeface="Arial"/>
              </a:rPr>
              <a:t>to </a:t>
            </a:r>
            <a:r>
              <a:rPr sz="1500" dirty="0">
                <a:latin typeface="Arial"/>
                <a:cs typeface="Arial"/>
              </a:rPr>
              <a:t>pick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from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when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90" dirty="0">
                <a:latin typeface="Arial"/>
                <a:cs typeface="Arial"/>
              </a:rPr>
              <a:t>it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comes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their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editor,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generally </a:t>
            </a:r>
            <a:r>
              <a:rPr sz="1500" dirty="0">
                <a:latin typeface="Arial"/>
                <a:cs typeface="Arial"/>
              </a:rPr>
              <a:t>we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split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these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into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below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categories:</a:t>
            </a:r>
            <a:endParaRPr sz="1500" dirty="0">
              <a:latin typeface="Arial"/>
              <a:cs typeface="Arial"/>
            </a:endParaRPr>
          </a:p>
          <a:p>
            <a:pPr marL="469265" indent="-343535">
              <a:lnSpc>
                <a:spcPct val="100000"/>
              </a:lnSpc>
              <a:spcBef>
                <a:spcPts val="1575"/>
              </a:spcBef>
              <a:buChar char="●"/>
              <a:tabLst>
                <a:tab pos="469265" algn="l"/>
              </a:tabLst>
            </a:pPr>
            <a:r>
              <a:rPr sz="1500" spc="-50" dirty="0">
                <a:latin typeface="Arial"/>
                <a:cs typeface="Arial"/>
              </a:rPr>
              <a:t>Basic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45" dirty="0">
                <a:latin typeface="Arial"/>
                <a:cs typeface="Arial"/>
              </a:rPr>
              <a:t>Text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Editor</a:t>
            </a:r>
            <a:endParaRPr sz="1500" dirty="0">
              <a:latin typeface="Arial"/>
              <a:cs typeface="Arial"/>
            </a:endParaRPr>
          </a:p>
          <a:p>
            <a:pPr marL="469265" indent="-34353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500" spc="-25" dirty="0">
                <a:latin typeface="Arial"/>
                <a:cs typeface="Arial"/>
              </a:rPr>
              <a:t>Advanced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45" dirty="0">
                <a:latin typeface="Arial"/>
                <a:cs typeface="Arial"/>
              </a:rPr>
              <a:t>Text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Editor</a:t>
            </a:r>
            <a:endParaRPr sz="1500" dirty="0">
              <a:latin typeface="Arial"/>
              <a:cs typeface="Arial"/>
            </a:endParaRPr>
          </a:p>
          <a:p>
            <a:pPr marL="469265" indent="-34353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500" dirty="0">
                <a:latin typeface="Arial"/>
                <a:cs typeface="Arial"/>
              </a:rPr>
              <a:t>Integrated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Development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Environment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(IDE)</a:t>
            </a:r>
            <a:endParaRPr sz="1500" dirty="0">
              <a:latin typeface="Arial"/>
              <a:cs typeface="Arial"/>
            </a:endParaRPr>
          </a:p>
          <a:p>
            <a:pPr marL="469265" indent="-34353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500" spc="-20" dirty="0">
                <a:latin typeface="Arial"/>
                <a:cs typeface="Arial"/>
              </a:rPr>
              <a:t>Visual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Editor</a:t>
            </a:r>
            <a:endParaRPr sz="15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575"/>
              </a:spcBef>
            </a:pPr>
            <a:r>
              <a:rPr sz="1500" dirty="0">
                <a:latin typeface="Arial"/>
                <a:cs typeface="Arial"/>
              </a:rPr>
              <a:t>In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our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labs,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most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likely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other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modules,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30" dirty="0">
                <a:latin typeface="Arial"/>
                <a:cs typeface="Arial"/>
              </a:rPr>
              <a:t>will </a:t>
            </a:r>
            <a:r>
              <a:rPr sz="1500" spc="-35" dirty="0">
                <a:latin typeface="Arial"/>
                <a:cs typeface="Arial"/>
              </a:rPr>
              <a:t>be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using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Visual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Studio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Code.</a:t>
            </a:r>
            <a:endParaRPr sz="1500" dirty="0">
              <a:latin typeface="Arial"/>
              <a:cs typeface="Arial"/>
            </a:endParaRPr>
          </a:p>
          <a:p>
            <a:pPr marL="12700" marR="188595">
              <a:lnSpc>
                <a:spcPct val="100000"/>
              </a:lnSpc>
              <a:spcBef>
                <a:spcPts val="1575"/>
              </a:spcBef>
            </a:pPr>
            <a:r>
              <a:rPr sz="1500" spc="-20" dirty="0">
                <a:latin typeface="Arial"/>
                <a:cs typeface="Arial"/>
              </a:rPr>
              <a:t>Visual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Studio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Code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mix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between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an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advanced </a:t>
            </a:r>
            <a:r>
              <a:rPr sz="1500" dirty="0">
                <a:latin typeface="Arial"/>
                <a:cs typeface="Arial"/>
              </a:rPr>
              <a:t>text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editor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an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IDE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-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this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45" dirty="0">
                <a:latin typeface="Arial"/>
                <a:cs typeface="Arial"/>
              </a:rPr>
              <a:t>gives</a:t>
            </a:r>
            <a:r>
              <a:rPr sz="1500" spc="-65" dirty="0">
                <a:latin typeface="Arial"/>
                <a:cs typeface="Arial"/>
              </a:rPr>
              <a:t> us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speed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close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an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advanced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text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editor,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but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60" dirty="0">
                <a:latin typeface="Arial"/>
                <a:cs typeface="Arial"/>
              </a:rPr>
              <a:t>with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many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key </a:t>
            </a:r>
            <a:r>
              <a:rPr sz="1500" dirty="0">
                <a:latin typeface="Arial"/>
                <a:cs typeface="Arial"/>
              </a:rPr>
              <a:t>features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an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IDE.</a:t>
            </a:r>
            <a:endParaRPr sz="1500" dirty="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 descr="VS Code logo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05875" y="1699475"/>
              <a:ext cx="2818249" cy="17445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2117" y="1110616"/>
            <a:ext cx="5302568" cy="2501647"/>
          </a:xfrm>
          <a:prstGeom prst="rect">
            <a:avLst/>
          </a:prstGeom>
        </p:spPr>
        <p:txBody>
          <a:bodyPr vert="horz" wrap="square" lIns="0" tIns="8573" rIns="0" bIns="0" rtlCol="0">
            <a:spAutoFit/>
          </a:bodyPr>
          <a:lstStyle/>
          <a:p>
            <a:pPr marL="9525" marR="3810" algn="ctr">
              <a:lnSpc>
                <a:spcPct val="100099"/>
              </a:lnSpc>
              <a:spcBef>
                <a:spcPts val="68"/>
              </a:spcBef>
            </a:pPr>
            <a:r>
              <a:rPr spc="-75" dirty="0"/>
              <a:t>HTML </a:t>
            </a:r>
            <a:r>
              <a:rPr spc="-60" dirty="0"/>
              <a:t>stands </a:t>
            </a:r>
            <a:r>
              <a:rPr dirty="0"/>
              <a:t>for  </a:t>
            </a:r>
            <a:r>
              <a:rPr spc="-68" dirty="0"/>
              <a:t>Hyper </a:t>
            </a:r>
            <a:r>
              <a:rPr spc="-150" dirty="0"/>
              <a:t>Text </a:t>
            </a:r>
            <a:r>
              <a:rPr spc="-116" dirty="0"/>
              <a:t>Markup  </a:t>
            </a:r>
            <a:r>
              <a:rPr spc="-158" dirty="0"/>
              <a:t>Language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255488"/>
            <a:ext cx="23914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05" dirty="0">
                <a:solidFill>
                  <a:srgbClr val="00033D"/>
                </a:solidFill>
              </a:rPr>
              <a:t>What</a:t>
            </a:r>
            <a:r>
              <a:rPr sz="2800" spc="-105" dirty="0">
                <a:solidFill>
                  <a:srgbClr val="00033D"/>
                </a:solidFill>
              </a:rPr>
              <a:t> </a:t>
            </a:r>
            <a:r>
              <a:rPr sz="2800" spc="-135" dirty="0">
                <a:solidFill>
                  <a:srgbClr val="00033D"/>
                </a:solidFill>
              </a:rPr>
              <a:t>is</a:t>
            </a:r>
            <a:r>
              <a:rPr sz="2800" spc="-105" dirty="0">
                <a:solidFill>
                  <a:srgbClr val="00033D"/>
                </a:solidFill>
              </a:rPr>
              <a:t> </a:t>
            </a:r>
            <a:r>
              <a:rPr sz="2800" spc="-20" dirty="0">
                <a:solidFill>
                  <a:srgbClr val="00033D"/>
                </a:solidFill>
              </a:rPr>
              <a:t>HTML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39924" y="890742"/>
            <a:ext cx="4168775" cy="402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8735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HTML,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or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HyperText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Markup</a:t>
            </a:r>
            <a:r>
              <a:rPr sz="1500" spc="-65" dirty="0">
                <a:latin typeface="Arial"/>
                <a:cs typeface="Arial"/>
              </a:rPr>
              <a:t> Language,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the </a:t>
            </a:r>
            <a:r>
              <a:rPr sz="1500" dirty="0">
                <a:latin typeface="Arial"/>
                <a:cs typeface="Arial"/>
              </a:rPr>
              <a:t>standard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spc="-45" dirty="0">
                <a:latin typeface="Arial"/>
                <a:cs typeface="Arial"/>
              </a:rPr>
              <a:t>language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60" dirty="0">
                <a:latin typeface="Arial"/>
                <a:cs typeface="Arial"/>
              </a:rPr>
              <a:t>for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creating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web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pages.</a:t>
            </a:r>
            <a:endParaRPr sz="1500">
              <a:latin typeface="Arial"/>
              <a:cs typeface="Arial"/>
            </a:endParaRPr>
          </a:p>
          <a:p>
            <a:pPr marL="12700" marR="159385">
              <a:lnSpc>
                <a:spcPct val="100000"/>
              </a:lnSpc>
              <a:spcBef>
                <a:spcPts val="1575"/>
              </a:spcBef>
            </a:pPr>
            <a:r>
              <a:rPr sz="1500" spc="90" dirty="0">
                <a:latin typeface="Arial"/>
                <a:cs typeface="Arial"/>
              </a:rPr>
              <a:t>It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describes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structure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web</a:t>
            </a:r>
            <a:r>
              <a:rPr sz="1500" spc="-60" dirty="0">
                <a:latin typeface="Arial"/>
                <a:cs typeface="Arial"/>
              </a:rPr>
              <a:t> page </a:t>
            </a:r>
            <a:r>
              <a:rPr sz="1500" spc="-35" dirty="0">
                <a:latin typeface="Arial"/>
                <a:cs typeface="Arial"/>
              </a:rPr>
              <a:t>using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a </a:t>
            </a:r>
            <a:r>
              <a:rPr sz="1500" spc="-35" dirty="0">
                <a:latin typeface="Arial"/>
                <a:cs typeface="Arial"/>
              </a:rPr>
              <a:t>series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elements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which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tell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browser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how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spc="40" dirty="0">
                <a:latin typeface="Arial"/>
                <a:cs typeface="Arial"/>
              </a:rPr>
              <a:t>to </a:t>
            </a:r>
            <a:r>
              <a:rPr sz="1500" spc="-20" dirty="0">
                <a:latin typeface="Arial"/>
                <a:cs typeface="Arial"/>
              </a:rPr>
              <a:t>display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page.</a:t>
            </a:r>
            <a:endParaRPr sz="1500">
              <a:latin typeface="Arial"/>
              <a:cs typeface="Arial"/>
            </a:endParaRPr>
          </a:p>
          <a:p>
            <a:pPr marL="12700" marR="19685">
              <a:lnSpc>
                <a:spcPct val="100000"/>
              </a:lnSpc>
              <a:spcBef>
                <a:spcPts val="1575"/>
              </a:spcBef>
            </a:pPr>
            <a:r>
              <a:rPr sz="1500" dirty="0">
                <a:latin typeface="Arial"/>
                <a:cs typeface="Arial"/>
              </a:rPr>
              <a:t>We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65" dirty="0">
                <a:latin typeface="Arial"/>
                <a:cs typeface="Arial"/>
              </a:rPr>
              <a:t>use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HTML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structure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our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code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content, </a:t>
            </a:r>
            <a:r>
              <a:rPr sz="1500" spc="-20" dirty="0">
                <a:latin typeface="Arial"/>
                <a:cs typeface="Arial"/>
              </a:rPr>
              <a:t>these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elements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(or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tags)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often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have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attributes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also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help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describe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them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more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detail.</a:t>
            </a:r>
            <a:endParaRPr sz="1500">
              <a:latin typeface="Arial"/>
              <a:cs typeface="Arial"/>
            </a:endParaRPr>
          </a:p>
          <a:p>
            <a:pPr marL="12700" marR="48260">
              <a:lnSpc>
                <a:spcPct val="100000"/>
              </a:lnSpc>
              <a:spcBef>
                <a:spcPts val="1575"/>
              </a:spcBef>
            </a:pPr>
            <a:r>
              <a:rPr sz="1500" dirty="0">
                <a:latin typeface="Arial"/>
                <a:cs typeface="Arial"/>
              </a:rPr>
              <a:t>HTML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55" dirty="0">
                <a:latin typeface="Arial"/>
                <a:cs typeface="Arial"/>
              </a:rPr>
              <a:t>can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contain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various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types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media(video, </a:t>
            </a:r>
            <a:r>
              <a:rPr sz="1500" spc="-30" dirty="0">
                <a:latin typeface="Arial"/>
                <a:cs typeface="Arial"/>
              </a:rPr>
              <a:t>audio,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55" dirty="0">
                <a:latin typeface="Arial"/>
                <a:cs typeface="Arial"/>
              </a:rPr>
              <a:t>images)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load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other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resources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45" dirty="0">
                <a:latin typeface="Arial"/>
                <a:cs typeface="Arial"/>
              </a:rPr>
              <a:t>such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as </a:t>
            </a:r>
            <a:r>
              <a:rPr sz="1500" spc="-10" dirty="0">
                <a:latin typeface="Arial"/>
                <a:cs typeface="Arial"/>
              </a:rPr>
              <a:t>fonts.</a:t>
            </a:r>
            <a:endParaRPr sz="15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1575"/>
              </a:spcBef>
            </a:pPr>
            <a:r>
              <a:rPr sz="1500" dirty="0">
                <a:latin typeface="Arial"/>
                <a:cs typeface="Arial"/>
              </a:rPr>
              <a:t>HTML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alone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generally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provides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only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structure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page,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we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combine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this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50" dirty="0">
                <a:latin typeface="Arial"/>
                <a:cs typeface="Arial"/>
              </a:rPr>
              <a:t>with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spc="-265" dirty="0">
                <a:latin typeface="Arial"/>
                <a:cs typeface="Arial"/>
              </a:rPr>
              <a:t>CSS</a:t>
            </a:r>
            <a:r>
              <a:rPr sz="1500" spc="165" dirty="0">
                <a:latin typeface="Arial"/>
                <a:cs typeface="Arial"/>
              </a:rPr>
              <a:t> </a:t>
            </a:r>
            <a:r>
              <a:rPr sz="1500" spc="55" dirty="0">
                <a:latin typeface="Arial"/>
                <a:cs typeface="Arial"/>
              </a:rPr>
              <a:t>to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apply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our </a:t>
            </a:r>
            <a:r>
              <a:rPr sz="1500" dirty="0">
                <a:latin typeface="Arial"/>
                <a:cs typeface="Arial"/>
              </a:rPr>
              <a:t>own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styling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this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structure.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4" name="object 4" descr="HTML logo"/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27750" y="1384500"/>
              <a:ext cx="2374499" cy="23744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4350" y="55463"/>
            <a:ext cx="18859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033D"/>
                </a:solidFill>
              </a:rPr>
              <a:t>HTML</a:t>
            </a:r>
            <a:r>
              <a:rPr sz="2800" spc="-195" dirty="0">
                <a:solidFill>
                  <a:srgbClr val="00033D"/>
                </a:solidFill>
              </a:rPr>
              <a:t> </a:t>
            </a:r>
            <a:r>
              <a:rPr sz="2800" spc="-55" dirty="0">
                <a:solidFill>
                  <a:srgbClr val="00033D"/>
                </a:solidFill>
              </a:rPr>
              <a:t>Tags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54350" y="691733"/>
            <a:ext cx="4039870" cy="12162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</a:pPr>
            <a:r>
              <a:rPr sz="1300" spc="-10" dirty="0">
                <a:latin typeface="Arial"/>
                <a:cs typeface="Arial"/>
              </a:rPr>
              <a:t>There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are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lang="en-GB" sz="1300" dirty="0">
                <a:latin typeface="Arial"/>
                <a:cs typeface="Arial"/>
              </a:rPr>
              <a:t>approx. </a:t>
            </a:r>
            <a:r>
              <a:rPr lang="en-GB" sz="1300" dirty="0">
                <a:latin typeface="Arial"/>
                <a:cs typeface="Arial"/>
                <a:hlinkClick r:id="rId2"/>
              </a:rPr>
              <a:t>142 </a:t>
            </a:r>
            <a:r>
              <a:rPr sz="1300" dirty="0">
                <a:latin typeface="Arial"/>
                <a:cs typeface="Arial"/>
                <a:hlinkClick r:id="rId2"/>
              </a:rPr>
              <a:t>deﬁned</a:t>
            </a:r>
            <a:r>
              <a:rPr sz="1300" spc="-90" dirty="0">
                <a:latin typeface="Arial"/>
                <a:cs typeface="Arial"/>
                <a:hlinkClick r:id="rId2"/>
              </a:rPr>
              <a:t> </a:t>
            </a:r>
            <a:r>
              <a:rPr sz="1300" dirty="0">
                <a:latin typeface="Arial"/>
                <a:cs typeface="Arial"/>
                <a:hlinkClick r:id="rId2"/>
              </a:rPr>
              <a:t>HTML</a:t>
            </a:r>
            <a:r>
              <a:rPr sz="1300" spc="-90" dirty="0">
                <a:latin typeface="Arial"/>
                <a:cs typeface="Arial"/>
                <a:hlinkClick r:id="rId2"/>
              </a:rPr>
              <a:t> </a:t>
            </a:r>
            <a:r>
              <a:rPr sz="1300" spc="-30" dirty="0">
                <a:latin typeface="Arial"/>
                <a:cs typeface="Arial"/>
                <a:hlinkClick r:id="rId2"/>
              </a:rPr>
              <a:t>tags</a:t>
            </a:r>
            <a:r>
              <a:rPr sz="1300" spc="-85" dirty="0">
                <a:latin typeface="Arial"/>
                <a:cs typeface="Arial"/>
                <a:hlinkClick r:id="rId2"/>
              </a:rPr>
              <a:t> </a:t>
            </a:r>
            <a:r>
              <a:rPr sz="1300" spc="55" dirty="0">
                <a:latin typeface="Arial"/>
                <a:cs typeface="Arial"/>
              </a:rPr>
              <a:t>for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spc="-55" dirty="0">
                <a:latin typeface="Arial"/>
                <a:cs typeface="Arial"/>
              </a:rPr>
              <a:t>use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when </a:t>
            </a:r>
            <a:r>
              <a:rPr sz="1300" dirty="0">
                <a:latin typeface="Arial"/>
                <a:cs typeface="Arial"/>
              </a:rPr>
              <a:t>creating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your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websites.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65" dirty="0">
                <a:latin typeface="Arial"/>
                <a:cs typeface="Arial"/>
              </a:rPr>
              <a:t>Some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lang="en-GB" sz="1300" spc="-70" dirty="0">
                <a:latin typeface="Arial"/>
                <a:cs typeface="Arial"/>
              </a:rPr>
              <a:t>27 </a:t>
            </a:r>
            <a:r>
              <a:rPr sz="1300" dirty="0">
                <a:latin typeface="Arial"/>
                <a:cs typeface="Arial"/>
              </a:rPr>
              <a:t>of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these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are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35" dirty="0">
                <a:latin typeface="Arial"/>
                <a:cs typeface="Arial"/>
              </a:rPr>
              <a:t>legacy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tags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no </a:t>
            </a:r>
            <a:r>
              <a:rPr sz="1300" dirty="0">
                <a:latin typeface="Arial"/>
                <a:cs typeface="Arial"/>
              </a:rPr>
              <a:t>longer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-45" dirty="0">
                <a:latin typeface="Arial"/>
                <a:cs typeface="Arial"/>
              </a:rPr>
              <a:t>used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or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lang="en-GB" sz="1300" spc="-40" dirty="0">
                <a:latin typeface="Arial"/>
                <a:cs typeface="Arial"/>
              </a:rPr>
              <a:t>obsolete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lang="en-GB" sz="1300" spc="-30" dirty="0">
                <a:latin typeface="Arial"/>
                <a:cs typeface="Arial"/>
              </a:rPr>
              <a:t>leaving 115 in common use.</a:t>
            </a:r>
            <a:endParaRPr sz="13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 dirty="0">
              <a:latin typeface="Arial"/>
              <a:cs typeface="Arial"/>
            </a:endParaRPr>
          </a:p>
          <a:p>
            <a:pPr marL="12700" marR="185420">
              <a:lnSpc>
                <a:spcPct val="101000"/>
              </a:lnSpc>
            </a:pPr>
            <a:r>
              <a:rPr sz="1300" spc="-65" dirty="0">
                <a:latin typeface="Arial"/>
                <a:cs typeface="Arial"/>
              </a:rPr>
              <a:t>Some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of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the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most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commonly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spc="-45" dirty="0">
                <a:latin typeface="Arial"/>
                <a:cs typeface="Arial"/>
              </a:rPr>
              <a:t>used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spc="-45" dirty="0">
                <a:latin typeface="Arial"/>
                <a:cs typeface="Arial"/>
              </a:rPr>
              <a:t>tags,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outside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of </a:t>
            </a:r>
            <a:r>
              <a:rPr sz="1300" spc="-50" dirty="0">
                <a:latin typeface="Arial"/>
                <a:cs typeface="Arial"/>
              </a:rPr>
              <a:t>“HTML”,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“head”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(including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spc="-45" dirty="0">
                <a:latin typeface="Arial"/>
                <a:cs typeface="Arial"/>
              </a:rPr>
              <a:t>ones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inside)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and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“body”,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are: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3258" y="2291933"/>
            <a:ext cx="193738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100"/>
              </a:spcBef>
              <a:buChar char="●"/>
              <a:tabLst>
                <a:tab pos="340360" algn="l"/>
              </a:tabLst>
            </a:pPr>
            <a:r>
              <a:rPr sz="1300" spc="-20" dirty="0">
                <a:latin typeface="Arial"/>
                <a:cs typeface="Arial"/>
              </a:rPr>
              <a:t>Heading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spc="-110" dirty="0">
                <a:latin typeface="Arial"/>
                <a:cs typeface="Arial"/>
              </a:rPr>
              <a:t>Tags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(H1-</a:t>
            </a:r>
            <a:r>
              <a:rPr sz="1300" spc="-25" dirty="0">
                <a:latin typeface="Arial"/>
                <a:cs typeface="Arial"/>
              </a:rPr>
              <a:t>H6)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39110" y="2311237"/>
            <a:ext cx="1372870" cy="198120"/>
          </a:xfrm>
          <a:prstGeom prst="rect">
            <a:avLst/>
          </a:prstGeom>
          <a:solidFill>
            <a:srgbClr val="43434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10"/>
              </a:lnSpc>
            </a:pP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&lt;h1&gt;Header&lt;/h1&gt;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3258" y="2491958"/>
            <a:ext cx="109601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100"/>
              </a:spcBef>
              <a:buChar char="●"/>
              <a:tabLst>
                <a:tab pos="340360" algn="l"/>
              </a:tabLst>
            </a:pPr>
            <a:r>
              <a:rPr sz="1300" spc="-25" dirty="0">
                <a:latin typeface="Arial"/>
                <a:cs typeface="Arial"/>
              </a:rPr>
              <a:t>Paragraph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97844" y="2509357"/>
            <a:ext cx="1374140" cy="192360"/>
          </a:xfrm>
          <a:prstGeom prst="rect">
            <a:avLst/>
          </a:prstGeom>
          <a:solidFill>
            <a:srgbClr val="43434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25"/>
              </a:lnSpc>
            </a:pP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&lt;p&gt;Paragraph&lt;/p&gt;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3258" y="2691983"/>
            <a:ext cx="88519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100"/>
              </a:spcBef>
              <a:buChar char="●"/>
              <a:tabLst>
                <a:tab pos="340360" algn="l"/>
              </a:tabLst>
            </a:pPr>
            <a:r>
              <a:rPr sz="1300" spc="-10" dirty="0">
                <a:latin typeface="Arial"/>
                <a:cs typeface="Arial"/>
              </a:rPr>
              <a:t>Anchor</a:t>
            </a:r>
            <a:endParaRPr sz="1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7241" y="2709382"/>
            <a:ext cx="920750" cy="200025"/>
          </a:xfrm>
          <a:prstGeom prst="rect">
            <a:avLst/>
          </a:prstGeom>
          <a:solidFill>
            <a:srgbClr val="43434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25"/>
              </a:lnSpc>
            </a:pPr>
            <a:r>
              <a:rPr sz="1300" spc="-10" dirty="0">
                <a:solidFill>
                  <a:srgbClr val="FFFFFF"/>
                </a:solidFill>
                <a:latin typeface="Arial"/>
                <a:cs typeface="Arial"/>
              </a:rPr>
              <a:t>&lt;a&gt;Link&lt;/a&gt;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3258" y="2892008"/>
            <a:ext cx="79502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100"/>
              </a:spcBef>
              <a:buChar char="●"/>
              <a:tabLst>
                <a:tab pos="340360" algn="l"/>
              </a:tabLst>
            </a:pPr>
            <a:r>
              <a:rPr sz="1300" spc="-25" dirty="0">
                <a:latin typeface="Arial"/>
                <a:cs typeface="Arial"/>
              </a:rPr>
              <a:t>Image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96793" y="2909407"/>
            <a:ext cx="560070" cy="201930"/>
          </a:xfrm>
          <a:prstGeom prst="rect">
            <a:avLst/>
          </a:prstGeom>
          <a:solidFill>
            <a:srgbClr val="43434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25"/>
              </a:lnSpc>
            </a:pP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&lt;img</a:t>
            </a:r>
            <a:r>
              <a:rPr sz="13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30" dirty="0">
                <a:solidFill>
                  <a:srgbClr val="FFFFFF"/>
                </a:solidFill>
                <a:latin typeface="Arial"/>
                <a:cs typeface="Arial"/>
              </a:rPr>
              <a:t>/&gt;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3258" y="3092033"/>
            <a:ext cx="94488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100"/>
              </a:spcBef>
              <a:buChar char="●"/>
              <a:tabLst>
                <a:tab pos="340360" algn="l"/>
              </a:tabLst>
            </a:pPr>
            <a:r>
              <a:rPr sz="1300" spc="-10" dirty="0">
                <a:latin typeface="Arial"/>
                <a:cs typeface="Arial"/>
              </a:rPr>
              <a:t>Division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06437" y="3117433"/>
            <a:ext cx="516890" cy="198120"/>
          </a:xfrm>
          <a:prstGeom prst="rect">
            <a:avLst/>
          </a:prstGeom>
          <a:solidFill>
            <a:srgbClr val="43434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10"/>
              </a:lnSpc>
            </a:pP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&lt;div</a:t>
            </a:r>
            <a:r>
              <a:rPr sz="13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20" dirty="0">
                <a:solidFill>
                  <a:srgbClr val="FFFFFF"/>
                </a:solidFill>
                <a:latin typeface="Arial"/>
                <a:cs typeface="Arial"/>
              </a:rPr>
              <a:t>/&gt;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5300" y="3850785"/>
            <a:ext cx="4058920" cy="604461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205104" algn="just">
              <a:lnSpc>
                <a:spcPct val="101000"/>
              </a:lnSpc>
            </a:pPr>
            <a:r>
              <a:rPr sz="1300" spc="15" dirty="0">
                <a:latin typeface="Arial"/>
                <a:cs typeface="Arial"/>
              </a:rPr>
              <a:t>In</a:t>
            </a:r>
            <a:r>
              <a:rPr sz="1300" spc="-114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today’s</a:t>
            </a:r>
            <a:r>
              <a:rPr sz="1300" spc="-114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lab</a:t>
            </a:r>
            <a:r>
              <a:rPr sz="1300" spc="-114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we</a:t>
            </a:r>
            <a:r>
              <a:rPr sz="1300" spc="-114" dirty="0">
                <a:latin typeface="Arial"/>
                <a:cs typeface="Arial"/>
              </a:rPr>
              <a:t> </a:t>
            </a:r>
            <a:r>
              <a:rPr sz="1300" spc="45" dirty="0">
                <a:latin typeface="Arial"/>
                <a:cs typeface="Arial"/>
              </a:rPr>
              <a:t>will</a:t>
            </a:r>
            <a:r>
              <a:rPr sz="1300" spc="-114" dirty="0">
                <a:latin typeface="Arial"/>
                <a:cs typeface="Arial"/>
              </a:rPr>
              <a:t> </a:t>
            </a:r>
            <a:r>
              <a:rPr sz="1300" spc="-40" dirty="0">
                <a:latin typeface="Arial"/>
                <a:cs typeface="Arial"/>
              </a:rPr>
              <a:t>have</a:t>
            </a:r>
            <a:r>
              <a:rPr sz="1300" spc="-114" dirty="0">
                <a:latin typeface="Arial"/>
                <a:cs typeface="Arial"/>
              </a:rPr>
              <a:t> </a:t>
            </a:r>
            <a:r>
              <a:rPr sz="1300" spc="-70" dirty="0">
                <a:latin typeface="Arial"/>
                <a:cs typeface="Arial"/>
              </a:rPr>
              <a:t>a</a:t>
            </a:r>
            <a:r>
              <a:rPr sz="1300" spc="-114" dirty="0">
                <a:latin typeface="Arial"/>
                <a:cs typeface="Arial"/>
              </a:rPr>
              <a:t> </a:t>
            </a:r>
            <a:r>
              <a:rPr sz="1300" spc="10" dirty="0">
                <a:latin typeface="Arial"/>
                <a:cs typeface="Arial"/>
              </a:rPr>
              <a:t>very</a:t>
            </a:r>
            <a:r>
              <a:rPr sz="1300" spc="-114" dirty="0">
                <a:latin typeface="Arial"/>
                <a:cs typeface="Arial"/>
              </a:rPr>
              <a:t> </a:t>
            </a:r>
            <a:r>
              <a:rPr sz="1300" spc="-35" dirty="0">
                <a:latin typeface="Arial"/>
                <a:cs typeface="Arial"/>
              </a:rPr>
              <a:t>basic</a:t>
            </a:r>
            <a:r>
              <a:rPr sz="1300" spc="-114" dirty="0">
                <a:latin typeface="Arial"/>
                <a:cs typeface="Arial"/>
              </a:rPr>
              <a:t> </a:t>
            </a:r>
            <a:r>
              <a:rPr sz="1300" spc="25" dirty="0">
                <a:latin typeface="Arial"/>
                <a:cs typeface="Arial"/>
              </a:rPr>
              <a:t>introduction</a:t>
            </a:r>
            <a:r>
              <a:rPr sz="1300" spc="-114" dirty="0">
                <a:latin typeface="Arial"/>
                <a:cs typeface="Arial"/>
              </a:rPr>
              <a:t> </a:t>
            </a:r>
            <a:r>
              <a:rPr sz="1300" spc="55" dirty="0">
                <a:latin typeface="Arial"/>
                <a:cs typeface="Arial"/>
              </a:rPr>
              <a:t>to</a:t>
            </a:r>
            <a:r>
              <a:rPr sz="1300" spc="35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tags</a:t>
            </a:r>
            <a:r>
              <a:rPr sz="1300" spc="-114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however</a:t>
            </a:r>
            <a:r>
              <a:rPr sz="1300" spc="-114" dirty="0">
                <a:latin typeface="Arial"/>
                <a:cs typeface="Arial"/>
              </a:rPr>
              <a:t> </a:t>
            </a:r>
            <a:r>
              <a:rPr sz="1300" spc="35" dirty="0">
                <a:latin typeface="Arial"/>
                <a:cs typeface="Arial"/>
              </a:rPr>
              <a:t>I</a:t>
            </a:r>
            <a:r>
              <a:rPr sz="1300" spc="-114" dirty="0">
                <a:latin typeface="Arial"/>
                <a:cs typeface="Arial"/>
              </a:rPr>
              <a:t> </a:t>
            </a:r>
            <a:r>
              <a:rPr sz="1300" spc="10" dirty="0">
                <a:latin typeface="Arial"/>
                <a:cs typeface="Arial"/>
              </a:rPr>
              <a:t>strongly</a:t>
            </a:r>
            <a:r>
              <a:rPr sz="1300" spc="-114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encourage</a:t>
            </a:r>
            <a:r>
              <a:rPr sz="1300" spc="-114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you</a:t>
            </a:r>
            <a:r>
              <a:rPr sz="1300" spc="-114" dirty="0">
                <a:latin typeface="Arial"/>
                <a:cs typeface="Arial"/>
              </a:rPr>
              <a:t> </a:t>
            </a:r>
            <a:r>
              <a:rPr sz="1300" spc="55" dirty="0">
                <a:latin typeface="Arial"/>
                <a:cs typeface="Arial"/>
              </a:rPr>
              <a:t>to</a:t>
            </a:r>
            <a:r>
              <a:rPr sz="1300" spc="-114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experiment</a:t>
            </a:r>
            <a:r>
              <a:rPr sz="1300" spc="5" dirty="0">
                <a:latin typeface="Arial"/>
                <a:cs typeface="Arial"/>
              </a:rPr>
              <a:t> </a:t>
            </a:r>
            <a:r>
              <a:rPr sz="1300" spc="50" dirty="0">
                <a:latin typeface="Arial"/>
                <a:cs typeface="Arial"/>
              </a:rPr>
              <a:t>with</a:t>
            </a:r>
            <a:r>
              <a:rPr sz="1300" spc="-114" dirty="0">
                <a:latin typeface="Arial"/>
                <a:cs typeface="Arial"/>
              </a:rPr>
              <a:t> </a:t>
            </a:r>
            <a:r>
              <a:rPr sz="1300" spc="25" dirty="0">
                <a:latin typeface="Arial"/>
                <a:cs typeface="Arial"/>
              </a:rPr>
              <a:t>other</a:t>
            </a:r>
            <a:r>
              <a:rPr sz="1300" spc="-114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tags</a:t>
            </a:r>
            <a:r>
              <a:rPr sz="1300" spc="-114" dirty="0">
                <a:latin typeface="Arial"/>
                <a:cs typeface="Arial"/>
              </a:rPr>
              <a:t> </a:t>
            </a:r>
            <a:r>
              <a:rPr sz="1300" spc="20" dirty="0">
                <a:latin typeface="Arial"/>
                <a:cs typeface="Arial"/>
              </a:rPr>
              <a:t>in</a:t>
            </a:r>
            <a:r>
              <a:rPr sz="1300" spc="-114" dirty="0">
                <a:latin typeface="Arial"/>
                <a:cs typeface="Arial"/>
              </a:rPr>
              <a:t> </a:t>
            </a:r>
            <a:r>
              <a:rPr sz="1300" spc="20" dirty="0">
                <a:latin typeface="Arial"/>
                <a:cs typeface="Arial"/>
              </a:rPr>
              <a:t>the</a:t>
            </a:r>
            <a:r>
              <a:rPr sz="1300" spc="-114" dirty="0">
                <a:latin typeface="Arial"/>
                <a:cs typeface="Arial"/>
              </a:rPr>
              <a:t> </a:t>
            </a:r>
            <a:r>
              <a:rPr sz="1300" spc="-40" dirty="0">
                <a:latin typeface="Arial"/>
                <a:cs typeface="Arial"/>
              </a:rPr>
              <a:t>labs.</a:t>
            </a:r>
            <a:endParaRPr sz="1300" dirty="0">
              <a:latin typeface="Arial"/>
              <a:cs typeface="Arial"/>
            </a:endParaRPr>
          </a:p>
        </p:txBody>
      </p:sp>
      <p:grpSp>
        <p:nvGrpSpPr>
          <p:cNvPr id="15" name="object 15" descr="HTML tag diagram"/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16" name="object 16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8400" y="2107300"/>
              <a:ext cx="3853200" cy="9288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677996" y="517494"/>
            <a:ext cx="5788009" cy="1771671"/>
          </a:xfrm>
          <a:prstGeom prst="rect">
            <a:avLst/>
          </a:prstGeom>
        </p:spPr>
        <p:txBody>
          <a:bodyPr vert="horz" wrap="square" lIns="0" tIns="139160" rIns="0" bIns="0" rtlCol="0">
            <a:spAutoFit/>
          </a:bodyPr>
          <a:lstStyle/>
          <a:p>
            <a:pPr marL="431959" marR="3810" indent="-377190">
              <a:lnSpc>
                <a:spcPct val="100600"/>
              </a:lnSpc>
              <a:spcBef>
                <a:spcPts val="34"/>
              </a:spcBef>
            </a:pPr>
            <a:r>
              <a:rPr spc="-172" dirty="0"/>
              <a:t>keywords </a:t>
            </a:r>
            <a:r>
              <a:rPr spc="-19" dirty="0"/>
              <a:t>surrounded  </a:t>
            </a:r>
            <a:r>
              <a:rPr spc="-236" dirty="0"/>
              <a:t>by </a:t>
            </a:r>
            <a:r>
              <a:rPr b="1" spc="11" dirty="0"/>
              <a:t>angle</a:t>
            </a:r>
            <a:r>
              <a:rPr b="1" spc="214" dirty="0"/>
              <a:t> </a:t>
            </a:r>
            <a:r>
              <a:rPr b="1" spc="-79" dirty="0"/>
              <a:t>brackets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05137" y="2617850"/>
            <a:ext cx="3033713" cy="102528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algn="l" defTabSz="685800" rtl="0">
              <a:spcBef>
                <a:spcPts val="75"/>
              </a:spcBef>
            </a:pPr>
            <a:r>
              <a:rPr sz="6600" kern="1200" spc="-8" dirty="0">
                <a:solidFill>
                  <a:srgbClr val="FFFFFF"/>
                </a:solidFill>
                <a:latin typeface="Courier New"/>
                <a:ea typeface="+mn-ea"/>
                <a:cs typeface="Courier New"/>
              </a:rPr>
              <a:t>&lt;html&gt;</a:t>
            </a:r>
            <a:endParaRPr sz="6600" kern="1200">
              <a:solidFill>
                <a:srgbClr val="000000"/>
              </a:solidFill>
              <a:latin typeface="Courier New"/>
              <a:ea typeface="+mn-ea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677996" y="517494"/>
            <a:ext cx="5788009" cy="1771671"/>
          </a:xfrm>
          <a:prstGeom prst="rect">
            <a:avLst/>
          </a:prstGeom>
        </p:spPr>
        <p:txBody>
          <a:bodyPr vert="horz" wrap="square" lIns="0" tIns="139160" rIns="0" bIns="0" rtlCol="0">
            <a:spAutoFit/>
          </a:bodyPr>
          <a:lstStyle/>
          <a:p>
            <a:pPr marL="1950720" marR="3810" indent="-1719739">
              <a:lnSpc>
                <a:spcPct val="100600"/>
              </a:lnSpc>
              <a:spcBef>
                <a:spcPts val="34"/>
              </a:spcBef>
            </a:pPr>
            <a:r>
              <a:rPr spc="-210" dirty="0"/>
              <a:t>Tags </a:t>
            </a:r>
            <a:r>
              <a:rPr spc="-116" dirty="0"/>
              <a:t>normally </a:t>
            </a:r>
            <a:r>
              <a:rPr spc="-71" dirty="0"/>
              <a:t>come  </a:t>
            </a:r>
            <a:r>
              <a:rPr spc="-105" dirty="0"/>
              <a:t>in</a:t>
            </a:r>
            <a:r>
              <a:rPr spc="-8" dirty="0"/>
              <a:t> </a:t>
            </a:r>
            <a:r>
              <a:rPr spc="-113" dirty="0"/>
              <a:t>pairs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03294" y="2617850"/>
            <a:ext cx="4038600" cy="102528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6600" spc="-8" dirty="0">
                <a:solidFill>
                  <a:srgbClr val="FFFFFF"/>
                </a:solidFill>
                <a:latin typeface="Courier New"/>
                <a:cs typeface="Courier New"/>
              </a:rPr>
              <a:t>&lt;p&gt;…&lt;/p&gt;</a:t>
            </a:r>
            <a:endParaRPr sz="6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8581" y="548259"/>
            <a:ext cx="5624036" cy="2306401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9525" marR="3810" algn="ctr">
              <a:lnSpc>
                <a:spcPts val="5925"/>
              </a:lnSpc>
              <a:spcBef>
                <a:spcPts val="285"/>
              </a:spcBef>
              <a:tabLst>
                <a:tab pos="4755833" algn="l"/>
              </a:tabLst>
            </a:pPr>
            <a:r>
              <a:rPr sz="4950" spc="-86" dirty="0"/>
              <a:t>An </a:t>
            </a:r>
            <a:r>
              <a:rPr sz="4950" spc="-68" dirty="0"/>
              <a:t>HTML </a:t>
            </a:r>
            <a:r>
              <a:rPr sz="4950" spc="-83" dirty="0"/>
              <a:t>element </a:t>
            </a:r>
            <a:r>
              <a:rPr sz="4950" spc="-184" dirty="0"/>
              <a:t>is  </a:t>
            </a:r>
            <a:r>
              <a:rPr sz="4950" spc="-116" dirty="0"/>
              <a:t>everything </a:t>
            </a:r>
            <a:r>
              <a:rPr sz="4950" spc="-11" dirty="0"/>
              <a:t>from </a:t>
            </a:r>
            <a:r>
              <a:rPr sz="4950" spc="-8" dirty="0"/>
              <a:t>the  </a:t>
            </a:r>
            <a:r>
              <a:rPr sz="4950" spc="-120" dirty="0"/>
              <a:t>s</a:t>
            </a:r>
            <a:r>
              <a:rPr sz="4950" spc="68" dirty="0"/>
              <a:t>t</a:t>
            </a:r>
            <a:r>
              <a:rPr sz="4950" spc="-184" dirty="0"/>
              <a:t>a</a:t>
            </a:r>
            <a:r>
              <a:rPr sz="4950" spc="98" dirty="0"/>
              <a:t>r</a:t>
            </a:r>
            <a:r>
              <a:rPr sz="4950" spc="68" dirty="0"/>
              <a:t>t</a:t>
            </a:r>
            <a:r>
              <a:rPr sz="4950" dirty="0"/>
              <a:t> </a:t>
            </a:r>
            <a:r>
              <a:rPr sz="4950" spc="68" dirty="0"/>
              <a:t>t</a:t>
            </a:r>
            <a:r>
              <a:rPr sz="4950" spc="-184" dirty="0"/>
              <a:t>a</a:t>
            </a:r>
            <a:r>
              <a:rPr sz="4950" spc="-259" dirty="0"/>
              <a:t>g</a:t>
            </a:r>
            <a:r>
              <a:rPr sz="4950" spc="-4" dirty="0"/>
              <a:t> </a:t>
            </a:r>
            <a:r>
              <a:rPr sz="4950" spc="68" dirty="0"/>
              <a:t>t</a:t>
            </a:r>
            <a:r>
              <a:rPr sz="4950" spc="49" dirty="0"/>
              <a:t>o</a:t>
            </a:r>
            <a:r>
              <a:rPr sz="4950" spc="-4" dirty="0"/>
              <a:t> </a:t>
            </a:r>
            <a:r>
              <a:rPr sz="4950" spc="68" dirty="0"/>
              <a:t>t</a:t>
            </a:r>
            <a:r>
              <a:rPr sz="4950" spc="45" dirty="0"/>
              <a:t>h</a:t>
            </a:r>
            <a:r>
              <a:rPr sz="4950" spc="-139" dirty="0"/>
              <a:t>e</a:t>
            </a:r>
            <a:r>
              <a:rPr sz="4950" dirty="0"/>
              <a:t> </a:t>
            </a:r>
            <a:r>
              <a:rPr sz="4950" spc="-139" dirty="0"/>
              <a:t>e</a:t>
            </a:r>
            <a:r>
              <a:rPr sz="4950" spc="45" dirty="0"/>
              <a:t>n</a:t>
            </a:r>
            <a:r>
              <a:rPr sz="4950" dirty="0"/>
              <a:t>d	</a:t>
            </a:r>
            <a:r>
              <a:rPr sz="4950" spc="68" dirty="0"/>
              <a:t>t</a:t>
            </a:r>
            <a:r>
              <a:rPr sz="4950" spc="-184" dirty="0"/>
              <a:t>a</a:t>
            </a:r>
            <a:r>
              <a:rPr sz="4950" spc="-263" dirty="0"/>
              <a:t>g</a:t>
            </a:r>
            <a:r>
              <a:rPr sz="4950" spc="-293" dirty="0"/>
              <a:t>:</a:t>
            </a:r>
            <a:endParaRPr sz="4950"/>
          </a:p>
        </p:txBody>
      </p:sp>
      <p:sp>
        <p:nvSpPr>
          <p:cNvPr id="3" name="object 3"/>
          <p:cNvSpPr txBox="1"/>
          <p:nvPr/>
        </p:nvSpPr>
        <p:spPr>
          <a:xfrm>
            <a:off x="1891308" y="3046857"/>
            <a:ext cx="5261134" cy="1242648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lnSpc>
                <a:spcPts val="4834"/>
              </a:lnSpc>
              <a:spcBef>
                <a:spcPts val="75"/>
              </a:spcBef>
            </a:pPr>
            <a:r>
              <a:rPr sz="4050" spc="-4" dirty="0">
                <a:solidFill>
                  <a:srgbClr val="FFFFFF"/>
                </a:solidFill>
                <a:latin typeface="Courier New"/>
                <a:cs typeface="Courier New"/>
              </a:rPr>
              <a:t>&lt;p&gt;Paragraph.&lt;/p&gt;</a:t>
            </a:r>
            <a:endParaRPr sz="4050">
              <a:latin typeface="Courier New"/>
              <a:cs typeface="Courier New"/>
            </a:endParaRPr>
          </a:p>
          <a:p>
            <a:pPr algn="ctr">
              <a:lnSpc>
                <a:spcPts val="4834"/>
              </a:lnSpc>
            </a:pPr>
            <a:r>
              <a:rPr sz="4050" spc="-4" dirty="0">
                <a:solidFill>
                  <a:srgbClr val="FFFFFF"/>
                </a:solidFill>
                <a:latin typeface="Courier New"/>
                <a:cs typeface="Courier New"/>
              </a:rPr>
              <a:t>&lt;br</a:t>
            </a:r>
            <a:r>
              <a:rPr sz="4050" spc="-19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4050" spc="-4" dirty="0">
                <a:solidFill>
                  <a:srgbClr val="FFFFFF"/>
                </a:solidFill>
                <a:latin typeface="Courier New"/>
                <a:cs typeface="Courier New"/>
              </a:rPr>
              <a:t>/&gt;</a:t>
            </a:r>
            <a:endParaRPr sz="40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677996" y="517494"/>
            <a:ext cx="5788009" cy="2306401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66199" marR="3810" algn="ctr">
              <a:lnSpc>
                <a:spcPts val="5925"/>
              </a:lnSpc>
              <a:spcBef>
                <a:spcPts val="285"/>
              </a:spcBef>
            </a:pPr>
            <a:r>
              <a:rPr sz="4950" spc="-53" dirty="0"/>
              <a:t>Attributes </a:t>
            </a:r>
            <a:r>
              <a:rPr sz="4950" spc="-75" dirty="0"/>
              <a:t>provide  </a:t>
            </a:r>
            <a:r>
              <a:rPr sz="4950" spc="-94" dirty="0"/>
              <a:t>additional </a:t>
            </a:r>
            <a:r>
              <a:rPr sz="4950" spc="-30" dirty="0"/>
              <a:t>information  </a:t>
            </a:r>
            <a:r>
              <a:rPr sz="4950" spc="-15" dirty="0"/>
              <a:t>about </a:t>
            </a:r>
            <a:r>
              <a:rPr sz="4950" spc="-68" dirty="0"/>
              <a:t>HTML</a:t>
            </a:r>
            <a:r>
              <a:rPr sz="4950" spc="-34" dirty="0"/>
              <a:t> </a:t>
            </a:r>
            <a:r>
              <a:rPr sz="4950" spc="-116" dirty="0"/>
              <a:t>elements.</a:t>
            </a:r>
            <a:endParaRPr sz="4950"/>
          </a:p>
        </p:txBody>
      </p:sp>
      <p:sp>
        <p:nvSpPr>
          <p:cNvPr id="3" name="object 3"/>
          <p:cNvSpPr txBox="1"/>
          <p:nvPr/>
        </p:nvSpPr>
        <p:spPr>
          <a:xfrm>
            <a:off x="1408510" y="3099434"/>
            <a:ext cx="6227444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5669280" algn="l"/>
              </a:tabLst>
            </a:pPr>
            <a:r>
              <a:rPr sz="3600" spc="-8" dirty="0">
                <a:solidFill>
                  <a:srgbClr val="FFFFFF"/>
                </a:solidFill>
                <a:latin typeface="Courier New"/>
                <a:cs typeface="Courier New"/>
              </a:rPr>
              <a:t>&lt;im</a:t>
            </a:r>
            <a:r>
              <a:rPr sz="3600" dirty="0">
                <a:solidFill>
                  <a:srgbClr val="FFFFFF"/>
                </a:solidFill>
                <a:latin typeface="Courier New"/>
                <a:cs typeface="Courier New"/>
              </a:rPr>
              <a:t>g</a:t>
            </a:r>
            <a:r>
              <a:rPr sz="3600" spc="-11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600" spc="-8" dirty="0">
                <a:solidFill>
                  <a:srgbClr val="FFFFFF"/>
                </a:solidFill>
                <a:latin typeface="Courier New"/>
                <a:cs typeface="Courier New"/>
              </a:rPr>
              <a:t>src=</a:t>
            </a:r>
            <a:r>
              <a:rPr sz="3600" spc="600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3600" spc="-8" dirty="0">
                <a:solidFill>
                  <a:srgbClr val="FFFFFF"/>
                </a:solidFill>
                <a:latin typeface="Courier New"/>
                <a:cs typeface="Courier New"/>
              </a:rPr>
              <a:t>image.png</a:t>
            </a:r>
            <a:r>
              <a:rPr sz="3600" spc="600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r>
              <a:rPr sz="36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600" spc="-8" dirty="0">
                <a:solidFill>
                  <a:srgbClr val="FFFFFF"/>
                </a:solidFill>
                <a:latin typeface="Courier New"/>
                <a:cs typeface="Courier New"/>
              </a:rPr>
              <a:t>/&gt;</a:t>
            </a:r>
            <a:endParaRPr sz="3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143000" y="0"/>
            <a:ext cx="6858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85900" y="523875"/>
            <a:ext cx="6115050" cy="2562225"/>
          </a:xfrm>
          <a:custGeom>
            <a:avLst/>
            <a:gdLst/>
            <a:ahLst/>
            <a:cxnLst/>
            <a:rect l="l" t="t" r="r" b="b"/>
            <a:pathLst>
              <a:path w="8153400" h="3416300">
                <a:moveTo>
                  <a:pt x="0" y="3416300"/>
                </a:moveTo>
                <a:lnTo>
                  <a:pt x="8153400" y="3416300"/>
                </a:lnTo>
                <a:lnTo>
                  <a:pt x="8153400" y="0"/>
                </a:lnTo>
                <a:lnTo>
                  <a:pt x="0" y="0"/>
                </a:lnTo>
                <a:lnTo>
                  <a:pt x="0" y="3416300"/>
                </a:lnTo>
                <a:close/>
              </a:path>
            </a:pathLst>
          </a:custGeom>
          <a:solidFill>
            <a:srgbClr val="000000">
              <a:alpha val="348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62163" y="463676"/>
            <a:ext cx="4962049" cy="2502608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 algn="ctr">
              <a:spcBef>
                <a:spcPts val="75"/>
              </a:spcBef>
            </a:pPr>
            <a:r>
              <a:rPr dirty="0">
                <a:latin typeface="Courier New"/>
                <a:cs typeface="Courier New"/>
              </a:rPr>
              <a:t>elements  should be</a:t>
            </a:r>
            <a:r>
              <a:rPr spc="-68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in  lower</a:t>
            </a:r>
            <a:r>
              <a:rPr spc="-34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case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643D56-816C-5E4F-9811-2B2C33DA9B04}"/>
              </a:ext>
            </a:extLst>
          </p:cNvPr>
          <p:cNvSpPr/>
          <p:nvPr/>
        </p:nvSpPr>
        <p:spPr>
          <a:xfrm>
            <a:off x="1657350" y="3657600"/>
            <a:ext cx="5715000" cy="14859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4070" y="3530728"/>
            <a:ext cx="5793105" cy="733823"/>
          </a:xfrm>
          <a:prstGeom prst="rect">
            <a:avLst/>
          </a:prstGeom>
        </p:spPr>
        <p:txBody>
          <a:bodyPr vert="horz" wrap="square" lIns="0" tIns="2381" rIns="0" bIns="0" rtlCol="0">
            <a:spAutoFit/>
          </a:bodyPr>
          <a:lstStyle/>
          <a:p>
            <a:pPr marL="9525" marR="3810" indent="238601">
              <a:lnSpc>
                <a:spcPct val="101899"/>
              </a:lnSpc>
              <a:spcBef>
                <a:spcPts val="19"/>
              </a:spcBef>
              <a:tabLst>
                <a:tab pos="4785836" algn="l"/>
              </a:tabLst>
            </a:pPr>
            <a:r>
              <a:rPr sz="2400" spc="-38" dirty="0">
                <a:solidFill>
                  <a:srgbClr val="FFFFFF"/>
                </a:solidFill>
                <a:latin typeface="Times New Roman"/>
                <a:cs typeface="Times New Roman"/>
              </a:rPr>
              <a:t>browser </a:t>
            </a:r>
            <a:r>
              <a:rPr sz="2400" spc="-26" dirty="0">
                <a:solidFill>
                  <a:srgbClr val="FFFFFF"/>
                </a:solidFill>
                <a:latin typeface="Times New Roman"/>
                <a:cs typeface="Times New Roman"/>
              </a:rPr>
              <a:t>does </a:t>
            </a:r>
            <a:r>
              <a:rPr sz="2400" spc="26" dirty="0">
                <a:solidFill>
                  <a:srgbClr val="FFFFFF"/>
                </a:solidFill>
                <a:latin typeface="Times New Roman"/>
                <a:cs typeface="Times New Roman"/>
              </a:rPr>
              <a:t>not </a:t>
            </a:r>
            <a:r>
              <a:rPr sz="2400" spc="-86" dirty="0">
                <a:solidFill>
                  <a:srgbClr val="FFFFFF"/>
                </a:solidFill>
                <a:latin typeface="Times New Roman"/>
                <a:cs typeface="Times New Roman"/>
              </a:rPr>
              <a:t>display </a:t>
            </a:r>
            <a:r>
              <a:rPr sz="2400" spc="-4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400" spc="-34" dirty="0">
                <a:solidFill>
                  <a:srgbClr val="FFFFFF"/>
                </a:solidFill>
                <a:latin typeface="Times New Roman"/>
                <a:cs typeface="Times New Roman"/>
              </a:rPr>
              <a:t>HTML </a:t>
            </a:r>
            <a:r>
              <a:rPr sz="2400" spc="-83" dirty="0">
                <a:solidFill>
                  <a:srgbClr val="FFFFFF"/>
                </a:solidFill>
                <a:latin typeface="Times New Roman"/>
                <a:cs typeface="Times New Roman"/>
              </a:rPr>
              <a:t>tags, </a:t>
            </a:r>
            <a:r>
              <a:rPr sz="2400" spc="8" dirty="0">
                <a:solidFill>
                  <a:srgbClr val="FFFFFF"/>
                </a:solidFill>
                <a:latin typeface="Times New Roman"/>
                <a:cs typeface="Times New Roman"/>
              </a:rPr>
              <a:t>but  </a:t>
            </a:r>
            <a:r>
              <a:rPr sz="2400" spc="-56" dirty="0">
                <a:solidFill>
                  <a:srgbClr val="FFFFFF"/>
                </a:solidFill>
                <a:latin typeface="Times New Roman"/>
                <a:cs typeface="Times New Roman"/>
              </a:rPr>
              <a:t>uses </a:t>
            </a:r>
            <a:r>
              <a:rPr sz="2400" spc="-4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400" spc="-64" dirty="0">
                <a:solidFill>
                  <a:srgbClr val="FFFFFF"/>
                </a:solidFill>
                <a:latin typeface="Times New Roman"/>
                <a:cs typeface="Times New Roman"/>
              </a:rPr>
              <a:t>tags </a:t>
            </a:r>
            <a:r>
              <a:rPr sz="2400" spc="26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interpret </a:t>
            </a:r>
            <a:r>
              <a:rPr sz="2400" spc="-4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content</a:t>
            </a:r>
            <a:r>
              <a:rPr sz="2400" spc="8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	</a:t>
            </a:r>
            <a:r>
              <a:rPr sz="2400" spc="-4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6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6" dirty="0">
                <a:solidFill>
                  <a:srgbClr val="FFFFFF"/>
                </a:solidFill>
                <a:latin typeface="Times New Roman"/>
                <a:cs typeface="Times New Roman"/>
              </a:rPr>
              <a:t>page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00201" y="394096"/>
            <a:ext cx="5940266" cy="2951770"/>
          </a:xfrm>
          <a:prstGeom prst="rect">
            <a:avLst/>
          </a:prstGeom>
          <a:ln w="12700">
            <a:solidFill>
              <a:srgbClr val="D9D9D9"/>
            </a:solidFill>
          </a:ln>
        </p:spPr>
        <p:txBody>
          <a:bodyPr vert="horz" wrap="square" lIns="0" tIns="6668" rIns="0" bIns="0" rtlCol="0">
            <a:spAutoFit/>
          </a:bodyPr>
          <a:lstStyle/>
          <a:p>
            <a:pPr marL="68580">
              <a:lnSpc>
                <a:spcPts val="2494"/>
              </a:lnSpc>
              <a:spcBef>
                <a:spcPts val="53"/>
              </a:spcBef>
            </a:pPr>
            <a:r>
              <a:rPr sz="2100" spc="-8" dirty="0">
                <a:solidFill>
                  <a:srgbClr val="FFFFFF"/>
                </a:solidFill>
                <a:latin typeface="Courier New"/>
                <a:cs typeface="Courier New"/>
              </a:rPr>
              <a:t>&lt;html&gt;</a:t>
            </a:r>
            <a:endParaRPr sz="2100">
              <a:latin typeface="Courier New"/>
              <a:cs typeface="Courier New"/>
            </a:endParaRPr>
          </a:p>
          <a:p>
            <a:pPr marL="68580">
              <a:lnSpc>
                <a:spcPts val="2494"/>
              </a:lnSpc>
            </a:pPr>
            <a:r>
              <a:rPr sz="2100" spc="-8" dirty="0">
                <a:solidFill>
                  <a:srgbClr val="FFFFFF"/>
                </a:solidFill>
                <a:latin typeface="Courier New"/>
                <a:cs typeface="Courier New"/>
              </a:rPr>
              <a:t>&lt;body&gt;</a:t>
            </a:r>
            <a:endParaRPr sz="2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175">
              <a:latin typeface="Times New Roman"/>
              <a:cs typeface="Times New Roman"/>
            </a:endParaRPr>
          </a:p>
          <a:p>
            <a:pPr marL="68580"/>
            <a:r>
              <a:rPr sz="2100" spc="-8" dirty="0">
                <a:solidFill>
                  <a:srgbClr val="FFFFFF"/>
                </a:solidFill>
                <a:latin typeface="Courier New"/>
                <a:cs typeface="Courier New"/>
              </a:rPr>
              <a:t>&lt;h1&gt;My First</a:t>
            </a:r>
            <a:r>
              <a:rPr sz="2100" spc="-26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100" spc="-8" dirty="0">
                <a:solidFill>
                  <a:srgbClr val="FFFFFF"/>
                </a:solidFill>
                <a:latin typeface="Courier New"/>
                <a:cs typeface="Courier New"/>
              </a:rPr>
              <a:t>Heading&lt;/h1&gt;</a:t>
            </a:r>
            <a:endParaRPr sz="2100">
              <a:latin typeface="Courier New"/>
              <a:cs typeface="Courier New"/>
            </a:endParaRPr>
          </a:p>
          <a:p>
            <a:pPr>
              <a:spcBef>
                <a:spcPts val="4"/>
              </a:spcBef>
            </a:pPr>
            <a:endParaRPr sz="2250">
              <a:latin typeface="Times New Roman"/>
              <a:cs typeface="Times New Roman"/>
            </a:endParaRPr>
          </a:p>
          <a:p>
            <a:pPr marL="68580"/>
            <a:r>
              <a:rPr sz="2100" spc="-8" dirty="0">
                <a:solidFill>
                  <a:srgbClr val="FFFFFF"/>
                </a:solidFill>
                <a:latin typeface="Courier New"/>
                <a:cs typeface="Courier New"/>
              </a:rPr>
              <a:t>&lt;p&gt;My first</a:t>
            </a:r>
            <a:r>
              <a:rPr sz="2100" spc="-26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100" spc="-8" dirty="0">
                <a:solidFill>
                  <a:srgbClr val="FFFFFF"/>
                </a:solidFill>
                <a:latin typeface="Courier New"/>
                <a:cs typeface="Courier New"/>
              </a:rPr>
              <a:t>paragraph.&lt;/p&gt;</a:t>
            </a:r>
            <a:endParaRPr sz="2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175">
              <a:latin typeface="Times New Roman"/>
              <a:cs typeface="Times New Roman"/>
            </a:endParaRPr>
          </a:p>
          <a:p>
            <a:pPr marL="68580">
              <a:lnSpc>
                <a:spcPts val="2494"/>
              </a:lnSpc>
              <a:spcBef>
                <a:spcPts val="4"/>
              </a:spcBef>
            </a:pPr>
            <a:r>
              <a:rPr sz="2100" spc="-8" dirty="0">
                <a:solidFill>
                  <a:srgbClr val="FFFFFF"/>
                </a:solidFill>
                <a:latin typeface="Courier New"/>
                <a:cs typeface="Courier New"/>
              </a:rPr>
              <a:t>&lt;/body&gt;</a:t>
            </a:r>
            <a:endParaRPr sz="2100">
              <a:latin typeface="Courier New"/>
              <a:cs typeface="Courier New"/>
            </a:endParaRPr>
          </a:p>
          <a:p>
            <a:pPr marL="68580">
              <a:lnSpc>
                <a:spcPts val="2494"/>
              </a:lnSpc>
            </a:pPr>
            <a:r>
              <a:rPr sz="2100" spc="-8" dirty="0">
                <a:solidFill>
                  <a:srgbClr val="FFFFFF"/>
                </a:solidFill>
                <a:latin typeface="Courier New"/>
                <a:cs typeface="Courier New"/>
              </a:rPr>
              <a:t>&lt;/html&gt;</a:t>
            </a:r>
            <a:endParaRPr sz="2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56867" y="301752"/>
            <a:ext cx="4375403" cy="43776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800" y="561975"/>
            <a:ext cx="6172199" cy="1243289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9049" marR="3810" algn="ctr">
              <a:lnSpc>
                <a:spcPts val="3225"/>
              </a:lnSpc>
              <a:spcBef>
                <a:spcPts val="195"/>
              </a:spcBef>
            </a:pPr>
            <a:r>
              <a:rPr sz="2700" spc="-38" dirty="0"/>
              <a:t>“HTML5</a:t>
            </a:r>
            <a:r>
              <a:rPr lang="en-GB" sz="2700" spc="-38" dirty="0"/>
              <a:t> </a:t>
            </a:r>
            <a:r>
              <a:rPr lang="en-GB" sz="2700" spc="-38" dirty="0" err="1"/>
              <a:t>wa</a:t>
            </a:r>
            <a:r>
              <a:rPr sz="2700" spc="-101" dirty="0"/>
              <a:t>s </a:t>
            </a:r>
            <a:r>
              <a:rPr sz="2700" spc="-4" dirty="0"/>
              <a:t>the </a:t>
            </a:r>
            <a:r>
              <a:rPr sz="2700" spc="-8" dirty="0"/>
              <a:t>proposed </a:t>
            </a:r>
            <a:r>
              <a:rPr sz="2700" spc="-34" dirty="0"/>
              <a:t>next </a:t>
            </a:r>
            <a:r>
              <a:rPr sz="2700" spc="-30" dirty="0"/>
              <a:t>standard </a:t>
            </a:r>
            <a:r>
              <a:rPr sz="2700" dirty="0"/>
              <a:t>for  </a:t>
            </a:r>
            <a:r>
              <a:rPr sz="2700" spc="-38" dirty="0"/>
              <a:t>HTML </a:t>
            </a:r>
            <a:r>
              <a:rPr sz="2700" spc="-90" dirty="0"/>
              <a:t>4.01, </a:t>
            </a:r>
            <a:r>
              <a:rPr sz="2700" spc="-45" dirty="0"/>
              <a:t>XHTML </a:t>
            </a:r>
            <a:r>
              <a:rPr sz="2700" spc="-90" dirty="0"/>
              <a:t>1.0 </a:t>
            </a:r>
            <a:r>
              <a:rPr sz="2700" spc="-26" dirty="0"/>
              <a:t>and </a:t>
            </a:r>
            <a:r>
              <a:rPr sz="2700" spc="45" dirty="0"/>
              <a:t>DOM </a:t>
            </a:r>
            <a:r>
              <a:rPr sz="2700" spc="-105" dirty="0"/>
              <a:t>Level</a:t>
            </a:r>
            <a:r>
              <a:rPr sz="2700" spc="206" dirty="0"/>
              <a:t> </a:t>
            </a:r>
            <a:r>
              <a:rPr sz="2700" spc="-86" dirty="0"/>
              <a:t>2</a:t>
            </a:r>
            <a:endParaRPr sz="2700" dirty="0"/>
          </a:p>
          <a:p>
            <a:pPr algn="ctr">
              <a:lnSpc>
                <a:spcPts val="3113"/>
              </a:lnSpc>
            </a:pPr>
            <a:r>
              <a:rPr sz="2700" spc="-49" dirty="0"/>
              <a:t>HTML. </a:t>
            </a:r>
            <a:r>
              <a:rPr sz="2700" spc="45" dirty="0"/>
              <a:t>It </a:t>
            </a:r>
            <a:r>
              <a:rPr sz="2700" spc="-83" dirty="0"/>
              <a:t>aims </a:t>
            </a:r>
            <a:r>
              <a:rPr sz="2700" spc="30" dirty="0"/>
              <a:t>to </a:t>
            </a:r>
            <a:r>
              <a:rPr sz="2700" spc="-45" dirty="0"/>
              <a:t>reduce </a:t>
            </a:r>
            <a:r>
              <a:rPr sz="2700" spc="-4" dirty="0"/>
              <a:t>the </a:t>
            </a:r>
            <a:r>
              <a:rPr sz="2700" spc="-30" dirty="0"/>
              <a:t>need</a:t>
            </a:r>
            <a:r>
              <a:rPr sz="2700" spc="79" dirty="0"/>
              <a:t> </a:t>
            </a:r>
            <a:r>
              <a:rPr sz="2700" dirty="0"/>
              <a:t>for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40824" y="1800987"/>
            <a:ext cx="5748338" cy="1666482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9049" marR="3810" indent="-476" algn="ctr">
              <a:lnSpc>
                <a:spcPts val="3225"/>
              </a:lnSpc>
              <a:spcBef>
                <a:spcPts val="195"/>
              </a:spcBef>
            </a:pPr>
            <a:r>
              <a:rPr sz="2700" spc="-34" dirty="0">
                <a:solidFill>
                  <a:srgbClr val="FFFFFF"/>
                </a:solidFill>
                <a:latin typeface="Times New Roman"/>
                <a:cs typeface="Times New Roman"/>
              </a:rPr>
              <a:t>proprietary </a:t>
            </a:r>
            <a:r>
              <a:rPr sz="2700" spc="-56" dirty="0">
                <a:solidFill>
                  <a:srgbClr val="FFFFFF"/>
                </a:solidFill>
                <a:latin typeface="Times New Roman"/>
                <a:cs typeface="Times New Roman"/>
              </a:rPr>
              <a:t>plug-in-based rich </a:t>
            </a:r>
            <a:r>
              <a:rPr sz="2700" spc="-15" dirty="0">
                <a:solidFill>
                  <a:srgbClr val="FFFFFF"/>
                </a:solidFill>
                <a:latin typeface="Times New Roman"/>
                <a:cs typeface="Times New Roman"/>
              </a:rPr>
              <a:t>internet  </a:t>
            </a:r>
            <a:r>
              <a:rPr sz="2700" spc="-49" dirty="0">
                <a:solidFill>
                  <a:srgbClr val="FFFFFF"/>
                </a:solidFill>
                <a:latin typeface="Times New Roman"/>
                <a:cs typeface="Times New Roman"/>
              </a:rPr>
              <a:t>application </a:t>
            </a:r>
            <a:r>
              <a:rPr sz="2700" spc="-83" dirty="0">
                <a:solidFill>
                  <a:srgbClr val="FFFFFF"/>
                </a:solidFill>
                <a:latin typeface="Times New Roman"/>
                <a:cs typeface="Times New Roman"/>
              </a:rPr>
              <a:t>(RIA) </a:t>
            </a:r>
            <a:r>
              <a:rPr sz="2700" spc="-49" dirty="0">
                <a:solidFill>
                  <a:srgbClr val="FFFFFF"/>
                </a:solidFill>
                <a:latin typeface="Times New Roman"/>
                <a:cs typeface="Times New Roman"/>
              </a:rPr>
              <a:t>technologies such </a:t>
            </a:r>
            <a:r>
              <a:rPr sz="2700" spc="-86" dirty="0">
                <a:solidFill>
                  <a:srgbClr val="FFFFFF"/>
                </a:solidFill>
                <a:latin typeface="Times New Roman"/>
                <a:cs typeface="Times New Roman"/>
              </a:rPr>
              <a:t>as  </a:t>
            </a:r>
            <a:r>
              <a:rPr sz="2700" spc="-30" dirty="0">
                <a:solidFill>
                  <a:srgbClr val="FFFFFF"/>
                </a:solidFill>
                <a:latin typeface="Times New Roman"/>
                <a:cs typeface="Times New Roman"/>
              </a:rPr>
              <a:t>Adobe </a:t>
            </a:r>
            <a:r>
              <a:rPr sz="2700" spc="-60" dirty="0">
                <a:solidFill>
                  <a:srgbClr val="FFFFFF"/>
                </a:solidFill>
                <a:latin typeface="Times New Roman"/>
                <a:cs typeface="Times New Roman"/>
              </a:rPr>
              <a:t>Flash, </a:t>
            </a:r>
            <a:r>
              <a:rPr sz="2700" spc="-41" dirty="0">
                <a:solidFill>
                  <a:srgbClr val="FFFFFF"/>
                </a:solidFill>
                <a:latin typeface="Times New Roman"/>
                <a:cs typeface="Times New Roman"/>
              </a:rPr>
              <a:t>Microsoft </a:t>
            </a:r>
            <a:r>
              <a:rPr sz="2700" spc="-94" dirty="0">
                <a:solidFill>
                  <a:srgbClr val="FFFFFF"/>
                </a:solidFill>
                <a:latin typeface="Times New Roman"/>
                <a:cs typeface="Times New Roman"/>
              </a:rPr>
              <a:t>Silverlight, </a:t>
            </a:r>
            <a:r>
              <a:rPr sz="2700" spc="-60" dirty="0">
                <a:solidFill>
                  <a:srgbClr val="FFFFFF"/>
                </a:solidFill>
                <a:latin typeface="Times New Roman"/>
                <a:cs typeface="Times New Roman"/>
              </a:rPr>
              <a:t>Apache  </a:t>
            </a:r>
            <a:r>
              <a:rPr sz="2700" spc="-53" dirty="0">
                <a:solidFill>
                  <a:srgbClr val="FFFFFF"/>
                </a:solidFill>
                <a:latin typeface="Times New Roman"/>
                <a:cs typeface="Times New Roman"/>
              </a:rPr>
              <a:t>Pivot, </a:t>
            </a:r>
            <a:r>
              <a:rPr sz="2700" spc="-26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700" spc="-71" dirty="0">
                <a:solidFill>
                  <a:srgbClr val="FFFFFF"/>
                </a:solidFill>
                <a:latin typeface="Times New Roman"/>
                <a:cs typeface="Times New Roman"/>
              </a:rPr>
              <a:t>Sun</a:t>
            </a:r>
            <a:r>
              <a:rPr sz="2700" spc="6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105" dirty="0">
                <a:solidFill>
                  <a:srgbClr val="FFFFFF"/>
                </a:solidFill>
                <a:latin typeface="Times New Roman"/>
                <a:cs typeface="Times New Roman"/>
              </a:rPr>
              <a:t>JavaFX.”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15815" y="3945256"/>
            <a:ext cx="3428048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98" dirty="0">
                <a:solidFill>
                  <a:srgbClr val="FFFFFF"/>
                </a:solidFill>
                <a:latin typeface="Trebuchet MS"/>
                <a:cs typeface="Trebuchet MS"/>
                <a:hlinkClick r:id="rId2"/>
              </a:rPr>
              <a:t>http://en.wikipedia.org/wiki/HTML5</a:t>
            </a:r>
            <a:endParaRPr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2094" y="671702"/>
            <a:ext cx="6005513" cy="2777683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9525" marR="3810" algn="ctr">
              <a:lnSpc>
                <a:spcPct val="100299"/>
              </a:lnSpc>
              <a:spcBef>
                <a:spcPts val="60"/>
              </a:spcBef>
              <a:tabLst>
                <a:tab pos="1674019" algn="l"/>
              </a:tabLst>
            </a:pPr>
            <a:r>
              <a:rPr sz="3600" spc="-94" dirty="0">
                <a:solidFill>
                  <a:srgbClr val="FFFFFF"/>
                </a:solidFill>
                <a:latin typeface="Times New Roman"/>
                <a:cs typeface="Times New Roman"/>
              </a:rPr>
              <a:t>Some</a:t>
            </a:r>
            <a:r>
              <a:rPr sz="3600" dirty="0">
                <a:solidFill>
                  <a:srgbClr val="FFFFFF"/>
                </a:solidFill>
                <a:latin typeface="Times New Roman"/>
                <a:cs typeface="Times New Roman"/>
              </a:rPr>
              <a:t> of	</a:t>
            </a:r>
            <a:r>
              <a:rPr sz="3600" spc="-8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3600" spc="-90" dirty="0">
                <a:solidFill>
                  <a:srgbClr val="FFFFFF"/>
                </a:solidFill>
                <a:latin typeface="Times New Roman"/>
                <a:cs typeface="Times New Roman"/>
              </a:rPr>
              <a:t>new </a:t>
            </a:r>
            <a:r>
              <a:rPr sz="3600" spc="-60" dirty="0">
                <a:solidFill>
                  <a:srgbClr val="FFFFFF"/>
                </a:solidFill>
                <a:latin typeface="Times New Roman"/>
                <a:cs typeface="Times New Roman"/>
              </a:rPr>
              <a:t>features </a:t>
            </a:r>
            <a:r>
              <a:rPr sz="3600" spc="-71" dirty="0">
                <a:solidFill>
                  <a:srgbClr val="FFFFFF"/>
                </a:solidFill>
                <a:latin typeface="Times New Roman"/>
                <a:cs typeface="Times New Roman"/>
              </a:rPr>
              <a:t>in  </a:t>
            </a:r>
            <a:r>
              <a:rPr sz="3600" spc="-49" dirty="0">
                <a:solidFill>
                  <a:srgbClr val="FFFFFF"/>
                </a:solidFill>
                <a:latin typeface="Times New Roman"/>
                <a:cs typeface="Times New Roman"/>
              </a:rPr>
              <a:t>HTML </a:t>
            </a:r>
            <a:r>
              <a:rPr sz="3600" spc="-113" dirty="0">
                <a:solidFill>
                  <a:srgbClr val="FFFFFF"/>
                </a:solidFill>
                <a:latin typeface="Times New Roman"/>
                <a:cs typeface="Times New Roman"/>
              </a:rPr>
              <a:t>5 </a:t>
            </a:r>
            <a:r>
              <a:rPr lang="en-GB" sz="3600" spc="-79" dirty="0">
                <a:solidFill>
                  <a:srgbClr val="FFFFFF"/>
                </a:solidFill>
                <a:latin typeface="Times New Roman"/>
                <a:cs typeface="Times New Roman"/>
              </a:rPr>
              <a:t>were </a:t>
            </a:r>
            <a:r>
              <a:rPr sz="3600" spc="-34" dirty="0">
                <a:solidFill>
                  <a:srgbClr val="FFFFFF"/>
                </a:solidFill>
                <a:latin typeface="Times New Roman"/>
                <a:cs typeface="Times New Roman"/>
              </a:rPr>
              <a:t>functions </a:t>
            </a:r>
            <a:r>
              <a:rPr sz="3600" dirty="0">
                <a:solidFill>
                  <a:srgbClr val="FFFFFF"/>
                </a:solidFill>
                <a:latin typeface="Times New Roman"/>
                <a:cs typeface="Times New Roman"/>
              </a:rPr>
              <a:t>for  </a:t>
            </a:r>
            <a:r>
              <a:rPr sz="3600" spc="-60" dirty="0">
                <a:solidFill>
                  <a:srgbClr val="FFFFFF"/>
                </a:solidFill>
                <a:latin typeface="Times New Roman"/>
                <a:cs typeface="Times New Roman"/>
              </a:rPr>
              <a:t>embedding </a:t>
            </a:r>
            <a:r>
              <a:rPr sz="3600" spc="-98" dirty="0">
                <a:solidFill>
                  <a:srgbClr val="FFFFFF"/>
                </a:solidFill>
                <a:latin typeface="Times New Roman"/>
                <a:cs typeface="Times New Roman"/>
              </a:rPr>
              <a:t>audio, </a:t>
            </a:r>
            <a:r>
              <a:rPr sz="3600" spc="-105" dirty="0">
                <a:solidFill>
                  <a:srgbClr val="FFFFFF"/>
                </a:solidFill>
                <a:latin typeface="Times New Roman"/>
                <a:cs typeface="Times New Roman"/>
              </a:rPr>
              <a:t>video, </a:t>
            </a:r>
            <a:r>
              <a:rPr sz="3600" spc="-86" dirty="0">
                <a:solidFill>
                  <a:srgbClr val="FFFFFF"/>
                </a:solidFill>
                <a:latin typeface="Times New Roman"/>
                <a:cs typeface="Times New Roman"/>
              </a:rPr>
              <a:t>graphics,  </a:t>
            </a:r>
            <a:r>
              <a:rPr sz="3600" spc="-83" dirty="0">
                <a:solidFill>
                  <a:srgbClr val="FFFFFF"/>
                </a:solidFill>
                <a:latin typeface="Times New Roman"/>
                <a:cs typeface="Times New Roman"/>
              </a:rPr>
              <a:t>client-side </a:t>
            </a:r>
            <a:r>
              <a:rPr sz="3600" spc="-56" dirty="0">
                <a:solidFill>
                  <a:srgbClr val="FFFFFF"/>
                </a:solidFill>
                <a:latin typeface="Times New Roman"/>
                <a:cs typeface="Times New Roman"/>
              </a:rPr>
              <a:t>data </a:t>
            </a:r>
            <a:r>
              <a:rPr sz="3600" spc="-68" dirty="0">
                <a:solidFill>
                  <a:srgbClr val="FFFFFF"/>
                </a:solidFill>
                <a:latin typeface="Times New Roman"/>
                <a:cs typeface="Times New Roman"/>
              </a:rPr>
              <a:t>storage, </a:t>
            </a:r>
            <a:r>
              <a:rPr sz="3600" spc="-34" dirty="0">
                <a:solidFill>
                  <a:srgbClr val="FFFFFF"/>
                </a:solidFill>
                <a:latin typeface="Times New Roman"/>
                <a:cs typeface="Times New Roman"/>
              </a:rPr>
              <a:t>and  </a:t>
            </a:r>
            <a:r>
              <a:rPr sz="3600" spc="-83" dirty="0">
                <a:solidFill>
                  <a:srgbClr val="FFFFFF"/>
                </a:solidFill>
                <a:latin typeface="Times New Roman"/>
                <a:cs typeface="Times New Roman"/>
              </a:rPr>
              <a:t>interactive</a:t>
            </a:r>
            <a:r>
              <a:rPr sz="3600" spc="-8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spc="-49" dirty="0">
                <a:solidFill>
                  <a:srgbClr val="FFFFFF"/>
                </a:solidFill>
                <a:latin typeface="Times New Roman"/>
                <a:cs typeface="Times New Roman"/>
              </a:rPr>
              <a:t>documents.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93119" y="3926967"/>
            <a:ext cx="5050631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en-GB" spc="-86" dirty="0">
                <a:solidFill>
                  <a:srgbClr val="FFFFFF"/>
                </a:solidFill>
                <a:latin typeface="Trebuchet MS"/>
                <a:cs typeface="Trebuchet MS"/>
              </a:rPr>
              <a:t>https://www.w3schools.com/html/</a:t>
            </a:r>
            <a:r>
              <a:rPr lang="en-GB" spc="-86" dirty="0" err="1">
                <a:solidFill>
                  <a:srgbClr val="FFFFFF"/>
                </a:solidFill>
                <a:latin typeface="Trebuchet MS"/>
                <a:cs typeface="Trebuchet MS"/>
              </a:rPr>
              <a:t>html_media.asp</a:t>
            </a:r>
            <a:endParaRPr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2803" y="776858"/>
            <a:ext cx="3861911" cy="111761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7200" dirty="0">
                <a:latin typeface="Courier New"/>
                <a:cs typeface="Courier New"/>
              </a:rPr>
              <a:t>DOCTYPE</a:t>
            </a:r>
            <a:endParaRPr sz="72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80072" y="2244470"/>
            <a:ext cx="4126706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3600" spc="-8" dirty="0">
                <a:solidFill>
                  <a:srgbClr val="FFFFFF"/>
                </a:solidFill>
                <a:latin typeface="Courier New"/>
                <a:cs typeface="Courier New"/>
              </a:rPr>
              <a:t>&lt;!DOCTYPE</a:t>
            </a:r>
            <a:r>
              <a:rPr sz="3600" spc="-79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600" spc="-8" dirty="0">
                <a:solidFill>
                  <a:srgbClr val="FFFFFF"/>
                </a:solidFill>
                <a:latin typeface="Courier New"/>
                <a:cs typeface="Courier New"/>
              </a:rPr>
              <a:t>html&gt;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5456" y="3367658"/>
            <a:ext cx="5596890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-94" dirty="0">
                <a:solidFill>
                  <a:srgbClr val="FFFFFF"/>
                </a:solidFill>
                <a:latin typeface="Trebuchet MS"/>
                <a:cs typeface="Trebuchet MS"/>
                <a:hlinkClick r:id="rId2"/>
              </a:rPr>
              <a:t>http://www.w3schools.com/tags/tag_doctype.asp</a:t>
            </a:r>
            <a:endParaRPr sz="2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1403" y="1488566"/>
            <a:ext cx="5570219" cy="167417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spcBef>
                <a:spcPts val="75"/>
              </a:spcBef>
            </a:pPr>
            <a:r>
              <a:rPr sz="6600" spc="-94" dirty="0">
                <a:latin typeface="Trebuchet MS"/>
                <a:cs typeface="Trebuchet MS"/>
              </a:rPr>
              <a:t>Comments</a:t>
            </a:r>
            <a:endParaRPr sz="6600">
              <a:latin typeface="Trebuchet MS"/>
              <a:cs typeface="Trebuchet MS"/>
            </a:endParaRPr>
          </a:p>
          <a:p>
            <a:pPr algn="ctr">
              <a:spcBef>
                <a:spcPts val="172"/>
              </a:spcBef>
            </a:pPr>
            <a:r>
              <a:rPr sz="4050" spc="-4" dirty="0">
                <a:latin typeface="Courier New"/>
                <a:cs typeface="Courier New"/>
              </a:rPr>
              <a:t>&lt;!-- </a:t>
            </a:r>
            <a:r>
              <a:rPr sz="4050" dirty="0">
                <a:latin typeface="Courier New"/>
                <a:cs typeface="Courier New"/>
              </a:rPr>
              <a:t>a </a:t>
            </a:r>
            <a:r>
              <a:rPr sz="4050" spc="-4" dirty="0">
                <a:latin typeface="Courier New"/>
                <a:cs typeface="Courier New"/>
              </a:rPr>
              <a:t>comment</a:t>
            </a:r>
            <a:r>
              <a:rPr sz="4050" spc="-79" dirty="0">
                <a:latin typeface="Courier New"/>
                <a:cs typeface="Courier New"/>
              </a:rPr>
              <a:t> </a:t>
            </a:r>
            <a:r>
              <a:rPr sz="4050" spc="-4" dirty="0">
                <a:latin typeface="Courier New"/>
                <a:cs typeface="Courier New"/>
              </a:rPr>
              <a:t>--&gt;</a:t>
            </a:r>
            <a:endParaRPr sz="40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TML hello world code in vs code">
            <a:extLst>
              <a:ext uri="{FF2B5EF4-FFF2-40B4-BE49-F238E27FC236}">
                <a16:creationId xmlns:a16="http://schemas.microsoft.com/office/drawing/2014/main" id="{2E0C4EC3-447C-B15A-9906-5895CB8F9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09550"/>
            <a:ext cx="7772400" cy="3207019"/>
          </a:xfrm>
          <a:prstGeom prst="rect">
            <a:avLst/>
          </a:prstGeom>
        </p:spPr>
      </p:pic>
      <p:pic>
        <p:nvPicPr>
          <p:cNvPr id="8" name="Picture 7" descr="HTML hello world code in web browser">
            <a:extLst>
              <a:ext uri="{FF2B5EF4-FFF2-40B4-BE49-F238E27FC236}">
                <a16:creationId xmlns:a16="http://schemas.microsoft.com/office/drawing/2014/main" id="{EA5F1B07-DABD-87F2-D7A5-7F705E1C58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896"/>
          <a:stretch/>
        </p:blipFill>
        <p:spPr>
          <a:xfrm>
            <a:off x="3009900" y="3152612"/>
            <a:ext cx="5562600" cy="153399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 descr="Title tag as viewed in the browser tab">
            <a:extLst>
              <a:ext uri="{FF2B5EF4-FFF2-40B4-BE49-F238E27FC236}">
                <a16:creationId xmlns:a16="http://schemas.microsoft.com/office/drawing/2014/main" id="{00FDBAA4-7F6A-0343-1B18-30BC9F332D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4324350"/>
            <a:ext cx="3302000" cy="7239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6E039FC-48C7-0B39-51D2-F33215D6B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209800" y="2952750"/>
            <a:ext cx="1143000" cy="12192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780326B-CBEF-696A-5597-CB0DF429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895600" y="2076331"/>
            <a:ext cx="3962400" cy="22480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C0F8F-AE1D-2B09-90E5-ADF5A9B04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showing right click in browser to get menu item &quot;View Page Source&quot;">
            <a:extLst>
              <a:ext uri="{FF2B5EF4-FFF2-40B4-BE49-F238E27FC236}">
                <a16:creationId xmlns:a16="http://schemas.microsoft.com/office/drawing/2014/main" id="{15D50941-D543-B75F-AE5D-232DEC1C9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82150"/>
            <a:ext cx="3276600" cy="309966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 descr="Screen shot of source code in browser">
            <a:extLst>
              <a:ext uri="{FF2B5EF4-FFF2-40B4-BE49-F238E27FC236}">
                <a16:creationId xmlns:a16="http://schemas.microsoft.com/office/drawing/2014/main" id="{96FA63B0-BF32-1FD0-80AE-4BBECD543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581" y="1611868"/>
            <a:ext cx="5402779" cy="233529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B150AF-7EC9-527B-B9F8-D2EF8450C381}"/>
              </a:ext>
            </a:extLst>
          </p:cNvPr>
          <p:cNvSpPr txBox="1"/>
          <p:nvPr/>
        </p:nvSpPr>
        <p:spPr>
          <a:xfrm>
            <a:off x="1333500" y="209550"/>
            <a:ext cx="6477000" cy="87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Right click on your web page and select “View Page Source” to view the HTML of the page</a:t>
            </a:r>
          </a:p>
        </p:txBody>
      </p:sp>
    </p:spTree>
    <p:extLst>
      <p:ext uri="{BB962C8B-B14F-4D97-AF65-F5344CB8AC3E}">
        <p14:creationId xmlns:p14="http://schemas.microsoft.com/office/powerpoint/2010/main" val="4252497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6656" y="332614"/>
            <a:ext cx="3614738" cy="51744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3300" spc="-101" dirty="0">
                <a:latin typeface="Trebuchet MS"/>
                <a:cs typeface="Trebuchet MS"/>
              </a:rPr>
              <a:t>Html</a:t>
            </a:r>
            <a:r>
              <a:rPr sz="3300" spc="-341" dirty="0">
                <a:latin typeface="Trebuchet MS"/>
                <a:cs typeface="Trebuchet MS"/>
              </a:rPr>
              <a:t> </a:t>
            </a:r>
            <a:r>
              <a:rPr sz="3300" spc="-64" dirty="0">
                <a:latin typeface="Trebuchet MS"/>
                <a:cs typeface="Trebuchet MS"/>
              </a:rPr>
              <a:t>Demonstration</a:t>
            </a:r>
            <a:endParaRPr sz="33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3505" y="1125094"/>
            <a:ext cx="5097780" cy="3540713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66700" indent="-257175" algn="l" defTabSz="685800" rtl="0">
              <a:spcBef>
                <a:spcPts val="630"/>
              </a:spcBef>
              <a:buFontTx/>
              <a:buChar char="•"/>
              <a:tabLst>
                <a:tab pos="266224" algn="l"/>
                <a:tab pos="266700" algn="l"/>
              </a:tabLst>
            </a:pPr>
            <a:r>
              <a:rPr sz="2100" kern="1200" spc="-75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Head/Body </a:t>
            </a:r>
            <a:r>
              <a:rPr sz="2100" kern="1200" spc="-113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(head, </a:t>
            </a:r>
            <a:r>
              <a:rPr sz="2100" kern="1200" spc="-68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body,</a:t>
            </a:r>
            <a:r>
              <a:rPr sz="2100" kern="1200" spc="-398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 </a:t>
            </a:r>
            <a:r>
              <a:rPr sz="2100" kern="1200" spc="-135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title)</a:t>
            </a:r>
            <a:endParaRPr sz="2100" kern="1200">
              <a:solidFill>
                <a:srgbClr val="000000"/>
              </a:solidFill>
              <a:latin typeface="Trebuchet MS"/>
              <a:ea typeface="+mn-ea"/>
              <a:cs typeface="Trebuchet MS"/>
            </a:endParaRPr>
          </a:p>
          <a:p>
            <a:pPr marL="266700" indent="-257175" algn="l" defTabSz="685800" rtl="0">
              <a:spcBef>
                <a:spcPts val="559"/>
              </a:spcBef>
              <a:buFontTx/>
              <a:buChar char="•"/>
              <a:tabLst>
                <a:tab pos="266224" algn="l"/>
                <a:tab pos="266700" algn="l"/>
              </a:tabLst>
            </a:pPr>
            <a:r>
              <a:rPr sz="2100" kern="1200" spc="-26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Headings </a:t>
            </a:r>
            <a:r>
              <a:rPr sz="2100" kern="1200" spc="-131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(h1, </a:t>
            </a:r>
            <a:r>
              <a:rPr sz="2100" kern="1200" spc="-116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h2,</a:t>
            </a:r>
            <a:r>
              <a:rPr sz="2100" kern="1200" spc="-428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 </a:t>
            </a:r>
            <a:r>
              <a:rPr sz="2100" kern="1200" spc="-172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etc.)</a:t>
            </a:r>
            <a:endParaRPr sz="2100" kern="1200">
              <a:solidFill>
                <a:srgbClr val="000000"/>
              </a:solidFill>
              <a:latin typeface="Trebuchet MS"/>
              <a:ea typeface="+mn-ea"/>
              <a:cs typeface="Trebuchet MS"/>
            </a:endParaRPr>
          </a:p>
          <a:p>
            <a:pPr marL="266700" indent="-257175" algn="l" defTabSz="685800" rtl="0">
              <a:spcBef>
                <a:spcPts val="488"/>
              </a:spcBef>
              <a:buFontTx/>
              <a:buChar char="•"/>
              <a:tabLst>
                <a:tab pos="266224" algn="l"/>
                <a:tab pos="266700" algn="l"/>
              </a:tabLst>
            </a:pPr>
            <a:r>
              <a:rPr sz="2100" kern="1200" spc="-49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Paragraphs</a:t>
            </a:r>
            <a:r>
              <a:rPr sz="2100" kern="1200" spc="-195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 </a:t>
            </a:r>
            <a:r>
              <a:rPr sz="2100" kern="1200" spc="-109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(p)</a:t>
            </a:r>
            <a:endParaRPr sz="2100" kern="1200">
              <a:solidFill>
                <a:srgbClr val="000000"/>
              </a:solidFill>
              <a:latin typeface="Trebuchet MS"/>
              <a:ea typeface="+mn-ea"/>
              <a:cs typeface="Trebuchet MS"/>
            </a:endParaRPr>
          </a:p>
          <a:p>
            <a:pPr marL="266700" indent="-257175" algn="l" defTabSz="685800" rtl="0">
              <a:spcBef>
                <a:spcPts val="469"/>
              </a:spcBef>
              <a:buFontTx/>
              <a:buChar char="•"/>
              <a:tabLst>
                <a:tab pos="266224" algn="l"/>
                <a:tab pos="266700" algn="l"/>
              </a:tabLst>
            </a:pPr>
            <a:r>
              <a:rPr sz="2100" kern="1200" spc="-53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Links</a:t>
            </a:r>
            <a:r>
              <a:rPr sz="2100" kern="1200" spc="-195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 </a:t>
            </a:r>
            <a:r>
              <a:rPr sz="2100" kern="1200" spc="-146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(a)</a:t>
            </a:r>
            <a:endParaRPr sz="2100" kern="1200">
              <a:solidFill>
                <a:srgbClr val="000000"/>
              </a:solidFill>
              <a:latin typeface="Trebuchet MS"/>
              <a:ea typeface="+mn-ea"/>
              <a:cs typeface="Trebuchet MS"/>
            </a:endParaRPr>
          </a:p>
          <a:p>
            <a:pPr marL="266700" indent="-257175" algn="l" defTabSz="685800" rtl="0">
              <a:spcBef>
                <a:spcPts val="484"/>
              </a:spcBef>
              <a:buFontTx/>
              <a:buChar char="•"/>
              <a:tabLst>
                <a:tab pos="266224" algn="l"/>
                <a:tab pos="266700" algn="l"/>
              </a:tabLst>
            </a:pPr>
            <a:r>
              <a:rPr sz="2100" kern="1200" spc="-30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Images</a:t>
            </a:r>
            <a:r>
              <a:rPr sz="2100" kern="1200" spc="-195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 </a:t>
            </a:r>
            <a:r>
              <a:rPr sz="2100" kern="1200" spc="-68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(img)</a:t>
            </a:r>
            <a:endParaRPr sz="2100" kern="1200">
              <a:solidFill>
                <a:srgbClr val="000000"/>
              </a:solidFill>
              <a:latin typeface="Trebuchet MS"/>
              <a:ea typeface="+mn-ea"/>
              <a:cs typeface="Trebuchet MS"/>
            </a:endParaRPr>
          </a:p>
          <a:p>
            <a:pPr marL="266700" indent="-257175" algn="l" defTabSz="685800" rtl="0">
              <a:spcBef>
                <a:spcPts val="559"/>
              </a:spcBef>
              <a:buFontTx/>
              <a:buChar char="•"/>
              <a:tabLst>
                <a:tab pos="266224" algn="l"/>
                <a:tab pos="266700" algn="l"/>
              </a:tabLst>
            </a:pPr>
            <a:r>
              <a:rPr sz="2100" kern="1200" spc="-53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Empty </a:t>
            </a:r>
            <a:r>
              <a:rPr sz="2100" kern="1200" spc="-71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elements </a:t>
            </a:r>
            <a:r>
              <a:rPr sz="2100" kern="1200" spc="-158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(br,</a:t>
            </a:r>
            <a:r>
              <a:rPr sz="2100" kern="1200" spc="-458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 </a:t>
            </a:r>
            <a:r>
              <a:rPr sz="2100" kern="1200" spc="-101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hr)</a:t>
            </a:r>
            <a:endParaRPr sz="2100" kern="1200">
              <a:solidFill>
                <a:srgbClr val="000000"/>
              </a:solidFill>
              <a:latin typeface="Trebuchet MS"/>
              <a:ea typeface="+mn-ea"/>
              <a:cs typeface="Trebuchet MS"/>
            </a:endParaRPr>
          </a:p>
          <a:p>
            <a:pPr marL="266700" indent="-257175" algn="l" defTabSz="685800" rtl="0">
              <a:spcBef>
                <a:spcPts val="469"/>
              </a:spcBef>
              <a:buFontTx/>
              <a:buChar char="•"/>
              <a:tabLst>
                <a:tab pos="266224" algn="l"/>
                <a:tab pos="266700" algn="l"/>
              </a:tabLst>
            </a:pPr>
            <a:r>
              <a:rPr sz="2100" kern="1200" spc="-49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Simple</a:t>
            </a:r>
            <a:r>
              <a:rPr sz="2100" kern="1200" spc="-195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 </a:t>
            </a:r>
            <a:r>
              <a:rPr sz="2100" kern="1200" spc="-56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Formatting</a:t>
            </a:r>
            <a:r>
              <a:rPr sz="2100" kern="1200" spc="-191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 </a:t>
            </a:r>
            <a:r>
              <a:rPr sz="2100" kern="1200" spc="-83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(strong,</a:t>
            </a:r>
            <a:r>
              <a:rPr sz="2100" kern="1200" spc="-199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 </a:t>
            </a:r>
            <a:r>
              <a:rPr sz="2100" kern="1200" spc="-143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em,</a:t>
            </a:r>
            <a:r>
              <a:rPr sz="2100" kern="1200" spc="-195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 </a:t>
            </a:r>
            <a:r>
              <a:rPr sz="2100" kern="1200" spc="-105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code,</a:t>
            </a:r>
            <a:r>
              <a:rPr sz="2100" kern="1200" spc="-199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 </a:t>
            </a:r>
            <a:r>
              <a:rPr sz="2100" kern="1200" spc="-90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small)</a:t>
            </a:r>
            <a:endParaRPr sz="2100" kern="1200">
              <a:solidFill>
                <a:srgbClr val="000000"/>
              </a:solidFill>
              <a:latin typeface="Trebuchet MS"/>
              <a:ea typeface="+mn-ea"/>
              <a:cs typeface="Trebuchet MS"/>
            </a:endParaRPr>
          </a:p>
          <a:p>
            <a:pPr marL="266700" indent="-257175" algn="l" defTabSz="685800" rtl="0">
              <a:spcBef>
                <a:spcPts val="484"/>
              </a:spcBef>
              <a:buFontTx/>
              <a:buChar char="•"/>
              <a:tabLst>
                <a:tab pos="266224" algn="l"/>
                <a:tab pos="266700" algn="l"/>
              </a:tabLst>
            </a:pPr>
            <a:r>
              <a:rPr sz="2100" kern="1200" spc="-75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Lists</a:t>
            </a:r>
            <a:r>
              <a:rPr sz="2100" kern="1200" spc="-195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 </a:t>
            </a:r>
            <a:r>
              <a:rPr sz="2100" kern="1200" spc="-150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(ul,ol,li)</a:t>
            </a:r>
            <a:endParaRPr sz="2100" kern="1200">
              <a:solidFill>
                <a:srgbClr val="000000"/>
              </a:solidFill>
              <a:latin typeface="Trebuchet MS"/>
              <a:ea typeface="+mn-ea"/>
              <a:cs typeface="Trebuchet MS"/>
            </a:endParaRPr>
          </a:p>
          <a:p>
            <a:pPr marL="266700" indent="-257175" algn="l" defTabSz="685800" rtl="0">
              <a:spcBef>
                <a:spcPts val="559"/>
              </a:spcBef>
              <a:buFontTx/>
              <a:buChar char="•"/>
              <a:tabLst>
                <a:tab pos="266224" algn="l"/>
                <a:tab pos="266700" algn="l"/>
              </a:tabLst>
            </a:pPr>
            <a:r>
              <a:rPr sz="2100" kern="1200" spc="-53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Sections</a:t>
            </a:r>
            <a:r>
              <a:rPr sz="2100" kern="1200" spc="-195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 </a:t>
            </a:r>
            <a:r>
              <a:rPr sz="2100" kern="1200" spc="-98" dirty="0">
                <a:solidFill>
                  <a:srgbClr val="FFFFFF"/>
                </a:solidFill>
                <a:latin typeface="Trebuchet MS"/>
                <a:ea typeface="+mn-ea"/>
                <a:cs typeface="Trebuchet MS"/>
              </a:rPr>
              <a:t>(div)</a:t>
            </a:r>
            <a:endParaRPr sz="2100" kern="1200">
              <a:solidFill>
                <a:srgbClr val="000000"/>
              </a:solidFill>
              <a:latin typeface="Trebuchet MS"/>
              <a:ea typeface="+mn-ea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4350" y="27588"/>
            <a:ext cx="33305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033D"/>
                </a:solidFill>
              </a:rPr>
              <a:t>Navigating</a:t>
            </a:r>
            <a:r>
              <a:rPr sz="2800" spc="-25" dirty="0">
                <a:solidFill>
                  <a:srgbClr val="00033D"/>
                </a:solidFill>
              </a:rPr>
              <a:t> </a:t>
            </a:r>
            <a:r>
              <a:rPr sz="2800" spc="70" dirty="0">
                <a:solidFill>
                  <a:srgbClr val="00033D"/>
                </a:solidFill>
              </a:rPr>
              <a:t>the</a:t>
            </a:r>
            <a:r>
              <a:rPr sz="2800" spc="-105" dirty="0">
                <a:solidFill>
                  <a:srgbClr val="00033D"/>
                </a:solidFill>
              </a:rPr>
              <a:t> </a:t>
            </a:r>
            <a:r>
              <a:rPr sz="2800" spc="60" dirty="0">
                <a:solidFill>
                  <a:srgbClr val="00033D"/>
                </a:solidFill>
              </a:rPr>
              <a:t>web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54350" y="663858"/>
            <a:ext cx="4246250" cy="4269567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95250">
              <a:lnSpc>
                <a:spcPct val="101000"/>
              </a:lnSpc>
              <a:spcBef>
                <a:spcPts val="85"/>
              </a:spcBef>
            </a:pPr>
            <a:r>
              <a:rPr sz="1300" dirty="0">
                <a:latin typeface="Arial"/>
                <a:cs typeface="Arial"/>
              </a:rPr>
              <a:t>When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we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navigate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the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web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there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are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lots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of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terms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that </a:t>
            </a:r>
            <a:r>
              <a:rPr sz="1300" spc="-10" dirty="0">
                <a:latin typeface="Arial"/>
                <a:cs typeface="Arial"/>
              </a:rPr>
              <a:t>are</a:t>
            </a:r>
            <a:r>
              <a:rPr sz="1300" spc="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thrown</a:t>
            </a:r>
            <a:r>
              <a:rPr sz="1300" spc="1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around:</a:t>
            </a:r>
            <a:endParaRPr sz="13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 dirty="0">
              <a:latin typeface="Arial"/>
              <a:cs typeface="Arial"/>
            </a:endParaRPr>
          </a:p>
          <a:p>
            <a:pPr marL="469265" indent="-327660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300" dirty="0">
                <a:latin typeface="Arial"/>
                <a:cs typeface="Arial"/>
              </a:rPr>
              <a:t>Click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the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link</a:t>
            </a:r>
            <a:endParaRPr sz="1300" dirty="0">
              <a:latin typeface="Arial"/>
              <a:cs typeface="Arial"/>
            </a:endParaRPr>
          </a:p>
          <a:p>
            <a:pPr marL="469265" indent="-327660">
              <a:lnSpc>
                <a:spcPct val="100000"/>
              </a:lnSpc>
              <a:spcBef>
                <a:spcPts val="15"/>
              </a:spcBef>
              <a:buChar char="●"/>
              <a:tabLst>
                <a:tab pos="469265" algn="l"/>
              </a:tabLst>
            </a:pPr>
            <a:r>
              <a:rPr sz="1300" spc="-40" dirty="0">
                <a:latin typeface="Arial"/>
                <a:cs typeface="Arial"/>
              </a:rPr>
              <a:t>Go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sz="1300" spc="55" dirty="0">
                <a:latin typeface="Arial"/>
                <a:cs typeface="Arial"/>
              </a:rPr>
              <a:t>to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the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URL</a:t>
            </a:r>
            <a:endParaRPr sz="13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spc="-30" dirty="0">
                <a:latin typeface="Arial"/>
                <a:cs typeface="Arial"/>
              </a:rPr>
              <a:t>Two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terms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that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are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spc="-55" dirty="0">
                <a:latin typeface="Arial"/>
                <a:cs typeface="Arial"/>
              </a:rPr>
              <a:t>less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spc="-50" dirty="0">
                <a:latin typeface="Arial"/>
                <a:cs typeface="Arial"/>
              </a:rPr>
              <a:t>used,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but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are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important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are</a:t>
            </a:r>
            <a:endParaRPr sz="1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300" b="1" spc="-70" dirty="0">
                <a:latin typeface="Arial"/>
                <a:cs typeface="Arial"/>
              </a:rPr>
              <a:t>Anchors </a:t>
            </a:r>
            <a:r>
              <a:rPr sz="1300" spc="-30" dirty="0">
                <a:latin typeface="Arial"/>
                <a:cs typeface="Arial"/>
              </a:rPr>
              <a:t>and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Hyperlinks</a:t>
            </a:r>
            <a:r>
              <a:rPr sz="1300" spc="-10" dirty="0">
                <a:latin typeface="Arial"/>
                <a:cs typeface="Arial"/>
              </a:rPr>
              <a:t>.</a:t>
            </a:r>
            <a:endParaRPr sz="13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 dirty="0">
              <a:latin typeface="Arial"/>
              <a:cs typeface="Arial"/>
            </a:endParaRPr>
          </a:p>
          <a:p>
            <a:pPr marL="12700" marR="8255">
              <a:lnSpc>
                <a:spcPct val="101000"/>
              </a:lnSpc>
            </a:pPr>
            <a:r>
              <a:rPr sz="1300" dirty="0">
                <a:latin typeface="Arial"/>
                <a:cs typeface="Arial"/>
              </a:rPr>
              <a:t>A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link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is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simply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the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shorthand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spc="55" dirty="0">
                <a:latin typeface="Arial"/>
                <a:cs typeface="Arial"/>
              </a:rPr>
              <a:t>for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spc="-75" dirty="0">
                <a:latin typeface="Arial"/>
                <a:cs typeface="Arial"/>
              </a:rPr>
              <a:t>a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hyperlink,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simply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put </a:t>
            </a:r>
            <a:r>
              <a:rPr sz="1300" spc="80" dirty="0">
                <a:latin typeface="Arial"/>
                <a:cs typeface="Arial"/>
              </a:rPr>
              <a:t>it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links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one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sz="1300" spc="-50" dirty="0">
                <a:latin typeface="Arial"/>
                <a:cs typeface="Arial"/>
              </a:rPr>
              <a:t>page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spc="55" dirty="0">
                <a:latin typeface="Arial"/>
                <a:cs typeface="Arial"/>
              </a:rPr>
              <a:t>to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another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-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usually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by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URL.</a:t>
            </a:r>
            <a:endParaRPr sz="13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 dirty="0">
              <a:latin typeface="Arial"/>
              <a:cs typeface="Arial"/>
            </a:endParaRPr>
          </a:p>
          <a:p>
            <a:pPr marL="12700" marR="303530">
              <a:lnSpc>
                <a:spcPct val="101000"/>
              </a:lnSpc>
            </a:pPr>
            <a:r>
              <a:rPr sz="1300" dirty="0">
                <a:latin typeface="Arial"/>
                <a:cs typeface="Arial"/>
              </a:rPr>
              <a:t>An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anchor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is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the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HTML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element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that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lets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spc="-55" dirty="0">
                <a:latin typeface="Arial"/>
                <a:cs typeface="Arial"/>
              </a:rPr>
              <a:t>us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deﬁne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spc="-50" dirty="0">
                <a:latin typeface="Arial"/>
                <a:cs typeface="Arial"/>
              </a:rPr>
              <a:t>a </a:t>
            </a:r>
            <a:r>
              <a:rPr sz="1300" dirty="0">
                <a:latin typeface="Arial"/>
                <a:cs typeface="Arial"/>
              </a:rPr>
              <a:t>hyperlink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on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spc="-75" dirty="0">
                <a:latin typeface="Arial"/>
                <a:cs typeface="Arial"/>
              </a:rPr>
              <a:t>a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spc="-60" dirty="0">
                <a:latin typeface="Arial"/>
                <a:cs typeface="Arial"/>
              </a:rPr>
              <a:t>page.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Within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this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we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spc="-55" dirty="0">
                <a:latin typeface="Arial"/>
                <a:cs typeface="Arial"/>
              </a:rPr>
              <a:t>use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the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“href” </a:t>
            </a:r>
            <a:r>
              <a:rPr sz="1300" dirty="0">
                <a:latin typeface="Arial"/>
                <a:cs typeface="Arial"/>
              </a:rPr>
              <a:t>attribute</a:t>
            </a:r>
            <a:r>
              <a:rPr sz="1300" spc="-10" dirty="0">
                <a:latin typeface="Arial"/>
                <a:cs typeface="Arial"/>
              </a:rPr>
              <a:t> </a:t>
            </a:r>
            <a:r>
              <a:rPr sz="1300" spc="55" dirty="0">
                <a:latin typeface="Arial"/>
                <a:cs typeface="Arial"/>
              </a:rPr>
              <a:t>to</a:t>
            </a:r>
            <a:r>
              <a:rPr sz="1300" spc="-1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indicate</a:t>
            </a:r>
            <a:r>
              <a:rPr sz="1300" spc="-1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the</a:t>
            </a:r>
            <a:r>
              <a:rPr sz="1300" spc="-1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links</a:t>
            </a:r>
            <a:r>
              <a:rPr sz="1300" spc="-10" dirty="0">
                <a:latin typeface="Arial"/>
                <a:cs typeface="Arial"/>
              </a:rPr>
              <a:t> destination.</a:t>
            </a:r>
            <a:endParaRPr sz="13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50" dirty="0">
              <a:latin typeface="Arial"/>
              <a:cs typeface="Arial"/>
            </a:endParaRPr>
          </a:p>
          <a:p>
            <a:pPr marL="12700" marR="5080" algn="just">
              <a:lnSpc>
                <a:spcPct val="101000"/>
              </a:lnSpc>
            </a:pPr>
            <a:r>
              <a:rPr sz="1300" spc="-105" dirty="0">
                <a:latin typeface="Arial"/>
                <a:cs typeface="Arial"/>
              </a:rPr>
              <a:t>As</a:t>
            </a:r>
            <a:r>
              <a:rPr sz="1300" spc="1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well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spc="-180" dirty="0">
                <a:latin typeface="Arial"/>
                <a:cs typeface="Arial"/>
              </a:rPr>
              <a:t>as</a:t>
            </a:r>
            <a:r>
              <a:rPr sz="1300" spc="9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linking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spc="45" dirty="0">
                <a:latin typeface="Arial"/>
                <a:cs typeface="Arial"/>
              </a:rPr>
              <a:t>to</a:t>
            </a:r>
            <a:r>
              <a:rPr sz="1300" spc="-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other</a:t>
            </a:r>
            <a:r>
              <a:rPr sz="1300" spc="-5" dirty="0">
                <a:latin typeface="Arial"/>
                <a:cs typeface="Arial"/>
              </a:rPr>
              <a:t> </a:t>
            </a:r>
            <a:r>
              <a:rPr sz="1300" spc="-80" dirty="0">
                <a:latin typeface="Arial"/>
                <a:cs typeface="Arial"/>
              </a:rPr>
              <a:t>pages</a:t>
            </a:r>
            <a:r>
              <a:rPr sz="1300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anchors</a:t>
            </a:r>
            <a:r>
              <a:rPr sz="1300" spc="-5" dirty="0">
                <a:latin typeface="Arial"/>
                <a:cs typeface="Arial"/>
              </a:rPr>
              <a:t> </a:t>
            </a:r>
            <a:r>
              <a:rPr sz="1300" spc="-85" dirty="0">
                <a:latin typeface="Arial"/>
                <a:cs typeface="Arial"/>
              </a:rPr>
              <a:t>can</a:t>
            </a:r>
            <a:r>
              <a:rPr sz="1300" spc="-5" dirty="0">
                <a:latin typeface="Arial"/>
                <a:cs typeface="Arial"/>
              </a:rPr>
              <a:t> </a:t>
            </a:r>
            <a:r>
              <a:rPr sz="1300" spc="-55" dirty="0">
                <a:latin typeface="Arial"/>
                <a:cs typeface="Arial"/>
              </a:rPr>
              <a:t>also</a:t>
            </a:r>
            <a:r>
              <a:rPr sz="1300" spc="-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link</a:t>
            </a:r>
            <a:r>
              <a:rPr sz="1300" spc="-5" dirty="0">
                <a:latin typeface="Arial"/>
                <a:cs typeface="Arial"/>
              </a:rPr>
              <a:t> </a:t>
            </a:r>
            <a:r>
              <a:rPr sz="1300" spc="30" dirty="0">
                <a:latin typeface="Arial"/>
                <a:cs typeface="Arial"/>
              </a:rPr>
              <a:t>to </a:t>
            </a:r>
            <a:r>
              <a:rPr sz="1300" spc="-25" dirty="0">
                <a:latin typeface="Arial"/>
                <a:cs typeface="Arial"/>
              </a:rPr>
              <a:t>sections</a:t>
            </a:r>
            <a:r>
              <a:rPr sz="1300" dirty="0">
                <a:latin typeface="Arial"/>
                <a:cs typeface="Arial"/>
              </a:rPr>
              <a:t> within the</a:t>
            </a:r>
            <a:r>
              <a:rPr sz="1300" spc="5" dirty="0">
                <a:latin typeface="Arial"/>
                <a:cs typeface="Arial"/>
              </a:rPr>
              <a:t> </a:t>
            </a:r>
            <a:r>
              <a:rPr sz="1300" spc="-85" dirty="0">
                <a:latin typeface="Arial"/>
                <a:cs typeface="Arial"/>
              </a:rPr>
              <a:t>same</a:t>
            </a:r>
            <a:r>
              <a:rPr sz="1300" dirty="0">
                <a:latin typeface="Arial"/>
                <a:cs typeface="Arial"/>
              </a:rPr>
              <a:t> </a:t>
            </a:r>
            <a:r>
              <a:rPr sz="1300" spc="-75" dirty="0">
                <a:latin typeface="Arial"/>
                <a:cs typeface="Arial"/>
              </a:rPr>
              <a:t>page</a:t>
            </a:r>
            <a:r>
              <a:rPr lang="en-GB" sz="1300" spc="-75" dirty="0">
                <a:latin typeface="Arial"/>
                <a:cs typeface="Arial"/>
              </a:rPr>
              <a:t>…</a:t>
            </a:r>
          </a:p>
          <a:p>
            <a:pPr marL="12700" marR="5080" algn="just">
              <a:lnSpc>
                <a:spcPct val="101000"/>
              </a:lnSpc>
            </a:pPr>
            <a:endParaRPr sz="1350" dirty="0">
              <a:latin typeface="Arial"/>
              <a:cs typeface="Arial"/>
            </a:endParaRPr>
          </a:p>
          <a:p>
            <a:pPr marL="12700" marR="241300">
              <a:lnSpc>
                <a:spcPct val="101000"/>
              </a:lnSpc>
            </a:pPr>
            <a:r>
              <a:rPr sz="1300" spc="-25" dirty="0">
                <a:latin typeface="Arial"/>
                <a:cs typeface="Arial"/>
              </a:rPr>
              <a:t>This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allows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sz="1300" spc="-35" dirty="0">
                <a:latin typeface="Arial"/>
                <a:cs typeface="Arial"/>
              </a:rPr>
              <a:t>users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spc="55" dirty="0">
                <a:latin typeface="Arial"/>
                <a:cs typeface="Arial"/>
              </a:rPr>
              <a:t>to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be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taken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lang="en-GB" sz="1300" spc="-85" dirty="0">
                <a:latin typeface="Arial"/>
                <a:cs typeface="Arial"/>
              </a:rPr>
              <a:t>to </a:t>
            </a:r>
            <a:r>
              <a:rPr sz="1300" spc="-20" dirty="0">
                <a:latin typeface="Arial"/>
                <a:cs typeface="Arial"/>
              </a:rPr>
              <a:t>speciﬁc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parts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of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spc="-75" dirty="0">
                <a:latin typeface="Arial"/>
                <a:cs typeface="Arial"/>
              </a:rPr>
              <a:t>a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page </a:t>
            </a:r>
            <a:r>
              <a:rPr sz="1300" dirty="0">
                <a:latin typeface="Arial"/>
                <a:cs typeface="Arial"/>
              </a:rPr>
              <a:t>automatically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spc="50" dirty="0">
                <a:latin typeface="Arial"/>
                <a:cs typeface="Arial"/>
              </a:rPr>
              <a:t>with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the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browser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scrolling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them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there.</a:t>
            </a:r>
            <a:endParaRPr sz="13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3950" y="1560700"/>
              <a:ext cx="2022099" cy="20220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6777" y="2812047"/>
            <a:ext cx="5830444" cy="19876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73FBE7-2107-48EE-7324-A15453D5CBD2}"/>
              </a:ext>
            </a:extLst>
          </p:cNvPr>
          <p:cNvSpPr txBox="1"/>
          <p:nvPr/>
        </p:nvSpPr>
        <p:spPr>
          <a:xfrm>
            <a:off x="152400" y="475445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week1/</a:t>
            </a:r>
            <a:r>
              <a:rPr lang="en-US" sz="1400" dirty="0" err="1"/>
              <a:t>anchors.html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331DCD-5940-F8E6-B6AE-596FF26BD2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518" b="12592"/>
          <a:stretch/>
        </p:blipFill>
        <p:spPr>
          <a:xfrm>
            <a:off x="939456" y="7682"/>
            <a:ext cx="7265087" cy="26957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4350" y="855563"/>
            <a:ext cx="19596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5" dirty="0">
                <a:solidFill>
                  <a:srgbClr val="00033D"/>
                </a:solidFill>
              </a:rPr>
              <a:t>Multimedia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54350" y="1491833"/>
            <a:ext cx="4072254" cy="28238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89915">
              <a:lnSpc>
                <a:spcPct val="101000"/>
              </a:lnSpc>
              <a:spcBef>
                <a:spcPts val="85"/>
              </a:spcBef>
            </a:pPr>
            <a:r>
              <a:rPr sz="1300" spc="-35" dirty="0">
                <a:latin typeface="Arial"/>
                <a:cs typeface="Arial"/>
              </a:rPr>
              <a:t>The</a:t>
            </a:r>
            <a:r>
              <a:rPr sz="1300" spc="-1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majority</a:t>
            </a:r>
            <a:r>
              <a:rPr sz="1300" spc="-1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of</a:t>
            </a:r>
            <a:r>
              <a:rPr sz="1300" spc="-1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the</a:t>
            </a:r>
            <a:r>
              <a:rPr sz="1300" spc="-1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internet</a:t>
            </a:r>
            <a:r>
              <a:rPr sz="1300" spc="-1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now</a:t>
            </a:r>
            <a:r>
              <a:rPr sz="1300" spc="-10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is</a:t>
            </a:r>
            <a:r>
              <a:rPr sz="1300" spc="-1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full</a:t>
            </a:r>
            <a:r>
              <a:rPr sz="1300" spc="-1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of</a:t>
            </a:r>
            <a:r>
              <a:rPr sz="1300" spc="-10" dirty="0">
                <a:latin typeface="Arial"/>
                <a:cs typeface="Arial"/>
              </a:rPr>
              <a:t> media </a:t>
            </a:r>
            <a:r>
              <a:rPr sz="1300" spc="-25" dirty="0">
                <a:latin typeface="Arial"/>
                <a:cs typeface="Arial"/>
              </a:rPr>
              <a:t>elements,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this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is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due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spc="55" dirty="0">
                <a:latin typeface="Arial"/>
                <a:cs typeface="Arial"/>
              </a:rPr>
              <a:t>to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the</a:t>
            </a:r>
            <a:r>
              <a:rPr sz="1300" spc="-45" dirty="0">
                <a:latin typeface="Arial"/>
                <a:cs typeface="Arial"/>
              </a:rPr>
              <a:t> speed </a:t>
            </a:r>
            <a:r>
              <a:rPr sz="1300" dirty="0">
                <a:latin typeface="Arial"/>
                <a:cs typeface="Arial"/>
              </a:rPr>
              <a:t>of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internet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and </a:t>
            </a:r>
            <a:r>
              <a:rPr sz="1300" spc="-30" dirty="0">
                <a:latin typeface="Arial"/>
                <a:cs typeface="Arial"/>
              </a:rPr>
              <a:t>advancements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in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browser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technology.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Arial"/>
              <a:cs typeface="Arial"/>
            </a:endParaRPr>
          </a:p>
          <a:p>
            <a:pPr marL="12700" marR="5080" algn="just">
              <a:lnSpc>
                <a:spcPct val="101000"/>
              </a:lnSpc>
            </a:pPr>
            <a:r>
              <a:rPr sz="1300" dirty="0">
                <a:latin typeface="Arial"/>
                <a:cs typeface="Arial"/>
              </a:rPr>
              <a:t>In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previous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spc="-35" dirty="0">
                <a:latin typeface="Arial"/>
                <a:cs typeface="Arial"/>
              </a:rPr>
              <a:t>years </a:t>
            </a:r>
            <a:r>
              <a:rPr sz="1300" spc="-30" dirty="0">
                <a:latin typeface="Arial"/>
                <a:cs typeface="Arial"/>
              </a:rPr>
              <a:t>we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would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spc="-60" dirty="0">
                <a:latin typeface="Arial"/>
                <a:cs typeface="Arial"/>
              </a:rPr>
              <a:t>have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spc="45" dirty="0">
                <a:latin typeface="Arial"/>
                <a:cs typeface="Arial"/>
              </a:rPr>
              <a:t>to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spc="-95" dirty="0">
                <a:latin typeface="Arial"/>
                <a:cs typeface="Arial"/>
              </a:rPr>
              <a:t>use</a:t>
            </a:r>
            <a:r>
              <a:rPr sz="1300" spc="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technology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such </a:t>
            </a:r>
            <a:r>
              <a:rPr sz="1300" spc="-180" dirty="0">
                <a:latin typeface="Arial"/>
                <a:cs typeface="Arial"/>
              </a:rPr>
              <a:t>as</a:t>
            </a:r>
            <a:r>
              <a:rPr sz="1300" spc="85" dirty="0">
                <a:latin typeface="Arial"/>
                <a:cs typeface="Arial"/>
              </a:rPr>
              <a:t> </a:t>
            </a:r>
            <a:r>
              <a:rPr sz="1300" spc="-80" dirty="0">
                <a:latin typeface="Arial"/>
                <a:cs typeface="Arial"/>
              </a:rPr>
              <a:t>Java</a:t>
            </a:r>
            <a:r>
              <a:rPr sz="1300" spc="-1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or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spc="-60" dirty="0">
                <a:latin typeface="Arial"/>
                <a:cs typeface="Arial"/>
              </a:rPr>
              <a:t>Flash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spc="45" dirty="0">
                <a:latin typeface="Arial"/>
                <a:cs typeface="Arial"/>
              </a:rPr>
              <a:t>to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present</a:t>
            </a:r>
            <a:r>
              <a:rPr sz="1300" spc="-2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most</a:t>
            </a:r>
            <a:r>
              <a:rPr sz="1300" spc="-25" dirty="0">
                <a:latin typeface="Arial"/>
                <a:cs typeface="Arial"/>
              </a:rPr>
              <a:t> </a:t>
            </a:r>
            <a:r>
              <a:rPr sz="1300" spc="-35" dirty="0">
                <a:latin typeface="Arial"/>
                <a:cs typeface="Arial"/>
              </a:rPr>
              <a:t>media</a:t>
            </a:r>
            <a:r>
              <a:rPr sz="1300" spc="-25" dirty="0">
                <a:latin typeface="Arial"/>
                <a:cs typeface="Arial"/>
              </a:rPr>
              <a:t> elements </a:t>
            </a:r>
            <a:r>
              <a:rPr sz="1300" spc="-10" dirty="0">
                <a:latin typeface="Arial"/>
                <a:cs typeface="Arial"/>
              </a:rPr>
              <a:t>(except </a:t>
            </a:r>
            <a:r>
              <a:rPr sz="1300" spc="-70" dirty="0">
                <a:latin typeface="Arial"/>
                <a:cs typeface="Arial"/>
              </a:rPr>
              <a:t>images).</a:t>
            </a:r>
            <a:r>
              <a:rPr sz="1300" spc="-2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In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modern</a:t>
            </a:r>
            <a:r>
              <a:rPr sz="1300" spc="-2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browsers</a:t>
            </a:r>
            <a:r>
              <a:rPr sz="1300" spc="-25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we</a:t>
            </a:r>
            <a:r>
              <a:rPr sz="1300" spc="-20" dirty="0">
                <a:latin typeface="Arial"/>
                <a:cs typeface="Arial"/>
              </a:rPr>
              <a:t> </a:t>
            </a:r>
            <a:r>
              <a:rPr sz="1300" spc="-85" dirty="0">
                <a:latin typeface="Arial"/>
                <a:cs typeface="Arial"/>
              </a:rPr>
              <a:t>can</a:t>
            </a:r>
            <a:r>
              <a:rPr sz="1300" spc="-1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natively</a:t>
            </a:r>
            <a:r>
              <a:rPr sz="1300" spc="-20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display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rich </a:t>
            </a:r>
            <a:r>
              <a:rPr sz="1300" spc="-30" dirty="0">
                <a:latin typeface="Arial"/>
                <a:cs typeface="Arial"/>
              </a:rPr>
              <a:t>media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elements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spc="-40" dirty="0">
                <a:latin typeface="Arial"/>
                <a:cs typeface="Arial"/>
              </a:rPr>
              <a:t>such</a:t>
            </a:r>
            <a:r>
              <a:rPr sz="1300" spc="-85" dirty="0">
                <a:latin typeface="Arial"/>
                <a:cs typeface="Arial"/>
              </a:rPr>
              <a:t> as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videos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and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audio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ﬁles.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Arial"/>
              <a:cs typeface="Arial"/>
            </a:endParaRPr>
          </a:p>
          <a:p>
            <a:pPr marL="12700" marR="57150" algn="just">
              <a:lnSpc>
                <a:spcPct val="101000"/>
              </a:lnSpc>
            </a:pPr>
            <a:r>
              <a:rPr sz="1300" dirty="0">
                <a:latin typeface="Arial"/>
                <a:cs typeface="Arial"/>
              </a:rPr>
              <a:t>However</a:t>
            </a:r>
            <a:r>
              <a:rPr sz="1300" spc="-20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we</a:t>
            </a:r>
            <a:r>
              <a:rPr sz="1300" spc="-1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still</a:t>
            </a:r>
            <a:r>
              <a:rPr sz="1300" spc="-20" dirty="0">
                <a:latin typeface="Arial"/>
                <a:cs typeface="Arial"/>
              </a:rPr>
              <a:t> </a:t>
            </a:r>
            <a:r>
              <a:rPr sz="1300" spc="-60" dirty="0">
                <a:latin typeface="Arial"/>
                <a:cs typeface="Arial"/>
              </a:rPr>
              <a:t>have</a:t>
            </a:r>
            <a:r>
              <a:rPr sz="1300" spc="-15" dirty="0">
                <a:latin typeface="Arial"/>
                <a:cs typeface="Arial"/>
              </a:rPr>
              <a:t> </a:t>
            </a:r>
            <a:r>
              <a:rPr sz="1300" spc="-65" dirty="0">
                <a:latin typeface="Arial"/>
                <a:cs typeface="Arial"/>
              </a:rPr>
              <a:t>some</a:t>
            </a:r>
            <a:r>
              <a:rPr sz="1300" spc="-1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limits</a:t>
            </a:r>
            <a:r>
              <a:rPr sz="1300" spc="-2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around</a:t>
            </a:r>
            <a:r>
              <a:rPr sz="1300" spc="-15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this </a:t>
            </a:r>
            <a:r>
              <a:rPr sz="1300" spc="-25" dirty="0">
                <a:latin typeface="Arial"/>
                <a:cs typeface="Arial"/>
              </a:rPr>
              <a:t>technology.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35" dirty="0">
                <a:latin typeface="Arial"/>
                <a:cs typeface="Arial"/>
              </a:rPr>
              <a:t>The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50" dirty="0">
                <a:latin typeface="Arial"/>
                <a:cs typeface="Arial"/>
              </a:rPr>
              <a:t>two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main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limitations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55" dirty="0">
                <a:latin typeface="Arial"/>
                <a:cs typeface="Arial"/>
              </a:rPr>
              <a:t>to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be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aware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of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are: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Arial"/>
              <a:cs typeface="Arial"/>
            </a:endParaRPr>
          </a:p>
          <a:p>
            <a:pPr marL="469265" indent="-327660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300" dirty="0">
                <a:latin typeface="Arial"/>
                <a:cs typeface="Arial"/>
              </a:rPr>
              <a:t>Auto-playing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Media</a:t>
            </a:r>
            <a:endParaRPr sz="1300">
              <a:latin typeface="Arial"/>
              <a:cs typeface="Arial"/>
            </a:endParaRPr>
          </a:p>
          <a:p>
            <a:pPr marL="469265" indent="-327660">
              <a:lnSpc>
                <a:spcPct val="100000"/>
              </a:lnSpc>
              <a:spcBef>
                <a:spcPts val="15"/>
              </a:spcBef>
              <a:buChar char="●"/>
              <a:tabLst>
                <a:tab pos="469265" algn="l"/>
              </a:tabLst>
            </a:pPr>
            <a:r>
              <a:rPr sz="1300" dirty="0">
                <a:latin typeface="Arial"/>
                <a:cs typeface="Arial"/>
              </a:rPr>
              <a:t>Media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Formats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971625" y="0"/>
            <a:ext cx="4172585" cy="5143500"/>
            <a:chOff x="4971625" y="0"/>
            <a:chExt cx="41725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71625" y="889199"/>
              <a:ext cx="4172374" cy="33651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2569" y="653797"/>
            <a:ext cx="6082188" cy="1375024"/>
          </a:xfrm>
          <a:prstGeom prst="rect">
            <a:avLst/>
          </a:prstGeom>
        </p:spPr>
        <p:txBody>
          <a:bodyPr vert="horz" wrap="square" lIns="0" tIns="39529" rIns="0" bIns="0" rtlCol="0">
            <a:spAutoFit/>
          </a:bodyPr>
          <a:lstStyle/>
          <a:p>
            <a:pPr marL="534829" marR="3810" indent="-525780">
              <a:lnSpc>
                <a:spcPts val="5235"/>
              </a:lnSpc>
              <a:spcBef>
                <a:spcPts val="311"/>
              </a:spcBef>
            </a:pPr>
            <a:r>
              <a:rPr sz="4425" spc="-34" dirty="0">
                <a:latin typeface="Trebuchet MS"/>
                <a:cs typeface="Trebuchet MS"/>
              </a:rPr>
              <a:t>HTML</a:t>
            </a:r>
            <a:r>
              <a:rPr sz="4425" spc="-409" dirty="0">
                <a:latin typeface="Trebuchet MS"/>
                <a:cs typeface="Trebuchet MS"/>
              </a:rPr>
              <a:t> </a:t>
            </a:r>
            <a:r>
              <a:rPr sz="4425" spc="-53" dirty="0">
                <a:latin typeface="Trebuchet MS"/>
                <a:cs typeface="Trebuchet MS"/>
              </a:rPr>
              <a:t>5</a:t>
            </a:r>
            <a:r>
              <a:rPr sz="4425" spc="-413" dirty="0">
                <a:latin typeface="Trebuchet MS"/>
                <a:cs typeface="Trebuchet MS"/>
              </a:rPr>
              <a:t> </a:t>
            </a:r>
            <a:r>
              <a:rPr sz="4425" spc="-113" dirty="0">
                <a:latin typeface="Trebuchet MS"/>
                <a:cs typeface="Trebuchet MS"/>
              </a:rPr>
              <a:t>also</a:t>
            </a:r>
            <a:r>
              <a:rPr sz="4425" spc="-413" dirty="0">
                <a:latin typeface="Trebuchet MS"/>
                <a:cs typeface="Trebuchet MS"/>
              </a:rPr>
              <a:t> </a:t>
            </a:r>
            <a:r>
              <a:rPr sz="4425" spc="-105" dirty="0">
                <a:latin typeface="Trebuchet MS"/>
                <a:cs typeface="Trebuchet MS"/>
              </a:rPr>
              <a:t>contains</a:t>
            </a:r>
            <a:r>
              <a:rPr sz="4425" spc="-409" dirty="0">
                <a:latin typeface="Trebuchet MS"/>
                <a:cs typeface="Trebuchet MS"/>
              </a:rPr>
              <a:t> </a:t>
            </a:r>
            <a:r>
              <a:rPr sz="4425" spc="-68" dirty="0">
                <a:latin typeface="Trebuchet MS"/>
                <a:cs typeface="Trebuchet MS"/>
              </a:rPr>
              <a:t>new  </a:t>
            </a:r>
            <a:r>
              <a:rPr sz="4425" spc="-146" dirty="0">
                <a:latin typeface="Trebuchet MS"/>
                <a:cs typeface="Trebuchet MS"/>
              </a:rPr>
              <a:t>elements </a:t>
            </a:r>
            <a:r>
              <a:rPr sz="4425" spc="-217" dirty="0">
                <a:latin typeface="Trebuchet MS"/>
                <a:cs typeface="Trebuchet MS"/>
              </a:rPr>
              <a:t>like</a:t>
            </a:r>
            <a:r>
              <a:rPr sz="4425" spc="-664" dirty="0">
                <a:latin typeface="Trebuchet MS"/>
                <a:cs typeface="Trebuchet MS"/>
              </a:rPr>
              <a:t> </a:t>
            </a:r>
            <a:r>
              <a:rPr sz="4425" spc="-124" dirty="0">
                <a:latin typeface="Courier New"/>
                <a:cs typeface="Courier New"/>
              </a:rPr>
              <a:t>&lt;nav&gt;</a:t>
            </a:r>
            <a:r>
              <a:rPr sz="4425" spc="-124" dirty="0">
                <a:latin typeface="Trebuchet MS"/>
                <a:cs typeface="Trebuchet MS"/>
              </a:rPr>
              <a:t>,</a:t>
            </a:r>
            <a:endParaRPr sz="4425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62113" y="1995679"/>
            <a:ext cx="5762625" cy="1935947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965359" marR="3810" indent="-956310">
              <a:lnSpc>
                <a:spcPct val="100299"/>
              </a:lnSpc>
              <a:spcBef>
                <a:spcPts val="56"/>
              </a:spcBef>
            </a:pPr>
            <a:r>
              <a:rPr sz="4425" spc="-83" dirty="0">
                <a:solidFill>
                  <a:srgbClr val="FFFFFF"/>
                </a:solidFill>
                <a:latin typeface="Courier New"/>
                <a:cs typeface="Courier New"/>
              </a:rPr>
              <a:t>&lt;header&gt;</a:t>
            </a:r>
            <a:r>
              <a:rPr sz="4425" spc="-83" dirty="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sz="4425" spc="-46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25" spc="-83" dirty="0">
                <a:solidFill>
                  <a:srgbClr val="FFFFFF"/>
                </a:solidFill>
                <a:latin typeface="Courier New"/>
                <a:cs typeface="Courier New"/>
              </a:rPr>
              <a:t>&lt;footer&gt;</a:t>
            </a:r>
            <a:r>
              <a:rPr sz="4425" spc="-83" dirty="0">
                <a:solidFill>
                  <a:srgbClr val="FFFFFF"/>
                </a:solidFill>
                <a:latin typeface="Trebuchet MS"/>
                <a:cs typeface="Trebuchet MS"/>
              </a:rPr>
              <a:t>,  </a:t>
            </a:r>
            <a:r>
              <a:rPr sz="4425" spc="-41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4425" spc="-40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25" spc="-83" dirty="0">
                <a:solidFill>
                  <a:srgbClr val="FFFFFF"/>
                </a:solidFill>
                <a:latin typeface="Courier New"/>
                <a:cs typeface="Courier New"/>
              </a:rPr>
              <a:t>&lt;figure&gt;</a:t>
            </a:r>
            <a:r>
              <a:rPr sz="4425" spc="-83" dirty="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endParaRPr lang="en-GB" sz="4425" spc="-83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965359" marR="3810" indent="-956310" algn="ctr">
              <a:lnSpc>
                <a:spcPct val="100299"/>
              </a:lnSpc>
              <a:spcBef>
                <a:spcPts val="56"/>
              </a:spcBef>
            </a:pPr>
            <a:r>
              <a:rPr lang="en-GB" sz="3600" spc="-83" dirty="0">
                <a:solidFill>
                  <a:srgbClr val="FFFFFF"/>
                </a:solidFill>
                <a:latin typeface="Trebuchet MS"/>
                <a:cs typeface="Trebuchet MS"/>
              </a:rPr>
              <a:t>These are </a:t>
            </a:r>
            <a:r>
              <a:rPr lang="en-GB" sz="3600" spc="-83" dirty="0">
                <a:solidFill>
                  <a:srgbClr val="FFFFFF"/>
                </a:solidFill>
                <a:latin typeface="Trebuchet MS"/>
                <a:cs typeface="Trebuchet MS"/>
                <a:hlinkClick r:id="rId2"/>
              </a:rPr>
              <a:t>Semantic</a:t>
            </a:r>
            <a:r>
              <a:rPr lang="en-GB" sz="3600" spc="-83" dirty="0">
                <a:solidFill>
                  <a:srgbClr val="FFFFFF"/>
                </a:solidFill>
                <a:latin typeface="Trebuchet MS"/>
                <a:cs typeface="Trebuchet MS"/>
              </a:rPr>
              <a:t> tags</a:t>
            </a:r>
            <a:endParaRPr sz="3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126901"/>
            <a:ext cx="25285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033D"/>
                </a:solidFill>
              </a:rPr>
              <a:t>HTML</a:t>
            </a:r>
            <a:r>
              <a:rPr sz="2800" spc="-204" dirty="0">
                <a:solidFill>
                  <a:srgbClr val="00033D"/>
                </a:solidFill>
              </a:rPr>
              <a:t> </a:t>
            </a:r>
            <a:r>
              <a:rPr sz="2800" spc="-60" dirty="0">
                <a:solidFill>
                  <a:srgbClr val="00033D"/>
                </a:solidFill>
              </a:rPr>
              <a:t>Versions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39924" y="762155"/>
            <a:ext cx="4193540" cy="428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4800">
              <a:lnSpc>
                <a:spcPct val="100000"/>
              </a:lnSpc>
              <a:spcBef>
                <a:spcPts val="100"/>
              </a:spcBef>
            </a:pPr>
            <a:r>
              <a:rPr sz="1500" spc="-40" dirty="0">
                <a:latin typeface="Arial"/>
                <a:cs typeface="Arial"/>
              </a:rPr>
              <a:t>The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60" dirty="0">
                <a:latin typeface="Arial"/>
                <a:cs typeface="Arial"/>
              </a:rPr>
              <a:t>ﬁrst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version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HTML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was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created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1991, </a:t>
            </a:r>
            <a:r>
              <a:rPr sz="1500" spc="-45" dirty="0">
                <a:latin typeface="Arial"/>
                <a:cs typeface="Arial"/>
              </a:rPr>
              <a:t>since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then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there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have </a:t>
            </a:r>
            <a:r>
              <a:rPr sz="1500" spc="-35" dirty="0">
                <a:latin typeface="Arial"/>
                <a:cs typeface="Arial"/>
              </a:rPr>
              <a:t>been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improvements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and </a:t>
            </a:r>
            <a:r>
              <a:rPr sz="1500" dirty="0">
                <a:latin typeface="Arial"/>
                <a:cs typeface="Arial"/>
              </a:rPr>
              <a:t>iterations in</a:t>
            </a:r>
            <a:r>
              <a:rPr sz="1500" spc="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it.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1500" spc="-40" dirty="0">
                <a:latin typeface="Arial"/>
                <a:cs typeface="Arial"/>
              </a:rPr>
              <a:t>The</a:t>
            </a:r>
            <a:r>
              <a:rPr sz="1500" spc="-1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last</a:t>
            </a:r>
            <a:r>
              <a:rPr sz="1500" spc="-114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standard</a:t>
            </a:r>
            <a:r>
              <a:rPr sz="1500" spc="-114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version</a:t>
            </a:r>
            <a:r>
              <a:rPr sz="1500" spc="-114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1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HTML5.2</a:t>
            </a:r>
            <a:r>
              <a:rPr sz="1500" spc="-114" dirty="0">
                <a:latin typeface="Arial"/>
                <a:cs typeface="Arial"/>
              </a:rPr>
              <a:t> </a:t>
            </a:r>
            <a:r>
              <a:rPr sz="1500" spc="50" dirty="0">
                <a:latin typeface="Arial"/>
                <a:cs typeface="Arial"/>
              </a:rPr>
              <a:t>that</a:t>
            </a:r>
            <a:r>
              <a:rPr sz="1500" spc="-114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was</a:t>
            </a:r>
            <a:endParaRPr sz="1500">
              <a:latin typeface="Arial"/>
              <a:cs typeface="Arial"/>
            </a:endParaRPr>
          </a:p>
          <a:p>
            <a:pPr marL="12700" marR="16510">
              <a:lnSpc>
                <a:spcPct val="100000"/>
              </a:lnSpc>
            </a:pPr>
            <a:r>
              <a:rPr sz="1500" dirty="0">
                <a:latin typeface="Arial"/>
                <a:cs typeface="Arial"/>
              </a:rPr>
              <a:t>set-out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2017,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however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HTML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now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known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95" dirty="0">
                <a:latin typeface="Arial"/>
                <a:cs typeface="Arial"/>
              </a:rPr>
              <a:t>as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a </a:t>
            </a:r>
            <a:r>
              <a:rPr sz="1500" spc="-10" dirty="0">
                <a:latin typeface="Arial"/>
                <a:cs typeface="Arial"/>
              </a:rPr>
              <a:t>Living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Standard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-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this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60" dirty="0">
                <a:latin typeface="Arial"/>
                <a:cs typeface="Arial"/>
              </a:rPr>
              <a:t>means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50" dirty="0">
                <a:latin typeface="Arial"/>
                <a:cs typeface="Arial"/>
              </a:rPr>
              <a:t>that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standard simply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progresses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over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time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60" dirty="0">
                <a:latin typeface="Arial"/>
                <a:cs typeface="Arial"/>
              </a:rPr>
              <a:t>with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no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formal versioning.</a:t>
            </a:r>
            <a:endParaRPr sz="1500">
              <a:latin typeface="Arial"/>
              <a:cs typeface="Arial"/>
            </a:endParaRPr>
          </a:p>
          <a:p>
            <a:pPr marL="12700" marR="210820">
              <a:lnSpc>
                <a:spcPct val="100000"/>
              </a:lnSpc>
              <a:spcBef>
                <a:spcPts val="1575"/>
              </a:spcBef>
            </a:pPr>
            <a:r>
              <a:rPr sz="1500" spc="-20" dirty="0">
                <a:latin typeface="Arial"/>
                <a:cs typeface="Arial"/>
              </a:rPr>
              <a:t>For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modern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web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development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main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changes </a:t>
            </a:r>
            <a:r>
              <a:rPr sz="1500" spc="-65" dirty="0">
                <a:latin typeface="Arial"/>
                <a:cs typeface="Arial"/>
              </a:rPr>
              <a:t>came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around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2014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when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HTML5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became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the </a:t>
            </a:r>
            <a:r>
              <a:rPr sz="1500" dirty="0">
                <a:latin typeface="Arial"/>
                <a:cs typeface="Arial"/>
              </a:rPr>
              <a:t>standard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moved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65" dirty="0">
                <a:latin typeface="Arial"/>
                <a:cs typeface="Arial"/>
              </a:rPr>
              <a:t>us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away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from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XHTML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and </a:t>
            </a:r>
            <a:r>
              <a:rPr sz="1500" spc="-10" dirty="0">
                <a:latin typeface="Arial"/>
                <a:cs typeface="Arial"/>
              </a:rPr>
              <a:t>HTML4.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575"/>
              </a:spcBef>
            </a:pPr>
            <a:r>
              <a:rPr sz="1500" dirty="0">
                <a:latin typeface="Arial"/>
                <a:cs typeface="Arial"/>
              </a:rPr>
              <a:t>HTML5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introduced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variety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new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elements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such </a:t>
            </a:r>
            <a:r>
              <a:rPr sz="1500" spc="-95" dirty="0">
                <a:latin typeface="Arial"/>
                <a:cs typeface="Arial"/>
              </a:rPr>
              <a:t>as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video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audio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tag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but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also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new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semantic </a:t>
            </a:r>
            <a:r>
              <a:rPr sz="1500" spc="-55" dirty="0">
                <a:latin typeface="Arial"/>
                <a:cs typeface="Arial"/>
              </a:rPr>
              <a:t>tags.</a:t>
            </a:r>
            <a:r>
              <a:rPr sz="1500" spc="-60" dirty="0">
                <a:latin typeface="Arial"/>
                <a:cs typeface="Arial"/>
              </a:rPr>
              <a:t> These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tags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give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more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deﬁnition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our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page </a:t>
            </a:r>
            <a:r>
              <a:rPr sz="1500" dirty="0">
                <a:latin typeface="Arial"/>
                <a:cs typeface="Arial"/>
              </a:rPr>
              <a:t>structure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50" dirty="0">
                <a:latin typeface="Arial"/>
                <a:cs typeface="Arial"/>
              </a:rPr>
              <a:t>that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help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60" dirty="0">
                <a:latin typeface="Arial"/>
                <a:cs typeface="Arial"/>
              </a:rPr>
              <a:t>with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accessibility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SEO.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29650" y="1591375"/>
              <a:ext cx="3770699" cy="19607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4350" y="60226"/>
            <a:ext cx="381825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033D"/>
                </a:solidFill>
              </a:rPr>
              <a:t>Inspect</a:t>
            </a:r>
            <a:r>
              <a:rPr sz="2800" spc="-15" dirty="0">
                <a:solidFill>
                  <a:srgbClr val="00033D"/>
                </a:solidFill>
              </a:rPr>
              <a:t> </a:t>
            </a:r>
            <a:r>
              <a:rPr sz="2800" spc="-50" dirty="0">
                <a:solidFill>
                  <a:srgbClr val="00033D"/>
                </a:solidFill>
              </a:rPr>
              <a:t>&amp;</a:t>
            </a:r>
            <a:r>
              <a:rPr sz="2800" spc="-120" dirty="0">
                <a:solidFill>
                  <a:srgbClr val="00033D"/>
                </a:solidFill>
              </a:rPr>
              <a:t> </a:t>
            </a:r>
            <a:r>
              <a:rPr sz="2800" dirty="0">
                <a:solidFill>
                  <a:srgbClr val="00033D"/>
                </a:solidFill>
              </a:rPr>
              <a:t>View</a:t>
            </a:r>
            <a:r>
              <a:rPr sz="2800" spc="-100" dirty="0">
                <a:solidFill>
                  <a:srgbClr val="00033D"/>
                </a:solidFill>
              </a:rPr>
              <a:t> </a:t>
            </a:r>
            <a:r>
              <a:rPr sz="2800" spc="-10" dirty="0">
                <a:solidFill>
                  <a:srgbClr val="00033D"/>
                </a:solidFill>
              </a:rPr>
              <a:t>Source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54350" y="696495"/>
            <a:ext cx="4058285" cy="400939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121285">
              <a:lnSpc>
                <a:spcPct val="101000"/>
              </a:lnSpc>
              <a:spcBef>
                <a:spcPts val="85"/>
              </a:spcBef>
            </a:pPr>
            <a:r>
              <a:rPr sz="1300" spc="-35" dirty="0">
                <a:latin typeface="Arial"/>
                <a:cs typeface="Arial"/>
              </a:rPr>
              <a:t>The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ﬁnal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item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I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want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spc="55" dirty="0">
                <a:latin typeface="Arial"/>
                <a:cs typeface="Arial"/>
              </a:rPr>
              <a:t>to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45" dirty="0">
                <a:latin typeface="Arial"/>
                <a:cs typeface="Arial"/>
              </a:rPr>
              <a:t>discuss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is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how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spc="55" dirty="0">
                <a:latin typeface="Arial"/>
                <a:cs typeface="Arial"/>
              </a:rPr>
              <a:t>to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inspect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and </a:t>
            </a:r>
            <a:r>
              <a:rPr sz="1300" dirty="0">
                <a:latin typeface="Arial"/>
                <a:cs typeface="Arial"/>
              </a:rPr>
              <a:t>view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source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of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websites,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this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section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will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be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speciﬁcally </a:t>
            </a:r>
            <a:r>
              <a:rPr sz="1300" dirty="0">
                <a:latin typeface="Arial"/>
                <a:cs typeface="Arial"/>
              </a:rPr>
              <a:t>targeted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55" dirty="0">
                <a:latin typeface="Arial"/>
                <a:cs typeface="Arial"/>
              </a:rPr>
              <a:t>to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Chrome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however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most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browsers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will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have </a:t>
            </a:r>
            <a:r>
              <a:rPr sz="1300" dirty="0">
                <a:latin typeface="Arial"/>
                <a:cs typeface="Arial"/>
              </a:rPr>
              <a:t>this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functionality.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ts val="1430"/>
              </a:lnSpc>
            </a:pPr>
            <a:r>
              <a:rPr sz="1200" b="1" dirty="0">
                <a:latin typeface="Arial"/>
                <a:cs typeface="Arial"/>
              </a:rPr>
              <a:t>View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Source</a:t>
            </a:r>
            <a:endParaRPr sz="1200">
              <a:latin typeface="Arial"/>
              <a:cs typeface="Arial"/>
            </a:endParaRPr>
          </a:p>
          <a:p>
            <a:pPr marL="12700" marR="45720">
              <a:lnSpc>
                <a:spcPts val="1430"/>
              </a:lnSpc>
              <a:spcBef>
                <a:spcPts val="50"/>
              </a:spcBef>
            </a:pPr>
            <a:r>
              <a:rPr sz="1200" spc="-25" dirty="0">
                <a:latin typeface="Arial"/>
                <a:cs typeface="Arial"/>
              </a:rPr>
              <a:t>This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is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simplest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way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55" dirty="0">
                <a:latin typeface="Arial"/>
                <a:cs typeface="Arial"/>
              </a:rPr>
              <a:t>to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view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a </a:t>
            </a:r>
            <a:r>
              <a:rPr sz="1200" spc="-10" dirty="0">
                <a:latin typeface="Arial"/>
                <a:cs typeface="Arial"/>
              </a:rPr>
              <a:t>website's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HTML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code. </a:t>
            </a:r>
            <a:r>
              <a:rPr sz="1200" spc="-25" dirty="0">
                <a:latin typeface="Arial"/>
                <a:cs typeface="Arial"/>
              </a:rPr>
              <a:t>Simply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right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click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on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page,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and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select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“View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Page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Source”.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Arial"/>
              <a:cs typeface="Arial"/>
            </a:endParaRPr>
          </a:p>
          <a:p>
            <a:pPr marL="12700" marR="5080">
              <a:lnSpc>
                <a:spcPts val="1430"/>
              </a:lnSpc>
              <a:spcBef>
                <a:spcPts val="5"/>
              </a:spcBef>
            </a:pPr>
            <a:r>
              <a:rPr sz="1200" spc="-25" dirty="0">
                <a:latin typeface="Arial"/>
                <a:cs typeface="Arial"/>
              </a:rPr>
              <a:t>This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will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show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you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HTML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code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as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75" dirty="0">
                <a:latin typeface="Arial"/>
                <a:cs typeface="Arial"/>
              </a:rPr>
              <a:t>it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is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sent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55" dirty="0">
                <a:latin typeface="Arial"/>
                <a:cs typeface="Arial"/>
              </a:rPr>
              <a:t>to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browser, </a:t>
            </a:r>
            <a:r>
              <a:rPr sz="1200" dirty="0">
                <a:latin typeface="Arial"/>
                <a:cs typeface="Arial"/>
              </a:rPr>
              <a:t>this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is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before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any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other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javascript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code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has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manipulated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it.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ts val="1430"/>
              </a:lnSpc>
            </a:pPr>
            <a:r>
              <a:rPr sz="1200" b="1" spc="-10" dirty="0">
                <a:latin typeface="Arial"/>
                <a:cs typeface="Arial"/>
              </a:rPr>
              <a:t>Inspect</a:t>
            </a:r>
            <a:endParaRPr sz="1200">
              <a:latin typeface="Arial"/>
              <a:cs typeface="Arial"/>
            </a:endParaRPr>
          </a:p>
          <a:p>
            <a:pPr marL="12700" marR="275590">
              <a:lnSpc>
                <a:spcPts val="1430"/>
              </a:lnSpc>
              <a:spcBef>
                <a:spcPts val="50"/>
              </a:spcBef>
            </a:pPr>
            <a:r>
              <a:rPr sz="1200" spc="-35" dirty="0">
                <a:latin typeface="Arial"/>
                <a:cs typeface="Arial"/>
              </a:rPr>
              <a:t>The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drawback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55" dirty="0">
                <a:latin typeface="Arial"/>
                <a:cs typeface="Arial"/>
              </a:rPr>
              <a:t>to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above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is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that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it’s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non-</a:t>
            </a:r>
            <a:r>
              <a:rPr sz="1200" spc="-10" dirty="0">
                <a:latin typeface="Arial"/>
                <a:cs typeface="Arial"/>
              </a:rPr>
              <a:t>interactive,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it’s </a:t>
            </a:r>
            <a:r>
              <a:rPr sz="1200" dirty="0">
                <a:latin typeface="Arial"/>
                <a:cs typeface="Arial"/>
              </a:rPr>
              <a:t>hard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55" dirty="0">
                <a:latin typeface="Arial"/>
                <a:cs typeface="Arial"/>
              </a:rPr>
              <a:t>to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read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and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doesn’t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necessarily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represent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code </a:t>
            </a:r>
            <a:r>
              <a:rPr sz="1200" dirty="0">
                <a:latin typeface="Arial"/>
                <a:cs typeface="Arial"/>
              </a:rPr>
              <a:t>you’re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seeing/interacting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with.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>
              <a:latin typeface="Arial"/>
              <a:cs typeface="Arial"/>
            </a:endParaRPr>
          </a:p>
          <a:p>
            <a:pPr marL="12700" marR="16510">
              <a:lnSpc>
                <a:spcPts val="1430"/>
              </a:lnSpc>
              <a:spcBef>
                <a:spcPts val="5"/>
              </a:spcBef>
            </a:pPr>
            <a:r>
              <a:rPr sz="1200" spc="50" dirty="0">
                <a:latin typeface="Arial"/>
                <a:cs typeface="Arial"/>
              </a:rPr>
              <a:t>If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we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right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click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and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select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inspect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(or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enable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Developer</a:t>
            </a:r>
            <a:r>
              <a:rPr sz="1200" spc="50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Tools)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we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will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see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a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screen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load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that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shows</a:t>
            </a:r>
            <a:r>
              <a:rPr sz="1200" spc="-50" dirty="0">
                <a:latin typeface="Arial"/>
                <a:cs typeface="Arial"/>
              </a:rPr>
              <a:t> us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HTML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code </a:t>
            </a:r>
            <a:r>
              <a:rPr sz="1200" spc="-75" dirty="0">
                <a:latin typeface="Arial"/>
                <a:cs typeface="Arial"/>
              </a:rPr>
              <a:t>as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browser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is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rendering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it.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This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tool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lets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us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look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much </a:t>
            </a:r>
            <a:r>
              <a:rPr sz="1200" dirty="0">
                <a:latin typeface="Arial"/>
                <a:cs typeface="Arial"/>
              </a:rPr>
              <a:t>more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detail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and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allows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us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55" dirty="0">
                <a:latin typeface="Arial"/>
                <a:cs typeface="Arial"/>
              </a:rPr>
              <a:t>to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manipulate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code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live.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28250" y="0"/>
            <a:ext cx="4116070" cy="5143500"/>
            <a:chOff x="5028250" y="0"/>
            <a:chExt cx="4116070" cy="5143500"/>
          </a:xfrm>
        </p:grpSpPr>
        <p:sp>
          <p:nvSpPr>
            <p:cNvPr id="5" name="object 5"/>
            <p:cNvSpPr/>
            <p:nvPr/>
          </p:nvSpPr>
          <p:spPr>
            <a:xfrm>
              <a:off x="5086099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5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28250" y="0"/>
              <a:ext cx="4115749" cy="26940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64187" y="2819600"/>
              <a:ext cx="1855750" cy="19782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605250"/>
            <a:ext cx="8839198" cy="18323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2728410"/>
            <a:ext cx="8839199" cy="180983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624705" cy="5143500"/>
            <a:chOff x="0" y="0"/>
            <a:chExt cx="4624705" cy="5143500"/>
          </a:xfrm>
        </p:grpSpPr>
        <p:sp>
          <p:nvSpPr>
            <p:cNvPr id="3" name="object 3"/>
            <p:cNvSpPr/>
            <p:nvPr/>
          </p:nvSpPr>
          <p:spPr>
            <a:xfrm>
              <a:off x="425198" y="415650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>
                  <a:moveTo>
                    <a:pt x="0" y="0"/>
                  </a:moveTo>
                  <a:lnTo>
                    <a:pt x="1832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567197" cy="514349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624350" cy="3840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894800" y="397576"/>
            <a:ext cx="3890645" cy="4019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5" dirty="0">
                <a:solidFill>
                  <a:srgbClr val="00033D"/>
                </a:solidFill>
                <a:latin typeface="Arial"/>
                <a:cs typeface="Arial"/>
              </a:rPr>
              <a:t>Lab</a:t>
            </a:r>
            <a:endParaRPr sz="2800">
              <a:latin typeface="Arial"/>
              <a:cs typeface="Arial"/>
            </a:endParaRPr>
          </a:p>
          <a:p>
            <a:pPr marL="12700" marR="117475">
              <a:lnSpc>
                <a:spcPct val="100699"/>
              </a:lnSpc>
              <a:spcBef>
                <a:spcPts val="1615"/>
              </a:spcBef>
            </a:pPr>
            <a:r>
              <a:rPr sz="1800" spc="-35" dirty="0">
                <a:latin typeface="Arial"/>
                <a:cs typeface="Arial"/>
              </a:rPr>
              <a:t>This</a:t>
            </a:r>
            <a:r>
              <a:rPr sz="1800" spc="-1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week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spc="60" dirty="0">
                <a:latin typeface="Arial"/>
                <a:cs typeface="Arial"/>
              </a:rPr>
              <a:t>will</a:t>
            </a:r>
            <a:r>
              <a:rPr sz="1800" spc="-120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be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getting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everyone </a:t>
            </a:r>
            <a:r>
              <a:rPr sz="1800" dirty="0">
                <a:latin typeface="Arial"/>
                <a:cs typeface="Arial"/>
              </a:rPr>
              <a:t>familiar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70" dirty="0">
                <a:latin typeface="Arial"/>
                <a:cs typeface="Arial"/>
              </a:rPr>
              <a:t>with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55" dirty="0">
                <a:latin typeface="Arial"/>
                <a:cs typeface="Arial"/>
              </a:rPr>
              <a:t>their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development environment.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699"/>
              </a:lnSpc>
              <a:spcBef>
                <a:spcPts val="1575"/>
              </a:spcBef>
            </a:pPr>
            <a:r>
              <a:rPr sz="1800" spc="-35" dirty="0">
                <a:latin typeface="Arial"/>
                <a:cs typeface="Arial"/>
              </a:rPr>
              <a:t>This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60" dirty="0">
                <a:latin typeface="Arial"/>
                <a:cs typeface="Arial"/>
              </a:rPr>
              <a:t>will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be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utilising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Visual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Studio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Code </a:t>
            </a:r>
            <a:r>
              <a:rPr sz="1800" spc="80" dirty="0">
                <a:latin typeface="Arial"/>
                <a:cs typeface="Arial"/>
              </a:rPr>
              <a:t>to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create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a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simple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HTML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ﬁle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and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then </a:t>
            </a:r>
            <a:r>
              <a:rPr sz="1800" spc="-25" dirty="0">
                <a:latin typeface="Arial"/>
                <a:cs typeface="Arial"/>
              </a:rPr>
              <a:t>becoming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familiar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70" dirty="0">
                <a:latin typeface="Arial"/>
                <a:cs typeface="Arial"/>
              </a:rPr>
              <a:t>with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viewing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this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ﬁle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Chrome.</a:t>
            </a:r>
            <a:endParaRPr sz="1800">
              <a:latin typeface="Arial"/>
              <a:cs typeface="Arial"/>
            </a:endParaRPr>
          </a:p>
          <a:p>
            <a:pPr marL="12700" marR="106045">
              <a:lnSpc>
                <a:spcPct val="100699"/>
              </a:lnSpc>
              <a:spcBef>
                <a:spcPts val="1575"/>
              </a:spcBef>
            </a:pPr>
            <a:r>
              <a:rPr sz="1800" dirty="0">
                <a:latin typeface="Arial"/>
                <a:cs typeface="Arial"/>
              </a:rPr>
              <a:t>Finally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you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60" dirty="0">
                <a:latin typeface="Arial"/>
                <a:cs typeface="Arial"/>
              </a:rPr>
              <a:t>will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be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interacting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spc="70" dirty="0">
                <a:latin typeface="Arial"/>
                <a:cs typeface="Arial"/>
              </a:rPr>
              <a:t>with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40" dirty="0">
                <a:latin typeface="Arial"/>
                <a:cs typeface="Arial"/>
              </a:rPr>
              <a:t>webpage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using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Chrome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Dev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Tools.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sz="1800" spc="-35" dirty="0">
                <a:latin typeface="Arial"/>
                <a:cs typeface="Arial"/>
              </a:rPr>
              <a:t>Your</a:t>
            </a:r>
            <a:r>
              <a:rPr sz="1800" spc="-1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lab</a:t>
            </a:r>
            <a:r>
              <a:rPr sz="1800" spc="-125" dirty="0">
                <a:latin typeface="Arial"/>
                <a:cs typeface="Arial"/>
              </a:rPr>
              <a:t> </a:t>
            </a:r>
            <a:r>
              <a:rPr sz="1800" spc="-35" dirty="0">
                <a:latin typeface="Arial"/>
                <a:cs typeface="Arial"/>
              </a:rPr>
              <a:t>tasks</a:t>
            </a:r>
            <a:r>
              <a:rPr sz="1800" spc="-1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are</a:t>
            </a:r>
            <a:r>
              <a:rPr sz="1800" spc="-125" dirty="0">
                <a:latin typeface="Arial"/>
                <a:cs typeface="Arial"/>
              </a:rPr>
              <a:t> </a:t>
            </a:r>
            <a:r>
              <a:rPr sz="1800" spc="-30" dirty="0">
                <a:latin typeface="Arial"/>
                <a:cs typeface="Arial"/>
              </a:rPr>
              <a:t>available</a:t>
            </a:r>
            <a:r>
              <a:rPr sz="1800" spc="-12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on</a:t>
            </a:r>
            <a:r>
              <a:rPr sz="1800" spc="-1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Moodle.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81796" y="4736048"/>
            <a:ext cx="1069515" cy="33689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025" y="68960"/>
            <a:ext cx="162623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Photo</a:t>
            </a:r>
            <a:r>
              <a:rPr sz="800" spc="-6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by</a:t>
            </a:r>
            <a:r>
              <a:rPr sz="800" spc="-6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Polina</a:t>
            </a:r>
            <a:r>
              <a:rPr sz="800" spc="-6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Zimmerman:</a:t>
            </a:r>
            <a:r>
              <a:rPr sz="800" spc="95" dirty="0">
                <a:latin typeface="Arial"/>
                <a:cs typeface="Arial"/>
              </a:rPr>
              <a:t> </a:t>
            </a:r>
            <a:r>
              <a:rPr sz="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5"/>
              </a:rPr>
              <a:t>Pexels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Custom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EF5F4"/>
      </a:hlink>
      <a:folHlink>
        <a:srgbClr val="F0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</TotalTime>
  <Words>1386</Words>
  <Application>Microsoft Macintosh PowerPoint</Application>
  <PresentationFormat>On-screen Show (16:9)</PresentationFormat>
  <Paragraphs>132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Courier New</vt:lpstr>
      <vt:lpstr>Times New Roman</vt:lpstr>
      <vt:lpstr>Trebuchet MS</vt:lpstr>
      <vt:lpstr>Office Theme</vt:lpstr>
      <vt:lpstr>1_Office Theme</vt:lpstr>
      <vt:lpstr>PowerPoint Presentation</vt:lpstr>
      <vt:lpstr>How to make a website</vt:lpstr>
      <vt:lpstr>Editors</vt:lpstr>
      <vt:lpstr>HTML stands for  Hyper Text Markup  Language</vt:lpstr>
      <vt:lpstr>What is HTML</vt:lpstr>
      <vt:lpstr>HTML Tags</vt:lpstr>
      <vt:lpstr>keywords surrounded  by angle brackets</vt:lpstr>
      <vt:lpstr>Tags normally come  in pairs</vt:lpstr>
      <vt:lpstr>An HTML element is  everything from the  start tag to the end tag:</vt:lpstr>
      <vt:lpstr>Attributes provide  additional information  about HTML elements.</vt:lpstr>
      <vt:lpstr>elements  should be in  lower case</vt:lpstr>
      <vt:lpstr>PowerPoint Presentation</vt:lpstr>
      <vt:lpstr>PowerPoint Presentation</vt:lpstr>
      <vt:lpstr>“HTML5 was the proposed next standard for  HTML 4.01, XHTML 1.0 and DOM Level 2 HTML. It aims to reduce the need for</vt:lpstr>
      <vt:lpstr>PowerPoint Presentation</vt:lpstr>
      <vt:lpstr>DOCTYPE</vt:lpstr>
      <vt:lpstr>Comments &lt;!-- a comment --&gt;</vt:lpstr>
      <vt:lpstr>PowerPoint Presentation</vt:lpstr>
      <vt:lpstr>PowerPoint Presentation</vt:lpstr>
      <vt:lpstr>Html Demonstration</vt:lpstr>
      <vt:lpstr>Navigating the web</vt:lpstr>
      <vt:lpstr>PowerPoint Presentation</vt:lpstr>
      <vt:lpstr>Multimedia</vt:lpstr>
      <vt:lpstr>HTML 5 also contains new  elements like &lt;nav&gt;,</vt:lpstr>
      <vt:lpstr>HTML Versions</vt:lpstr>
      <vt:lpstr>Inspect &amp; View Source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COMP1589 - Introduction &amp; HTML</dc:title>
  <cp:lastModifiedBy>Matthew Prichard</cp:lastModifiedBy>
  <cp:revision>38</cp:revision>
  <dcterms:created xsi:type="dcterms:W3CDTF">2023-12-05T14:51:26Z</dcterms:created>
  <dcterms:modified xsi:type="dcterms:W3CDTF">2025-01-10T13:57:45Z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