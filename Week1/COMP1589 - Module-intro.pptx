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304" r:id="rId6"/>
    <p:sldId id="305" r:id="rId7"/>
    <p:sldId id="260" r:id="rId8"/>
    <p:sldId id="262" r:id="rId9"/>
    <p:sldId id="263" r:id="rId10"/>
    <p:sldId id="265" r:id="rId11"/>
    <p:sldId id="266" r:id="rId12"/>
    <p:sldId id="30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60" d="100"/>
          <a:sy n="160" d="100"/>
        </p:scale>
        <p:origin x="78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005EB8"/>
            </a:gs>
            <a:gs pos="52000">
              <a:srgbClr val="257FA0"/>
            </a:gs>
            <a:gs pos="100000">
              <a:srgbClr val="22857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CEBF-4785-EA44-87DD-49B6C2943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9569" y="357187"/>
            <a:ext cx="4212431" cy="2228850"/>
          </a:xfrm>
        </p:spPr>
        <p:txBody>
          <a:bodyPr lIns="0" tIns="0" rIns="0" bIns="0" anchor="t" anchorCtr="0">
            <a:noAutofit/>
          </a:bodyPr>
          <a:lstStyle>
            <a:lvl1pPr algn="l">
              <a:defRPr sz="5400" b="1" i="0" spc="-113">
                <a:solidFill>
                  <a:schemeClr val="bg1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US" sz="5400" b="1" i="0" spc="-113" dirty="0">
                <a:solidFill>
                  <a:schemeClr val="bg1"/>
                </a:solidFill>
                <a:latin typeface="COOPERHEWITT-SEMIBOLD" pitchFamily="2" charset="77"/>
                <a:ea typeface="COOPERHEWITT-SEMIBOLD" pitchFamily="2" charset="77"/>
              </a:rPr>
              <a:t>Brand identity guidelines</a:t>
            </a:r>
            <a:endParaRPr lang="en-US" sz="5400" b="1" spc="-113" dirty="0">
              <a:solidFill>
                <a:schemeClr val="bg1"/>
              </a:solidFill>
              <a:latin typeface="COOPERHEWITT-MEDIUM" pitchFamily="2" charset="77"/>
              <a:ea typeface="COOPERHEWITT-MEDIUM" pitchFamily="2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6ECC8-5DEA-CD46-AF07-8E5024222F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569" y="2735580"/>
            <a:ext cx="4212431" cy="1401608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Public Sans" pitchFamily="2" charset="7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875982-234A-974C-BD06-26BB9BE2CDC9}"/>
              </a:ext>
            </a:extLst>
          </p:cNvPr>
          <p:cNvSpPr txBox="1">
            <a:spLocks/>
          </p:cNvSpPr>
          <p:nvPr/>
        </p:nvSpPr>
        <p:spPr>
          <a:xfrm>
            <a:off x="-647462" y="2828925"/>
            <a:ext cx="8528447" cy="222885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b="1" spc="-113">
              <a:solidFill>
                <a:schemeClr val="bg1"/>
              </a:solidFill>
              <a:latin typeface="COOPERHEWITT-MEDIUM" pitchFamily="2" charset="77"/>
              <a:ea typeface="COOPERHEWITT-MEDIUM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9E2FE-585D-3F47-9C46-D1FE9489E3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79D0EC-04D9-7B8D-D668-E86F1A5CB90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860000" y="357188"/>
            <a:ext cx="3780000" cy="3780000"/>
          </a:xfrm>
        </p:spPr>
        <p:txBody>
          <a:bodyPr anchor="ctr" anchorCtr="0"/>
          <a:lstStyle>
            <a:lvl1pPr>
              <a:defRPr b="0" i="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505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863F-99DE-624F-BD48-19D96C91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79" y="375047"/>
            <a:ext cx="3780000" cy="673693"/>
          </a:xfrm>
        </p:spPr>
        <p:txBody>
          <a:bodyPr lIns="0" tIns="0" rIns="0" bIns="0" anchor="ctr" anchorCtr="0">
            <a:noAutofit/>
          </a:bodyPr>
          <a:lstStyle>
            <a:lvl1pPr>
              <a:defRPr sz="2400" b="1" i="0">
                <a:solidFill>
                  <a:schemeClr val="bg1"/>
                </a:solidFill>
                <a:latin typeface="Cooper Hewitt" pitchFamily="2" charset="77"/>
                <a:ea typeface="Cooper Hewitt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9A67-C959-A646-84B1-320BC9918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49" y="386953"/>
            <a:ext cx="4050000" cy="4050000"/>
          </a:xfrm>
        </p:spPr>
        <p:txBody>
          <a:bodyPr anchor="ctr" anchorCtr="0"/>
          <a:lstStyle>
            <a:lvl1pPr>
              <a:defRPr b="0" i="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90F7-22F4-6C42-984F-B0B3C1EBD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006167-75B7-D4DF-3F76-79F5BDCBCFE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3379" y="1048739"/>
            <a:ext cx="3780000" cy="3780000"/>
          </a:xfrm>
        </p:spPr>
        <p:txBody>
          <a:bodyPr anchor="ctr" anchorCtr="0"/>
          <a:lstStyle>
            <a:lvl1pPr>
              <a:defRPr b="0" i="0">
                <a:solidFill>
                  <a:schemeClr val="bg1"/>
                </a:solidFill>
                <a:latin typeface="Public Sa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ublic Sans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ublic Sans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ublic Sans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541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863F-99DE-624F-BD48-19D96C917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379" y="375046"/>
            <a:ext cx="8502015" cy="3800714"/>
          </a:xfrm>
        </p:spPr>
        <p:txBody>
          <a:bodyPr lIns="0" tIns="0" rIns="0" bIns="0" anchor="t" anchorCtr="0">
            <a:noAutofit/>
          </a:bodyPr>
          <a:lstStyle>
            <a:lvl1pPr>
              <a:defRPr sz="4050" b="1" i="0">
                <a:solidFill>
                  <a:schemeClr val="bg1"/>
                </a:solidFill>
                <a:latin typeface="Cooper Hewitt" pitchFamily="2" charset="77"/>
                <a:ea typeface="Cooper Hewitt" pitchFamily="2" charset="77"/>
              </a:defRPr>
            </a:lvl1pPr>
          </a:lstStyle>
          <a:p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Lorem ipsum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dolor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sit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amet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,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consectetur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adipiscing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elit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.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Nulla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a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dolor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feugiat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,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placerat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leo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quis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,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interdum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erat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. Vestibulum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nec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pretium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purus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.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Nullam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volutpat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,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turpis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id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pellentesque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 </a:t>
            </a:r>
            <a:r>
              <a:rPr lang="en-GB" sz="4050" err="1">
                <a:latin typeface="COOPERHEWITT-SEMIBOLD" pitchFamily="2" charset="77"/>
                <a:ea typeface="COOPERHEWITT-SEMIBOLD" pitchFamily="2" charset="77"/>
              </a:rPr>
              <a:t>sagittis</a:t>
            </a:r>
            <a:r>
              <a:rPr lang="en-GB" sz="4050">
                <a:latin typeface="COOPERHEWITT-SEMIBOLD" pitchFamily="2" charset="77"/>
                <a:ea typeface="COOPERHEWITT-SEMIBOLD" pitchFamily="2" charset="77"/>
              </a:rPr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90F7-22F4-6C42-984F-B0B3C1EBD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43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solidFill>
          <a:srgbClr val="3ABFF0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B863F-99DE-624F-BD48-19D96C917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379" y="375046"/>
            <a:ext cx="8502015" cy="3800714"/>
          </a:xfrm>
        </p:spPr>
        <p:txBody>
          <a:bodyPr lIns="0" tIns="0" rIns="0" bIns="0" numCol="2" spcCol="540000" anchor="t" anchorCtr="0">
            <a:noAutofit/>
          </a:bodyPr>
          <a:lstStyle>
            <a:lvl1pPr>
              <a:defRPr sz="1800" b="0" i="0">
                <a:solidFill>
                  <a:srgbClr val="01033C"/>
                </a:solidFill>
                <a:latin typeface="Public Sans" pitchFamily="2" charset="77"/>
                <a:ea typeface="Cooper Hewitt" pitchFamily="2" charset="77"/>
              </a:defRPr>
            </a:lvl1pPr>
          </a:lstStyle>
          <a:p>
            <a:r>
              <a:rPr lang="en-GB" sz="1800" b="0">
                <a:latin typeface="Public Sans" pitchFamily="2" charset="77"/>
              </a:rPr>
              <a:t>Lorem ipsum </a:t>
            </a:r>
            <a:r>
              <a:rPr lang="en-GB" sz="1800" b="0" err="1">
                <a:latin typeface="Public Sans" pitchFamily="2" charset="77"/>
              </a:rPr>
              <a:t>dolor</a:t>
            </a:r>
            <a:r>
              <a:rPr lang="en-GB" sz="1800" b="0">
                <a:latin typeface="Public Sans" pitchFamily="2" charset="77"/>
              </a:rPr>
              <a:t> sit </a:t>
            </a:r>
            <a:r>
              <a:rPr lang="en-GB" sz="1800" b="0" err="1">
                <a:latin typeface="Public Sans" pitchFamily="2" charset="77"/>
              </a:rPr>
              <a:t>amet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consectetur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adipiscing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elit</a:t>
            </a:r>
            <a:r>
              <a:rPr lang="en-GB" sz="1800" b="0">
                <a:latin typeface="Public Sans" pitchFamily="2" charset="77"/>
              </a:rPr>
              <a:t>. </a:t>
            </a:r>
            <a:r>
              <a:rPr lang="en-GB" sz="1800" b="0" err="1">
                <a:latin typeface="Public Sans" pitchFamily="2" charset="77"/>
              </a:rPr>
              <a:t>Nulla</a:t>
            </a:r>
            <a:r>
              <a:rPr lang="en-GB" sz="1800" b="0">
                <a:latin typeface="Public Sans" pitchFamily="2" charset="77"/>
              </a:rPr>
              <a:t> a </a:t>
            </a:r>
            <a:r>
              <a:rPr lang="en-GB" sz="1800" b="0" err="1">
                <a:latin typeface="Public Sans" pitchFamily="2" charset="77"/>
              </a:rPr>
              <a:t>dolor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feugiat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placerat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leo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quis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interdum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erat</a:t>
            </a:r>
            <a:r>
              <a:rPr lang="en-GB" sz="1800" b="0">
                <a:latin typeface="Public Sans" pitchFamily="2" charset="77"/>
              </a:rPr>
              <a:t>. Vestibulum </a:t>
            </a:r>
            <a:r>
              <a:rPr lang="en-GB" sz="1800" b="0" err="1">
                <a:latin typeface="Public Sans" pitchFamily="2" charset="77"/>
              </a:rPr>
              <a:t>nec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pretium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purus</a:t>
            </a:r>
            <a:r>
              <a:rPr lang="en-GB" sz="1800" b="0">
                <a:latin typeface="Public Sans" pitchFamily="2" charset="77"/>
              </a:rPr>
              <a:t>. </a:t>
            </a:r>
            <a:r>
              <a:rPr lang="en-GB" sz="1800" b="0" err="1">
                <a:latin typeface="Public Sans" pitchFamily="2" charset="77"/>
              </a:rPr>
              <a:t>Nullam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volutpat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turpis</a:t>
            </a:r>
            <a:r>
              <a:rPr lang="en-GB" sz="1800" b="0">
                <a:latin typeface="Public Sans" pitchFamily="2" charset="77"/>
              </a:rPr>
              <a:t> id </a:t>
            </a:r>
            <a:r>
              <a:rPr lang="en-GB" sz="1800" b="0" err="1">
                <a:latin typeface="Public Sans" pitchFamily="2" charset="77"/>
              </a:rPr>
              <a:t>pellentesque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sagittis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velit</a:t>
            </a:r>
            <a:r>
              <a:rPr lang="en-GB" sz="1800" b="0">
                <a:latin typeface="Public Sans" pitchFamily="2" charset="77"/>
              </a:rPr>
              <a:t> mi </a:t>
            </a:r>
            <a:r>
              <a:rPr lang="en-GB" sz="1800" b="0" err="1">
                <a:latin typeface="Public Sans" pitchFamily="2" charset="77"/>
              </a:rPr>
              <a:t>euismod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tortor</a:t>
            </a:r>
            <a:r>
              <a:rPr lang="en-GB" sz="1800" b="0">
                <a:latin typeface="Public Sans" pitchFamily="2" charset="77"/>
              </a:rPr>
              <a:t>, a </a:t>
            </a:r>
            <a:r>
              <a:rPr lang="en-GB" sz="1800" b="0" err="1">
                <a:latin typeface="Public Sans" pitchFamily="2" charset="77"/>
              </a:rPr>
              <a:t>elementum</a:t>
            </a:r>
            <a:r>
              <a:rPr lang="en-GB" sz="1800" b="0">
                <a:latin typeface="Public Sans" pitchFamily="2" charset="77"/>
              </a:rPr>
              <a:t> ex eros non </a:t>
            </a:r>
            <a:r>
              <a:rPr lang="en-GB" sz="1800" b="0" err="1">
                <a:latin typeface="Public Sans" pitchFamily="2" charset="77"/>
              </a:rPr>
              <a:t>felis</a:t>
            </a:r>
            <a:r>
              <a:rPr lang="en-GB" sz="1800" b="0">
                <a:latin typeface="Public Sans" pitchFamily="2" charset="77"/>
              </a:rPr>
              <a:t>. </a:t>
            </a:r>
            <a:r>
              <a:rPr lang="en-GB" sz="1800" b="0" err="1">
                <a:latin typeface="Public Sans" pitchFamily="2" charset="77"/>
              </a:rPr>
              <a:t>Quisque</a:t>
            </a:r>
            <a:r>
              <a:rPr lang="en-GB" sz="1800" b="0">
                <a:latin typeface="Public Sans" pitchFamily="2" charset="77"/>
              </a:rPr>
              <a:t> pharetra, </a:t>
            </a:r>
            <a:r>
              <a:rPr lang="en-GB" sz="1800" b="0" err="1">
                <a:latin typeface="Public Sans" pitchFamily="2" charset="77"/>
              </a:rPr>
              <a:t>sapien</a:t>
            </a:r>
            <a:r>
              <a:rPr lang="en-GB" sz="1800" b="0">
                <a:latin typeface="Public Sans" pitchFamily="2" charset="77"/>
              </a:rPr>
              <a:t> id </a:t>
            </a:r>
            <a:r>
              <a:rPr lang="en-GB" sz="1800" b="0" err="1">
                <a:latin typeface="Public Sans" pitchFamily="2" charset="77"/>
              </a:rPr>
              <a:t>sollicitudin</a:t>
            </a:r>
            <a:r>
              <a:rPr lang="en-GB" sz="1800" b="0">
                <a:latin typeface="Public Sans" pitchFamily="2" charset="77"/>
              </a:rPr>
              <a:t> pulvinar, ex magna </a:t>
            </a:r>
            <a:r>
              <a:rPr lang="en-GB" sz="1800" b="0" err="1">
                <a:latin typeface="Public Sans" pitchFamily="2" charset="77"/>
              </a:rPr>
              <a:t>iaculis</a:t>
            </a:r>
            <a:r>
              <a:rPr lang="en-GB" sz="1800" b="0">
                <a:latin typeface="Public Sans" pitchFamily="2" charset="77"/>
              </a:rPr>
              <a:t> magna, </a:t>
            </a:r>
            <a:r>
              <a:rPr lang="en-GB" sz="1800" b="0" err="1">
                <a:latin typeface="Public Sans" pitchFamily="2" charset="77"/>
              </a:rPr>
              <a:t>ut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volutpat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augue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velit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eget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velit</a:t>
            </a:r>
            <a:r>
              <a:rPr lang="en-GB" sz="1800" b="0">
                <a:latin typeface="Public Sans" pitchFamily="2" charset="77"/>
              </a:rPr>
              <a:t>. </a:t>
            </a:r>
            <a:r>
              <a:rPr lang="en-GB" sz="1800" b="0" err="1">
                <a:latin typeface="Public Sans" pitchFamily="2" charset="77"/>
              </a:rPr>
              <a:t>Orci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varius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natoque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penatibus</a:t>
            </a:r>
            <a:r>
              <a:rPr lang="en-GB" sz="1800" b="0">
                <a:latin typeface="Public Sans" pitchFamily="2" charset="77"/>
              </a:rPr>
              <a:t> et </a:t>
            </a:r>
            <a:r>
              <a:rPr lang="en-GB" sz="1800" b="0" err="1">
                <a:latin typeface="Public Sans" pitchFamily="2" charset="77"/>
              </a:rPr>
              <a:t>magnis</a:t>
            </a:r>
            <a:r>
              <a:rPr lang="en-GB" sz="1800" b="0">
                <a:latin typeface="Public Sans" pitchFamily="2" charset="77"/>
              </a:rPr>
              <a:t> dis parturient </a:t>
            </a:r>
            <a:r>
              <a:rPr lang="en-GB" sz="1800" b="0" err="1">
                <a:latin typeface="Public Sans" pitchFamily="2" charset="77"/>
              </a:rPr>
              <a:t>montes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nascetur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ridiculus</a:t>
            </a:r>
            <a:r>
              <a:rPr lang="en-GB" sz="1800" b="0">
                <a:latin typeface="Public Sans" pitchFamily="2" charset="77"/>
              </a:rPr>
              <a:t> mus. </a:t>
            </a:r>
            <a:r>
              <a:rPr lang="en-GB" sz="1800" b="0" err="1">
                <a:latin typeface="Public Sans" pitchFamily="2" charset="77"/>
              </a:rPr>
              <a:t>Sed</a:t>
            </a:r>
            <a:r>
              <a:rPr lang="en-GB" sz="1800" b="0">
                <a:latin typeface="Public Sans" pitchFamily="2" charset="77"/>
              </a:rPr>
              <a:t> et </a:t>
            </a:r>
            <a:r>
              <a:rPr lang="en-GB" sz="1800" b="0" err="1">
                <a:latin typeface="Public Sans" pitchFamily="2" charset="77"/>
              </a:rPr>
              <a:t>purus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iaculis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ultricies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sem</a:t>
            </a:r>
            <a:r>
              <a:rPr lang="en-GB" sz="1800" b="0">
                <a:latin typeface="Public Sans" pitchFamily="2" charset="77"/>
              </a:rPr>
              <a:t> at, </a:t>
            </a:r>
            <a:r>
              <a:rPr lang="en-GB" sz="1800" b="0" err="1">
                <a:latin typeface="Public Sans" pitchFamily="2" charset="77"/>
              </a:rPr>
              <a:t>tempor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nulla</a:t>
            </a:r>
            <a:r>
              <a:rPr lang="en-GB" sz="1800" b="0">
                <a:latin typeface="Public Sans" pitchFamily="2" charset="77"/>
              </a:rPr>
              <a:t>. Maecenas </a:t>
            </a:r>
            <a:r>
              <a:rPr lang="en-GB" sz="1800" b="0" err="1">
                <a:latin typeface="Public Sans" pitchFamily="2" charset="77"/>
              </a:rPr>
              <a:t>volutpat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est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orci</a:t>
            </a:r>
            <a:r>
              <a:rPr lang="en-GB" sz="1800" b="0">
                <a:latin typeface="Public Sans" pitchFamily="2" charset="77"/>
              </a:rPr>
              <a:t>, </a:t>
            </a:r>
            <a:r>
              <a:rPr lang="en-GB" sz="1800" b="0" err="1">
                <a:latin typeface="Public Sans" pitchFamily="2" charset="77"/>
              </a:rPr>
              <a:t>nec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ullamcorper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tortor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dapibus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sodales</a:t>
            </a:r>
            <a:r>
              <a:rPr lang="en-GB" sz="1800" b="0">
                <a:latin typeface="Public Sans" pitchFamily="2" charset="77"/>
              </a:rPr>
              <a:t>. Donec </a:t>
            </a:r>
            <a:r>
              <a:rPr lang="en-GB" sz="1800" b="0" err="1">
                <a:latin typeface="Public Sans" pitchFamily="2" charset="77"/>
              </a:rPr>
              <a:t>imperdiet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feugiat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orci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mollis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imperdiet</a:t>
            </a:r>
            <a:r>
              <a:rPr lang="en-GB" sz="1800" b="0">
                <a:latin typeface="Public Sans" pitchFamily="2" charset="77"/>
              </a:rPr>
              <a:t>. </a:t>
            </a:r>
            <a:br>
              <a:rPr lang="en-GB" sz="1800" b="0">
                <a:latin typeface="Public Sans" pitchFamily="2" charset="77"/>
              </a:rPr>
            </a:br>
            <a:br>
              <a:rPr lang="en-GB" sz="1800" b="0">
                <a:latin typeface="Public Sans" pitchFamily="2" charset="77"/>
              </a:rPr>
            </a:br>
            <a:r>
              <a:rPr lang="en-GB" sz="1800" b="0" err="1">
                <a:latin typeface="Public Sans" pitchFamily="2" charset="77"/>
              </a:rPr>
              <a:t>Sed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commodo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pellentesque</a:t>
            </a:r>
            <a:r>
              <a:rPr lang="en-GB" sz="1800" b="0">
                <a:latin typeface="Public Sans" pitchFamily="2" charset="77"/>
              </a:rPr>
              <a:t> ipsum non </a:t>
            </a:r>
            <a:r>
              <a:rPr lang="en-GB" sz="1800" b="0" err="1">
                <a:latin typeface="Public Sans" pitchFamily="2" charset="77"/>
              </a:rPr>
              <a:t>hendrerit</a:t>
            </a:r>
            <a:r>
              <a:rPr lang="en-GB" sz="1800" b="0">
                <a:latin typeface="Public Sans" pitchFamily="2" charset="77"/>
              </a:rPr>
              <a:t>. </a:t>
            </a:r>
            <a:r>
              <a:rPr lang="en-GB" sz="1800" b="0" err="1">
                <a:latin typeface="Public Sans" pitchFamily="2" charset="77"/>
              </a:rPr>
              <a:t>Quisque</a:t>
            </a:r>
            <a:r>
              <a:rPr lang="en-GB" sz="1800" b="0">
                <a:latin typeface="Public Sans" pitchFamily="2" charset="77"/>
              </a:rPr>
              <a:t> </a:t>
            </a:r>
            <a:r>
              <a:rPr lang="en-GB" sz="1800" b="0" err="1">
                <a:latin typeface="Public Sans" pitchFamily="2" charset="77"/>
              </a:rPr>
              <a:t>commodo</a:t>
            </a:r>
            <a:r>
              <a:rPr lang="en-GB" sz="1800" b="0">
                <a:latin typeface="Public Sans" pitchFamily="2" charset="77"/>
              </a:rPr>
              <a:t> ligula pharetra </a:t>
            </a:r>
            <a:r>
              <a:rPr lang="en-GB" sz="1800" b="0" err="1">
                <a:latin typeface="Public Sans" pitchFamily="2" charset="77"/>
              </a:rPr>
              <a:t>hendrerit</a:t>
            </a:r>
            <a:r>
              <a:rPr lang="en-GB" sz="1800" b="0">
                <a:latin typeface="Public Sans" pitchFamily="2" charset="77"/>
              </a:rPr>
              <a:t>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DD584-05A5-004A-8151-192C12A7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3" y="4372417"/>
            <a:ext cx="1758379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3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3AB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51D-6C08-2046-BB3B-D7A455B76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569" y="357187"/>
            <a:ext cx="8505825" cy="2214563"/>
          </a:xfrm>
        </p:spPr>
        <p:txBody>
          <a:bodyPr lIns="0" tIns="0" rIns="0" bIns="0" anchor="t" anchorCtr="0">
            <a:noAutofit/>
          </a:bodyPr>
          <a:lstStyle>
            <a:lvl1pPr>
              <a:defRPr sz="5400" b="1" i="0">
                <a:solidFill>
                  <a:srgbClr val="01033C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145-B88B-434D-B2B3-E97CA1B6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2571750"/>
            <a:ext cx="4212431" cy="22681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rgbClr val="01033C"/>
                </a:solidFill>
                <a:latin typeface="Public Sans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6A2D5-324C-9E4F-A4EB-75376B44C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3" y="4372417"/>
            <a:ext cx="1758379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1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rgbClr val="3ADD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51D-6C08-2046-BB3B-D7A455B76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569" y="357187"/>
            <a:ext cx="8505825" cy="2214563"/>
          </a:xfrm>
        </p:spPr>
        <p:txBody>
          <a:bodyPr lIns="0" tIns="0" rIns="0" bIns="0" anchor="t" anchorCtr="0">
            <a:noAutofit/>
          </a:bodyPr>
          <a:lstStyle>
            <a:lvl1pPr>
              <a:defRPr sz="5400" b="1" i="0">
                <a:solidFill>
                  <a:srgbClr val="01033C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145-B88B-434D-B2B3-E97CA1B6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2571750"/>
            <a:ext cx="4212431" cy="22681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rgbClr val="01033C"/>
                </a:solidFill>
                <a:latin typeface="Public Sans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9DB12-09C8-CB42-B27F-E3FC28EB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3" y="4372417"/>
            <a:ext cx="1758379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10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2285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51D-6C08-2046-BB3B-D7A455B76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569" y="357187"/>
            <a:ext cx="8505825" cy="2214563"/>
          </a:xfrm>
        </p:spPr>
        <p:txBody>
          <a:bodyPr lIns="0" tIns="0" rIns="0" bIns="0" anchor="t" anchorCtr="0"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145-B88B-434D-B2B3-E97CA1B6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2571750"/>
            <a:ext cx="4212431" cy="22681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ublic Sans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6D685-0808-8647-9F6B-2213D1DE7E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13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Pr>
        <a:solidFill>
          <a:srgbClr val="257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51D-6C08-2046-BB3B-D7A455B76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569" y="357187"/>
            <a:ext cx="8505825" cy="2214563"/>
          </a:xfrm>
        </p:spPr>
        <p:txBody>
          <a:bodyPr lIns="0" tIns="0" rIns="0" bIns="0" anchor="t" anchorCtr="0"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145-B88B-434D-B2B3-E97CA1B6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2571750"/>
            <a:ext cx="4212431" cy="22681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ublic Sans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C96037-90F8-6140-B06F-C104921319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04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10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F51D-6C08-2046-BB3B-D7A455B763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569" y="357187"/>
            <a:ext cx="8505825" cy="2214563"/>
          </a:xfrm>
        </p:spPr>
        <p:txBody>
          <a:bodyPr lIns="0" tIns="0" rIns="0" bIns="0" anchor="t" anchorCtr="0">
            <a:noAutofit/>
          </a:bodyPr>
          <a:lstStyle>
            <a:lvl1pPr>
              <a:defRPr sz="5400" b="1" i="0">
                <a:solidFill>
                  <a:srgbClr val="3ADDC2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GB"/>
              <a:t>Click to edit </a:t>
            </a:r>
            <a:br>
              <a:rPr lang="en-GB"/>
            </a:br>
            <a:r>
              <a:rPr lang="en-GB"/>
              <a:t>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4145-B88B-434D-B2B3-E97CA1B66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2571750"/>
            <a:ext cx="4212431" cy="22681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ublic Sans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A2F2B-BE21-9342-BB30-45EC7239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7"/>
            <a:ext cx="1758381" cy="6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0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3ABFF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1406-F73D-9C42-9AAD-46190739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9" y="357188"/>
            <a:ext cx="8505825" cy="1012031"/>
          </a:xfrm>
        </p:spPr>
        <p:txBody>
          <a:bodyPr lIns="0" tIns="0" rIns="0" bIns="0" anchor="t" anchorCtr="0">
            <a:noAutofit/>
          </a:bodyPr>
          <a:lstStyle>
            <a:lvl1pPr>
              <a:defRPr b="1" i="0">
                <a:solidFill>
                  <a:srgbClr val="01033C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204BA-AAD4-4145-9060-4B23AC6E7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568" y="1436489"/>
            <a:ext cx="4185000" cy="2565000"/>
          </a:xfrm>
        </p:spPr>
        <p:txBody>
          <a:bodyPr lIns="0" tIns="0" rIns="0" bIns="0">
            <a:noAutofit/>
          </a:bodyPr>
          <a:lstStyle>
            <a:lvl1pPr>
              <a:defRPr sz="2100">
                <a:latin typeface="Public Sans" pitchFamily="2" charset="77"/>
              </a:defRPr>
            </a:lvl1pPr>
            <a:lvl2pPr>
              <a:defRPr sz="1800">
                <a:latin typeface="Public Sans" pitchFamily="2" charset="77"/>
              </a:defRPr>
            </a:lvl2pPr>
            <a:lvl3pPr>
              <a:defRPr sz="1500">
                <a:latin typeface="Public Sans" pitchFamily="2" charset="77"/>
              </a:defRPr>
            </a:lvl3pPr>
            <a:lvl4pPr>
              <a:defRPr sz="1350">
                <a:latin typeface="Public Sans" pitchFamily="2" charset="77"/>
              </a:defRPr>
            </a:lvl4pPr>
            <a:lvl5pPr>
              <a:defRPr sz="1350"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FE7EF-380A-8B4F-8044-D711670A7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394" y="1436489"/>
            <a:ext cx="4185000" cy="2565000"/>
          </a:xfrm>
        </p:spPr>
        <p:txBody>
          <a:bodyPr lIns="0" tIns="0" rIns="0" bIns="0">
            <a:noAutofit/>
          </a:bodyPr>
          <a:lstStyle>
            <a:lvl1pPr>
              <a:defRPr>
                <a:solidFill>
                  <a:srgbClr val="01033C"/>
                </a:solidFill>
                <a:latin typeface="Public Sans" pitchFamily="2" charset="77"/>
              </a:defRPr>
            </a:lvl1pPr>
            <a:lvl2pPr>
              <a:defRPr>
                <a:solidFill>
                  <a:srgbClr val="01033C"/>
                </a:solidFill>
                <a:latin typeface="Public Sans" pitchFamily="2" charset="77"/>
              </a:defRPr>
            </a:lvl2pPr>
            <a:lvl3pPr>
              <a:defRPr>
                <a:solidFill>
                  <a:srgbClr val="01033C"/>
                </a:solidFill>
                <a:latin typeface="Public Sans" pitchFamily="2" charset="77"/>
              </a:defRPr>
            </a:lvl3pPr>
            <a:lvl4pPr>
              <a:defRPr>
                <a:solidFill>
                  <a:srgbClr val="01033C"/>
                </a:solidFill>
                <a:latin typeface="Public Sans" pitchFamily="2" charset="77"/>
              </a:defRPr>
            </a:lvl4pPr>
            <a:lvl5pPr>
              <a:defRPr>
                <a:solidFill>
                  <a:srgbClr val="01033C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85392B-531D-9443-98C4-3C75134E3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76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3ABFF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C67E-D9CF-4243-967E-E25B5873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9" y="374581"/>
            <a:ext cx="8505824" cy="810000"/>
          </a:xfrm>
        </p:spPr>
        <p:txBody>
          <a:bodyPr lIns="0" tIns="0" rIns="0" bIns="0" anchor="t" anchorCtr="0">
            <a:noAutofit/>
          </a:bodyPr>
          <a:lstStyle>
            <a:lvl1pPr>
              <a:defRPr b="1" i="0">
                <a:solidFill>
                  <a:srgbClr val="01033C"/>
                </a:solidFill>
                <a:latin typeface="COOPERHEWITT-SEMIBOLD" pitchFamily="2" charset="77"/>
                <a:ea typeface="COOPERHEWITT-SEMIBOLD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5FA80-486D-2643-87B6-5F203CFD9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569" y="1260872"/>
            <a:ext cx="4117500" cy="607500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800" b="1">
                <a:solidFill>
                  <a:srgbClr val="01033C"/>
                </a:solidFill>
                <a:latin typeface="Public Sans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86BE8-E9D8-544E-96FE-6325AB7D4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9569" y="1878806"/>
            <a:ext cx="4117500" cy="2160000"/>
          </a:xfrm>
        </p:spPr>
        <p:txBody>
          <a:bodyPr lIns="0" tIns="0" rIns="0" bIns="0" anchor="t" anchorCtr="0">
            <a:noAutofit/>
          </a:bodyPr>
          <a:lstStyle>
            <a:lvl1pPr>
              <a:defRPr sz="1500">
                <a:solidFill>
                  <a:srgbClr val="01033C"/>
                </a:solidFill>
                <a:latin typeface="Public Sans" pitchFamily="2" charset="77"/>
              </a:defRPr>
            </a:lvl1pPr>
            <a:lvl2pPr>
              <a:defRPr sz="1350">
                <a:solidFill>
                  <a:srgbClr val="01033C"/>
                </a:solidFill>
                <a:latin typeface="Public Sans" pitchFamily="2" charset="77"/>
              </a:defRPr>
            </a:lvl2pPr>
            <a:lvl3pPr>
              <a:defRPr sz="1200">
                <a:solidFill>
                  <a:srgbClr val="01033C"/>
                </a:solidFill>
                <a:latin typeface="Public Sans" pitchFamily="2" charset="77"/>
              </a:defRPr>
            </a:lvl3pPr>
            <a:lvl4pPr>
              <a:defRPr sz="1050">
                <a:solidFill>
                  <a:srgbClr val="01033C"/>
                </a:solidFill>
                <a:latin typeface="Public Sans" pitchFamily="2" charset="77"/>
              </a:defRPr>
            </a:lvl4pPr>
            <a:lvl5pPr>
              <a:defRPr sz="1050">
                <a:solidFill>
                  <a:srgbClr val="01033C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DA06B4-2C81-BF4E-826E-B0FCD6C95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7826" y="1260872"/>
            <a:ext cx="4117500" cy="607500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800" b="1">
                <a:solidFill>
                  <a:srgbClr val="01033C"/>
                </a:solidFill>
                <a:latin typeface="Public Sans" pitchFamily="2" charset="77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9C9AA-F084-F14D-8F7A-05EA370F1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7826" y="1878806"/>
            <a:ext cx="4117500" cy="2160000"/>
          </a:xfrm>
        </p:spPr>
        <p:txBody>
          <a:bodyPr lIns="0" tIns="0" rIns="0" bIns="0" anchor="t" anchorCtr="0">
            <a:noAutofit/>
          </a:bodyPr>
          <a:lstStyle>
            <a:lvl1pPr>
              <a:defRPr sz="1500">
                <a:solidFill>
                  <a:srgbClr val="01033C"/>
                </a:solidFill>
                <a:latin typeface="Public Sans" pitchFamily="2" charset="77"/>
              </a:defRPr>
            </a:lvl1pPr>
            <a:lvl2pPr>
              <a:defRPr sz="1350">
                <a:solidFill>
                  <a:srgbClr val="01033C"/>
                </a:solidFill>
                <a:latin typeface="Public Sans" pitchFamily="2" charset="77"/>
              </a:defRPr>
            </a:lvl2pPr>
            <a:lvl3pPr>
              <a:defRPr sz="1200">
                <a:solidFill>
                  <a:srgbClr val="01033C"/>
                </a:solidFill>
                <a:latin typeface="Public Sans" pitchFamily="2" charset="77"/>
              </a:defRPr>
            </a:lvl3pPr>
            <a:lvl4pPr>
              <a:defRPr sz="1050">
                <a:solidFill>
                  <a:srgbClr val="01033C"/>
                </a:solidFill>
                <a:latin typeface="Public Sans" pitchFamily="2" charset="77"/>
              </a:defRPr>
            </a:lvl4pPr>
            <a:lvl5pPr>
              <a:defRPr sz="1050">
                <a:solidFill>
                  <a:srgbClr val="01033C"/>
                </a:solidFill>
                <a:latin typeface="Public Sa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5C0A4-1960-574D-9478-7A9E62D5F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0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3ABFF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785D-AA34-5E4C-A859-4302402E4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91" y="357188"/>
            <a:ext cx="8498102" cy="994172"/>
          </a:xfrm>
        </p:spPr>
        <p:txBody>
          <a:bodyPr lIns="0" tIns="0" rIns="0" bIns="0" anchor="t" anchorCtr="0">
            <a:noAutofit/>
          </a:bodyPr>
          <a:lstStyle>
            <a:lvl1pPr>
              <a:defRPr b="1" i="0">
                <a:solidFill>
                  <a:srgbClr val="01033C"/>
                </a:solidFill>
                <a:latin typeface="Cooper Hewitt" pitchFamily="2" charset="77"/>
                <a:ea typeface="Cooper Hewitt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11D03-8D5F-E14A-AE70-CAB0D3B324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73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76C476-66F4-4E43-8EDD-B851C13030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89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97EE-BFE7-B948-BC5D-BFFF20C9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92" y="357187"/>
            <a:ext cx="2017531" cy="1185863"/>
          </a:xfrm>
        </p:spPr>
        <p:txBody>
          <a:bodyPr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E03E-696D-3443-9957-6DAF39F2243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68253" y="357188"/>
            <a:ext cx="5697140" cy="3645693"/>
          </a:xfrm>
        </p:spPr>
        <p:txBody>
          <a:bodyPr lIns="0" tIns="0" rIns="0" bIns="0" numCol="2" spcCol="180000" anchor="t" anchorCtr="0">
            <a:noAutofit/>
          </a:bodyPr>
          <a:lstStyle>
            <a:lvl1pPr>
              <a:defRPr sz="1500">
                <a:latin typeface="Public Sans" pitchFamily="2" charset="77"/>
              </a:defRPr>
            </a:lvl1pPr>
            <a:lvl2pPr>
              <a:defRPr sz="135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050">
                <a:latin typeface="Public Sans" pitchFamily="2" charset="77"/>
              </a:defRPr>
            </a:lvl4pPr>
            <a:lvl5pPr>
              <a:defRPr sz="1050">
                <a:latin typeface="Public Sans" pitchFamily="2" charset="77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E9ABB-BC64-BD4D-A5A2-7074E47828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7292" y="1543051"/>
            <a:ext cx="2017531" cy="245983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1200" b="0" i="0">
                <a:solidFill>
                  <a:srgbClr val="005EB8"/>
                </a:solidFill>
                <a:latin typeface="Public Sans" pitchFamily="2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</a:t>
            </a:r>
            <a:br>
              <a:rPr lang="en-GB"/>
            </a:br>
            <a:r>
              <a:rPr lang="en-GB"/>
              <a:t>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6C9D7-CF06-E84A-B014-70D1279F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600"/>
            </a:lvl1pPr>
          </a:lstStyle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4070B-579D-3848-9A03-D86E31AD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00"/>
            </a:lvl1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A3AD0-FB18-9A4C-8342-39BAD4E4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600"/>
            </a:lvl1pPr>
          </a:lstStyle>
          <a:p>
            <a:fld id="{BCFCC874-886B-4272-9315-AF6CA9FDBCBD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8E5DCF-5508-C84A-91F0-D5076C4FD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3676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E03E-696D-3443-9957-6DAF39F22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9143999" cy="5143500"/>
          </a:xfrm>
        </p:spPr>
        <p:txBody>
          <a:bodyPr lIns="0" tIns="0" rIns="0" bIns="0" numCol="2" spcCol="180000" anchor="t" anchorCtr="0">
            <a:noAutofit/>
          </a:bodyPr>
          <a:lstStyle>
            <a:lvl1pPr>
              <a:defRPr sz="1500">
                <a:latin typeface="Public Sans" pitchFamily="2" charset="77"/>
              </a:defRPr>
            </a:lvl1pPr>
            <a:lvl2pPr>
              <a:defRPr sz="1350">
                <a:latin typeface="Public Sans" pitchFamily="2" charset="77"/>
              </a:defRPr>
            </a:lvl2pPr>
            <a:lvl3pPr>
              <a:defRPr sz="1200">
                <a:latin typeface="Public Sans" pitchFamily="2" charset="77"/>
              </a:defRPr>
            </a:lvl3pPr>
            <a:lvl4pPr>
              <a:defRPr sz="1050">
                <a:latin typeface="Public Sans" pitchFamily="2" charset="77"/>
              </a:defRPr>
            </a:lvl4pPr>
            <a:lvl5pPr>
              <a:defRPr sz="1050">
                <a:latin typeface="Public Sans" pitchFamily="2" charset="77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B97EE-BFE7-B948-BC5D-BFFF20C9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292" y="357187"/>
            <a:ext cx="2017531" cy="1185863"/>
          </a:xfrm>
        </p:spPr>
        <p:txBody>
          <a:bodyPr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4D744-03F0-004E-BF2F-763339246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242742" y="4372416"/>
            <a:ext cx="1758381" cy="63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6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123" y="760791"/>
            <a:ext cx="548830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44750" y="1371905"/>
            <a:ext cx="6045834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 u="heavy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BFF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94CDF-6606-A44E-9795-43AD9900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69" y="375047"/>
            <a:ext cx="8505000" cy="945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2BAF-22FF-984F-B4AC-E20A151E3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291" y="1320047"/>
            <a:ext cx="8497277" cy="2682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7C648-885F-F845-8E3B-9C32189BA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291" y="4570142"/>
            <a:ext cx="1620000" cy="27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="0" i="0">
                <a:solidFill>
                  <a:srgbClr val="CBC9CC"/>
                </a:solidFill>
                <a:latin typeface="Public Sans" pitchFamily="2" charset="77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8BE97-3C46-8640-AF66-ED68FD8F0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12224" y="4570142"/>
            <a:ext cx="1890000" cy="27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="0" i="0">
                <a:solidFill>
                  <a:srgbClr val="CBC9CC"/>
                </a:solidFill>
                <a:latin typeface="Public Sans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495FF-3E8C-BF4C-BD9A-067CC11B0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7156" y="4570142"/>
            <a:ext cx="1890000" cy="27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b="0" i="0">
                <a:solidFill>
                  <a:srgbClr val="CBC9CC"/>
                </a:solidFill>
                <a:latin typeface="Public Sans" pitchFamily="2" charset="77"/>
              </a:defRPr>
            </a:lvl1pPr>
          </a:lstStyle>
          <a:p>
            <a:fld id="{BCFCC874-886B-4272-9315-AF6CA9FDBC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13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b="0" i="0" kern="1200">
          <a:solidFill>
            <a:srgbClr val="01033C"/>
          </a:solidFill>
          <a:latin typeface="COOPERHEWITT-SEMIBOLD" pitchFamily="2" charset="77"/>
          <a:ea typeface="COOPERHEWITT-SEMIBOLD" pitchFamily="2" charset="77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rgbClr val="01033C"/>
          </a:solidFill>
          <a:latin typeface="Public Sans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rgbClr val="01033C"/>
          </a:solidFill>
          <a:latin typeface="Public Sans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rgbClr val="01033C"/>
          </a:solidFill>
          <a:latin typeface="Public Sans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rgbClr val="01033C"/>
          </a:solidFill>
          <a:latin typeface="Public Sans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rgbClr val="01033C"/>
          </a:solidFill>
          <a:latin typeface="Public Sans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300">
          <p15:clr>
            <a:srgbClr val="F26B43"/>
          </p15:clr>
        </p15:guide>
        <p15:guide id="5" pos="7446">
          <p15:clr>
            <a:srgbClr val="F26B43"/>
          </p15:clr>
        </p15:guide>
        <p15:guide id="6" orient="horz" pos="4065">
          <p15:clr>
            <a:srgbClr val="F26B43"/>
          </p15:clr>
        </p15:guide>
        <p15:guide id="7" pos="2003">
          <p15:clr>
            <a:srgbClr val="F26B43"/>
          </p15:clr>
        </p15:guide>
        <p15:guide id="8" pos="2661">
          <p15:clr>
            <a:srgbClr val="F26B43"/>
          </p15:clr>
        </p15:guide>
        <p15:guide id="9" orient="horz" pos="33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timetable.gre.ac.uk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wellbeing@greenwich.ac.u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.arpa" TargetMode="External"/><Relationship Id="rId2" Type="http://schemas.openxmlformats.org/officeDocument/2006/relationships/hyperlink" Target="https://en.wikipedia.org/wiki/DARP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7_LPdttKXPc&amp;t=3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hyperlink" Target="https://www.w3schools.com/browsers/default.as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 descr="Greenwich University 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325" y="1535199"/>
            <a:ext cx="5677349" cy="2073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63291" y="4007583"/>
            <a:ext cx="2429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400" spc="-50" dirty="0">
                <a:solidFill>
                  <a:srgbClr val="FFFFFF"/>
                </a:solidFill>
                <a:latin typeface="Arial"/>
                <a:cs typeface="Arial"/>
              </a:rPr>
              <a:t>Matt Prichard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 descr="Greenwich University 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7249" y="3686724"/>
            <a:ext cx="2555974" cy="9333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1825" y="813582"/>
            <a:ext cx="1732914" cy="16408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0"/>
              </a:spcBef>
            </a:pP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Computer </a:t>
            </a:r>
            <a:r>
              <a:rPr sz="2100" b="1" spc="-30" dirty="0">
                <a:solidFill>
                  <a:srgbClr val="D9D9D9"/>
                </a:solidFill>
                <a:latin typeface="Arial"/>
                <a:cs typeface="Arial"/>
              </a:rPr>
              <a:t>Systems</a:t>
            </a:r>
            <a:r>
              <a:rPr sz="2100" b="1" spc="-10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D9D9D9"/>
                </a:solidFill>
                <a:latin typeface="Arial"/>
                <a:cs typeface="Arial"/>
              </a:rPr>
              <a:t>and 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Internet </a:t>
            </a:r>
            <a:r>
              <a:rPr sz="2100" b="1" spc="-20" dirty="0">
                <a:solidFill>
                  <a:srgbClr val="D9D9D9"/>
                </a:solidFill>
                <a:latin typeface="Arial"/>
                <a:cs typeface="Arial"/>
              </a:rPr>
              <a:t>Technologies 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COMP1589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44750" y="678865"/>
            <a:ext cx="6009640" cy="14903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0"/>
              </a:spcBef>
            </a:pPr>
            <a:r>
              <a:rPr spc="95" dirty="0"/>
              <a:t>Module</a:t>
            </a:r>
            <a:r>
              <a:rPr spc="-170" dirty="0"/>
              <a:t> </a:t>
            </a:r>
            <a:r>
              <a:rPr spc="-10" dirty="0"/>
              <a:t>Introduction </a:t>
            </a:r>
            <a:r>
              <a:rPr dirty="0"/>
              <a:t>&amp;</a:t>
            </a:r>
            <a:r>
              <a:rPr spc="-254" dirty="0"/>
              <a:t> </a:t>
            </a:r>
            <a:r>
              <a:rPr spc="-20" dirty="0"/>
              <a:t>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27942" y="1125594"/>
            <a:ext cx="5769610" cy="294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6409" indent="-473709">
              <a:lnSpc>
                <a:spcPts val="3829"/>
              </a:lnSpc>
              <a:spcBef>
                <a:spcPts val="100"/>
              </a:spcBef>
              <a:buChar char="●"/>
              <a:tabLst>
                <a:tab pos="486409" algn="l"/>
              </a:tabLst>
            </a:pPr>
            <a:r>
              <a:rPr sz="3200" b="1" spc="65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r>
              <a:rPr sz="32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3200">
              <a:latin typeface="Arial"/>
              <a:cs typeface="Arial"/>
            </a:endParaRPr>
          </a:p>
          <a:p>
            <a:pPr marL="486409" indent="-473709">
              <a:lnSpc>
                <a:spcPts val="3825"/>
              </a:lnSpc>
              <a:buChar char="●"/>
              <a:tabLst>
                <a:tab pos="486409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Lectures,</a:t>
            </a:r>
            <a:r>
              <a:rPr sz="32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Labs</a:t>
            </a:r>
            <a:r>
              <a:rPr sz="3200" b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32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40" dirty="0">
                <a:solidFill>
                  <a:srgbClr val="FFFFFF"/>
                </a:solidFill>
                <a:latin typeface="Arial"/>
                <a:cs typeface="Arial"/>
              </a:rPr>
              <a:t>Etiquette</a:t>
            </a:r>
            <a:endParaRPr sz="3200">
              <a:latin typeface="Arial"/>
              <a:cs typeface="Arial"/>
            </a:endParaRPr>
          </a:p>
          <a:p>
            <a:pPr marL="486409" indent="-473709">
              <a:lnSpc>
                <a:spcPts val="3825"/>
              </a:lnSpc>
              <a:buChar char="●"/>
              <a:tabLst>
                <a:tab pos="486409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45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endParaRPr sz="3200">
              <a:latin typeface="Arial"/>
              <a:cs typeface="Arial"/>
            </a:endParaRPr>
          </a:p>
          <a:p>
            <a:pPr marL="486409" indent="-473709">
              <a:lnSpc>
                <a:spcPts val="3825"/>
              </a:lnSpc>
              <a:buChar char="●"/>
              <a:tabLst>
                <a:tab pos="486409" algn="l"/>
              </a:tabLst>
            </a:pP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32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7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endParaRPr sz="3200">
              <a:latin typeface="Arial"/>
              <a:cs typeface="Arial"/>
            </a:endParaRPr>
          </a:p>
          <a:p>
            <a:pPr marL="486409" indent="-473709">
              <a:lnSpc>
                <a:spcPts val="3825"/>
              </a:lnSpc>
              <a:buChar char="●"/>
              <a:tabLst>
                <a:tab pos="486409" algn="l"/>
              </a:tabLst>
            </a:pPr>
            <a:r>
              <a:rPr sz="3200" b="1" spc="95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2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55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sz="32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32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HTML</a:t>
            </a:r>
            <a:endParaRPr sz="3200">
              <a:latin typeface="Arial"/>
              <a:cs typeface="Arial"/>
            </a:endParaRPr>
          </a:p>
          <a:p>
            <a:pPr marL="486409" indent="-473709">
              <a:lnSpc>
                <a:spcPts val="3835"/>
              </a:lnSpc>
              <a:buChar char="●"/>
              <a:tabLst>
                <a:tab pos="486409" algn="l"/>
              </a:tabLst>
            </a:pPr>
            <a:r>
              <a:rPr sz="3200" b="1" spc="-145" dirty="0">
                <a:solidFill>
                  <a:srgbClr val="FFFFFF"/>
                </a:solidFill>
                <a:latin typeface="Arial"/>
                <a:cs typeface="Arial"/>
              </a:rPr>
              <a:t>Today’s</a:t>
            </a:r>
            <a:r>
              <a:rPr sz="32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1825" y="813582"/>
            <a:ext cx="1016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D9D9D9"/>
                </a:solidFill>
              </a:rPr>
              <a:t>Agenda</a:t>
            </a:r>
            <a:endParaRPr sz="2100"/>
          </a:p>
        </p:txBody>
      </p:sp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1481" y="47399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7AB9-804B-18FB-A200-E0D164E0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Who am I?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E38BA-7EB0-7193-52D8-393112AC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393" y="525532"/>
            <a:ext cx="4520825" cy="409243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Matt Prichard</a:t>
            </a:r>
          </a:p>
          <a:p>
            <a:pPr>
              <a:lnSpc>
                <a:spcPct val="150000"/>
              </a:lnSpc>
            </a:pPr>
            <a:r>
              <a:rPr lang="en-GB" dirty="0"/>
              <a:t>No ‘t’ in Prichard</a:t>
            </a:r>
          </a:p>
          <a:p>
            <a:pPr>
              <a:lnSpc>
                <a:spcPct val="150000"/>
              </a:lnSpc>
            </a:pPr>
            <a:r>
              <a:rPr lang="en-GB" dirty="0"/>
              <a:t>Not Matthew</a:t>
            </a:r>
          </a:p>
          <a:p>
            <a:pPr>
              <a:lnSpc>
                <a:spcPct val="150000"/>
              </a:lnSpc>
            </a:pPr>
            <a:r>
              <a:rPr lang="en-GB" dirty="0"/>
              <a:t>Not Sir</a:t>
            </a:r>
          </a:p>
          <a:p>
            <a:pPr>
              <a:lnSpc>
                <a:spcPct val="150000"/>
              </a:lnSpc>
            </a:pPr>
            <a:r>
              <a:rPr lang="en-GB" dirty="0"/>
              <a:t>Call me Matt</a:t>
            </a:r>
          </a:p>
          <a:p>
            <a:pPr>
              <a:lnSpc>
                <a:spcPct val="150000"/>
              </a:lnSpc>
            </a:pPr>
            <a:r>
              <a:rPr lang="en-GB" dirty="0"/>
              <a:t>I tend to swear a bit - sorry in advance.</a:t>
            </a:r>
          </a:p>
          <a:p>
            <a:pPr>
              <a:lnSpc>
                <a:spcPct val="150000"/>
              </a:lnSpc>
            </a:pPr>
            <a:r>
              <a:rPr lang="en-GB" dirty="0"/>
              <a:t>Oh btw this is not school, you don’t have to put your hand up to go to the toilet.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Content Placeholder 7" descr="A cartoon character holding a guitar&#10;&#10;Description automatically generated">
            <a:extLst>
              <a:ext uri="{FF2B5EF4-FFF2-40B4-BE49-F238E27FC236}">
                <a16:creationId xmlns:a16="http://schemas.microsoft.com/office/drawing/2014/main" id="{AA7BB369-C3FC-D595-F738-CBBA8E6F80D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79" y="988616"/>
            <a:ext cx="3405159" cy="3779837"/>
          </a:xfrm>
        </p:spPr>
      </p:pic>
    </p:spTree>
    <p:extLst>
      <p:ext uri="{BB962C8B-B14F-4D97-AF65-F5344CB8AC3E}">
        <p14:creationId xmlns:p14="http://schemas.microsoft.com/office/powerpoint/2010/main" val="263180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7AB9-804B-18FB-A200-E0D164E0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50" y="241380"/>
            <a:ext cx="3780000" cy="673693"/>
          </a:xfrm>
        </p:spPr>
        <p:txBody>
          <a:bodyPr/>
          <a:lstStyle/>
          <a:p>
            <a:r>
              <a:rPr lang="en-GB"/>
              <a:t>About 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E38BA-7EB0-7193-52D8-393112ACD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781" y="155868"/>
            <a:ext cx="5660888" cy="4612586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Been teaching here for 19 years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Have run a print and design company, worked as a web designer/developer, Mac artworker and a touring musician.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2 kids of university age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Go to many gigs and festivals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Metal, tech metal, progressive metal, Djent, metalcore, technical death metal, math metal, groove metal, anarcho-punk, hardcore, 90’s </a:t>
            </a:r>
            <a:r>
              <a:rPr lang="en-GB" sz="1800" dirty="0" err="1"/>
              <a:t>hiphop</a:t>
            </a:r>
            <a:r>
              <a:rPr lang="en-GB" sz="1800" dirty="0"/>
              <a:t>, ska and dub reggae. </a:t>
            </a:r>
          </a:p>
        </p:txBody>
      </p:sp>
      <p:pic>
        <p:nvPicPr>
          <p:cNvPr id="1026" name="Picture 2" descr="Meshuggah artwork">
            <a:extLst>
              <a:ext uri="{FF2B5EF4-FFF2-40B4-BE49-F238E27FC236}">
                <a16:creationId xmlns:a16="http://schemas.microsoft.com/office/drawing/2014/main" id="{B15EA16F-907F-6C2A-0EC4-AFE08B6C277B}"/>
              </a:ext>
            </a:extLst>
          </p:cNvPr>
          <p:cNvPicPr>
            <a:picLocks noGrp="1" noChangeAspect="1" noChangeArrowheads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1" y="1000584"/>
            <a:ext cx="3142331" cy="31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6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4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4750" y="689025"/>
            <a:ext cx="3083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/>
              <a:t>12</a:t>
            </a:r>
            <a:r>
              <a:rPr sz="2800" spc="-180" dirty="0"/>
              <a:t> </a:t>
            </a:r>
            <a:r>
              <a:rPr sz="2800" dirty="0"/>
              <a:t>Weeks</a:t>
            </a:r>
            <a:r>
              <a:rPr sz="2800" spc="-80" dirty="0"/>
              <a:t> </a:t>
            </a:r>
            <a:r>
              <a:rPr sz="2800" spc="-10" dirty="0"/>
              <a:t>(Term</a:t>
            </a:r>
            <a:r>
              <a:rPr sz="2800" spc="-80" dirty="0"/>
              <a:t> </a:t>
            </a:r>
            <a:r>
              <a:rPr sz="2800" spc="-25" dirty="0"/>
              <a:t>2)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2444750" y="1398956"/>
            <a:ext cx="6055360" cy="318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Lectures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GB" sz="1800" spc="-10" dirty="0">
                <a:solidFill>
                  <a:srgbClr val="FFFFFF"/>
                </a:solidFill>
                <a:latin typeface="Arial"/>
                <a:cs typeface="Arial"/>
              </a:rPr>
              <a:t>KW315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technologies,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85" dirty="0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8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800" i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terminology.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Wednesdays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9am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11am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Labs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KW215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KW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216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KW116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Blue</a:t>
            </a:r>
            <a:r>
              <a:rPr lang="en-GB" sz="1800" spc="-10" dirty="0">
                <a:solidFill>
                  <a:srgbClr val="FFFFFF"/>
                </a:solidFill>
                <a:latin typeface="Arial"/>
                <a:cs typeface="Arial"/>
              </a:rPr>
              <a:t>,QM015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i="1" spc="-45" dirty="0">
                <a:solidFill>
                  <a:srgbClr val="FFFFFF"/>
                </a:solidFill>
                <a:latin typeface="Arial"/>
                <a:cs typeface="Arial"/>
              </a:rPr>
              <a:t>Interactive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50" dirty="0">
                <a:solidFill>
                  <a:srgbClr val="FFFFFF"/>
                </a:solidFill>
                <a:latin typeface="Arial"/>
                <a:cs typeface="Arial"/>
              </a:rPr>
              <a:t>sessions</a:t>
            </a:r>
            <a:r>
              <a:rPr sz="18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60" dirty="0">
                <a:solidFill>
                  <a:srgbClr val="FFFFFF"/>
                </a:solidFill>
                <a:latin typeface="Arial"/>
                <a:cs typeface="Arial"/>
              </a:rPr>
              <a:t>providing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Arial"/>
                <a:cs typeface="Arial"/>
              </a:rPr>
              <a:t>practical</a:t>
            </a:r>
            <a:r>
              <a:rPr sz="18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10" dirty="0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r>
              <a:rPr sz="18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8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i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5" dirty="0">
                <a:solidFill>
                  <a:srgbClr val="FFFFFF"/>
                </a:solidFill>
                <a:latin typeface="Arial"/>
                <a:cs typeface="Arial"/>
              </a:rPr>
              <a:t>subject.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Wednesdays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11am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12pm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KW215, KW216, QM015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)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Wednesdays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12pm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1pm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KW216, KW116 Blue, QM015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lang="en-GB" dirty="0">
                <a:solidFill>
                  <a:schemeClr val="bg1"/>
                </a:solidFill>
                <a:latin typeface="Arial"/>
                <a:cs typeface="Arial"/>
              </a:rPr>
              <a:t>I don’t assign the labs.</a:t>
            </a:r>
            <a:endParaRPr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Check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timetable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u="heavy" spc="-10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timetable.gre.ac.uk</a:t>
            </a:r>
            <a:endParaRPr sz="18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25" y="813582"/>
            <a:ext cx="1334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40" dirty="0">
                <a:solidFill>
                  <a:srgbClr val="D9D9D9"/>
                </a:solidFill>
                <a:latin typeface="Arial"/>
                <a:cs typeface="Arial"/>
              </a:rPr>
              <a:t>Timetable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4750" y="694106"/>
            <a:ext cx="592074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90" dirty="0"/>
              <a:t>This</a:t>
            </a:r>
            <a:r>
              <a:rPr sz="1800" spc="-130" dirty="0"/>
              <a:t> is </a:t>
            </a:r>
            <a:r>
              <a:rPr sz="1800" spc="-70" dirty="0"/>
              <a:t>a</a:t>
            </a:r>
            <a:r>
              <a:rPr sz="1800" spc="-130" dirty="0"/>
              <a:t> </a:t>
            </a:r>
            <a:r>
              <a:rPr sz="1800" spc="-75" dirty="0"/>
              <a:t>mixed</a:t>
            </a:r>
            <a:r>
              <a:rPr sz="1800" spc="-130" dirty="0"/>
              <a:t> </a:t>
            </a:r>
            <a:r>
              <a:rPr sz="1800" spc="-75" dirty="0"/>
              <a:t>module,</a:t>
            </a:r>
            <a:r>
              <a:rPr sz="1800" spc="-130" dirty="0"/>
              <a:t> </a:t>
            </a:r>
            <a:r>
              <a:rPr sz="1800" spc="-85" dirty="0"/>
              <a:t>meaning</a:t>
            </a:r>
            <a:r>
              <a:rPr sz="1800" spc="-130" dirty="0"/>
              <a:t> </a:t>
            </a:r>
            <a:r>
              <a:rPr sz="1800" spc="-20" dirty="0"/>
              <a:t>we</a:t>
            </a:r>
            <a:r>
              <a:rPr sz="1800" spc="-130" dirty="0"/>
              <a:t> </a:t>
            </a:r>
            <a:r>
              <a:rPr sz="1800" spc="-85" dirty="0"/>
              <a:t>have</a:t>
            </a:r>
            <a:r>
              <a:rPr sz="1800" spc="-130" dirty="0"/>
              <a:t> </a:t>
            </a:r>
            <a:r>
              <a:rPr sz="1800" spc="-70" dirty="0"/>
              <a:t>a</a:t>
            </a:r>
            <a:r>
              <a:rPr sz="1800" spc="-130" dirty="0"/>
              <a:t> </a:t>
            </a:r>
            <a:r>
              <a:rPr sz="1800" spc="-60" dirty="0"/>
              <a:t>mix</a:t>
            </a:r>
            <a:r>
              <a:rPr sz="1800" spc="-130" dirty="0"/>
              <a:t> </a:t>
            </a:r>
            <a:r>
              <a:rPr sz="1800" spc="-35" dirty="0"/>
              <a:t>of</a:t>
            </a:r>
            <a:r>
              <a:rPr sz="1800" spc="-130" dirty="0"/>
              <a:t> </a:t>
            </a:r>
            <a:r>
              <a:rPr sz="1800" spc="-50" dirty="0"/>
              <a:t>students </a:t>
            </a:r>
            <a:r>
              <a:rPr sz="1800" spc="-30" dirty="0"/>
              <a:t>from</a:t>
            </a:r>
            <a:r>
              <a:rPr sz="1800" spc="-130" dirty="0"/>
              <a:t> </a:t>
            </a:r>
            <a:r>
              <a:rPr sz="1800" spc="-10" dirty="0"/>
              <a:t>different</a:t>
            </a:r>
            <a:r>
              <a:rPr sz="1800" spc="-130" dirty="0"/>
              <a:t> </a:t>
            </a:r>
            <a:r>
              <a:rPr sz="1800" spc="-90" dirty="0"/>
              <a:t>academic</a:t>
            </a:r>
            <a:r>
              <a:rPr sz="1800" spc="-125" dirty="0"/>
              <a:t> </a:t>
            </a:r>
            <a:r>
              <a:rPr sz="1800" spc="-10" dirty="0"/>
              <a:t>backgrounds.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2444750" y="1522781"/>
            <a:ext cx="6054090" cy="19918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12395">
              <a:lnSpc>
                <a:spcPct val="100699"/>
              </a:lnSpc>
              <a:spcBef>
                <a:spcPts val="8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may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already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cover,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help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out.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 dirty="0">
              <a:latin typeface="Arial"/>
              <a:cs typeface="Arial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Throughout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module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looking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whole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lifecycle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internet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technologies,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speciﬁcally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focused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web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systems.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25" y="813582"/>
            <a:ext cx="1546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9D9D9"/>
                </a:solidFill>
                <a:latin typeface="Arial"/>
                <a:cs typeface="Arial"/>
              </a:rPr>
              <a:t>The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4750" y="694106"/>
            <a:ext cx="5812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/>
              <a:t>There</a:t>
            </a:r>
            <a:r>
              <a:rPr sz="1800" spc="-135" dirty="0"/>
              <a:t> </a:t>
            </a:r>
            <a:r>
              <a:rPr sz="1800" spc="-130" dirty="0"/>
              <a:t>is </a:t>
            </a:r>
            <a:r>
              <a:rPr sz="1800" spc="-70" dirty="0"/>
              <a:t>a</a:t>
            </a:r>
            <a:r>
              <a:rPr sz="1800" spc="-130" dirty="0"/>
              <a:t> </a:t>
            </a:r>
            <a:r>
              <a:rPr sz="1800" dirty="0"/>
              <a:t>lot</a:t>
            </a:r>
            <a:r>
              <a:rPr sz="1800" spc="-130" dirty="0"/>
              <a:t> </a:t>
            </a:r>
            <a:r>
              <a:rPr sz="1800" spc="-35" dirty="0"/>
              <a:t>of</a:t>
            </a:r>
            <a:r>
              <a:rPr sz="1800" spc="-130" dirty="0"/>
              <a:t> </a:t>
            </a:r>
            <a:r>
              <a:rPr sz="1800" spc="-90" dirty="0"/>
              <a:t>ground</a:t>
            </a:r>
            <a:r>
              <a:rPr sz="1800" spc="-130" dirty="0"/>
              <a:t> </a:t>
            </a:r>
            <a:r>
              <a:rPr sz="1800" dirty="0"/>
              <a:t>to</a:t>
            </a:r>
            <a:r>
              <a:rPr sz="1800" spc="-130" dirty="0"/>
              <a:t> </a:t>
            </a:r>
            <a:r>
              <a:rPr sz="1800" spc="-80" dirty="0"/>
              <a:t>cover</a:t>
            </a:r>
            <a:r>
              <a:rPr sz="1800" spc="-130" dirty="0"/>
              <a:t> </a:t>
            </a:r>
            <a:r>
              <a:rPr sz="1800" dirty="0"/>
              <a:t>-</a:t>
            </a:r>
            <a:r>
              <a:rPr sz="1800" spc="-130" dirty="0"/>
              <a:t> </a:t>
            </a:r>
            <a:r>
              <a:rPr sz="1800" spc="-110" dirty="0"/>
              <a:t>ask</a:t>
            </a:r>
            <a:r>
              <a:rPr sz="1800" spc="-130" dirty="0"/>
              <a:t> </a:t>
            </a:r>
            <a:r>
              <a:rPr sz="1800" spc="-40" dirty="0"/>
              <a:t>plenty</a:t>
            </a:r>
            <a:r>
              <a:rPr sz="1800" spc="-130" dirty="0"/>
              <a:t> </a:t>
            </a:r>
            <a:r>
              <a:rPr sz="1800" spc="-35" dirty="0"/>
              <a:t>of</a:t>
            </a:r>
            <a:r>
              <a:rPr sz="1800" spc="-130" dirty="0"/>
              <a:t> </a:t>
            </a:r>
            <a:r>
              <a:rPr sz="1800" spc="-35" dirty="0"/>
              <a:t>questions!</a:t>
            </a:r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2444750" y="1218996"/>
            <a:ext cx="5979160" cy="330468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covering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website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throughout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labs,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whilst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5" dirty="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touching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topics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lectures.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Arial"/>
              <a:cs typeface="Arial"/>
            </a:endParaRPr>
          </a:p>
          <a:p>
            <a:pPr marL="12700" marR="17780">
              <a:lnSpc>
                <a:spcPct val="101600"/>
              </a:lnSpc>
            </a:pP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Arial"/>
                <a:cs typeface="Arial"/>
              </a:rPr>
              <a:t>lot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information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digest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plenty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r>
              <a:rPr sz="16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acronyms</a:t>
            </a:r>
            <a:r>
              <a:rPr sz="16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learn,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please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sure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take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plenty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notes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ask</a:t>
            </a:r>
            <a:r>
              <a:rPr sz="1600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questions.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Arial"/>
              <a:cs typeface="Arial"/>
            </a:endParaRPr>
          </a:p>
          <a:p>
            <a:pPr marL="12700" marR="182245">
              <a:lnSpc>
                <a:spcPct val="101600"/>
              </a:lnSpc>
            </a:pPr>
            <a:r>
              <a:rPr sz="1600" spc="-8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60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Arial"/>
                <a:cs typeface="Arial"/>
              </a:rPr>
              <a:t>ask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1600" spc="-40" dirty="0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raising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your 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hands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lab,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Moodle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emailing</a:t>
            </a:r>
            <a:r>
              <a:rPr sz="16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sz="16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directly.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 dirty="0">
              <a:latin typeface="Arial"/>
              <a:cs typeface="Arial"/>
            </a:endParaRPr>
          </a:p>
          <a:p>
            <a:pPr marL="12700" marR="75565">
              <a:lnSpc>
                <a:spcPct val="101600"/>
              </a:lnSpc>
            </a:pPr>
            <a:r>
              <a:rPr sz="1600" spc="65" dirty="0">
                <a:solidFill>
                  <a:srgbClr val="FFFFFF"/>
                </a:solidFill>
                <a:latin typeface="Arial"/>
                <a:cs typeface="Arial"/>
              </a:rPr>
              <a:t>If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support,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outside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6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Arial"/>
                <a:cs typeface="Arial"/>
              </a:rPr>
              <a:t>module,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sz="16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Arial"/>
                <a:cs typeface="Arial"/>
              </a:rPr>
              <a:t>please </a:t>
            </a:r>
            <a:r>
              <a:rPr sz="1600" dirty="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r>
              <a:rPr sz="16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u="heavy" spc="-10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wellbeing@greenwich.ac.uk</a:t>
            </a:r>
            <a:endParaRPr sz="1600" dirty="0">
              <a:solidFill>
                <a:srgbClr val="FFFF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25" y="813582"/>
            <a:ext cx="1546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9D9D9"/>
                </a:solidFill>
                <a:latin typeface="Arial"/>
                <a:cs typeface="Arial"/>
              </a:rPr>
              <a:t>The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1825" y="813582"/>
            <a:ext cx="156083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0" dirty="0">
                <a:solidFill>
                  <a:srgbClr val="D9D9D9"/>
                </a:solidFill>
                <a:latin typeface="Arial"/>
                <a:cs typeface="Arial"/>
              </a:rPr>
              <a:t>Assessment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44750" y="694106"/>
            <a:ext cx="5869940" cy="55303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1800" spc="-90" dirty="0"/>
              <a:t>This</a:t>
            </a:r>
            <a:r>
              <a:rPr sz="1800" spc="-125" dirty="0"/>
              <a:t> </a:t>
            </a:r>
            <a:r>
              <a:rPr sz="1800" spc="-75" dirty="0"/>
              <a:t>module</a:t>
            </a:r>
            <a:r>
              <a:rPr sz="1800" spc="-125" dirty="0"/>
              <a:t> </a:t>
            </a:r>
            <a:r>
              <a:rPr sz="1800" spc="-130" dirty="0"/>
              <a:t>is</a:t>
            </a:r>
            <a:r>
              <a:rPr sz="1800" spc="-125" dirty="0"/>
              <a:t> </a:t>
            </a:r>
            <a:r>
              <a:rPr sz="1800" spc="-20" dirty="0"/>
              <a:t>100%</a:t>
            </a:r>
            <a:r>
              <a:rPr sz="1800" spc="-125" dirty="0"/>
              <a:t> </a:t>
            </a:r>
            <a:r>
              <a:rPr lang="en-GB" sz="1800" spc="-120" dirty="0"/>
              <a:t>coursework based</a:t>
            </a:r>
            <a:r>
              <a:rPr sz="1800" spc="-105" dirty="0"/>
              <a:t>,</a:t>
            </a:r>
            <a:r>
              <a:rPr sz="1800" spc="-125" dirty="0"/>
              <a:t> </a:t>
            </a:r>
            <a:r>
              <a:rPr sz="1800" spc="-85" dirty="0"/>
              <a:t>you</a:t>
            </a:r>
            <a:r>
              <a:rPr sz="1800" spc="-125" dirty="0"/>
              <a:t> </a:t>
            </a:r>
            <a:r>
              <a:rPr sz="1800" spc="-70" dirty="0"/>
              <a:t>need</a:t>
            </a:r>
            <a:r>
              <a:rPr sz="1800" spc="-125" dirty="0"/>
              <a:t> </a:t>
            </a:r>
            <a:r>
              <a:rPr sz="1800" dirty="0"/>
              <a:t>to</a:t>
            </a:r>
            <a:r>
              <a:rPr sz="1800" spc="-125" dirty="0"/>
              <a:t> </a:t>
            </a:r>
            <a:r>
              <a:rPr sz="1800" spc="-45" dirty="0"/>
              <a:t>get</a:t>
            </a:r>
            <a:r>
              <a:rPr sz="1800" spc="-125" dirty="0"/>
              <a:t> </a:t>
            </a:r>
            <a:r>
              <a:rPr sz="1800" spc="-25" dirty="0"/>
              <a:t>at </a:t>
            </a:r>
            <a:r>
              <a:rPr sz="1800" spc="-55" dirty="0"/>
              <a:t>least</a:t>
            </a:r>
            <a:r>
              <a:rPr sz="1800" spc="-140" dirty="0"/>
              <a:t> </a:t>
            </a:r>
            <a:r>
              <a:rPr sz="1800" spc="-30" dirty="0"/>
              <a:t>40%</a:t>
            </a:r>
            <a:r>
              <a:rPr sz="1800" spc="-135" dirty="0"/>
              <a:t> </a:t>
            </a:r>
            <a:r>
              <a:rPr sz="1800" dirty="0"/>
              <a:t>to</a:t>
            </a:r>
            <a:r>
              <a:rPr sz="1800" spc="-135" dirty="0"/>
              <a:t> </a:t>
            </a:r>
            <a:r>
              <a:rPr sz="1800" spc="-10" dirty="0"/>
              <a:t>pass.</a:t>
            </a:r>
            <a:endParaRPr sz="1800" dirty="0"/>
          </a:p>
        </p:txBody>
      </p:sp>
      <p:sp>
        <p:nvSpPr>
          <p:cNvPr id="8" name="object 8"/>
          <p:cNvSpPr txBox="1"/>
          <p:nvPr/>
        </p:nvSpPr>
        <p:spPr>
          <a:xfrm>
            <a:off x="2444750" y="1522781"/>
            <a:ext cx="5862955" cy="26520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Details</a:t>
            </a:r>
            <a:endParaRPr sz="1800" dirty="0">
              <a:latin typeface="Arial"/>
              <a:cs typeface="Arial"/>
            </a:endParaRPr>
          </a:p>
          <a:p>
            <a:pPr marL="469265" indent="-366395">
              <a:lnSpc>
                <a:spcPct val="15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% for 7 weekly tasks</a:t>
            </a:r>
            <a:endParaRPr sz="1800" dirty="0">
              <a:latin typeface="Arial"/>
              <a:cs typeface="Arial"/>
            </a:endParaRPr>
          </a:p>
          <a:p>
            <a:pPr marL="469265" indent="-366395">
              <a:lnSpc>
                <a:spcPct val="15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lang="en-GB" sz="1800" spc="50" dirty="0">
                <a:solidFill>
                  <a:srgbClr val="FFFFFF"/>
                </a:solidFill>
                <a:latin typeface="Arial"/>
                <a:cs typeface="Arial"/>
              </a:rPr>
              <a:t>65% for portfolio website</a:t>
            </a:r>
            <a:endParaRPr sz="1800" dirty="0">
              <a:latin typeface="Arial"/>
              <a:cs typeface="Arial"/>
            </a:endParaRPr>
          </a:p>
          <a:p>
            <a:pPr marL="469265" indent="-366395">
              <a:lnSpc>
                <a:spcPct val="15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details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provided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later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Arial"/>
                <a:cs typeface="Arial"/>
              </a:rPr>
              <a:t>term</a:t>
            </a:r>
            <a:endParaRPr sz="1800" dirty="0">
              <a:latin typeface="Arial"/>
              <a:cs typeface="Arial"/>
            </a:endParaRPr>
          </a:p>
          <a:p>
            <a:pPr marL="469265" indent="-366395">
              <a:lnSpc>
                <a:spcPct val="15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Hand in week 11</a:t>
            </a:r>
          </a:p>
          <a:p>
            <a:pPr marL="469265" indent="-366395">
              <a:lnSpc>
                <a:spcPct val="150000"/>
              </a:lnSpc>
              <a:spcBef>
                <a:spcPts val="15"/>
              </a:spcBef>
              <a:buChar char="●"/>
              <a:tabLst>
                <a:tab pos="469265" algn="l"/>
              </a:tabLst>
            </a:pPr>
            <a:r>
              <a:rPr lang="en-GB" dirty="0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lang="en-GB" sz="1800" dirty="0">
                <a:solidFill>
                  <a:srgbClr val="FFFFFF"/>
                </a:solidFill>
                <a:latin typeface="Arial"/>
                <a:cs typeface="Arial"/>
              </a:rPr>
              <a:t>eek 12 will be info about moving to year 2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GB" sz="1850" dirty="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4750" y="543843"/>
            <a:ext cx="2762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Lectures</a:t>
            </a:r>
            <a:r>
              <a:rPr sz="2800" spc="-85" dirty="0"/>
              <a:t> </a:t>
            </a:r>
            <a:r>
              <a:rPr sz="2800" dirty="0"/>
              <a:t>&amp;</a:t>
            </a:r>
            <a:r>
              <a:rPr sz="2800" spc="-85" dirty="0"/>
              <a:t> </a:t>
            </a:r>
            <a:r>
              <a:rPr sz="2800" spc="-20" dirty="0"/>
              <a:t>Labs</a:t>
            </a:r>
            <a:endParaRPr sz="2800" dirty="0"/>
          </a:p>
        </p:txBody>
      </p:sp>
      <p:sp>
        <p:nvSpPr>
          <p:cNvPr id="7" name="object 7"/>
          <p:cNvSpPr txBox="1"/>
          <p:nvPr/>
        </p:nvSpPr>
        <p:spPr>
          <a:xfrm>
            <a:off x="2444750" y="1399463"/>
            <a:ext cx="6181090" cy="28571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100"/>
              </a:spcBef>
            </a:pPr>
            <a:r>
              <a:rPr sz="1700" b="1" spc="-10" dirty="0">
                <a:solidFill>
                  <a:srgbClr val="FFFFFF"/>
                </a:solidFill>
                <a:latin typeface="Arial"/>
                <a:cs typeface="Arial"/>
              </a:rPr>
              <a:t>Lectures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ts val="2025"/>
              </a:lnSpc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Registration</a:t>
            </a:r>
            <a:r>
              <a:rPr sz="17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7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7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1700" spc="-10" dirty="0">
                <a:solidFill>
                  <a:srgbClr val="FFFFFF"/>
                </a:solidFill>
                <a:latin typeface="Arial"/>
                <a:cs typeface="Arial"/>
              </a:rPr>
              <a:t>by QR code scan or card tap </a:t>
            </a:r>
            <a:r>
              <a:rPr lang="en-GB" sz="1700" dirty="0">
                <a:solidFill>
                  <a:srgbClr val="FFFFFF"/>
                </a:solidFill>
                <a:latin typeface="Arial"/>
                <a:cs typeface="Arial"/>
              </a:rPr>
              <a:t>in the lecture break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ts val="2025"/>
              </a:lnSpc>
              <a:buChar char="●"/>
              <a:tabLst>
                <a:tab pos="469265" algn="l"/>
              </a:tabLst>
            </a:pP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5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short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break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around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halfway</a:t>
            </a:r>
            <a:endParaRPr sz="1700" dirty="0">
              <a:latin typeface="Arial"/>
              <a:cs typeface="Arial"/>
            </a:endParaRPr>
          </a:p>
          <a:p>
            <a:pPr marL="469900" marR="5080" indent="-359410">
              <a:lnSpc>
                <a:spcPts val="2030"/>
              </a:lnSpc>
              <a:spcBef>
                <a:spcPts val="65"/>
              </a:spcBef>
              <a:buChar char="●"/>
              <a:tabLst>
                <a:tab pos="469900" algn="l"/>
              </a:tabLst>
            </a:pP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Lectures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split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70" dirty="0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50" dirty="0">
                <a:solidFill>
                  <a:srgbClr val="FFFFFF"/>
                </a:solidFill>
                <a:latin typeface="Arial"/>
                <a:cs typeface="Arial"/>
              </a:rPr>
              <a:t>segments,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65" dirty="0">
                <a:solidFill>
                  <a:srgbClr val="FFFFFF"/>
                </a:solidFill>
                <a:latin typeface="Arial"/>
                <a:cs typeface="Arial"/>
              </a:rPr>
              <a:t>ﬁrst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half</a:t>
            </a:r>
            <a:r>
              <a:rPr sz="17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focused on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speciﬁc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topic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second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half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Arial"/>
                <a:cs typeface="Arial"/>
              </a:rPr>
              <a:t>focused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Arial"/>
                <a:cs typeface="Arial"/>
              </a:rPr>
              <a:t>task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Arial"/>
              <a:buChar char="●"/>
            </a:pPr>
            <a:endParaRPr sz="1650" dirty="0">
              <a:latin typeface="Arial"/>
              <a:cs typeface="Arial"/>
            </a:endParaRPr>
          </a:p>
          <a:p>
            <a:pPr marL="12700">
              <a:lnSpc>
                <a:spcPts val="2030"/>
              </a:lnSpc>
            </a:pPr>
            <a:r>
              <a:rPr sz="1700" b="1" spc="-20" dirty="0">
                <a:solidFill>
                  <a:srgbClr val="FFFFFF"/>
                </a:solidFill>
                <a:latin typeface="Arial"/>
                <a:cs typeface="Arial"/>
              </a:rPr>
              <a:t>Labs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ts val="2025"/>
              </a:lnSpc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Registration</a:t>
            </a:r>
            <a:r>
              <a:rPr sz="17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55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GB" sz="1700" spc="-35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lang="en-GB" sz="1700" spc="-10" dirty="0">
                <a:solidFill>
                  <a:srgbClr val="FFFFFF"/>
                </a:solidFill>
                <a:latin typeface="Arial"/>
                <a:cs typeface="Arial"/>
              </a:rPr>
              <a:t> QR code scan or card tap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17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start</a:t>
            </a:r>
            <a:endParaRPr sz="1700" dirty="0">
              <a:latin typeface="Arial"/>
              <a:cs typeface="Arial"/>
            </a:endParaRPr>
          </a:p>
          <a:p>
            <a:pPr marL="469265" indent="-358775">
              <a:lnSpc>
                <a:spcPts val="2025"/>
              </a:lnSpc>
              <a:buChar char="●"/>
              <a:tabLst>
                <a:tab pos="469265" algn="l"/>
              </a:tabLst>
            </a:pP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lab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4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accessed</a:t>
            </a:r>
            <a:r>
              <a:rPr sz="17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via</a:t>
            </a:r>
            <a:r>
              <a:rPr sz="17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"/>
                <a:cs typeface="Arial"/>
              </a:rPr>
              <a:t>Moodle</a:t>
            </a:r>
            <a:endParaRPr sz="1700" dirty="0">
              <a:latin typeface="Arial"/>
              <a:cs typeface="Arial"/>
            </a:endParaRPr>
          </a:p>
          <a:p>
            <a:pPr marL="469900" marR="572135" indent="-359410">
              <a:lnSpc>
                <a:spcPts val="2030"/>
              </a:lnSpc>
              <a:spcBef>
                <a:spcPts val="65"/>
              </a:spcBef>
              <a:buChar char="●"/>
              <a:tabLst>
                <a:tab pos="469900" algn="l"/>
              </a:tabLst>
            </a:pP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During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Arial"/>
                <a:cs typeface="Arial"/>
              </a:rPr>
              <a:t>labs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please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ask</a:t>
            </a:r>
            <a:r>
              <a:rPr sz="17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30" dirty="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825" y="813582"/>
            <a:ext cx="1546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9D9D9"/>
                </a:solidFill>
                <a:latin typeface="Arial"/>
                <a:cs typeface="Arial"/>
              </a:rPr>
              <a:t>The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C3B530-22FA-A563-1C91-9C7D9E22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90D01A-A1B1-D98A-BAA3-EE16DED6887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C41A489-FCB7-CD0A-9D60-D07C7BB088FD}"/>
              </a:ext>
            </a:extLst>
          </p:cNvPr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3DAAB4-073E-E262-0C1A-92C33000F26A}"/>
              </a:ext>
            </a:extLst>
          </p:cNvPr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3961F7E-7315-D822-1541-F5EC014D38B5}"/>
              </a:ext>
            </a:extLst>
          </p:cNvPr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173458C-E21E-A344-A6E9-CF8393B82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8447" y="1234546"/>
            <a:ext cx="27622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800" dirty="0"/>
              <a:t>Kahoot quizzes </a:t>
            </a:r>
            <a:endParaRPr sz="28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69D401-5102-E19C-B236-A593537938DA}"/>
              </a:ext>
            </a:extLst>
          </p:cNvPr>
          <p:cNvSpPr txBox="1"/>
          <p:nvPr/>
        </p:nvSpPr>
        <p:spPr>
          <a:xfrm>
            <a:off x="2452701" y="2007191"/>
            <a:ext cx="6181090" cy="779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5"/>
              </a:lnSpc>
              <a:spcBef>
                <a:spcPts val="100"/>
              </a:spcBef>
            </a:pPr>
            <a:r>
              <a:rPr lang="en-GB" sz="1700" spc="-10" dirty="0">
                <a:solidFill>
                  <a:srgbClr val="FFFFFF"/>
                </a:solidFill>
                <a:latin typeface="Arial"/>
                <a:cs typeface="Arial"/>
              </a:rPr>
              <a:t>Some weeks I will run a 10 question Kahoot quiz at the start of the session to review the previous week’s work.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Arial"/>
              <a:buChar char="●"/>
            </a:pPr>
            <a:endParaRPr sz="165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E33A08E-2DC7-5AAC-2387-F6D1898F03ED}"/>
              </a:ext>
            </a:extLst>
          </p:cNvPr>
          <p:cNvSpPr txBox="1"/>
          <p:nvPr/>
        </p:nvSpPr>
        <p:spPr>
          <a:xfrm>
            <a:off x="391825" y="813582"/>
            <a:ext cx="1546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9D9D9"/>
                </a:solidFill>
                <a:latin typeface="Arial"/>
                <a:cs typeface="Arial"/>
              </a:rPr>
              <a:t>The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CC3A326A-8CCB-5B50-113C-369146A3F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  <p:pic>
        <p:nvPicPr>
          <p:cNvPr id="10" name="Picture 9" descr="Kahoot URL&#10;www.kahoot.it">
            <a:extLst>
              <a:ext uri="{FF2B5EF4-FFF2-40B4-BE49-F238E27FC236}">
                <a16:creationId xmlns:a16="http://schemas.microsoft.com/office/drawing/2014/main" id="{0ACF87E3-6449-F889-57E6-CF20947A7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91" y="3373332"/>
            <a:ext cx="7772400" cy="64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57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44750" y="689025"/>
            <a:ext cx="3903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5" dirty="0"/>
              <a:t>Etiquette</a:t>
            </a:r>
            <a:r>
              <a:rPr sz="2800" spc="-105" dirty="0"/>
              <a:t> </a:t>
            </a:r>
            <a:r>
              <a:rPr sz="2800" spc="-10" dirty="0"/>
              <a:t>Expectations</a:t>
            </a:r>
            <a:endParaRPr sz="28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444750" y="1371905"/>
            <a:ext cx="6045834" cy="3267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0" dirty="0"/>
              <a:t>Talking</a:t>
            </a:r>
          </a:p>
          <a:p>
            <a:pPr marL="12700" marR="5080">
              <a:lnSpc>
                <a:spcPct val="100000"/>
              </a:lnSpc>
            </a:pPr>
            <a:r>
              <a:rPr b="0" u="none" dirty="0">
                <a:latin typeface="Arial"/>
                <a:cs typeface="Arial"/>
              </a:rPr>
              <a:t>During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lectures</a:t>
            </a:r>
            <a:r>
              <a:rPr b="0" u="none" spc="-50" dirty="0">
                <a:latin typeface="Arial"/>
                <a:cs typeface="Arial"/>
              </a:rPr>
              <a:t> please</a:t>
            </a:r>
            <a:r>
              <a:rPr b="0" u="none" spc="-4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do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not</a:t>
            </a:r>
            <a:r>
              <a:rPr b="0" u="none" spc="-4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talk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whilst</a:t>
            </a:r>
            <a:r>
              <a:rPr b="0" u="none" spc="-4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the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content</a:t>
            </a:r>
            <a:r>
              <a:rPr b="0" u="none" spc="-45" dirty="0">
                <a:latin typeface="Arial"/>
                <a:cs typeface="Arial"/>
              </a:rPr>
              <a:t> </a:t>
            </a:r>
            <a:r>
              <a:rPr b="0" u="none" spc="-35" dirty="0">
                <a:latin typeface="Arial"/>
                <a:cs typeface="Arial"/>
              </a:rPr>
              <a:t>is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spc="-20" dirty="0">
                <a:latin typeface="Arial"/>
                <a:cs typeface="Arial"/>
              </a:rPr>
              <a:t>being</a:t>
            </a:r>
            <a:r>
              <a:rPr b="0" u="none" spc="-4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delivered</a:t>
            </a:r>
            <a:r>
              <a:rPr b="0" u="none" spc="-50" dirty="0">
                <a:latin typeface="Arial"/>
                <a:cs typeface="Arial"/>
              </a:rPr>
              <a:t> </a:t>
            </a:r>
            <a:r>
              <a:rPr b="0" u="none" spc="-25" dirty="0">
                <a:latin typeface="Arial"/>
                <a:cs typeface="Arial"/>
              </a:rPr>
              <a:t>or </a:t>
            </a:r>
            <a:r>
              <a:rPr b="0" u="none" dirty="0">
                <a:latin typeface="Arial"/>
                <a:cs typeface="Arial"/>
              </a:rPr>
              <a:t>whilst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45" dirty="0">
                <a:latin typeface="Arial"/>
                <a:cs typeface="Arial"/>
              </a:rPr>
              <a:t>someone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50" dirty="0">
                <a:latin typeface="Arial"/>
                <a:cs typeface="Arial"/>
              </a:rPr>
              <a:t>else</a:t>
            </a:r>
            <a:r>
              <a:rPr b="0" u="none" spc="-105" dirty="0">
                <a:latin typeface="Arial"/>
                <a:cs typeface="Arial"/>
              </a:rPr>
              <a:t> </a:t>
            </a:r>
            <a:r>
              <a:rPr b="0" u="none" spc="-35" dirty="0">
                <a:latin typeface="Arial"/>
                <a:cs typeface="Arial"/>
              </a:rPr>
              <a:t>is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20" dirty="0">
                <a:latin typeface="Arial"/>
                <a:cs typeface="Arial"/>
              </a:rPr>
              <a:t>speaking.</a:t>
            </a:r>
            <a:r>
              <a:rPr b="0" u="none" spc="210" dirty="0">
                <a:latin typeface="Arial"/>
                <a:cs typeface="Arial"/>
              </a:rPr>
              <a:t> </a:t>
            </a:r>
            <a:r>
              <a:rPr b="0" u="none" spc="60" dirty="0">
                <a:latin typeface="Arial"/>
                <a:cs typeface="Arial"/>
              </a:rPr>
              <a:t>If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you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50" dirty="0">
                <a:latin typeface="Arial"/>
                <a:cs typeface="Arial"/>
              </a:rPr>
              <a:t>have</a:t>
            </a:r>
            <a:r>
              <a:rPr b="0" u="none" spc="-105" dirty="0">
                <a:latin typeface="Arial"/>
                <a:cs typeface="Arial"/>
              </a:rPr>
              <a:t> </a:t>
            </a:r>
            <a:r>
              <a:rPr b="0" u="none" spc="-85" dirty="0">
                <a:latin typeface="Arial"/>
                <a:cs typeface="Arial"/>
              </a:rPr>
              <a:t>a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lang="en-GB" b="0" u="none" dirty="0">
                <a:latin typeface="Arial"/>
                <a:cs typeface="Arial"/>
              </a:rPr>
              <a:t>question,</a:t>
            </a:r>
            <a:r>
              <a:rPr b="0" u="none" spc="-105" dirty="0">
                <a:latin typeface="Arial"/>
                <a:cs typeface="Arial"/>
              </a:rPr>
              <a:t> </a:t>
            </a:r>
            <a:r>
              <a:rPr b="0" u="none" spc="-50" dirty="0">
                <a:latin typeface="Arial"/>
                <a:cs typeface="Arial"/>
              </a:rPr>
              <a:t>please</a:t>
            </a:r>
            <a:r>
              <a:rPr b="0" u="none" spc="-110" dirty="0">
                <a:latin typeface="Arial"/>
                <a:cs typeface="Arial"/>
              </a:rPr>
              <a:t> </a:t>
            </a:r>
            <a:r>
              <a:rPr b="0" u="none" spc="-30" dirty="0">
                <a:latin typeface="Arial"/>
                <a:cs typeface="Arial"/>
              </a:rPr>
              <a:t>raise</a:t>
            </a:r>
            <a:r>
              <a:rPr b="0" u="none" spc="-105" dirty="0">
                <a:latin typeface="Arial"/>
                <a:cs typeface="Arial"/>
              </a:rPr>
              <a:t> </a:t>
            </a:r>
            <a:r>
              <a:rPr b="0" u="none" spc="-20" dirty="0">
                <a:latin typeface="Arial"/>
                <a:cs typeface="Arial"/>
              </a:rPr>
              <a:t>your </a:t>
            </a:r>
            <a:r>
              <a:rPr b="0" u="none" spc="-10" dirty="0">
                <a:latin typeface="Arial"/>
                <a:cs typeface="Arial"/>
              </a:rPr>
              <a:t>hand.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u="none" spc="-40" dirty="0"/>
              <a:t>Arriving</a:t>
            </a:r>
            <a:r>
              <a:rPr u="none" spc="-90" dirty="0"/>
              <a:t> </a:t>
            </a:r>
            <a:r>
              <a:rPr u="none" spc="-20" dirty="0"/>
              <a:t>Late</a:t>
            </a:r>
          </a:p>
          <a:p>
            <a:pPr marL="12700" marR="89535">
              <a:lnSpc>
                <a:spcPct val="100000"/>
              </a:lnSpc>
            </a:pPr>
            <a:r>
              <a:rPr b="0" u="none" spc="60" dirty="0">
                <a:latin typeface="Arial"/>
                <a:cs typeface="Arial"/>
              </a:rPr>
              <a:t>If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you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arrive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late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spc="65" dirty="0">
                <a:latin typeface="Arial"/>
                <a:cs typeface="Arial"/>
              </a:rPr>
              <a:t>to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the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lecture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or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lab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spc="-50" dirty="0">
                <a:latin typeface="Arial"/>
                <a:cs typeface="Arial"/>
              </a:rPr>
              <a:t>please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45" dirty="0">
                <a:latin typeface="Arial"/>
                <a:cs typeface="Arial"/>
              </a:rPr>
              <a:t>come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in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quietly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spc="-35" dirty="0">
                <a:latin typeface="Arial"/>
                <a:cs typeface="Arial"/>
              </a:rPr>
              <a:t>and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take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spc="-25" dirty="0">
                <a:latin typeface="Arial"/>
                <a:cs typeface="Arial"/>
              </a:rPr>
              <a:t>the </a:t>
            </a:r>
            <a:r>
              <a:rPr b="0" u="none" spc="-30" dirty="0">
                <a:latin typeface="Arial"/>
                <a:cs typeface="Arial"/>
              </a:rPr>
              <a:t>closest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45" dirty="0">
                <a:latin typeface="Arial"/>
                <a:cs typeface="Arial"/>
              </a:rPr>
              <a:t>seat,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65" dirty="0">
                <a:latin typeface="Arial"/>
                <a:cs typeface="Arial"/>
              </a:rPr>
              <a:t>if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you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35" dirty="0">
                <a:latin typeface="Arial"/>
                <a:cs typeface="Arial"/>
              </a:rPr>
              <a:t>need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65" dirty="0">
                <a:latin typeface="Arial"/>
                <a:cs typeface="Arial"/>
              </a:rPr>
              <a:t>to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register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then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let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lang="en-GB" b="0" u="none" spc="-65" dirty="0"/>
              <a:t>me </a:t>
            </a:r>
            <a:r>
              <a:rPr b="0" u="none" dirty="0">
                <a:latin typeface="Arial"/>
                <a:cs typeface="Arial"/>
              </a:rPr>
              <a:t>know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at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the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20" dirty="0">
                <a:latin typeface="Arial"/>
                <a:cs typeface="Arial"/>
              </a:rPr>
              <a:t>end.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u="none" spc="-65" dirty="0"/>
              <a:t>Devices</a:t>
            </a:r>
            <a:r>
              <a:rPr u="none" spc="-110" dirty="0"/>
              <a:t> </a:t>
            </a:r>
            <a:r>
              <a:rPr u="none" spc="-30" dirty="0"/>
              <a:t>&amp;</a:t>
            </a:r>
            <a:r>
              <a:rPr u="none" spc="-105" dirty="0"/>
              <a:t> </a:t>
            </a:r>
            <a:r>
              <a:rPr u="none" spc="-10" dirty="0"/>
              <a:t>Headphones</a:t>
            </a:r>
          </a:p>
          <a:p>
            <a:pPr marL="12700" marR="320675">
              <a:lnSpc>
                <a:spcPct val="100000"/>
              </a:lnSpc>
            </a:pPr>
            <a:r>
              <a:rPr b="0" u="none" dirty="0">
                <a:latin typeface="Arial"/>
                <a:cs typeface="Arial"/>
              </a:rPr>
              <a:t>During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lang="en-GB" b="0" u="none" dirty="0">
                <a:latin typeface="Arial"/>
                <a:cs typeface="Arial"/>
              </a:rPr>
              <a:t>lectures,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50" dirty="0">
                <a:latin typeface="Arial"/>
                <a:cs typeface="Arial"/>
              </a:rPr>
              <a:t>please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remove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your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40" dirty="0">
                <a:latin typeface="Arial"/>
                <a:cs typeface="Arial"/>
              </a:rPr>
              <a:t>headphones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35" dirty="0">
                <a:latin typeface="Arial"/>
                <a:cs typeface="Arial"/>
              </a:rPr>
              <a:t>and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80" dirty="0">
                <a:latin typeface="Arial"/>
                <a:cs typeface="Arial"/>
              </a:rPr>
              <a:t>try</a:t>
            </a:r>
            <a:r>
              <a:rPr b="0" u="none" spc="-7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not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65" dirty="0">
                <a:latin typeface="Arial"/>
                <a:cs typeface="Arial"/>
              </a:rPr>
              <a:t>to</a:t>
            </a:r>
            <a:r>
              <a:rPr b="0" u="none" spc="-7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watch </a:t>
            </a:r>
            <a:r>
              <a:rPr b="0" u="none" spc="-20" dirty="0">
                <a:latin typeface="Arial"/>
                <a:cs typeface="Arial"/>
              </a:rPr>
              <a:t>videos</a:t>
            </a:r>
            <a:r>
              <a:rPr b="0" u="none" spc="-85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or</a:t>
            </a:r>
            <a:r>
              <a:rPr b="0" u="none" spc="-85" dirty="0">
                <a:latin typeface="Arial"/>
                <a:cs typeface="Arial"/>
              </a:rPr>
              <a:t> </a:t>
            </a:r>
            <a:r>
              <a:rPr b="0" u="none" spc="-20" dirty="0">
                <a:latin typeface="Arial"/>
                <a:cs typeface="Arial"/>
              </a:rPr>
              <a:t>play</a:t>
            </a:r>
            <a:r>
              <a:rPr b="0" u="none" spc="-85" dirty="0">
                <a:latin typeface="Arial"/>
                <a:cs typeface="Arial"/>
              </a:rPr>
              <a:t> </a:t>
            </a:r>
            <a:r>
              <a:rPr b="0" u="none" spc="-70" dirty="0">
                <a:latin typeface="Arial"/>
                <a:cs typeface="Arial"/>
              </a:rPr>
              <a:t>games</a:t>
            </a:r>
            <a:r>
              <a:rPr b="0" u="none" spc="-8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on</a:t>
            </a:r>
            <a:r>
              <a:rPr b="0" u="none" spc="-80" dirty="0">
                <a:latin typeface="Arial"/>
                <a:cs typeface="Arial"/>
              </a:rPr>
              <a:t> </a:t>
            </a:r>
            <a:r>
              <a:rPr b="0" u="none" dirty="0">
                <a:latin typeface="Arial"/>
                <a:cs typeface="Arial"/>
              </a:rPr>
              <a:t>your</a:t>
            </a:r>
            <a:r>
              <a:rPr b="0" u="none" spc="-85" dirty="0">
                <a:latin typeface="Arial"/>
                <a:cs typeface="Arial"/>
              </a:rPr>
              <a:t> </a:t>
            </a:r>
            <a:r>
              <a:rPr b="0" u="none" spc="-10" dirty="0">
                <a:latin typeface="Arial"/>
                <a:cs typeface="Arial"/>
              </a:rPr>
              <a:t>devices.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u="none" spc="-55" dirty="0"/>
              <a:t>Short</a:t>
            </a:r>
            <a:r>
              <a:rPr u="none" spc="-105" dirty="0"/>
              <a:t> </a:t>
            </a:r>
            <a:r>
              <a:rPr u="none" spc="-70" dirty="0"/>
              <a:t>and</a:t>
            </a:r>
            <a:r>
              <a:rPr u="none" spc="-105" dirty="0"/>
              <a:t> </a:t>
            </a:r>
            <a:r>
              <a:rPr u="none" spc="-55" dirty="0"/>
              <a:t>sweet:</a:t>
            </a:r>
            <a:r>
              <a:rPr u="none" spc="-100" dirty="0"/>
              <a:t> </a:t>
            </a:r>
            <a:r>
              <a:rPr u="none" dirty="0"/>
              <a:t>if</a:t>
            </a:r>
            <a:r>
              <a:rPr u="none" spc="-105" dirty="0"/>
              <a:t> </a:t>
            </a:r>
            <a:r>
              <a:rPr u="none" spc="-75" dirty="0"/>
              <a:t>you</a:t>
            </a:r>
            <a:r>
              <a:rPr u="none" spc="-105" dirty="0"/>
              <a:t> </a:t>
            </a:r>
            <a:r>
              <a:rPr u="none" spc="-60" dirty="0"/>
              <a:t>don’t</a:t>
            </a:r>
            <a:r>
              <a:rPr u="none" spc="-100" dirty="0"/>
              <a:t> </a:t>
            </a:r>
            <a:r>
              <a:rPr u="none" spc="-10" dirty="0"/>
              <a:t>want</a:t>
            </a:r>
            <a:r>
              <a:rPr u="none" spc="-105" dirty="0"/>
              <a:t> </a:t>
            </a:r>
            <a:r>
              <a:rPr u="none" dirty="0"/>
              <a:t>to</a:t>
            </a:r>
            <a:r>
              <a:rPr u="none" spc="-105" dirty="0"/>
              <a:t> </a:t>
            </a:r>
            <a:r>
              <a:rPr u="none" spc="-65" dirty="0"/>
              <a:t>be</a:t>
            </a:r>
            <a:r>
              <a:rPr u="none" spc="-100" dirty="0"/>
              <a:t> </a:t>
            </a:r>
            <a:r>
              <a:rPr u="none" spc="-45" dirty="0"/>
              <a:t>here</a:t>
            </a:r>
            <a:r>
              <a:rPr u="none" spc="-105" dirty="0"/>
              <a:t> </a:t>
            </a:r>
            <a:r>
              <a:rPr u="none" spc="-35" dirty="0"/>
              <a:t>then</a:t>
            </a:r>
            <a:r>
              <a:rPr u="none" spc="-105" dirty="0"/>
              <a:t> </a:t>
            </a:r>
            <a:r>
              <a:rPr u="none" spc="-60" dirty="0"/>
              <a:t>don’t</a:t>
            </a:r>
            <a:r>
              <a:rPr u="none" spc="-100" dirty="0"/>
              <a:t> </a:t>
            </a:r>
            <a:r>
              <a:rPr u="none" spc="-25" dirty="0"/>
              <a:t>be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91825" y="813582"/>
            <a:ext cx="15468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9D9D9"/>
                </a:solidFill>
                <a:latin typeface="Arial"/>
                <a:cs typeface="Arial"/>
              </a:rPr>
              <a:t>The</a:t>
            </a:r>
            <a:r>
              <a:rPr sz="2100" b="1" spc="-10" dirty="0">
                <a:solidFill>
                  <a:srgbClr val="D9D9D9"/>
                </a:solidFill>
                <a:latin typeface="Arial"/>
                <a:cs typeface="Arial"/>
              </a:rPr>
              <a:t> Module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Questions</a:t>
            </a:r>
            <a:r>
              <a:rPr lang="en-GB" spc="-100" dirty="0"/>
              <a:t> so far </a:t>
            </a:r>
            <a:r>
              <a:rPr spc="-100" dirty="0"/>
              <a:t>?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The</a:t>
            </a:r>
            <a:r>
              <a:rPr spc="-180" dirty="0"/>
              <a:t> </a:t>
            </a:r>
            <a:r>
              <a:rPr spc="75" dirty="0"/>
              <a:t>Internet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91282"/>
            <a:ext cx="5488305" cy="756919"/>
          </a:xfrm>
          <a:prstGeom prst="rect">
            <a:avLst/>
          </a:prstGeom>
        </p:spPr>
        <p:txBody>
          <a:bodyPr vert="horz" wrap="square" lIns="0" tIns="278922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z="2800" spc="105" dirty="0">
                <a:solidFill>
                  <a:srgbClr val="00033D"/>
                </a:solidFill>
              </a:rPr>
              <a:t>What</a:t>
            </a:r>
            <a:r>
              <a:rPr sz="2800" spc="-110" dirty="0">
                <a:solidFill>
                  <a:srgbClr val="00033D"/>
                </a:solidFill>
              </a:rPr>
              <a:t> </a:t>
            </a:r>
            <a:r>
              <a:rPr sz="2800" spc="-135" dirty="0">
                <a:solidFill>
                  <a:srgbClr val="00033D"/>
                </a:solidFill>
              </a:rPr>
              <a:t>is</a:t>
            </a:r>
            <a:r>
              <a:rPr sz="2800" spc="-105" dirty="0">
                <a:solidFill>
                  <a:srgbClr val="00033D"/>
                </a:solidFill>
              </a:rPr>
              <a:t> </a:t>
            </a:r>
            <a:r>
              <a:rPr sz="2800" spc="70" dirty="0">
                <a:solidFill>
                  <a:srgbClr val="00033D"/>
                </a:solidFill>
              </a:rPr>
              <a:t>the</a:t>
            </a:r>
            <a:r>
              <a:rPr sz="2800" spc="-105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internet?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33316"/>
            <a:ext cx="4628028" cy="38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75">
              <a:lnSpc>
                <a:spcPct val="100000"/>
              </a:lnSpc>
              <a:spcBef>
                <a:spcPts val="100"/>
              </a:spcBef>
            </a:pPr>
            <a:r>
              <a:rPr sz="2000" spc="75" dirty="0">
                <a:latin typeface="Arial"/>
                <a:cs typeface="Arial"/>
              </a:rPr>
              <a:t>“It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50" dirty="0">
                <a:latin typeface="Arial"/>
                <a:cs typeface="Arial"/>
              </a:rPr>
              <a:t>that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consists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private, </a:t>
            </a:r>
            <a:r>
              <a:rPr sz="2000" spc="-20" dirty="0">
                <a:latin typeface="Arial"/>
                <a:cs typeface="Arial"/>
              </a:rPr>
              <a:t>public,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academic,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business,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and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government </a:t>
            </a:r>
            <a:r>
              <a:rPr sz="2000" dirty="0">
                <a:latin typeface="Arial"/>
                <a:cs typeface="Arial"/>
              </a:rPr>
              <a:t>networks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local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to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global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scope”</a:t>
            </a:r>
            <a:endParaRPr sz="20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2000" spc="90" dirty="0">
                <a:latin typeface="Arial"/>
                <a:cs typeface="Arial"/>
              </a:rPr>
              <a:t>It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allows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multiple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across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world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65" dirty="0">
                <a:latin typeface="Arial"/>
                <a:cs typeface="Arial"/>
              </a:rPr>
              <a:t>to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talk </a:t>
            </a:r>
            <a:r>
              <a:rPr sz="2000" spc="65" dirty="0">
                <a:latin typeface="Arial"/>
                <a:cs typeface="Arial"/>
              </a:rPr>
              <a:t>to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one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another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via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a</a:t>
            </a:r>
            <a:r>
              <a:rPr sz="2000" spc="-90" dirty="0">
                <a:latin typeface="Arial"/>
                <a:cs typeface="Arial"/>
              </a:rPr>
              <a:t> mass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cables,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computers,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data centres,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routers,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servers,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repeaters,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satellites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and </a:t>
            </a:r>
            <a:r>
              <a:rPr sz="2000" spc="70" dirty="0">
                <a:latin typeface="Arial"/>
                <a:cs typeface="Arial"/>
              </a:rPr>
              <a:t>wiﬁ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towers.</a:t>
            </a:r>
            <a:endParaRPr sz="2000" dirty="0">
              <a:latin typeface="Arial"/>
              <a:cs typeface="Arial"/>
            </a:endParaRPr>
          </a:p>
          <a:p>
            <a:pPr marL="12700" marR="407034">
              <a:lnSpc>
                <a:spcPct val="100000"/>
              </a:lnSpc>
              <a:spcBef>
                <a:spcPts val="1575"/>
              </a:spcBef>
            </a:pPr>
            <a:r>
              <a:rPr sz="2000" dirty="0">
                <a:latin typeface="Arial"/>
                <a:cs typeface="Arial"/>
              </a:rPr>
              <a:t>All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these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networks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utilise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Internet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protocol </a:t>
            </a:r>
            <a:r>
              <a:rPr sz="2000" spc="-20" dirty="0">
                <a:latin typeface="Arial"/>
                <a:cs typeface="Arial"/>
              </a:rPr>
              <a:t>suite,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primarily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TCP/IP.</a:t>
            </a:r>
            <a:endParaRPr sz="200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5715" y="6167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100" y="927149"/>
              <a:ext cx="4057798" cy="35397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41213"/>
            <a:ext cx="37522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00033D"/>
                </a:solidFill>
              </a:rPr>
              <a:t>History</a:t>
            </a:r>
            <a:r>
              <a:rPr sz="2800" spc="-150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of</a:t>
            </a:r>
            <a:r>
              <a:rPr sz="2800" spc="-130" dirty="0">
                <a:solidFill>
                  <a:srgbClr val="00033D"/>
                </a:solidFill>
              </a:rPr>
              <a:t> </a:t>
            </a:r>
            <a:r>
              <a:rPr sz="2800" spc="70" dirty="0">
                <a:solidFill>
                  <a:srgbClr val="00033D"/>
                </a:solidFill>
              </a:rPr>
              <a:t>the</a:t>
            </a:r>
            <a:r>
              <a:rPr sz="2800" spc="-75" dirty="0">
                <a:solidFill>
                  <a:srgbClr val="00033D"/>
                </a:solidFill>
              </a:rPr>
              <a:t> </a:t>
            </a:r>
            <a:r>
              <a:rPr sz="2800" spc="40" dirty="0">
                <a:solidFill>
                  <a:srgbClr val="00033D"/>
                </a:solidFill>
              </a:rPr>
              <a:t>Internet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976467"/>
            <a:ext cx="4294505" cy="3854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956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In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lang="en-GB" sz="1500" spc="-80" dirty="0">
                <a:latin typeface="Arial"/>
                <a:cs typeface="Arial"/>
              </a:rPr>
              <a:t>19</a:t>
            </a:r>
            <a:r>
              <a:rPr sz="1500" spc="-45" dirty="0">
                <a:latin typeface="Arial"/>
                <a:cs typeface="Arial"/>
              </a:rPr>
              <a:t>50s,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0" dirty="0">
                <a:latin typeface="Arial"/>
                <a:cs typeface="Arial"/>
                <a:hlinkClick r:id="rId2"/>
              </a:rPr>
              <a:t>ARPA </a:t>
            </a:r>
            <a:r>
              <a:rPr sz="1500" spc="-10" dirty="0">
                <a:latin typeface="Arial"/>
                <a:cs typeface="Arial"/>
                <a:hlinkClick r:id="rId2"/>
              </a:rPr>
              <a:t>scientists</a:t>
            </a:r>
            <a:r>
              <a:rPr sz="1500" spc="-80" dirty="0">
                <a:latin typeface="Arial"/>
                <a:cs typeface="Arial"/>
                <a:hlinkClick r:id="rId2"/>
              </a:rPr>
              <a:t> </a:t>
            </a:r>
            <a:r>
              <a:rPr sz="1500" dirty="0">
                <a:latin typeface="Arial"/>
                <a:cs typeface="Arial"/>
              </a:rPr>
              <a:t>could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easily communicate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share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information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between</a:t>
            </a:r>
            <a:r>
              <a:rPr sz="1500" spc="-25" dirty="0">
                <a:latin typeface="Arial"/>
                <a:cs typeface="Arial"/>
              </a:rPr>
              <a:t> the </a:t>
            </a:r>
            <a:r>
              <a:rPr sz="1500" dirty="0">
                <a:latin typeface="Arial"/>
                <a:cs typeface="Arial"/>
              </a:rPr>
              <a:t>universities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based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at.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spc="-110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solve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problem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created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network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spc="-10" dirty="0">
                <a:latin typeface="Arial"/>
                <a:cs typeface="Arial"/>
              </a:rPr>
              <a:t>computers,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called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  <a:hlinkClick r:id="rId3"/>
              </a:rPr>
              <a:t>ARPANET</a:t>
            </a:r>
            <a:r>
              <a:rPr sz="1500" spc="-85" dirty="0">
                <a:latin typeface="Arial"/>
                <a:cs typeface="Arial"/>
              </a:rPr>
              <a:t>. </a:t>
            </a:r>
            <a:r>
              <a:rPr sz="1500" spc="-10" dirty="0">
                <a:latin typeface="Arial"/>
                <a:cs typeface="Arial"/>
              </a:rPr>
              <a:t>Realising </a:t>
            </a:r>
            <a:r>
              <a:rPr sz="1500" dirty="0">
                <a:latin typeface="Arial"/>
                <a:cs typeface="Arial"/>
              </a:rPr>
              <a:t>how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useful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ARPANET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was,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other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organisations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built </a:t>
            </a:r>
            <a:r>
              <a:rPr sz="1500" dirty="0">
                <a:latin typeface="Arial"/>
                <a:cs typeface="Arial"/>
              </a:rPr>
              <a:t>their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own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networks.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However,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individual </a:t>
            </a:r>
            <a:r>
              <a:rPr sz="1500" dirty="0">
                <a:latin typeface="Arial"/>
                <a:cs typeface="Arial"/>
              </a:rPr>
              <a:t>networks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could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easily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communicate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each </a:t>
            </a:r>
            <a:r>
              <a:rPr sz="1500" spc="-10" dirty="0">
                <a:latin typeface="Arial"/>
                <a:cs typeface="Arial"/>
              </a:rPr>
              <a:t>other.</a:t>
            </a:r>
            <a:endParaRPr sz="1500" dirty="0">
              <a:latin typeface="Arial"/>
              <a:cs typeface="Arial"/>
            </a:endParaRPr>
          </a:p>
          <a:p>
            <a:pPr marL="12700" marR="10922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In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70s,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protocol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was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developed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called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TCP/IP. </a:t>
            </a: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protocol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allowed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separate </a:t>
            </a:r>
            <a:r>
              <a:rPr sz="1500" dirty="0">
                <a:latin typeface="Arial"/>
                <a:cs typeface="Arial"/>
              </a:rPr>
              <a:t>networks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spc="-10" dirty="0">
                <a:latin typeface="Arial"/>
                <a:cs typeface="Arial"/>
              </a:rPr>
              <a:t>communicate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each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other,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joining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these </a:t>
            </a:r>
            <a:r>
              <a:rPr sz="1500" dirty="0">
                <a:latin typeface="Arial"/>
                <a:cs typeface="Arial"/>
              </a:rPr>
              <a:t>individual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networks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created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huge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wide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area </a:t>
            </a:r>
            <a:r>
              <a:rPr sz="1500" dirty="0">
                <a:latin typeface="Arial"/>
                <a:cs typeface="Arial"/>
              </a:rPr>
              <a:t>network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(WAN)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came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internet.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 descr="DARPA logo&#10;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6650" y="1832225"/>
              <a:ext cx="2716697" cy="14790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66600"/>
            <a:ext cx="39674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How</a:t>
            </a:r>
            <a:r>
              <a:rPr sz="2800" spc="-50" dirty="0">
                <a:solidFill>
                  <a:srgbClr val="00033D"/>
                </a:solidFill>
              </a:rPr>
              <a:t> </a:t>
            </a:r>
            <a:r>
              <a:rPr sz="2800" spc="70" dirty="0">
                <a:solidFill>
                  <a:srgbClr val="00033D"/>
                </a:solidFill>
              </a:rPr>
              <a:t>the</a:t>
            </a:r>
            <a:r>
              <a:rPr sz="2800" spc="45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internet</a:t>
            </a:r>
            <a:r>
              <a:rPr sz="2800" spc="-45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works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1002362"/>
            <a:ext cx="4279900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20" dirty="0">
                <a:latin typeface="Arial"/>
                <a:cs typeface="Arial"/>
              </a:rPr>
              <a:t>For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computers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to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communicate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you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must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them </a:t>
            </a:r>
            <a:r>
              <a:rPr sz="1400" dirty="0">
                <a:latin typeface="Arial"/>
                <a:cs typeface="Arial"/>
              </a:rPr>
              <a:t>together,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can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usually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be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done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by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something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like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an </a:t>
            </a:r>
            <a:r>
              <a:rPr sz="1400" dirty="0">
                <a:latin typeface="Arial"/>
                <a:cs typeface="Arial"/>
              </a:rPr>
              <a:t>ethernet</a:t>
            </a:r>
            <a:r>
              <a:rPr sz="1400" spc="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cable.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 descr="Picture of networks connected around the globe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7200" y="929275"/>
              <a:ext cx="3855599" cy="3284949"/>
            </a:xfrm>
            <a:prstGeom prst="rect">
              <a:avLst/>
            </a:prstGeom>
          </p:spPr>
        </p:pic>
      </p:grpSp>
      <p:pic>
        <p:nvPicPr>
          <p:cNvPr id="8" name="object 8" descr="diagram of 2 computers connected via an ethernet cabl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599" y="1979325"/>
            <a:ext cx="3327600" cy="8429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39924" y="3263438"/>
            <a:ext cx="4257675" cy="17056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47625">
              <a:lnSpc>
                <a:spcPts val="1650"/>
              </a:lnSpc>
              <a:spcBef>
                <a:spcPts val="180"/>
              </a:spcBef>
            </a:pPr>
            <a:r>
              <a:rPr sz="1400" spc="-35" dirty="0">
                <a:latin typeface="Arial"/>
                <a:cs typeface="Arial"/>
              </a:rPr>
              <a:t>Simple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enough,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however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if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want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to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10 </a:t>
            </a:r>
            <a:r>
              <a:rPr sz="1400" dirty="0">
                <a:latin typeface="Arial"/>
                <a:cs typeface="Arial"/>
              </a:rPr>
              <a:t>computers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together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85" dirty="0">
                <a:latin typeface="Arial"/>
                <a:cs typeface="Arial"/>
              </a:rPr>
              <a:t>it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gets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complicated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and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we’d need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45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cables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and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9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ports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per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computer.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ts val="1650"/>
              </a:lnSpc>
            </a:pPr>
            <a:r>
              <a:rPr sz="1400" spc="-25" dirty="0">
                <a:latin typeface="Arial"/>
                <a:cs typeface="Arial"/>
              </a:rPr>
              <a:t>This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is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where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routers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come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in,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once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add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a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router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35" dirty="0">
                <a:latin typeface="Arial"/>
                <a:cs typeface="Arial"/>
              </a:rPr>
              <a:t>to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system,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network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10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computers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requires </a:t>
            </a:r>
            <a:r>
              <a:rPr sz="1400" dirty="0">
                <a:latin typeface="Arial"/>
                <a:cs typeface="Arial"/>
              </a:rPr>
              <a:t>10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cables:</a:t>
            </a:r>
            <a:r>
              <a:rPr sz="1400" spc="-80" dirty="0">
                <a:latin typeface="Arial"/>
                <a:cs typeface="Arial"/>
              </a:rPr>
              <a:t> 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single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50" dirty="0">
                <a:latin typeface="Arial"/>
                <a:cs typeface="Arial"/>
              </a:rPr>
              <a:t>port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for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each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computer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and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a </a:t>
            </a:r>
            <a:r>
              <a:rPr sz="1400" spc="-10" dirty="0">
                <a:latin typeface="Arial"/>
                <a:cs typeface="Arial"/>
              </a:rPr>
              <a:t>router </a:t>
            </a:r>
            <a:r>
              <a:rPr sz="1400" spc="55" dirty="0">
                <a:latin typeface="Arial"/>
                <a:cs typeface="Arial"/>
              </a:rPr>
              <a:t>with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10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plugs.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072" y="370664"/>
            <a:ext cx="18999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33D"/>
                </a:solidFill>
                <a:latin typeface="Arial"/>
                <a:cs typeface="Arial"/>
              </a:rPr>
              <a:t>Without</a:t>
            </a:r>
            <a:r>
              <a:rPr sz="2000" b="1" spc="215" dirty="0">
                <a:solidFill>
                  <a:srgbClr val="00033D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33D"/>
                </a:solidFill>
                <a:latin typeface="Arial"/>
                <a:cs typeface="Arial"/>
              </a:rPr>
              <a:t>Router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 descr="Diagram of computers connected with a router"/>
          <p:cNvGrpSpPr/>
          <p:nvPr/>
        </p:nvGrpSpPr>
        <p:grpSpPr>
          <a:xfrm>
            <a:off x="4969174" y="1133850"/>
            <a:ext cx="3782695" cy="3939540"/>
            <a:chOff x="4969174" y="1133850"/>
            <a:chExt cx="3782695" cy="39395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5" y="4736047"/>
              <a:ext cx="1069515" cy="3368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9174" y="1133850"/>
              <a:ext cx="3748199" cy="3598250"/>
            </a:xfrm>
            <a:prstGeom prst="rect">
              <a:avLst/>
            </a:prstGeom>
          </p:spPr>
        </p:pic>
      </p:grpSp>
      <p:pic>
        <p:nvPicPr>
          <p:cNvPr id="6" name="object 6" descr="Diagram of computers connected without a rout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900" y="1133840"/>
            <a:ext cx="3748199" cy="359826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8329" y="370664"/>
            <a:ext cx="14916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solidFill>
                  <a:srgbClr val="00033D"/>
                </a:solidFill>
              </a:rPr>
              <a:t>With</a:t>
            </a:r>
            <a:r>
              <a:rPr sz="2000" spc="-85" dirty="0">
                <a:solidFill>
                  <a:srgbClr val="00033D"/>
                </a:solidFill>
              </a:rPr>
              <a:t> </a:t>
            </a:r>
            <a:r>
              <a:rPr sz="2000" spc="-10" dirty="0">
                <a:solidFill>
                  <a:srgbClr val="00033D"/>
                </a:solidFill>
              </a:rPr>
              <a:t>Router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924" y="3546413"/>
            <a:ext cx="4206240" cy="12865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sz="1400" spc="-35" dirty="0">
                <a:latin typeface="Arial"/>
                <a:cs typeface="Arial"/>
              </a:rPr>
              <a:t>Except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we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are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now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connecting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local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networks </a:t>
            </a:r>
            <a:r>
              <a:rPr sz="1400" dirty="0">
                <a:latin typeface="Arial"/>
                <a:cs typeface="Arial"/>
              </a:rPr>
              <a:t>together,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this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is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Local </a:t>
            </a:r>
            <a:r>
              <a:rPr sz="1400" dirty="0">
                <a:latin typeface="Arial"/>
                <a:cs typeface="Arial"/>
              </a:rPr>
              <a:t>Area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Network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(LAN).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12700" marR="88265" algn="just">
              <a:lnSpc>
                <a:spcPts val="1650"/>
              </a:lnSpc>
            </a:pPr>
            <a:r>
              <a:rPr sz="1400" spc="-35" dirty="0">
                <a:latin typeface="Arial"/>
                <a:cs typeface="Arial"/>
              </a:rPr>
              <a:t>This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is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where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internet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comes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in,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utilising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Internet </a:t>
            </a:r>
            <a:r>
              <a:rPr sz="1400" spc="-35" dirty="0">
                <a:latin typeface="Arial"/>
                <a:cs typeface="Arial"/>
              </a:rPr>
              <a:t>Service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Providers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95" dirty="0">
                <a:latin typeface="Arial"/>
                <a:cs typeface="Arial"/>
              </a:rPr>
              <a:t>(ISP),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we </a:t>
            </a:r>
            <a:r>
              <a:rPr sz="1400" spc="-85" dirty="0">
                <a:latin typeface="Arial"/>
                <a:cs typeface="Arial"/>
              </a:rPr>
              <a:t>can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connect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networks </a:t>
            </a:r>
            <a:r>
              <a:rPr sz="1400" spc="60" dirty="0">
                <a:latin typeface="Arial"/>
                <a:cs typeface="Arial"/>
              </a:rPr>
              <a:t>to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other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people's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networks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via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our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ISP.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9924" y="366600"/>
            <a:ext cx="39674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How</a:t>
            </a:r>
            <a:r>
              <a:rPr sz="2800" spc="-50" dirty="0">
                <a:solidFill>
                  <a:srgbClr val="00033D"/>
                </a:solidFill>
              </a:rPr>
              <a:t> </a:t>
            </a:r>
            <a:r>
              <a:rPr sz="2800" spc="70" dirty="0">
                <a:solidFill>
                  <a:srgbClr val="00033D"/>
                </a:solidFill>
              </a:rPr>
              <a:t>the</a:t>
            </a:r>
            <a:r>
              <a:rPr sz="2800" spc="45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internet</a:t>
            </a:r>
            <a:r>
              <a:rPr sz="2800" spc="-45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works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439924" y="1002362"/>
            <a:ext cx="423608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Now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have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introduced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router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into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equation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we </a:t>
            </a:r>
            <a:r>
              <a:rPr sz="1400" spc="-55" dirty="0">
                <a:latin typeface="Arial"/>
                <a:cs typeface="Arial"/>
              </a:rPr>
              <a:t>can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consider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connecting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routers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together,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this </a:t>
            </a:r>
            <a:r>
              <a:rPr sz="1400" spc="-55" dirty="0">
                <a:latin typeface="Arial"/>
                <a:cs typeface="Arial"/>
              </a:rPr>
              <a:t>makes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85" dirty="0">
                <a:latin typeface="Arial"/>
                <a:cs typeface="Arial"/>
              </a:rPr>
              <a:t>it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much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scalable.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6" name="object 6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100" y="1564989"/>
              <a:ext cx="4057799" cy="2013524"/>
            </a:xfrm>
            <a:prstGeom prst="rect">
              <a:avLst/>
            </a:prstGeom>
          </p:spPr>
        </p:pic>
      </p:grpSp>
      <p:pic>
        <p:nvPicPr>
          <p:cNvPr id="9" name="object 9" descr="Diagram of routers connected together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2825" y="1770750"/>
            <a:ext cx="2778049" cy="15927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Diagram of computers connected with a router via an ISP"/>
          <p:cNvGrpSpPr/>
          <p:nvPr/>
        </p:nvGrpSpPr>
        <p:grpSpPr>
          <a:xfrm>
            <a:off x="3326250" y="439650"/>
            <a:ext cx="5685790" cy="4633595"/>
            <a:chOff x="3326250" y="439650"/>
            <a:chExt cx="5685790" cy="46335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5" y="4736047"/>
              <a:ext cx="1069515" cy="336892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6250" y="439650"/>
              <a:ext cx="5685599" cy="42641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0000" y="370664"/>
            <a:ext cx="10566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5" dirty="0">
                <a:solidFill>
                  <a:srgbClr val="00033D"/>
                </a:solidFill>
              </a:rPr>
              <a:t>With</a:t>
            </a:r>
            <a:r>
              <a:rPr sz="2000" spc="-85" dirty="0">
                <a:solidFill>
                  <a:srgbClr val="00033D"/>
                </a:solidFill>
              </a:rPr>
              <a:t> </a:t>
            </a:r>
            <a:r>
              <a:rPr sz="2000" spc="-50" dirty="0">
                <a:solidFill>
                  <a:srgbClr val="00033D"/>
                </a:solidFill>
              </a:rPr>
              <a:t>ISP</a:t>
            </a:r>
            <a:endParaRPr sz="2000"/>
          </a:p>
        </p:txBody>
      </p:sp>
      <p:pic>
        <p:nvPicPr>
          <p:cNvPr id="6" name="object 6" descr="Diagram of computers connected with a router via an ISP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8849" y="452537"/>
            <a:ext cx="1172550" cy="4459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The</a:t>
            </a:r>
            <a:r>
              <a:rPr spc="-345" dirty="0"/>
              <a:t> </a:t>
            </a:r>
            <a:r>
              <a:rPr spc="120" dirty="0"/>
              <a:t>Web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29121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50" dirty="0">
                <a:solidFill>
                  <a:srgbClr val="00033D"/>
                </a:solidFill>
              </a:rPr>
              <a:t>World</a:t>
            </a:r>
            <a:r>
              <a:rPr sz="2800" spc="-204" dirty="0">
                <a:solidFill>
                  <a:srgbClr val="00033D"/>
                </a:solidFill>
              </a:rPr>
              <a:t> </a:t>
            </a:r>
            <a:r>
              <a:rPr sz="2800" spc="100" dirty="0">
                <a:solidFill>
                  <a:srgbClr val="00033D"/>
                </a:solidFill>
              </a:rPr>
              <a:t>Wide</a:t>
            </a:r>
            <a:r>
              <a:rPr sz="2800" spc="-200" dirty="0">
                <a:solidFill>
                  <a:srgbClr val="00033D"/>
                </a:solidFill>
              </a:rPr>
              <a:t> </a:t>
            </a:r>
            <a:r>
              <a:rPr sz="2800" spc="55" dirty="0">
                <a:solidFill>
                  <a:srgbClr val="00033D"/>
                </a:solidFill>
              </a:rPr>
              <a:t>Web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891758"/>
            <a:ext cx="4191000" cy="40239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300" dirty="0">
                <a:latin typeface="Arial"/>
                <a:cs typeface="Arial"/>
              </a:rPr>
              <a:t>Many </a:t>
            </a:r>
            <a:r>
              <a:rPr sz="1300" spc="-20" dirty="0">
                <a:latin typeface="Arial"/>
                <a:cs typeface="Arial"/>
              </a:rPr>
              <a:t>people</a:t>
            </a:r>
            <a:r>
              <a:rPr sz="1300" dirty="0">
                <a:latin typeface="Arial"/>
                <a:cs typeface="Arial"/>
              </a:rPr>
              <a:t> think that the internet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 world </a:t>
            </a:r>
            <a:r>
              <a:rPr sz="1300" spc="-20" dirty="0">
                <a:latin typeface="Arial"/>
                <a:cs typeface="Arial"/>
              </a:rPr>
              <a:t>wide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65" dirty="0">
                <a:latin typeface="Arial"/>
                <a:cs typeface="Arial"/>
              </a:rPr>
              <a:t>same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thing.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While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they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closely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linked,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they </a:t>
            </a:r>
            <a:r>
              <a:rPr sz="1300" spc="-10" dirty="0">
                <a:latin typeface="Arial"/>
                <a:cs typeface="Arial"/>
              </a:rPr>
              <a:t>are</a:t>
            </a:r>
            <a:r>
              <a:rPr sz="1300" spc="1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very</a:t>
            </a:r>
            <a:r>
              <a:rPr sz="1300" spc="1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different</a:t>
            </a:r>
            <a:r>
              <a:rPr sz="1300" spc="1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things.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108585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In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1989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Sir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Tim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Berners-</a:t>
            </a:r>
            <a:r>
              <a:rPr sz="1300" spc="-45" dirty="0">
                <a:latin typeface="Arial"/>
                <a:cs typeface="Arial"/>
              </a:rPr>
              <a:t>Lee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45" dirty="0">
                <a:latin typeface="Arial"/>
                <a:cs typeface="Arial"/>
              </a:rPr>
              <a:t>was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trying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ﬁnd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new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way </a:t>
            </a:r>
            <a:r>
              <a:rPr sz="1300" spc="55" dirty="0">
                <a:latin typeface="Arial"/>
                <a:cs typeface="Arial"/>
              </a:rPr>
              <a:t>for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scientists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easily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share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data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from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their experiments.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160020">
              <a:lnSpc>
                <a:spcPct val="101000"/>
              </a:lnSpc>
            </a:pPr>
            <a:r>
              <a:rPr sz="1300" dirty="0">
                <a:latin typeface="Arial"/>
                <a:cs typeface="Arial"/>
              </a:rPr>
              <a:t>His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solution,</a:t>
            </a:r>
            <a:r>
              <a:rPr sz="1300" spc="2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world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wide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web,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utilising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his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Hypertext </a:t>
            </a:r>
            <a:r>
              <a:rPr sz="1300" spc="-20" dirty="0">
                <a:latin typeface="Arial"/>
                <a:cs typeface="Arial"/>
              </a:rPr>
              <a:t>Transfer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Protocol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(HTTP)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6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communicate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between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25" dirty="0">
                <a:latin typeface="Arial"/>
                <a:cs typeface="Arial"/>
              </a:rPr>
              <a:t>the </a:t>
            </a:r>
            <a:r>
              <a:rPr sz="1300" dirty="0">
                <a:latin typeface="Arial"/>
                <a:cs typeface="Arial"/>
              </a:rPr>
              <a:t>client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and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server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on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internet.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Arial"/>
              <a:cs typeface="Arial"/>
            </a:endParaRPr>
          </a:p>
          <a:p>
            <a:pPr marL="12700" marR="64135">
              <a:lnSpc>
                <a:spcPct val="101000"/>
              </a:lnSpc>
            </a:pPr>
            <a:r>
              <a:rPr sz="1300" spc="-35" dirty="0">
                <a:latin typeface="Arial"/>
                <a:cs typeface="Arial"/>
              </a:rPr>
              <a:t>The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meant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that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computers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connected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55" dirty="0">
                <a:latin typeface="Arial"/>
                <a:cs typeface="Arial"/>
              </a:rPr>
              <a:t>to</a:t>
            </a:r>
            <a:r>
              <a:rPr sz="1300" spc="-8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the</a:t>
            </a:r>
            <a:r>
              <a:rPr sz="1300" spc="-7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internet </a:t>
            </a:r>
            <a:r>
              <a:rPr sz="1300" dirty="0">
                <a:latin typeface="Arial"/>
                <a:cs typeface="Arial"/>
              </a:rPr>
              <a:t>could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35" dirty="0">
                <a:latin typeface="Arial"/>
                <a:cs typeface="Arial"/>
              </a:rPr>
              <a:t>share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data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via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web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pages.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212725">
              <a:lnSpc>
                <a:spcPct val="101000"/>
              </a:lnSpc>
            </a:pPr>
            <a:r>
              <a:rPr sz="1300" b="1" dirty="0">
                <a:latin typeface="Arial"/>
                <a:cs typeface="Arial"/>
              </a:rPr>
              <a:t>Internet</a:t>
            </a:r>
            <a:r>
              <a:rPr sz="1300" b="1" spc="-7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global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network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computers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all</a:t>
            </a:r>
            <a:r>
              <a:rPr sz="1300" spc="-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connected together.</a:t>
            </a:r>
            <a:endParaRPr sz="13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Arial"/>
              <a:cs typeface="Arial"/>
            </a:endParaRPr>
          </a:p>
          <a:p>
            <a:pPr marL="12700" marR="79375">
              <a:lnSpc>
                <a:spcPct val="101000"/>
              </a:lnSpc>
              <a:spcBef>
                <a:spcPts val="5"/>
              </a:spcBef>
            </a:pPr>
            <a:r>
              <a:rPr sz="1300" b="1" spc="-10" dirty="0">
                <a:latin typeface="Arial"/>
                <a:cs typeface="Arial"/>
              </a:rPr>
              <a:t>World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Wide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b="1" dirty="0">
                <a:latin typeface="Arial"/>
                <a:cs typeface="Arial"/>
              </a:rPr>
              <a:t>Web</a:t>
            </a:r>
            <a:r>
              <a:rPr sz="1300" b="1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(www/web)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30" dirty="0">
                <a:latin typeface="Arial"/>
                <a:cs typeface="Arial"/>
              </a:rPr>
              <a:t>is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a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collection</a:t>
            </a:r>
            <a:r>
              <a:rPr sz="1300" spc="-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60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webpages </a:t>
            </a:r>
            <a:r>
              <a:rPr sz="1300" dirty="0">
                <a:latin typeface="Arial"/>
                <a:cs typeface="Arial"/>
              </a:rPr>
              <a:t>found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on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this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global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network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of</a:t>
            </a:r>
            <a:r>
              <a:rPr sz="1300" spc="-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computers.</a:t>
            </a:r>
            <a:endParaRPr sz="1300" dirty="0">
              <a:latin typeface="Arial"/>
              <a:cs typeface="Arial"/>
            </a:endParaRPr>
          </a:p>
        </p:txBody>
      </p:sp>
      <p:grpSp>
        <p:nvGrpSpPr>
          <p:cNvPr id="4" name="object 4" descr="WWW logo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5425" y="1665000"/>
              <a:ext cx="2179150" cy="181349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4622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Client-Server</a:t>
            </a:r>
            <a:r>
              <a:rPr sz="2800" spc="190" dirty="0">
                <a:solidFill>
                  <a:srgbClr val="00033D"/>
                </a:solidFill>
              </a:rPr>
              <a:t> </a:t>
            </a:r>
            <a:r>
              <a:rPr sz="2800" spc="55" dirty="0">
                <a:solidFill>
                  <a:srgbClr val="00033D"/>
                </a:solidFill>
              </a:rPr>
              <a:t>Model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1547967"/>
            <a:ext cx="4275455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client-server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model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relationship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between </a:t>
            </a:r>
            <a:r>
              <a:rPr sz="1500" spc="60" dirty="0">
                <a:latin typeface="Arial"/>
                <a:cs typeface="Arial"/>
              </a:rPr>
              <a:t>two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computers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one,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client,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makes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spc="-20" dirty="0">
                <a:latin typeface="Arial"/>
                <a:cs typeface="Arial"/>
              </a:rPr>
              <a:t>service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request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another,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server.</a:t>
            </a:r>
            <a:endParaRPr sz="1500">
              <a:latin typeface="Arial"/>
              <a:cs typeface="Arial"/>
            </a:endParaRPr>
          </a:p>
          <a:p>
            <a:pPr marL="12700" marR="8255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key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point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about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client-server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model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30" dirty="0">
                <a:latin typeface="Arial"/>
                <a:cs typeface="Arial"/>
              </a:rPr>
              <a:t>that</a:t>
            </a:r>
            <a:r>
              <a:rPr sz="1500" spc="5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dependent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provide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spc="-60" dirty="0">
                <a:latin typeface="Arial"/>
                <a:cs typeface="Arial"/>
              </a:rPr>
              <a:t>manage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information.</a:t>
            </a:r>
            <a:endParaRPr sz="1500">
              <a:latin typeface="Arial"/>
              <a:cs typeface="Arial"/>
            </a:endParaRPr>
          </a:p>
          <a:p>
            <a:pPr marL="12700" marR="38735">
              <a:lnSpc>
                <a:spcPct val="100000"/>
              </a:lnSpc>
              <a:spcBef>
                <a:spcPts val="1575"/>
              </a:spcBef>
            </a:pPr>
            <a:r>
              <a:rPr sz="1500" spc="-20" dirty="0">
                <a:latin typeface="Arial"/>
                <a:cs typeface="Arial"/>
              </a:rPr>
              <a:t>For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example,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stored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servers.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browser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makes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request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server,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sends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website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browser.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5715" y="-1905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1275" y="1546025"/>
              <a:ext cx="2047449" cy="20514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41188"/>
            <a:ext cx="3195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85" dirty="0">
                <a:solidFill>
                  <a:srgbClr val="00033D"/>
                </a:solidFill>
              </a:rPr>
              <a:t>Web</a:t>
            </a:r>
            <a:r>
              <a:rPr sz="2800" spc="-195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Architectures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776442"/>
            <a:ext cx="4229735" cy="406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655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When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talking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about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client-</a:t>
            </a:r>
            <a:r>
              <a:rPr sz="1500" spc="-10" dirty="0">
                <a:latin typeface="Arial"/>
                <a:cs typeface="Arial"/>
              </a:rPr>
              <a:t>server </a:t>
            </a:r>
            <a:r>
              <a:rPr sz="1500" dirty="0">
                <a:latin typeface="Arial"/>
                <a:cs typeface="Arial"/>
              </a:rPr>
              <a:t>infrastructure the most </a:t>
            </a:r>
            <a:r>
              <a:rPr sz="1500" spc="-35" dirty="0">
                <a:latin typeface="Arial"/>
                <a:cs typeface="Arial"/>
              </a:rPr>
              <a:t>common</a:t>
            </a:r>
            <a:r>
              <a:rPr lang="en-GB"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architecture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1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three-</a:t>
            </a:r>
            <a:r>
              <a:rPr sz="1500" spc="-20" dirty="0">
                <a:latin typeface="Arial"/>
                <a:cs typeface="Arial"/>
              </a:rPr>
              <a:t>tier </a:t>
            </a:r>
            <a:r>
              <a:rPr sz="1500" spc="-10" dirty="0">
                <a:latin typeface="Arial"/>
                <a:cs typeface="Arial"/>
              </a:rPr>
              <a:t>architecture.</a:t>
            </a:r>
            <a:endParaRPr sz="1500" dirty="0">
              <a:latin typeface="Arial"/>
              <a:cs typeface="Arial"/>
            </a:endParaRPr>
          </a:p>
          <a:p>
            <a:pPr marL="12700" marR="6350">
              <a:lnSpc>
                <a:spcPct val="100000"/>
              </a:lnSpc>
              <a:spcBef>
                <a:spcPts val="1575"/>
              </a:spcBef>
            </a:pP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logical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physical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architecture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deﬁning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tiers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computing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systems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used,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split into: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Char char="●"/>
              <a:tabLst>
                <a:tab pos="469265" algn="l"/>
              </a:tabLst>
            </a:pPr>
            <a:r>
              <a:rPr sz="1500" dirty="0">
                <a:latin typeface="Arial"/>
                <a:cs typeface="Arial"/>
              </a:rPr>
              <a:t>Presentation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(User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Interface)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"/>
                <a:cs typeface="Arial"/>
              </a:rPr>
              <a:t>Application/Logic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Tier</a:t>
            </a:r>
            <a:endParaRPr sz="150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500" spc="-10" dirty="0">
                <a:latin typeface="Arial"/>
                <a:cs typeface="Arial"/>
              </a:rPr>
              <a:t>Data/Storage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Tier</a:t>
            </a:r>
            <a:endParaRPr sz="1500" dirty="0">
              <a:latin typeface="Arial"/>
              <a:cs typeface="Arial"/>
            </a:endParaRPr>
          </a:p>
          <a:p>
            <a:pPr marL="12700" marR="287655">
              <a:lnSpc>
                <a:spcPct val="100000"/>
              </a:lnSpc>
              <a:spcBef>
                <a:spcPts val="1575"/>
              </a:spcBef>
            </a:pPr>
            <a:r>
              <a:rPr sz="1500" spc="-60" dirty="0">
                <a:latin typeface="Arial"/>
                <a:cs typeface="Arial"/>
              </a:rPr>
              <a:t>These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tiers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represent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split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between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what</a:t>
            </a:r>
            <a:r>
              <a:rPr sz="1500" spc="-4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we </a:t>
            </a:r>
            <a:r>
              <a:rPr sz="1500" dirty="0">
                <a:latin typeface="Arial"/>
                <a:cs typeface="Arial"/>
              </a:rPr>
              <a:t>present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user,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handle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complex </a:t>
            </a:r>
            <a:r>
              <a:rPr sz="1500" dirty="0">
                <a:latin typeface="Arial"/>
                <a:cs typeface="Arial"/>
              </a:rPr>
              <a:t>stuff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where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store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data.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Most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modern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applications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now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moving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more </a:t>
            </a:r>
            <a:r>
              <a:rPr sz="1500" spc="-30" dirty="0">
                <a:latin typeface="Arial"/>
                <a:cs typeface="Arial"/>
              </a:rPr>
              <a:t>complex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conﬁgurations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within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cloud.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 descr="Three-tier architecture diagram&#10;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5075" y="1525599"/>
              <a:ext cx="3819849" cy="2092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41201"/>
            <a:ext cx="1607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0" dirty="0">
                <a:solidFill>
                  <a:srgbClr val="00033D"/>
                </a:solidFill>
              </a:rPr>
              <a:t>Browsers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731627"/>
            <a:ext cx="4272280" cy="40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We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familiar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accessing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via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web </a:t>
            </a:r>
            <a:r>
              <a:rPr sz="1500" spc="-20" dirty="0">
                <a:latin typeface="Arial"/>
                <a:cs typeface="Arial"/>
              </a:rPr>
              <a:t>browser.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retrieves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information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parts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displays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your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device.</a:t>
            </a:r>
            <a:endParaRPr sz="1500" dirty="0">
              <a:latin typeface="Arial"/>
              <a:cs typeface="Arial"/>
            </a:endParaRPr>
          </a:p>
          <a:p>
            <a:pPr marL="12700" marR="116205">
              <a:lnSpc>
                <a:spcPct val="100000"/>
              </a:lnSpc>
              <a:spcBef>
                <a:spcPts val="1575"/>
              </a:spcBef>
            </a:pP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information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needs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shared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displayed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85" dirty="0">
                <a:latin typeface="Arial"/>
                <a:cs typeface="Arial"/>
              </a:rPr>
              <a:t> a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consistent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format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so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people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using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any </a:t>
            </a:r>
            <a:r>
              <a:rPr sz="1500" spc="-20" dirty="0">
                <a:latin typeface="Arial"/>
                <a:cs typeface="Arial"/>
              </a:rPr>
              <a:t>browser,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anywhere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world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can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80" dirty="0">
                <a:latin typeface="Arial"/>
                <a:cs typeface="Arial"/>
              </a:rPr>
              <a:t>see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information.</a:t>
            </a:r>
            <a:endParaRPr sz="1500" dirty="0">
              <a:latin typeface="Arial"/>
              <a:cs typeface="Arial"/>
            </a:endParaRPr>
          </a:p>
          <a:p>
            <a:pPr marL="12700" marR="217170">
              <a:lnSpc>
                <a:spcPct val="100000"/>
              </a:lnSpc>
              <a:spcBef>
                <a:spcPts val="1575"/>
              </a:spcBef>
            </a:pPr>
            <a:r>
              <a:rPr sz="1500" spc="-80" dirty="0">
                <a:latin typeface="Arial"/>
                <a:cs typeface="Arial"/>
              </a:rPr>
              <a:t>Sadly,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browser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makers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choose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interpret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format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same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way.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For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users,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means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website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can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look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function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differently. </a:t>
            </a:r>
            <a:r>
              <a:rPr sz="1500" dirty="0">
                <a:latin typeface="Arial"/>
                <a:cs typeface="Arial"/>
              </a:rPr>
              <a:t>Creating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consistency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between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browsers,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so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30" dirty="0">
                <a:latin typeface="Arial"/>
                <a:cs typeface="Arial"/>
              </a:rPr>
              <a:t>that </a:t>
            </a:r>
            <a:r>
              <a:rPr sz="1500" spc="-40" dirty="0">
                <a:latin typeface="Arial"/>
                <a:cs typeface="Arial"/>
              </a:rPr>
              <a:t>any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user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can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enjoy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internet,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regardless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browser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choose,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called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standards.</a:t>
            </a:r>
            <a:endParaRPr sz="1500" dirty="0">
              <a:latin typeface="Arial"/>
              <a:cs typeface="Arial"/>
            </a:endParaRPr>
          </a:p>
          <a:p>
            <a:pPr marL="12700" marR="86995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W3C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speciﬁcations,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primarily,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determine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how </a:t>
            </a:r>
            <a:r>
              <a:rPr sz="1500" dirty="0">
                <a:latin typeface="Arial"/>
                <a:cs typeface="Arial"/>
              </a:rPr>
              <a:t>markup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language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styles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should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interpreted.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 descr="Browser icons diagram"/>
          <p:cNvGrpSpPr/>
          <p:nvPr/>
        </p:nvGrpSpPr>
        <p:grpSpPr>
          <a:xfrm>
            <a:off x="5085715" y="8382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2112" y="1431662"/>
              <a:ext cx="965774" cy="9657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7275" y="2810166"/>
              <a:ext cx="886276" cy="8823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76446" y="2790837"/>
              <a:ext cx="886256" cy="920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7562" y="2808200"/>
              <a:ext cx="886275" cy="886275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64A690D-5F6E-52D1-38D6-A17EC471189C}"/>
              </a:ext>
            </a:extLst>
          </p:cNvPr>
          <p:cNvSpPr txBox="1"/>
          <p:nvPr/>
        </p:nvSpPr>
        <p:spPr>
          <a:xfrm>
            <a:off x="346310" y="4806809"/>
            <a:ext cx="46753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7"/>
              </a:rPr>
              <a:t>https://www.w3schools.com/browsers/default.asp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6888"/>
            <a:ext cx="3925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>
                <a:solidFill>
                  <a:srgbClr val="00033D"/>
                </a:solidFill>
              </a:rPr>
              <a:t>URLs</a:t>
            </a:r>
            <a:r>
              <a:rPr sz="2800" spc="-110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&amp;</a:t>
            </a:r>
            <a:r>
              <a:rPr sz="2800" spc="-130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Domain</a:t>
            </a:r>
            <a:r>
              <a:rPr sz="2800" spc="-120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Names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662142"/>
            <a:ext cx="4272915" cy="448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7034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We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look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depth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later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term,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now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we’ll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look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basics.</a:t>
            </a:r>
            <a:endParaRPr sz="1500">
              <a:latin typeface="Arial"/>
              <a:cs typeface="Arial"/>
            </a:endParaRPr>
          </a:p>
          <a:p>
            <a:pPr marL="12700" marR="18415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When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want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visit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anything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in </a:t>
            </a:r>
            <a:r>
              <a:rPr sz="1500" dirty="0">
                <a:latin typeface="Arial"/>
                <a:cs typeface="Arial"/>
              </a:rPr>
              <a:t>your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browser,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you’d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go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address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bar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enter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address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U</a:t>
            </a:r>
            <a:r>
              <a:rPr sz="1500" spc="-10" dirty="0">
                <a:latin typeface="Arial"/>
                <a:cs typeface="Arial"/>
              </a:rPr>
              <a:t>niform </a:t>
            </a:r>
            <a:r>
              <a:rPr sz="1500" b="1" spc="-40" dirty="0">
                <a:latin typeface="Arial"/>
                <a:cs typeface="Arial"/>
              </a:rPr>
              <a:t>R</a:t>
            </a:r>
            <a:r>
              <a:rPr sz="1500" spc="-40" dirty="0">
                <a:latin typeface="Arial"/>
                <a:cs typeface="Arial"/>
              </a:rPr>
              <a:t>esource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L</a:t>
            </a:r>
            <a:r>
              <a:rPr sz="1500" spc="-10" dirty="0">
                <a:latin typeface="Arial"/>
                <a:cs typeface="Arial"/>
              </a:rPr>
              <a:t>ocator.</a:t>
            </a:r>
            <a:endParaRPr sz="1500">
              <a:latin typeface="Arial"/>
              <a:cs typeface="Arial"/>
            </a:endParaRPr>
          </a:p>
          <a:p>
            <a:pPr marL="12700" marR="147320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URL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often,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not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always,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starts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domain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name.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address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speciﬁc website,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each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page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generally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has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its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own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URL </a:t>
            </a:r>
            <a:r>
              <a:rPr sz="1500" dirty="0">
                <a:latin typeface="Arial"/>
                <a:cs typeface="Arial"/>
              </a:rPr>
              <a:t>but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shared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domain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name.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Domain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names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consist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hierarchical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sequence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spc="-60" dirty="0">
                <a:latin typeface="Arial"/>
                <a:cs typeface="Arial"/>
              </a:rPr>
              <a:t>names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separated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by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periods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ending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 </a:t>
            </a:r>
            <a:r>
              <a:rPr sz="1500" spc="-10" dirty="0">
                <a:latin typeface="Arial"/>
                <a:cs typeface="Arial"/>
              </a:rPr>
              <a:t>extension.</a:t>
            </a:r>
            <a:endParaRPr sz="1500">
              <a:latin typeface="Arial"/>
              <a:cs typeface="Arial"/>
            </a:endParaRPr>
          </a:p>
          <a:p>
            <a:pPr marL="12700" marR="122555" algn="just">
              <a:lnSpc>
                <a:spcPct val="100000"/>
              </a:lnSpc>
              <a:spcBef>
                <a:spcPts val="1575"/>
              </a:spcBef>
            </a:pPr>
            <a:r>
              <a:rPr sz="1500" spc="-100" dirty="0">
                <a:latin typeface="Arial"/>
                <a:cs typeface="Arial"/>
              </a:rPr>
              <a:t>Each</a:t>
            </a:r>
            <a:r>
              <a:rPr sz="1500" spc="-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domain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name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on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internet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will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relate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55" dirty="0">
                <a:latin typeface="Arial"/>
                <a:cs typeface="Arial"/>
              </a:rPr>
              <a:t>to</a:t>
            </a:r>
            <a:r>
              <a:rPr sz="1500" spc="-25" dirty="0">
                <a:latin typeface="Arial"/>
                <a:cs typeface="Arial"/>
              </a:rPr>
              <a:t> at </a:t>
            </a:r>
            <a:r>
              <a:rPr sz="1500" spc="-20" dirty="0">
                <a:latin typeface="Arial"/>
                <a:cs typeface="Arial"/>
              </a:rPr>
              <a:t>least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one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75" dirty="0">
                <a:latin typeface="Arial"/>
                <a:cs typeface="Arial"/>
              </a:rPr>
              <a:t>IP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address,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80" dirty="0">
                <a:latin typeface="Arial"/>
                <a:cs typeface="Arial"/>
              </a:rPr>
              <a:t>is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computer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readable address.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 descr="DNS server diagram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200" y="1971200"/>
              <a:ext cx="4057799" cy="120109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11850"/>
            <a:ext cx="3925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Websites</a:t>
            </a:r>
            <a:r>
              <a:rPr sz="2800" spc="-80" dirty="0">
                <a:solidFill>
                  <a:srgbClr val="00033D"/>
                </a:solidFill>
              </a:rPr>
              <a:t> </a:t>
            </a:r>
            <a:r>
              <a:rPr sz="2800" spc="-50" dirty="0">
                <a:solidFill>
                  <a:srgbClr val="00033D"/>
                </a:solidFill>
              </a:rPr>
              <a:t>&amp;</a:t>
            </a:r>
            <a:r>
              <a:rPr sz="2800" spc="-175" dirty="0">
                <a:solidFill>
                  <a:srgbClr val="00033D"/>
                </a:solidFill>
              </a:rPr>
              <a:t> </a:t>
            </a:r>
            <a:r>
              <a:rPr sz="2800" spc="85" dirty="0">
                <a:solidFill>
                  <a:srgbClr val="00033D"/>
                </a:solidFill>
              </a:rPr>
              <a:t>Web</a:t>
            </a:r>
            <a:r>
              <a:rPr sz="2800" spc="-80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Pages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747105"/>
            <a:ext cx="4226560" cy="4225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9539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Many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people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mix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word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website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(site)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with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term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70" dirty="0">
                <a:latin typeface="Arial"/>
                <a:cs typeface="Arial"/>
              </a:rPr>
              <a:t> page,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however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slight difference.</a:t>
            </a:r>
            <a:endParaRPr sz="1500">
              <a:latin typeface="Arial"/>
              <a:cs typeface="Arial"/>
            </a:endParaRPr>
          </a:p>
          <a:p>
            <a:pPr marL="12700" marR="20701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Think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same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way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there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 </a:t>
            </a:r>
            <a:r>
              <a:rPr sz="1500" spc="-10" dirty="0">
                <a:latin typeface="Arial"/>
                <a:cs typeface="Arial"/>
              </a:rPr>
              <a:t>difference </a:t>
            </a:r>
            <a:r>
              <a:rPr sz="1500" dirty="0">
                <a:latin typeface="Arial"/>
                <a:cs typeface="Arial"/>
              </a:rPr>
              <a:t>between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folder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ﬁle,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equivalent.</a:t>
            </a:r>
            <a:endParaRPr sz="1500">
              <a:latin typeface="Arial"/>
              <a:cs typeface="Arial"/>
            </a:endParaRPr>
          </a:p>
          <a:p>
            <a:pPr marL="12700" marR="562610">
              <a:lnSpc>
                <a:spcPct val="100000"/>
              </a:lnSpc>
              <a:spcBef>
                <a:spcPts val="1575"/>
              </a:spcBef>
            </a:pPr>
            <a:r>
              <a:rPr sz="1500" i="1" spc="-90" dirty="0">
                <a:latin typeface="Arial"/>
                <a:cs typeface="Arial"/>
              </a:rPr>
              <a:t>A</a:t>
            </a:r>
            <a:r>
              <a:rPr sz="1500" i="1" spc="-105" dirty="0">
                <a:latin typeface="Arial"/>
                <a:cs typeface="Arial"/>
              </a:rPr>
              <a:t> </a:t>
            </a:r>
            <a:r>
              <a:rPr sz="1500" i="1" u="heavy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website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80" dirty="0">
                <a:latin typeface="Arial"/>
                <a:cs typeface="Arial"/>
              </a:rPr>
              <a:t>is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90" dirty="0">
                <a:latin typeface="Arial"/>
                <a:cs typeface="Arial"/>
              </a:rPr>
              <a:t>a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45" dirty="0">
                <a:latin typeface="Arial"/>
                <a:cs typeface="Arial"/>
              </a:rPr>
              <a:t>collection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35" dirty="0">
                <a:latin typeface="Arial"/>
                <a:cs typeface="Arial"/>
              </a:rPr>
              <a:t>of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80" dirty="0">
                <a:latin typeface="Arial"/>
                <a:cs typeface="Arial"/>
              </a:rPr>
              <a:t>web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130" dirty="0">
                <a:latin typeface="Arial"/>
                <a:cs typeface="Arial"/>
              </a:rPr>
              <a:t>pages</a:t>
            </a:r>
            <a:r>
              <a:rPr sz="1500" i="1" spc="-105" dirty="0">
                <a:latin typeface="Arial"/>
                <a:cs typeface="Arial"/>
              </a:rPr>
              <a:t> </a:t>
            </a:r>
            <a:r>
              <a:rPr sz="1500" i="1" spc="-45" dirty="0">
                <a:latin typeface="Arial"/>
                <a:cs typeface="Arial"/>
              </a:rPr>
              <a:t>which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45" dirty="0">
                <a:latin typeface="Arial"/>
                <a:cs typeface="Arial"/>
              </a:rPr>
              <a:t>are </a:t>
            </a:r>
            <a:r>
              <a:rPr sz="1500" i="1" spc="-85" dirty="0">
                <a:latin typeface="Arial"/>
                <a:cs typeface="Arial"/>
              </a:rPr>
              <a:t>grouped</a:t>
            </a:r>
            <a:r>
              <a:rPr sz="1500" i="1" spc="-90" dirty="0">
                <a:latin typeface="Arial"/>
                <a:cs typeface="Arial"/>
              </a:rPr>
              <a:t> </a:t>
            </a:r>
            <a:r>
              <a:rPr sz="1500" i="1" spc="-50" dirty="0">
                <a:latin typeface="Arial"/>
                <a:cs typeface="Arial"/>
              </a:rPr>
              <a:t>together</a:t>
            </a:r>
            <a:r>
              <a:rPr sz="1500" i="1" spc="-90" dirty="0">
                <a:latin typeface="Arial"/>
                <a:cs typeface="Arial"/>
              </a:rPr>
              <a:t> </a:t>
            </a:r>
            <a:r>
              <a:rPr sz="1500" i="1" spc="-40" dirty="0">
                <a:latin typeface="Arial"/>
                <a:cs typeface="Arial"/>
              </a:rPr>
              <a:t>often</a:t>
            </a:r>
            <a:r>
              <a:rPr sz="1500" i="1" spc="-85" dirty="0">
                <a:latin typeface="Arial"/>
                <a:cs typeface="Arial"/>
              </a:rPr>
              <a:t> </a:t>
            </a:r>
            <a:r>
              <a:rPr sz="1500" i="1" spc="-60" dirty="0">
                <a:latin typeface="Arial"/>
                <a:cs typeface="Arial"/>
              </a:rPr>
              <a:t>under</a:t>
            </a:r>
            <a:r>
              <a:rPr sz="1500" i="1" spc="-90" dirty="0">
                <a:latin typeface="Arial"/>
                <a:cs typeface="Arial"/>
              </a:rPr>
              <a:t> a </a:t>
            </a:r>
            <a:r>
              <a:rPr sz="1500" i="1" spc="-85" dirty="0">
                <a:latin typeface="Arial"/>
                <a:cs typeface="Arial"/>
              </a:rPr>
              <a:t>single </a:t>
            </a:r>
            <a:r>
              <a:rPr sz="1500" i="1" spc="-10" dirty="0">
                <a:latin typeface="Arial"/>
                <a:cs typeface="Arial"/>
              </a:rPr>
              <a:t>domain.</a:t>
            </a:r>
            <a:endParaRPr sz="1500">
              <a:latin typeface="Arial"/>
              <a:cs typeface="Arial"/>
            </a:endParaRPr>
          </a:p>
          <a:p>
            <a:pPr marL="12700" marR="490855">
              <a:lnSpc>
                <a:spcPct val="100000"/>
              </a:lnSpc>
              <a:spcBef>
                <a:spcPts val="1575"/>
              </a:spcBef>
            </a:pPr>
            <a:r>
              <a:rPr sz="1500" i="1" spc="-90" dirty="0">
                <a:latin typeface="Arial"/>
                <a:cs typeface="Arial"/>
              </a:rPr>
              <a:t>A</a:t>
            </a:r>
            <a:r>
              <a:rPr sz="1500" i="1" spc="-105" dirty="0">
                <a:latin typeface="Arial"/>
                <a:cs typeface="Arial"/>
              </a:rPr>
              <a:t> </a:t>
            </a:r>
            <a:r>
              <a:rPr sz="1500" i="1" u="heavy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web</a:t>
            </a:r>
            <a:r>
              <a:rPr sz="1500" i="1" u="heavy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500" i="1" u="heavy" spc="-11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page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80" dirty="0">
                <a:latin typeface="Arial"/>
                <a:cs typeface="Arial"/>
              </a:rPr>
              <a:t>is</a:t>
            </a:r>
            <a:r>
              <a:rPr sz="1500" i="1" spc="-105" dirty="0">
                <a:latin typeface="Arial"/>
                <a:cs typeface="Arial"/>
              </a:rPr>
              <a:t> </a:t>
            </a:r>
            <a:r>
              <a:rPr sz="1500" i="1" spc="-40" dirty="0">
                <a:latin typeface="Arial"/>
                <a:cs typeface="Arial"/>
              </a:rPr>
              <a:t>the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45" dirty="0">
                <a:latin typeface="Arial"/>
                <a:cs typeface="Arial"/>
              </a:rPr>
              <a:t>actual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70" dirty="0">
                <a:latin typeface="Arial"/>
                <a:cs typeface="Arial"/>
              </a:rPr>
              <a:t>document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45" dirty="0">
                <a:latin typeface="Arial"/>
                <a:cs typeface="Arial"/>
              </a:rPr>
              <a:t>which</a:t>
            </a:r>
            <a:r>
              <a:rPr sz="1500" i="1" spc="-105" dirty="0">
                <a:latin typeface="Arial"/>
                <a:cs typeface="Arial"/>
              </a:rPr>
              <a:t> </a:t>
            </a:r>
            <a:r>
              <a:rPr sz="1500" i="1" spc="-90" dirty="0">
                <a:latin typeface="Arial"/>
                <a:cs typeface="Arial"/>
              </a:rPr>
              <a:t>can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25" dirty="0">
                <a:latin typeface="Arial"/>
                <a:cs typeface="Arial"/>
              </a:rPr>
              <a:t>be </a:t>
            </a:r>
            <a:r>
              <a:rPr sz="1500" i="1" spc="-70" dirty="0">
                <a:latin typeface="Arial"/>
                <a:cs typeface="Arial"/>
              </a:rPr>
              <a:t>displayed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20" dirty="0">
                <a:latin typeface="Arial"/>
                <a:cs typeface="Arial"/>
              </a:rPr>
              <a:t>in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90" dirty="0">
                <a:latin typeface="Arial"/>
                <a:cs typeface="Arial"/>
              </a:rPr>
              <a:t>a</a:t>
            </a:r>
            <a:r>
              <a:rPr sz="1500" i="1" spc="-100" dirty="0">
                <a:latin typeface="Arial"/>
                <a:cs typeface="Arial"/>
              </a:rPr>
              <a:t> </a:t>
            </a:r>
            <a:r>
              <a:rPr sz="1500" i="1" spc="-80" dirty="0">
                <a:latin typeface="Arial"/>
                <a:cs typeface="Arial"/>
              </a:rPr>
              <a:t>web</a:t>
            </a:r>
            <a:r>
              <a:rPr sz="1500" i="1" spc="-9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browser.</a:t>
            </a:r>
            <a:endParaRPr sz="1500">
              <a:latin typeface="Arial"/>
              <a:cs typeface="Arial"/>
            </a:endParaRPr>
          </a:p>
          <a:p>
            <a:pPr marL="12700" marR="304165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We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create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75" dirty="0">
                <a:latin typeface="Arial"/>
                <a:cs typeface="Arial"/>
              </a:rPr>
              <a:t>pages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link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them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together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to </a:t>
            </a:r>
            <a:r>
              <a:rPr sz="1500" spc="-45" dirty="0">
                <a:latin typeface="Arial"/>
                <a:cs typeface="Arial"/>
              </a:rPr>
              <a:t>make</a:t>
            </a:r>
            <a:r>
              <a:rPr sz="1500" spc="-114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1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website.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spc="-10" dirty="0">
                <a:latin typeface="Arial"/>
                <a:cs typeface="Arial"/>
              </a:rPr>
              <a:t>Realistically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doesn’t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matter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too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much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which </a:t>
            </a:r>
            <a:r>
              <a:rPr sz="1500" dirty="0">
                <a:latin typeface="Arial"/>
                <a:cs typeface="Arial"/>
              </a:rPr>
              <a:t>terminology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65" dirty="0">
                <a:latin typeface="Arial"/>
                <a:cs typeface="Arial"/>
              </a:rPr>
              <a:t> use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used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refer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same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thing.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5715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6675" y="1433425"/>
              <a:ext cx="2276649" cy="2276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51103"/>
            <a:ext cx="3493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Frontend</a:t>
            </a:r>
            <a:r>
              <a:rPr sz="2800" spc="-135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&amp;</a:t>
            </a:r>
            <a:r>
              <a:rPr sz="2800" spc="-130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Backend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39924" y="584504"/>
            <a:ext cx="4295140" cy="451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27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Websites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delivered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by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two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distinct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sets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technology,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commonly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frontend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spc="-35" dirty="0">
                <a:latin typeface="Arial"/>
                <a:cs typeface="Arial"/>
              </a:rPr>
              <a:t>backend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-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sometimes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side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side.</a:t>
            </a:r>
            <a:endParaRPr sz="1500" dirty="0">
              <a:latin typeface="Arial"/>
              <a:cs typeface="Arial"/>
            </a:endParaRPr>
          </a:p>
          <a:p>
            <a:pPr marL="12700" marR="167640">
              <a:lnSpc>
                <a:spcPct val="100000"/>
              </a:lnSpc>
              <a:spcBef>
                <a:spcPts val="1575"/>
              </a:spcBef>
            </a:pP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terminology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becoming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increasingly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blurred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terms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technology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used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however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spc="-10" dirty="0">
                <a:latin typeface="Arial"/>
                <a:cs typeface="Arial"/>
              </a:rPr>
              <a:t>concept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generally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still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applies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regardless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dirty="0">
                <a:latin typeface="Arial"/>
                <a:cs typeface="Arial"/>
              </a:rPr>
              <a:t>technology</a:t>
            </a:r>
            <a:r>
              <a:rPr sz="1500" spc="-13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used.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When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accessing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website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your browser,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what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seeing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interacting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is </a:t>
            </a:r>
            <a:r>
              <a:rPr sz="1500" dirty="0">
                <a:latin typeface="Arial"/>
                <a:cs typeface="Arial"/>
              </a:rPr>
              <a:t>known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frontend.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front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facing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side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dirty="0">
                <a:latin typeface="Arial"/>
                <a:cs typeface="Arial"/>
              </a:rPr>
              <a:t>our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website,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rendered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client’s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machine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interacted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with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via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browser.</a:t>
            </a:r>
            <a:endParaRPr sz="1500" dirty="0">
              <a:latin typeface="Arial"/>
              <a:cs typeface="Arial"/>
            </a:endParaRPr>
          </a:p>
          <a:p>
            <a:pPr marL="12700" marR="7239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Now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if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you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submit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form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website,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such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 </a:t>
            </a:r>
            <a:r>
              <a:rPr sz="1500" spc="-50" dirty="0">
                <a:latin typeface="Arial"/>
                <a:cs typeface="Arial"/>
              </a:rPr>
              <a:t>a </a:t>
            </a:r>
            <a:r>
              <a:rPr sz="1500" dirty="0">
                <a:latin typeface="Arial"/>
                <a:cs typeface="Arial"/>
              </a:rPr>
              <a:t>registration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form,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go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server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(the </a:t>
            </a:r>
            <a:r>
              <a:rPr sz="1500" spc="-40" dirty="0">
                <a:latin typeface="Arial"/>
                <a:cs typeface="Arial"/>
              </a:rPr>
              <a:t>backend)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processed.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Once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has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been </a:t>
            </a:r>
            <a:r>
              <a:rPr sz="1500" spc="-40" dirty="0">
                <a:latin typeface="Arial"/>
                <a:cs typeface="Arial"/>
              </a:rPr>
              <a:t>processed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90" dirty="0">
                <a:latin typeface="Arial"/>
                <a:cs typeface="Arial"/>
              </a:rPr>
              <a:t>it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return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response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then </a:t>
            </a:r>
            <a:r>
              <a:rPr sz="1500" spc="-25" dirty="0">
                <a:latin typeface="Arial"/>
                <a:cs typeface="Arial"/>
              </a:rPr>
              <a:t>displayed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user.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 descr="Front end - back end diagram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7400" y="1909800"/>
              <a:ext cx="3695199" cy="14476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17683"/>
            <a:ext cx="34931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033D"/>
                </a:solidFill>
              </a:rPr>
              <a:t>Frontend</a:t>
            </a:r>
            <a:r>
              <a:rPr sz="2800" spc="-135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&amp;</a:t>
            </a:r>
            <a:r>
              <a:rPr sz="2800" spc="-130" dirty="0">
                <a:solidFill>
                  <a:srgbClr val="00033D"/>
                </a:solidFill>
              </a:rPr>
              <a:t> </a:t>
            </a:r>
            <a:r>
              <a:rPr sz="2800" spc="-10" dirty="0">
                <a:solidFill>
                  <a:srgbClr val="00033D"/>
                </a:solidFill>
              </a:rPr>
              <a:t>Backend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439924" y="598792"/>
            <a:ext cx="4208145" cy="448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545" algn="just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"/>
                <a:cs typeface="Arial"/>
              </a:rPr>
              <a:t>Most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commonly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these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two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elements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are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distinctly </a:t>
            </a:r>
            <a:r>
              <a:rPr sz="1500" spc="-25" dirty="0">
                <a:latin typeface="Arial"/>
                <a:cs typeface="Arial"/>
              </a:rPr>
              <a:t>programmed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spc="-60" dirty="0">
                <a:latin typeface="Arial"/>
                <a:cs typeface="Arial"/>
              </a:rPr>
              <a:t>and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different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languages</a:t>
            </a:r>
            <a:r>
              <a:rPr sz="1500" spc="35" dirty="0">
                <a:latin typeface="Arial"/>
                <a:cs typeface="Arial"/>
              </a:rPr>
              <a:t> </a:t>
            </a:r>
            <a:r>
              <a:rPr sz="1500" spc="40" dirty="0">
                <a:latin typeface="Arial"/>
                <a:cs typeface="Arial"/>
              </a:rPr>
              <a:t>with </a:t>
            </a:r>
            <a:r>
              <a:rPr sz="1500" spc="20" dirty="0">
                <a:latin typeface="Arial"/>
                <a:cs typeface="Arial"/>
              </a:rPr>
              <a:t>different</a:t>
            </a:r>
            <a:r>
              <a:rPr sz="1500" spc="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developers.</a:t>
            </a:r>
            <a:endParaRPr sz="1500" dirty="0">
              <a:latin typeface="Arial"/>
              <a:cs typeface="Arial"/>
            </a:endParaRPr>
          </a:p>
          <a:p>
            <a:pPr marL="12700" marR="182880">
              <a:lnSpc>
                <a:spcPct val="100000"/>
              </a:lnSpc>
              <a:spcBef>
                <a:spcPts val="1575"/>
              </a:spcBef>
            </a:pPr>
            <a:r>
              <a:rPr sz="1500" spc="-55" dirty="0">
                <a:latin typeface="Arial"/>
                <a:cs typeface="Arial"/>
              </a:rPr>
              <a:t>Someone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that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programmes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both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frontend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backend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often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referred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95" dirty="0">
                <a:latin typeface="Arial"/>
                <a:cs typeface="Arial"/>
              </a:rPr>
              <a:t>as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full-</a:t>
            </a:r>
            <a:r>
              <a:rPr sz="1500" spc="-10" dirty="0">
                <a:latin typeface="Arial"/>
                <a:cs typeface="Arial"/>
              </a:rPr>
              <a:t>stack developer.</a:t>
            </a:r>
            <a:endParaRPr sz="1500" dirty="0">
              <a:latin typeface="Arial"/>
              <a:cs typeface="Arial"/>
            </a:endParaRPr>
          </a:p>
          <a:p>
            <a:pPr marL="12700" marR="3302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A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stack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what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refer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when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discussing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technology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used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website,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usually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 </a:t>
            </a:r>
            <a:r>
              <a:rPr sz="1500" spc="-20" dirty="0">
                <a:latin typeface="Arial"/>
                <a:cs typeface="Arial"/>
              </a:rPr>
              <a:t>acronym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technologies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used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60" dirty="0">
                <a:latin typeface="Arial"/>
                <a:cs typeface="Arial"/>
              </a:rPr>
              <a:t>for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various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parts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of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website.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common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one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LAMP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stands </a:t>
            </a:r>
            <a:r>
              <a:rPr sz="1500" dirty="0">
                <a:latin typeface="Arial"/>
                <a:cs typeface="Arial"/>
              </a:rPr>
              <a:t>for: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b="1" spc="-35" dirty="0">
                <a:latin typeface="Arial"/>
                <a:cs typeface="Arial"/>
              </a:rPr>
              <a:t>L</a:t>
            </a:r>
            <a:r>
              <a:rPr sz="1500" spc="-35" dirty="0">
                <a:latin typeface="Arial"/>
                <a:cs typeface="Arial"/>
              </a:rPr>
              <a:t>inux,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b="1" spc="-55" dirty="0">
                <a:latin typeface="Arial"/>
                <a:cs typeface="Arial"/>
              </a:rPr>
              <a:t>A</a:t>
            </a:r>
            <a:r>
              <a:rPr sz="1500" spc="-55" dirty="0">
                <a:latin typeface="Arial"/>
                <a:cs typeface="Arial"/>
              </a:rPr>
              <a:t>pache,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M</a:t>
            </a:r>
            <a:r>
              <a:rPr sz="1500" spc="-25" dirty="0">
                <a:latin typeface="Arial"/>
                <a:cs typeface="Arial"/>
              </a:rPr>
              <a:t>ySQL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P</a:t>
            </a:r>
            <a:r>
              <a:rPr sz="1500" spc="-25" dirty="0">
                <a:latin typeface="Arial"/>
                <a:cs typeface="Arial"/>
              </a:rPr>
              <a:t>HP</a:t>
            </a:r>
            <a:r>
              <a:rPr lang="en-GB" sz="1500" spc="-25" dirty="0">
                <a:latin typeface="Arial"/>
                <a:cs typeface="Arial"/>
              </a:rPr>
              <a:t> (2</a:t>
            </a:r>
            <a:r>
              <a:rPr lang="en-GB" sz="1500" spc="-25" baseline="30000" dirty="0">
                <a:latin typeface="Arial"/>
                <a:cs typeface="Arial"/>
              </a:rPr>
              <a:t>nd</a:t>
            </a:r>
            <a:r>
              <a:rPr lang="en-GB" sz="1500" spc="-25" dirty="0">
                <a:latin typeface="Arial"/>
                <a:cs typeface="Arial"/>
              </a:rPr>
              <a:t> year)</a:t>
            </a:r>
            <a:endParaRPr sz="1500" dirty="0">
              <a:latin typeface="Arial"/>
              <a:cs typeface="Arial"/>
            </a:endParaRPr>
          </a:p>
          <a:p>
            <a:pPr marL="12700" marR="7366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On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frontend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limited</a:t>
            </a:r>
            <a:r>
              <a:rPr sz="1500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by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browsers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so</a:t>
            </a:r>
            <a:r>
              <a:rPr sz="1500" spc="-6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we </a:t>
            </a:r>
            <a:r>
              <a:rPr sz="1500" dirty="0">
                <a:latin typeface="Arial"/>
                <a:cs typeface="Arial"/>
              </a:rPr>
              <a:t>must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65" dirty="0">
                <a:latin typeface="Arial"/>
                <a:cs typeface="Arial"/>
              </a:rPr>
              <a:t>use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technology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they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allow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which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is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HTML, </a:t>
            </a:r>
            <a:r>
              <a:rPr sz="1500" spc="-20" dirty="0">
                <a:latin typeface="Arial"/>
                <a:cs typeface="Arial"/>
              </a:rPr>
              <a:t>Javascript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CSS.</a:t>
            </a:r>
            <a:endParaRPr sz="15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On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backend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however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have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more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freedom, </a:t>
            </a:r>
            <a:r>
              <a:rPr sz="1500" spc="-55" dirty="0">
                <a:latin typeface="Arial"/>
                <a:cs typeface="Arial"/>
              </a:rPr>
              <a:t>languages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here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range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from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0" dirty="0">
                <a:latin typeface="Arial"/>
                <a:cs typeface="Arial"/>
              </a:rPr>
              <a:t>.NET,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0" dirty="0">
                <a:latin typeface="Arial"/>
                <a:cs typeface="Arial"/>
              </a:rPr>
              <a:t>PHP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and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Node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0" dirty="0">
                <a:latin typeface="Arial"/>
                <a:cs typeface="Arial"/>
              </a:rPr>
              <a:t>JS.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4" name="object 4" descr="Front end - back end - full stack diagram"/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35925" y="1491825"/>
              <a:ext cx="3758149" cy="2159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498376"/>
            <a:ext cx="26809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00033D"/>
                </a:solidFill>
              </a:rPr>
              <a:t>HTML,</a:t>
            </a:r>
            <a:r>
              <a:rPr sz="2800" spc="-180" dirty="0">
                <a:solidFill>
                  <a:srgbClr val="00033D"/>
                </a:solidFill>
              </a:rPr>
              <a:t> JS</a:t>
            </a:r>
            <a:r>
              <a:rPr sz="2800" spc="-110" dirty="0">
                <a:solidFill>
                  <a:srgbClr val="00033D"/>
                </a:solidFill>
              </a:rPr>
              <a:t> </a:t>
            </a:r>
            <a:r>
              <a:rPr sz="2800" dirty="0">
                <a:solidFill>
                  <a:srgbClr val="00033D"/>
                </a:solidFill>
              </a:rPr>
              <a:t>&amp;</a:t>
            </a:r>
            <a:r>
              <a:rPr sz="2800" spc="-120" dirty="0">
                <a:solidFill>
                  <a:srgbClr val="00033D"/>
                </a:solidFill>
              </a:rPr>
              <a:t> </a:t>
            </a:r>
            <a:r>
              <a:rPr sz="2800" spc="-95" dirty="0">
                <a:solidFill>
                  <a:srgbClr val="00033D"/>
                </a:solidFill>
              </a:rPr>
              <a:t>CSS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9924" y="1133630"/>
            <a:ext cx="4297680" cy="354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30" dirty="0">
                <a:latin typeface="Arial"/>
                <a:cs typeface="Arial"/>
              </a:rPr>
              <a:t>This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module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primarily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be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focused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on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frontend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development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30" dirty="0">
                <a:latin typeface="Arial"/>
                <a:cs typeface="Arial"/>
              </a:rPr>
              <a:t>websites. This</a:t>
            </a:r>
            <a:r>
              <a:rPr sz="1500" spc="-35" dirty="0">
                <a:latin typeface="Arial"/>
                <a:cs typeface="Arial"/>
              </a:rPr>
              <a:t> is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most </a:t>
            </a:r>
            <a:r>
              <a:rPr sz="1500" spc="-25" dirty="0">
                <a:latin typeface="Arial"/>
                <a:cs typeface="Arial"/>
              </a:rPr>
              <a:t>common</a:t>
            </a:r>
            <a:r>
              <a:rPr sz="1500" spc="-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learning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path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into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web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development</a:t>
            </a:r>
            <a:r>
              <a:rPr sz="1500" spc="-7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due</a:t>
            </a:r>
            <a:r>
              <a:rPr sz="1500" spc="65" dirty="0">
                <a:latin typeface="Arial"/>
                <a:cs typeface="Arial"/>
              </a:rPr>
              <a:t> to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fact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languages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 </a:t>
            </a:r>
            <a:r>
              <a:rPr sz="1500" spc="-10" dirty="0">
                <a:latin typeface="Arial"/>
                <a:cs typeface="Arial"/>
              </a:rPr>
              <a:t>universal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standard, </a:t>
            </a:r>
            <a:r>
              <a:rPr sz="1500" spc="-25" dirty="0">
                <a:latin typeface="Arial"/>
                <a:cs typeface="Arial"/>
              </a:rPr>
              <a:t>whereas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backend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55" dirty="0">
                <a:latin typeface="Arial"/>
                <a:cs typeface="Arial"/>
              </a:rPr>
              <a:t>languages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very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much</a:t>
            </a:r>
            <a:r>
              <a:rPr sz="1500" spc="-85" dirty="0">
                <a:latin typeface="Arial"/>
                <a:cs typeface="Arial"/>
              </a:rPr>
              <a:t> a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choice.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500" spc="-40" dirty="0">
                <a:latin typeface="Arial"/>
                <a:cs typeface="Arial"/>
              </a:rPr>
              <a:t>The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core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components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35" dirty="0">
                <a:latin typeface="Arial"/>
                <a:cs typeface="Arial"/>
              </a:rPr>
              <a:t>webpage</a:t>
            </a:r>
            <a:r>
              <a:rPr sz="1500" spc="-10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100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the:</a:t>
            </a:r>
            <a:endParaRPr sz="1500">
              <a:latin typeface="Arial"/>
              <a:cs typeface="Arial"/>
            </a:endParaRPr>
          </a:p>
          <a:p>
            <a:pPr marL="12700" marR="1845945">
              <a:lnSpc>
                <a:spcPct val="187500"/>
              </a:lnSpc>
            </a:pPr>
            <a:r>
              <a:rPr sz="1500" b="1" dirty="0">
                <a:latin typeface="Arial"/>
                <a:cs typeface="Arial"/>
              </a:rPr>
              <a:t>H</a:t>
            </a:r>
            <a:r>
              <a:rPr sz="1500" dirty="0">
                <a:latin typeface="Arial"/>
                <a:cs typeface="Arial"/>
              </a:rPr>
              <a:t>yper</a:t>
            </a:r>
            <a:r>
              <a:rPr sz="1500" b="1" dirty="0">
                <a:latin typeface="Arial"/>
                <a:cs typeface="Arial"/>
              </a:rPr>
              <a:t>T</a:t>
            </a:r>
            <a:r>
              <a:rPr sz="1500" dirty="0">
                <a:latin typeface="Arial"/>
                <a:cs typeface="Arial"/>
              </a:rPr>
              <a:t>ext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</a:t>
            </a:r>
            <a:r>
              <a:rPr sz="1500" dirty="0">
                <a:latin typeface="Arial"/>
                <a:cs typeface="Arial"/>
              </a:rPr>
              <a:t>arkup</a:t>
            </a:r>
            <a:r>
              <a:rPr sz="1500" spc="15" dirty="0">
                <a:latin typeface="Arial"/>
                <a:cs typeface="Arial"/>
              </a:rPr>
              <a:t> </a:t>
            </a:r>
            <a:r>
              <a:rPr sz="1500" b="1" spc="-60" dirty="0">
                <a:latin typeface="Arial"/>
                <a:cs typeface="Arial"/>
              </a:rPr>
              <a:t>L</a:t>
            </a:r>
            <a:r>
              <a:rPr sz="1500" spc="-60" dirty="0">
                <a:latin typeface="Arial"/>
                <a:cs typeface="Arial"/>
              </a:rPr>
              <a:t>anguage </a:t>
            </a:r>
            <a:r>
              <a:rPr sz="1500" b="1" spc="-10" dirty="0">
                <a:latin typeface="Arial"/>
                <a:cs typeface="Arial"/>
              </a:rPr>
              <a:t>J</a:t>
            </a:r>
            <a:r>
              <a:rPr sz="1500" spc="-10" dirty="0">
                <a:latin typeface="Arial"/>
                <a:cs typeface="Arial"/>
              </a:rPr>
              <a:t>ava</a:t>
            </a:r>
            <a:r>
              <a:rPr sz="1500" b="1" spc="-10" dirty="0">
                <a:latin typeface="Arial"/>
                <a:cs typeface="Arial"/>
              </a:rPr>
              <a:t>S</a:t>
            </a:r>
            <a:r>
              <a:rPr sz="1500" spc="-10" dirty="0">
                <a:latin typeface="Arial"/>
                <a:cs typeface="Arial"/>
              </a:rPr>
              <a:t>cript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500" b="1" spc="-55" dirty="0">
                <a:latin typeface="Arial"/>
                <a:cs typeface="Arial"/>
              </a:rPr>
              <a:t>C</a:t>
            </a:r>
            <a:r>
              <a:rPr sz="1500" spc="-55" dirty="0">
                <a:latin typeface="Arial"/>
                <a:cs typeface="Arial"/>
              </a:rPr>
              <a:t>ascading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b="1" spc="-20" dirty="0">
                <a:latin typeface="Arial"/>
                <a:cs typeface="Arial"/>
              </a:rPr>
              <a:t>S</a:t>
            </a:r>
            <a:r>
              <a:rPr sz="1500" spc="-20" dirty="0">
                <a:latin typeface="Arial"/>
                <a:cs typeface="Arial"/>
              </a:rPr>
              <a:t>tyle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S</a:t>
            </a:r>
            <a:r>
              <a:rPr sz="1500" spc="-10" dirty="0">
                <a:latin typeface="Arial"/>
                <a:cs typeface="Arial"/>
              </a:rPr>
              <a:t>heets</a:t>
            </a:r>
            <a:endParaRPr sz="1500">
              <a:latin typeface="Arial"/>
              <a:cs typeface="Arial"/>
            </a:endParaRPr>
          </a:p>
          <a:p>
            <a:pPr marL="12700" marR="45720">
              <a:lnSpc>
                <a:spcPct val="100000"/>
              </a:lnSpc>
              <a:spcBef>
                <a:spcPts val="1575"/>
              </a:spcBef>
            </a:pPr>
            <a:r>
              <a:rPr sz="1500" dirty="0">
                <a:latin typeface="Arial"/>
                <a:cs typeface="Arial"/>
              </a:rPr>
              <a:t>We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will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cover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all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of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these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in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detail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over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the</a:t>
            </a:r>
            <a:r>
              <a:rPr sz="1500" spc="-8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next</a:t>
            </a:r>
            <a:r>
              <a:rPr sz="1500" spc="-9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few </a:t>
            </a:r>
            <a:r>
              <a:rPr sz="1500" spc="-45" dirty="0">
                <a:latin typeface="Arial"/>
                <a:cs typeface="Arial"/>
              </a:rPr>
              <a:t>weeks,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this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week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are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looking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at</a:t>
            </a:r>
            <a:r>
              <a:rPr sz="1500" spc="-95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HTML.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" name="object 4" descr="HTML, JS, CSS logos&#10;"/>
          <p:cNvGrpSpPr/>
          <p:nvPr/>
        </p:nvGrpSpPr>
        <p:grpSpPr>
          <a:xfrm>
            <a:off x="4805750" y="0"/>
            <a:ext cx="4338320" cy="5143500"/>
            <a:chOff x="4805750" y="0"/>
            <a:chExt cx="4338320" cy="5143500"/>
          </a:xfrm>
        </p:grpSpPr>
        <p:sp>
          <p:nvSpPr>
            <p:cNvPr id="5" name="object 5"/>
            <p:cNvSpPr/>
            <p:nvPr/>
          </p:nvSpPr>
          <p:spPr>
            <a:xfrm>
              <a:off x="5086099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5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5750" y="1669700"/>
              <a:ext cx="4338249" cy="1804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7847" y="257014"/>
            <a:ext cx="5488305" cy="46294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0000" dirty="0"/>
              <a:t>?</a:t>
            </a:r>
            <a:endParaRPr sz="30000" spc="-20" dirty="0"/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2139</Words>
  <Application>Microsoft Macintosh PowerPoint</Application>
  <PresentationFormat>On-screen Show (16:9)</PresentationFormat>
  <Paragraphs>168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Cooper Hewitt</vt:lpstr>
      <vt:lpstr>COOPERHEWITT-MEDIUM</vt:lpstr>
      <vt:lpstr>COOPERHEWITT-SEMIBOLD</vt:lpstr>
      <vt:lpstr>Public Sans</vt:lpstr>
      <vt:lpstr>Office Theme</vt:lpstr>
      <vt:lpstr>1_Office Theme</vt:lpstr>
      <vt:lpstr>PowerPoint Presentation</vt:lpstr>
      <vt:lpstr>Module Introduction &amp; HTML</vt:lpstr>
      <vt:lpstr>Agenda</vt:lpstr>
      <vt:lpstr>Who am I?</vt:lpstr>
      <vt:lpstr>About me</vt:lpstr>
      <vt:lpstr>12 Weeks (Term 2)</vt:lpstr>
      <vt:lpstr>This is a mixed module, meaning we have a mix of students from different academic backgrounds.</vt:lpstr>
      <vt:lpstr>There is a lot of ground to cover - ask plenty of questions!</vt:lpstr>
      <vt:lpstr>This module is 100% coursework based, you need to get at least 40% to pass.</vt:lpstr>
      <vt:lpstr>Lectures &amp; Labs</vt:lpstr>
      <vt:lpstr>Kahoot quizzes </vt:lpstr>
      <vt:lpstr>Etiquette Expectations</vt:lpstr>
      <vt:lpstr>Questions so far ?</vt:lpstr>
      <vt:lpstr>The Internet</vt:lpstr>
      <vt:lpstr>What is the internet?</vt:lpstr>
      <vt:lpstr>History of the Internet</vt:lpstr>
      <vt:lpstr>How the internet works</vt:lpstr>
      <vt:lpstr>With Router</vt:lpstr>
      <vt:lpstr>How the internet works</vt:lpstr>
      <vt:lpstr>With ISP</vt:lpstr>
      <vt:lpstr>The Web</vt:lpstr>
      <vt:lpstr>World Wide Web</vt:lpstr>
      <vt:lpstr>Client-Server Model</vt:lpstr>
      <vt:lpstr>Web Architectures</vt:lpstr>
      <vt:lpstr>Browsers</vt:lpstr>
      <vt:lpstr>URLs &amp; Domain Names</vt:lpstr>
      <vt:lpstr>Websites &amp; Web Pages</vt:lpstr>
      <vt:lpstr>Frontend &amp; Backend</vt:lpstr>
      <vt:lpstr>Frontend &amp; Backend</vt:lpstr>
      <vt:lpstr>HTML, JS &amp; CSS</vt:lpstr>
      <vt:lpstr>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COMP1589 - Introduction &amp; HTML</dc:title>
  <cp:lastModifiedBy>Matthew Prichard</cp:lastModifiedBy>
  <cp:revision>43</cp:revision>
  <dcterms:created xsi:type="dcterms:W3CDTF">2023-12-05T14:51:26Z</dcterms:created>
  <dcterms:modified xsi:type="dcterms:W3CDTF">2025-01-09T14:54:37Z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