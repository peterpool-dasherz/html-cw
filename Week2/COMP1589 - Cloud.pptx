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71" r:id="rId8"/>
    <p:sldId id="272" r:id="rId9"/>
    <p:sldId id="273" r:id="rId10"/>
    <p:sldId id="274" r:id="rId11"/>
    <p:sldId id="275" r:id="rId12"/>
    <p:sldId id="278" r:id="rId13"/>
    <p:sldId id="303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95"/>
  </p:normalViewPr>
  <p:slideViewPr>
    <p:cSldViewPr>
      <p:cViewPr varScale="1">
        <p:scale>
          <a:sx n="139" d="100"/>
          <a:sy n="139" d="100"/>
        </p:scale>
        <p:origin x="176" y="5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57450" y="1247999"/>
            <a:ext cx="3715384" cy="2647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924" y="98643"/>
            <a:ext cx="4463415" cy="575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4475" y="1039495"/>
            <a:ext cx="8483600" cy="3530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interactsoftware.com/features/extra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325" y="1535199"/>
            <a:ext cx="5677349" cy="2073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123" y="760791"/>
            <a:ext cx="7306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55" dirty="0">
                <a:solidFill>
                  <a:srgbClr val="FFFFFF"/>
                </a:solidFill>
              </a:rPr>
              <a:t>The</a:t>
            </a:r>
            <a:r>
              <a:rPr sz="4800" spc="-175" dirty="0">
                <a:solidFill>
                  <a:srgbClr val="FFFFFF"/>
                </a:solidFill>
              </a:rPr>
              <a:t> </a:t>
            </a:r>
            <a:r>
              <a:rPr sz="4800" spc="85" dirty="0">
                <a:solidFill>
                  <a:srgbClr val="FFFFFF"/>
                </a:solidFill>
              </a:rPr>
              <a:t>Internet</a:t>
            </a:r>
            <a:r>
              <a:rPr sz="4800" spc="-170" dirty="0">
                <a:solidFill>
                  <a:srgbClr val="FFFFFF"/>
                </a:solidFill>
              </a:rPr>
              <a:t> </a:t>
            </a:r>
            <a:r>
              <a:rPr sz="4800" spc="-75" dirty="0">
                <a:solidFill>
                  <a:srgbClr val="FFFFFF"/>
                </a:solidFill>
              </a:rPr>
              <a:t>&amp;</a:t>
            </a:r>
            <a:r>
              <a:rPr sz="4800" spc="-335" dirty="0">
                <a:solidFill>
                  <a:srgbClr val="FFFFFF"/>
                </a:solidFill>
              </a:rPr>
              <a:t> </a:t>
            </a:r>
            <a:r>
              <a:rPr sz="4800" spc="145" dirty="0">
                <a:solidFill>
                  <a:srgbClr val="FFFFFF"/>
                </a:solidFill>
              </a:rPr>
              <a:t>Web</a:t>
            </a:r>
            <a:r>
              <a:rPr sz="4800" spc="-175" dirty="0">
                <a:solidFill>
                  <a:srgbClr val="FFFFFF"/>
                </a:solidFill>
              </a:rPr>
              <a:t> </a:t>
            </a:r>
            <a:r>
              <a:rPr sz="4800" spc="65" dirty="0">
                <a:solidFill>
                  <a:srgbClr val="FFFFFF"/>
                </a:solidFill>
              </a:rPr>
              <a:t>(pt</a:t>
            </a:r>
            <a:r>
              <a:rPr sz="4800" spc="-170" dirty="0">
                <a:solidFill>
                  <a:srgbClr val="FFFFFF"/>
                </a:solidFill>
              </a:rPr>
              <a:t> </a:t>
            </a:r>
            <a:r>
              <a:rPr sz="4800" spc="-25" dirty="0">
                <a:solidFill>
                  <a:srgbClr val="FFFFFF"/>
                </a:solidFill>
              </a:rPr>
              <a:t>2)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54976"/>
            <a:ext cx="40862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Web</a:t>
            </a:r>
            <a:r>
              <a:rPr spc="-100" dirty="0"/>
              <a:t> </a:t>
            </a:r>
            <a:r>
              <a:rPr spc="-160" dirty="0"/>
              <a:t>1,</a:t>
            </a:r>
            <a:r>
              <a:rPr spc="-195" dirty="0"/>
              <a:t> </a:t>
            </a:r>
            <a:r>
              <a:rPr spc="85" dirty="0"/>
              <a:t>Web</a:t>
            </a:r>
            <a:r>
              <a:rPr spc="-100" dirty="0"/>
              <a:t> </a:t>
            </a:r>
            <a:r>
              <a:rPr dirty="0"/>
              <a:t>2</a:t>
            </a:r>
            <a:r>
              <a:rPr spc="-100" dirty="0"/>
              <a:t> </a:t>
            </a:r>
            <a:r>
              <a:rPr spc="-50" dirty="0"/>
              <a:t>&amp;</a:t>
            </a:r>
            <a:r>
              <a:rPr spc="-195" dirty="0"/>
              <a:t> </a:t>
            </a:r>
            <a:r>
              <a:rPr spc="80" dirty="0"/>
              <a:t>Web</a:t>
            </a:r>
            <a:r>
              <a:rPr spc="-100" dirty="0"/>
              <a:t> </a:t>
            </a:r>
            <a:r>
              <a:rPr spc="-25" dirty="0"/>
              <a:t>3.0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690738"/>
            <a:ext cx="4246880" cy="42627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2255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Overtime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web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has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naturally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evolved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becoming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complex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and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structured.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These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evolutions are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broadly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set-out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as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Web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1.0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3.0.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Web</a:t>
            </a:r>
            <a:r>
              <a:rPr sz="1300" b="1" spc="-114" dirty="0">
                <a:latin typeface="Arial"/>
                <a:cs typeface="Arial"/>
              </a:rPr>
              <a:t> </a:t>
            </a:r>
            <a:r>
              <a:rPr sz="1300" b="1" spc="-25" dirty="0">
                <a:latin typeface="Arial"/>
                <a:cs typeface="Arial"/>
              </a:rPr>
              <a:t>1.0</a:t>
            </a:r>
            <a:endParaRPr sz="1300" dirty="0">
              <a:latin typeface="Arial"/>
              <a:cs typeface="Arial"/>
            </a:endParaRPr>
          </a:p>
          <a:p>
            <a:pPr marL="12700" marR="5080">
              <a:lnSpc>
                <a:spcPct val="101000"/>
              </a:lnSpc>
            </a:pPr>
            <a:r>
              <a:rPr sz="1300" spc="-35" dirty="0">
                <a:latin typeface="Arial"/>
                <a:cs typeface="Arial"/>
              </a:rPr>
              <a:t>The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“ﬁrst”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version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web,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stage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where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minority </a:t>
            </a:r>
            <a:r>
              <a:rPr sz="1300" dirty="0">
                <a:latin typeface="Arial"/>
                <a:cs typeface="Arial"/>
              </a:rPr>
              <a:t>created</a:t>
            </a:r>
            <a:r>
              <a:rPr sz="1300" spc="-9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web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pages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for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large</a:t>
            </a:r>
            <a:r>
              <a:rPr sz="1300" spc="-9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group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readers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-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often </a:t>
            </a:r>
            <a:r>
              <a:rPr sz="1300" dirty="0">
                <a:latin typeface="Arial"/>
                <a:cs typeface="Arial"/>
              </a:rPr>
              <a:t>known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85" dirty="0">
                <a:latin typeface="Arial"/>
                <a:cs typeface="Arial"/>
              </a:rPr>
              <a:t>as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read-only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web.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Primarily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HTML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and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150" dirty="0">
                <a:latin typeface="Arial"/>
                <a:cs typeface="Arial"/>
              </a:rPr>
              <a:t>CSS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only.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Web</a:t>
            </a:r>
            <a:r>
              <a:rPr sz="1300" b="1" spc="-114" dirty="0">
                <a:latin typeface="Arial"/>
                <a:cs typeface="Arial"/>
              </a:rPr>
              <a:t> </a:t>
            </a:r>
            <a:r>
              <a:rPr sz="1300" b="1" spc="-25" dirty="0">
                <a:latin typeface="Arial"/>
                <a:cs typeface="Arial"/>
              </a:rPr>
              <a:t>2.0</a:t>
            </a:r>
            <a:endParaRPr sz="1300" dirty="0">
              <a:latin typeface="Arial"/>
              <a:cs typeface="Arial"/>
            </a:endParaRPr>
          </a:p>
          <a:p>
            <a:pPr marL="12700" marR="106680">
              <a:lnSpc>
                <a:spcPct val="101000"/>
              </a:lnSpc>
            </a:pPr>
            <a:r>
              <a:rPr sz="1300" spc="-25" dirty="0">
                <a:latin typeface="Arial"/>
                <a:cs typeface="Arial"/>
              </a:rPr>
              <a:t>This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is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partially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where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at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today,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many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people </a:t>
            </a:r>
            <a:r>
              <a:rPr sz="1300" dirty="0">
                <a:latin typeface="Arial"/>
                <a:cs typeface="Arial"/>
              </a:rPr>
              <a:t>creating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content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50" dirty="0">
                <a:latin typeface="Arial"/>
                <a:cs typeface="Arial"/>
              </a:rPr>
              <a:t>with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web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built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upon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User-Generated </a:t>
            </a:r>
            <a:r>
              <a:rPr sz="1300" dirty="0">
                <a:latin typeface="Arial"/>
                <a:cs typeface="Arial"/>
              </a:rPr>
              <a:t>Content</a:t>
            </a:r>
            <a:r>
              <a:rPr sz="1300" spc="-55" dirty="0">
                <a:latin typeface="Arial"/>
                <a:cs typeface="Arial"/>
              </a:rPr>
              <a:t> (UGC). </a:t>
            </a:r>
            <a:r>
              <a:rPr sz="1300" spc="-10" dirty="0">
                <a:latin typeface="Arial"/>
                <a:cs typeface="Arial"/>
              </a:rPr>
              <a:t>Generally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more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complex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sites,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known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as </a:t>
            </a:r>
            <a:r>
              <a:rPr sz="1300" spc="-30" dirty="0">
                <a:latin typeface="Arial"/>
                <a:cs typeface="Arial"/>
              </a:rPr>
              <a:t>Dynamic,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utilising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server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side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software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and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browser technologies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such</a:t>
            </a:r>
            <a:r>
              <a:rPr sz="1300" spc="-85" dirty="0">
                <a:latin typeface="Arial"/>
                <a:cs typeface="Arial"/>
              </a:rPr>
              <a:t> as </a:t>
            </a:r>
            <a:r>
              <a:rPr sz="1300" spc="-10" dirty="0">
                <a:latin typeface="Arial"/>
                <a:cs typeface="Arial"/>
              </a:rPr>
              <a:t>JavaScript.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Web</a:t>
            </a:r>
            <a:r>
              <a:rPr sz="1300" b="1" spc="-9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3.0</a:t>
            </a:r>
            <a:r>
              <a:rPr sz="1300" b="1" spc="-90" dirty="0">
                <a:latin typeface="Arial"/>
                <a:cs typeface="Arial"/>
              </a:rPr>
              <a:t> </a:t>
            </a:r>
            <a:r>
              <a:rPr sz="1300" b="1" spc="-50" dirty="0">
                <a:latin typeface="Arial"/>
                <a:cs typeface="Arial"/>
              </a:rPr>
              <a:t>aka.</a:t>
            </a:r>
            <a:r>
              <a:rPr sz="1300" b="1" spc="-9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the</a:t>
            </a:r>
            <a:r>
              <a:rPr sz="1300" b="1" spc="-95" dirty="0">
                <a:latin typeface="Arial"/>
                <a:cs typeface="Arial"/>
              </a:rPr>
              <a:t> </a:t>
            </a:r>
            <a:r>
              <a:rPr sz="1300" b="1" spc="-60" dirty="0">
                <a:latin typeface="Arial"/>
                <a:cs typeface="Arial"/>
              </a:rPr>
              <a:t>Semantic</a:t>
            </a:r>
            <a:r>
              <a:rPr sz="1300" b="1" spc="-90" dirty="0">
                <a:latin typeface="Arial"/>
                <a:cs typeface="Arial"/>
              </a:rPr>
              <a:t> </a:t>
            </a:r>
            <a:r>
              <a:rPr sz="1300" b="1" spc="-25" dirty="0">
                <a:latin typeface="Arial"/>
                <a:cs typeface="Arial"/>
              </a:rPr>
              <a:t>Web</a:t>
            </a:r>
            <a:endParaRPr sz="1300" dirty="0">
              <a:latin typeface="Arial"/>
              <a:cs typeface="Arial"/>
            </a:endParaRPr>
          </a:p>
          <a:p>
            <a:pPr marL="12700" marR="62865">
              <a:lnSpc>
                <a:spcPct val="101000"/>
              </a:lnSpc>
            </a:pPr>
            <a:r>
              <a:rPr sz="1300" dirty="0">
                <a:latin typeface="Arial"/>
                <a:cs typeface="Arial"/>
              </a:rPr>
              <a:t>We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working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our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way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through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this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now.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Semantics </a:t>
            </a:r>
            <a:r>
              <a:rPr sz="1300" spc="-55" dirty="0">
                <a:latin typeface="Arial"/>
                <a:cs typeface="Arial"/>
              </a:rPr>
              <a:t>makes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web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pages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machine-</a:t>
            </a:r>
            <a:r>
              <a:rPr sz="1300" spc="-25" dirty="0">
                <a:latin typeface="Arial"/>
                <a:cs typeface="Arial"/>
              </a:rPr>
              <a:t>readable,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core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focus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is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a </a:t>
            </a:r>
            <a:r>
              <a:rPr sz="1300" spc="-25" dirty="0">
                <a:latin typeface="Arial"/>
                <a:cs typeface="Arial"/>
              </a:rPr>
              <a:t>common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framework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markup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allowing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web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page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content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be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understood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outside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it’s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own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domain.</a:t>
            </a:r>
            <a:endParaRPr sz="13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53001" y="-19050"/>
            <a:ext cx="4191000" cy="516255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6475" y="1719400"/>
              <a:ext cx="2877048" cy="34240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3625" y="1757500"/>
              <a:ext cx="2762748" cy="33285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6025" y="216924"/>
              <a:ext cx="3917949" cy="1339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1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Web</a:t>
            </a:r>
            <a:r>
              <a:rPr spc="-110" dirty="0"/>
              <a:t> </a:t>
            </a:r>
            <a:r>
              <a:rPr dirty="0"/>
              <a:t>3.0</a:t>
            </a:r>
            <a:r>
              <a:rPr spc="-105" dirty="0"/>
              <a:t> </a:t>
            </a:r>
            <a:r>
              <a:rPr spc="-50" dirty="0"/>
              <a:t>&amp;</a:t>
            </a:r>
            <a:r>
              <a:rPr spc="-200" dirty="0"/>
              <a:t> </a:t>
            </a:r>
            <a:r>
              <a:rPr spc="40" dirty="0"/>
              <a:t>Web3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839878"/>
            <a:ext cx="4272280" cy="412305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81915">
              <a:lnSpc>
                <a:spcPts val="1430"/>
              </a:lnSpc>
              <a:spcBef>
                <a:spcPts val="155"/>
              </a:spcBef>
            </a:pPr>
            <a:r>
              <a:rPr sz="1200" spc="-35" dirty="0">
                <a:latin typeface="Arial"/>
                <a:cs typeface="Arial"/>
              </a:rPr>
              <a:t>The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concept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Web3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a </a:t>
            </a:r>
            <a:r>
              <a:rPr sz="1200" spc="-10" dirty="0">
                <a:latin typeface="Arial"/>
                <a:cs typeface="Arial"/>
              </a:rPr>
              <a:t>decentralised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and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open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web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based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on </a:t>
            </a:r>
            <a:r>
              <a:rPr sz="1200" spc="-10" dirty="0">
                <a:latin typeface="Arial"/>
                <a:cs typeface="Arial"/>
              </a:rPr>
              <a:t>blockchain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technology.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The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fundamental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idea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behind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web3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is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to </a:t>
            </a:r>
            <a:r>
              <a:rPr sz="1200" dirty="0">
                <a:latin typeface="Arial"/>
                <a:cs typeface="Arial"/>
              </a:rPr>
              <a:t>create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a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decentralized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Internet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by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removing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 </a:t>
            </a:r>
            <a:r>
              <a:rPr sz="1200" spc="-20" dirty="0">
                <a:latin typeface="Arial"/>
                <a:cs typeface="Arial"/>
              </a:rPr>
              <a:t>dominance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centralized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power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web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2.0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giants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like </a:t>
            </a:r>
            <a:r>
              <a:rPr sz="1200" spc="-30" dirty="0">
                <a:latin typeface="Arial"/>
                <a:cs typeface="Arial"/>
              </a:rPr>
              <a:t>Amazon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and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Facebook,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giving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control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back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to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users.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Arial"/>
              <a:cs typeface="Arial"/>
            </a:endParaRPr>
          </a:p>
          <a:p>
            <a:pPr marL="12700" marR="347345">
              <a:lnSpc>
                <a:spcPts val="1430"/>
              </a:lnSpc>
            </a:pPr>
            <a:r>
              <a:rPr sz="1200" dirty="0">
                <a:latin typeface="Arial"/>
                <a:cs typeface="Arial"/>
              </a:rPr>
              <a:t>Web3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and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decentralisation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are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major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buzzwords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right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now, </a:t>
            </a:r>
            <a:r>
              <a:rPr sz="1200" dirty="0">
                <a:latin typeface="Arial"/>
                <a:cs typeface="Arial"/>
              </a:rPr>
              <a:t>following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Blockchain</a:t>
            </a:r>
            <a:r>
              <a:rPr sz="1200" spc="-25" dirty="0">
                <a:latin typeface="Arial"/>
                <a:cs typeface="Arial"/>
              </a:rPr>
              <a:t> hype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few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years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prior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- </a:t>
            </a:r>
            <a:r>
              <a:rPr sz="1200" dirty="0">
                <a:latin typeface="Arial"/>
                <a:cs typeface="Arial"/>
              </a:rPr>
              <a:t>however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doesn’t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necessarily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mean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where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are </a:t>
            </a:r>
            <a:r>
              <a:rPr sz="1200" spc="-10" dirty="0">
                <a:latin typeface="Arial"/>
                <a:cs typeface="Arial"/>
              </a:rPr>
              <a:t>heading.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430"/>
              </a:lnSpc>
            </a:pPr>
            <a:r>
              <a:rPr sz="1200" dirty="0">
                <a:latin typeface="Arial"/>
                <a:cs typeface="Arial"/>
              </a:rPr>
              <a:t>Web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3.0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has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never</a:t>
            </a:r>
            <a:r>
              <a:rPr sz="1200" spc="-30" dirty="0">
                <a:latin typeface="Arial"/>
                <a:cs typeface="Arial"/>
              </a:rPr>
              <a:t> been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fully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realised,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networks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still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own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our </a:t>
            </a:r>
            <a:r>
              <a:rPr sz="1200" spc="-10" dirty="0">
                <a:latin typeface="Arial"/>
                <a:cs typeface="Arial"/>
              </a:rPr>
              <a:t>data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and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not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share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between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each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other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-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so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there’s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a </a:t>
            </a:r>
            <a:r>
              <a:rPr sz="1200" spc="-10" dirty="0">
                <a:latin typeface="Arial"/>
                <a:cs typeface="Arial"/>
              </a:rPr>
              <a:t>long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way </a:t>
            </a:r>
            <a:r>
              <a:rPr sz="1200" spc="55" dirty="0">
                <a:latin typeface="Arial"/>
                <a:cs typeface="Arial"/>
              </a:rPr>
              <a:t>to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go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still.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Arial"/>
              <a:cs typeface="Arial"/>
            </a:endParaRPr>
          </a:p>
          <a:p>
            <a:pPr marL="12700" marR="57785" algn="just">
              <a:lnSpc>
                <a:spcPts val="1430"/>
              </a:lnSpc>
            </a:pPr>
            <a:r>
              <a:rPr sz="1200" spc="-20" dirty="0">
                <a:latin typeface="Arial"/>
                <a:cs typeface="Arial"/>
              </a:rPr>
              <a:t>Maybe </a:t>
            </a:r>
            <a:r>
              <a:rPr sz="1200" dirty="0">
                <a:latin typeface="Arial"/>
                <a:cs typeface="Arial"/>
              </a:rPr>
              <a:t>Web3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will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have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greater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success</a:t>
            </a:r>
            <a:r>
              <a:rPr sz="1200" spc="-10" dirty="0">
                <a:latin typeface="Arial"/>
                <a:cs typeface="Arial"/>
              </a:rPr>
              <a:t> however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technology </a:t>
            </a:r>
            <a:r>
              <a:rPr sz="1200" spc="-65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based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Blockchain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and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success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is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still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yet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35" dirty="0">
                <a:latin typeface="Arial"/>
                <a:cs typeface="Arial"/>
              </a:rPr>
              <a:t>to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be </a:t>
            </a:r>
            <a:r>
              <a:rPr sz="1200" spc="-10" dirty="0">
                <a:latin typeface="Arial"/>
                <a:cs typeface="Arial"/>
              </a:rPr>
              <a:t>forthcoming.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Arial"/>
              <a:cs typeface="Arial"/>
            </a:endParaRPr>
          </a:p>
          <a:p>
            <a:pPr marL="12700" marR="257175" algn="just">
              <a:lnSpc>
                <a:spcPts val="1430"/>
              </a:lnSpc>
            </a:pPr>
            <a:r>
              <a:rPr sz="1200" dirty="0">
                <a:latin typeface="Arial"/>
                <a:cs typeface="Arial"/>
              </a:rPr>
              <a:t>Both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approaches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have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same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noble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goals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improving</a:t>
            </a:r>
            <a:r>
              <a:rPr sz="1200" spc="-25" dirty="0">
                <a:latin typeface="Arial"/>
                <a:cs typeface="Arial"/>
              </a:rPr>
              <a:t> the </a:t>
            </a:r>
            <a:r>
              <a:rPr sz="1200" spc="-40" dirty="0">
                <a:latin typeface="Arial"/>
                <a:cs typeface="Arial"/>
              </a:rPr>
              <a:t>web,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returning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control </a:t>
            </a:r>
            <a:r>
              <a:rPr sz="1200" spc="35" dirty="0">
                <a:latin typeface="Arial"/>
                <a:cs typeface="Arial"/>
              </a:rPr>
              <a:t>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users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increasing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transparency,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differing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approaches.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3030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6100" y="1206587"/>
              <a:ext cx="4057799" cy="27303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43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Deep</a:t>
            </a:r>
            <a:r>
              <a:rPr spc="-125" dirty="0"/>
              <a:t> </a:t>
            </a:r>
            <a:r>
              <a:rPr dirty="0"/>
              <a:t>&amp;</a:t>
            </a:r>
            <a:r>
              <a:rPr spc="-114" dirty="0"/>
              <a:t> </a:t>
            </a:r>
            <a:r>
              <a:rPr dirty="0"/>
              <a:t>Dark</a:t>
            </a:r>
            <a:r>
              <a:rPr spc="-204" dirty="0"/>
              <a:t> </a:t>
            </a:r>
            <a:r>
              <a:rPr spc="60" dirty="0"/>
              <a:t>Web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896013"/>
            <a:ext cx="4242435" cy="40106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5113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Think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web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having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layers,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most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content </a:t>
            </a:r>
            <a:r>
              <a:rPr sz="1400" dirty="0">
                <a:latin typeface="Arial"/>
                <a:cs typeface="Arial"/>
              </a:rPr>
              <a:t>we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75" dirty="0">
                <a:latin typeface="Arial"/>
                <a:cs typeface="Arial"/>
              </a:rPr>
              <a:t>access</a:t>
            </a:r>
            <a:r>
              <a:rPr sz="1400" spc="-35" dirty="0">
                <a:latin typeface="Arial"/>
                <a:cs typeface="Arial"/>
              </a:rPr>
              <a:t> is </a:t>
            </a:r>
            <a:r>
              <a:rPr sz="1400" dirty="0">
                <a:latin typeface="Arial"/>
                <a:cs typeface="Arial"/>
              </a:rPr>
              <a:t>within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top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layer,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surface/visible </a:t>
            </a:r>
            <a:r>
              <a:rPr sz="1400" spc="-30" dirty="0">
                <a:latin typeface="Arial"/>
                <a:cs typeface="Arial"/>
              </a:rPr>
              <a:t>web.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This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layer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constitutes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less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55" dirty="0">
                <a:latin typeface="Arial"/>
                <a:cs typeface="Arial"/>
              </a:rPr>
              <a:t>%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entire </a:t>
            </a:r>
            <a:r>
              <a:rPr sz="1400" spc="-20" dirty="0">
                <a:latin typeface="Arial"/>
                <a:cs typeface="Arial"/>
              </a:rPr>
              <a:t>web.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b="1" spc="-45" dirty="0">
                <a:latin typeface="Arial"/>
                <a:cs typeface="Arial"/>
              </a:rPr>
              <a:t>Surface/Visible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Web</a:t>
            </a:r>
            <a:endParaRPr sz="1400" dirty="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  <a:spcBef>
                <a:spcPts val="65"/>
              </a:spcBef>
            </a:pPr>
            <a:r>
              <a:rPr sz="1400" spc="-30" dirty="0">
                <a:latin typeface="Arial"/>
                <a:cs typeface="Arial"/>
              </a:rPr>
              <a:t>Indexed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content,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means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85" dirty="0">
                <a:latin typeface="Arial"/>
                <a:cs typeface="Arial"/>
              </a:rPr>
              <a:t>it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generally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will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show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up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 </a:t>
            </a:r>
            <a:r>
              <a:rPr sz="1400" spc="-35" dirty="0">
                <a:latin typeface="Arial"/>
                <a:cs typeface="Arial"/>
              </a:rPr>
              <a:t>search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engines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such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Google.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 algn="just">
              <a:lnSpc>
                <a:spcPts val="1664"/>
              </a:lnSpc>
            </a:pPr>
            <a:r>
              <a:rPr sz="1400" b="1" spc="-30" dirty="0">
                <a:latin typeface="Arial"/>
                <a:cs typeface="Arial"/>
              </a:rPr>
              <a:t>Deep/Hidden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Web</a:t>
            </a:r>
            <a:endParaRPr sz="1400" dirty="0">
              <a:latin typeface="Arial"/>
              <a:cs typeface="Arial"/>
            </a:endParaRPr>
          </a:p>
          <a:p>
            <a:pPr marL="12700" marR="54610" algn="just">
              <a:lnSpc>
                <a:spcPts val="1650"/>
              </a:lnSpc>
              <a:spcBef>
                <a:spcPts val="65"/>
              </a:spcBef>
            </a:pPr>
            <a:r>
              <a:rPr sz="1400" spc="-6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web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typical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search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engines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cannot </a:t>
            </a:r>
            <a:r>
              <a:rPr sz="1400" spc="-35" dirty="0">
                <a:latin typeface="Arial"/>
                <a:cs typeface="Arial"/>
              </a:rPr>
              <a:t>index. </a:t>
            </a:r>
            <a:r>
              <a:rPr sz="1400" spc="-20" dirty="0">
                <a:latin typeface="Arial"/>
                <a:cs typeface="Arial"/>
              </a:rPr>
              <a:t>Usually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due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50" dirty="0">
                <a:latin typeface="Arial"/>
                <a:cs typeface="Arial"/>
              </a:rPr>
              <a:t>to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password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protected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systems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(i.e. </a:t>
            </a:r>
            <a:r>
              <a:rPr sz="1400" dirty="0">
                <a:latin typeface="Arial"/>
                <a:cs typeface="Arial"/>
              </a:rPr>
              <a:t>Moodle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content)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and/or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APIs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and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web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services.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b="1" spc="-10" dirty="0">
                <a:latin typeface="Arial"/>
                <a:cs typeface="Arial"/>
              </a:rPr>
              <a:t>Dark</a:t>
            </a:r>
            <a:r>
              <a:rPr sz="1400" b="1" spc="-1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Web</a:t>
            </a:r>
            <a:r>
              <a:rPr sz="1400" b="1" spc="-10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(Darknet)</a:t>
            </a:r>
            <a:endParaRPr sz="1400" dirty="0">
              <a:latin typeface="Arial"/>
              <a:cs typeface="Arial"/>
            </a:endParaRPr>
          </a:p>
          <a:p>
            <a:pPr marL="12700" marR="56515">
              <a:lnSpc>
                <a:spcPts val="1650"/>
              </a:lnSpc>
              <a:spcBef>
                <a:spcPts val="65"/>
              </a:spcBef>
            </a:pPr>
            <a:r>
              <a:rPr sz="1400" spc="-25" dirty="0">
                <a:latin typeface="Arial"/>
                <a:cs typeface="Arial"/>
              </a:rPr>
              <a:t>This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is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anonymous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web,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85" dirty="0">
                <a:latin typeface="Arial"/>
                <a:cs typeface="Arial"/>
              </a:rPr>
              <a:t>it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requires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specialist </a:t>
            </a:r>
            <a:r>
              <a:rPr sz="1400" dirty="0">
                <a:latin typeface="Arial"/>
                <a:cs typeface="Arial"/>
              </a:rPr>
              <a:t>software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60" dirty="0">
                <a:latin typeface="Arial"/>
                <a:cs typeface="Arial"/>
              </a:rPr>
              <a:t>to</a:t>
            </a:r>
            <a:r>
              <a:rPr sz="1400" spc="-75" dirty="0">
                <a:latin typeface="Arial"/>
                <a:cs typeface="Arial"/>
              </a:rPr>
              <a:t> access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85" dirty="0">
                <a:latin typeface="Arial"/>
                <a:cs typeface="Arial"/>
              </a:rPr>
              <a:t>it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such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as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Tor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(Developed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by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US </a:t>
            </a:r>
            <a:r>
              <a:rPr sz="1400" spc="-10" dirty="0">
                <a:latin typeface="Arial"/>
                <a:cs typeface="Arial"/>
              </a:rPr>
              <a:t>Navy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55" dirty="0">
                <a:latin typeface="Arial"/>
                <a:cs typeface="Arial"/>
              </a:rPr>
              <a:t>for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spies).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Primarily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used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55" dirty="0">
                <a:latin typeface="Arial"/>
                <a:cs typeface="Arial"/>
              </a:rPr>
              <a:t>for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illegal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activities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or </a:t>
            </a:r>
            <a:r>
              <a:rPr sz="1400" dirty="0">
                <a:latin typeface="Arial"/>
                <a:cs typeface="Arial"/>
              </a:rPr>
              <a:t>maintaining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anonymity.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3030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2425" y="1487124"/>
              <a:ext cx="3945149" cy="229432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366600"/>
            <a:ext cx="32473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>
                <a:uFill>
                  <a:solidFill>
                    <a:srgbClr val="00033D"/>
                  </a:solidFill>
                </a:uFill>
              </a:rPr>
              <a:t>Intra</a:t>
            </a:r>
            <a:r>
              <a:rPr spc="45" dirty="0"/>
              <a:t>net</a:t>
            </a:r>
            <a:r>
              <a:rPr spc="-13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10" dirty="0">
                <a:uFill>
                  <a:solidFill>
                    <a:srgbClr val="00033D"/>
                  </a:solidFill>
                </a:uFill>
              </a:rPr>
              <a:t>Extra</a:t>
            </a:r>
            <a:r>
              <a:rPr spc="-10" dirty="0"/>
              <a:t>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1002362"/>
            <a:ext cx="4294505" cy="3503588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83210">
              <a:lnSpc>
                <a:spcPts val="1650"/>
              </a:lnSpc>
              <a:spcBef>
                <a:spcPts val="180"/>
              </a:spcBef>
            </a:pPr>
            <a:r>
              <a:rPr sz="1400" spc="-110" dirty="0">
                <a:latin typeface="Arial"/>
                <a:cs typeface="Arial"/>
              </a:rPr>
              <a:t>So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far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have</a:t>
            </a:r>
            <a:r>
              <a:rPr sz="1400" spc="-50" dirty="0">
                <a:latin typeface="Arial"/>
                <a:cs typeface="Arial"/>
              </a:rPr>
              <a:t> discussed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inter</a:t>
            </a:r>
            <a:r>
              <a:rPr sz="1400" dirty="0">
                <a:latin typeface="Arial"/>
                <a:cs typeface="Arial"/>
              </a:rPr>
              <a:t>net,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also </a:t>
            </a:r>
            <a:r>
              <a:rPr sz="1400" dirty="0">
                <a:latin typeface="Arial"/>
                <a:cs typeface="Arial"/>
              </a:rPr>
              <a:t>other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types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network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utilise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a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similar infrastructure.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b="1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Intra</a:t>
            </a:r>
            <a:r>
              <a:rPr sz="1300" b="1" spc="-10" dirty="0">
                <a:latin typeface="Arial"/>
                <a:cs typeface="Arial"/>
              </a:rPr>
              <a:t>net</a:t>
            </a:r>
            <a:endParaRPr sz="1300" dirty="0">
              <a:latin typeface="Arial"/>
              <a:cs typeface="Arial"/>
            </a:endParaRPr>
          </a:p>
          <a:p>
            <a:pPr marL="12700" marR="6985">
              <a:lnSpc>
                <a:spcPct val="101000"/>
              </a:lnSpc>
            </a:pPr>
            <a:r>
              <a:rPr sz="1300" dirty="0">
                <a:latin typeface="Arial"/>
                <a:cs typeface="Arial"/>
              </a:rPr>
              <a:t>Private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networks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that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restricted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members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a </a:t>
            </a:r>
            <a:r>
              <a:rPr sz="1300" dirty="0">
                <a:latin typeface="Arial"/>
                <a:cs typeface="Arial"/>
              </a:rPr>
              <a:t>particular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organization.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They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commonly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45" dirty="0">
                <a:latin typeface="Arial"/>
                <a:cs typeface="Arial"/>
              </a:rPr>
              <a:t>used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provide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portal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for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members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securely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70" dirty="0">
                <a:latin typeface="Arial"/>
                <a:cs typeface="Arial"/>
              </a:rPr>
              <a:t>access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shared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resources, </a:t>
            </a:r>
            <a:r>
              <a:rPr sz="1300" dirty="0">
                <a:latin typeface="Arial"/>
                <a:cs typeface="Arial"/>
              </a:rPr>
              <a:t>collaborate</a:t>
            </a:r>
            <a:r>
              <a:rPr sz="1300" spc="-9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and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communicate.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b="1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Extra</a:t>
            </a:r>
            <a:r>
              <a:rPr sz="1300" b="1" spc="-10" dirty="0">
                <a:latin typeface="Arial"/>
                <a:cs typeface="Arial"/>
              </a:rPr>
              <a:t>net</a:t>
            </a:r>
            <a:endParaRPr sz="1300" dirty="0">
              <a:latin typeface="Arial"/>
              <a:cs typeface="Arial"/>
            </a:endParaRPr>
          </a:p>
          <a:p>
            <a:pPr marL="12700" marR="5080">
              <a:lnSpc>
                <a:spcPct val="101000"/>
              </a:lnSpc>
            </a:pPr>
            <a:r>
              <a:rPr lang="en-GB" sz="1300" dirty="0">
                <a:solidFill>
                  <a:srgbClr val="373A40"/>
                </a:solidFill>
                <a:latin typeface="Roboto" panose="02000000000000000000" pitchFamily="2" charset="0"/>
              </a:rPr>
              <a:t>A</a:t>
            </a:r>
            <a:r>
              <a:rPr lang="en-GB" sz="1300" b="0" i="0" dirty="0">
                <a:solidFill>
                  <a:srgbClr val="373A40"/>
                </a:solidFill>
                <a:effectLst/>
                <a:latin typeface="Roboto" panose="02000000000000000000" pitchFamily="2" charset="0"/>
              </a:rPr>
              <a:t>n </a:t>
            </a:r>
            <a:r>
              <a:rPr lang="en-GB" sz="1300" b="0" i="0" strike="noStrike" dirty="0">
                <a:solidFill>
                  <a:srgbClr val="0A5DDA"/>
                </a:solidFill>
                <a:effectLst/>
                <a:latin typeface="Roboto" panose="02000000000000000000" pitchFamily="2" charset="0"/>
                <a:hlinkClick r:id="rId2"/>
              </a:rPr>
              <a:t>extranet</a:t>
            </a:r>
            <a:r>
              <a:rPr lang="en-GB" sz="1300" b="0" i="0" dirty="0">
                <a:solidFill>
                  <a:srgbClr val="373A40"/>
                </a:solidFill>
                <a:effectLst/>
                <a:latin typeface="Roboto" panose="02000000000000000000" pitchFamily="2" charset="0"/>
              </a:rPr>
              <a:t> permits controlled access to </a:t>
            </a:r>
            <a:r>
              <a:rPr lang="en-GB" sz="1300" b="1" i="0" dirty="0">
                <a:solidFill>
                  <a:srgbClr val="373A40"/>
                </a:solidFill>
                <a:effectLst/>
                <a:latin typeface="Roboto" panose="02000000000000000000" pitchFamily="2" charset="0"/>
              </a:rPr>
              <a:t>authorized external users</a:t>
            </a:r>
            <a:r>
              <a:rPr lang="en-GB" sz="1300" b="0" i="0" dirty="0">
                <a:solidFill>
                  <a:srgbClr val="373A40"/>
                </a:solidFill>
                <a:effectLst/>
                <a:latin typeface="Roboto" panose="02000000000000000000" pitchFamily="2" charset="0"/>
              </a:rPr>
              <a:t> to a company intranet. Essentially, extranets take the concept of an intranet to another level, allowing customers, vendors, partners, or selected third parties access to a company intranet, or designated areas of it. But it is not open to the general public</a:t>
            </a:r>
            <a:endParaRPr sz="13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0150" y="1553552"/>
              <a:ext cx="3709699" cy="208659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123" y="760791"/>
            <a:ext cx="30333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55" dirty="0">
                <a:solidFill>
                  <a:srgbClr val="FFFFFF"/>
                </a:solidFill>
              </a:rPr>
              <a:t>The</a:t>
            </a:r>
            <a:r>
              <a:rPr sz="4800" spc="-180" dirty="0">
                <a:solidFill>
                  <a:srgbClr val="FFFFFF"/>
                </a:solidFill>
              </a:rPr>
              <a:t> </a:t>
            </a:r>
            <a:r>
              <a:rPr sz="4800" spc="-20" dirty="0">
                <a:solidFill>
                  <a:srgbClr val="FFFFFF"/>
                </a:solidFill>
              </a:rPr>
              <a:t>Cloud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455513"/>
            <a:ext cx="3234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What</a:t>
            </a:r>
            <a:r>
              <a:rPr spc="-110" dirty="0"/>
              <a:t> </a:t>
            </a:r>
            <a:r>
              <a:rPr spc="-135" dirty="0"/>
              <a:t>is</a:t>
            </a:r>
            <a:r>
              <a:rPr spc="-105" dirty="0"/>
              <a:t> </a:t>
            </a:r>
            <a:r>
              <a:rPr spc="70" dirty="0"/>
              <a:t>the</a:t>
            </a:r>
            <a:r>
              <a:rPr spc="-105" dirty="0"/>
              <a:t> </a:t>
            </a:r>
            <a:r>
              <a:rPr spc="-20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1090767"/>
            <a:ext cx="4283075" cy="3625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22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Cloud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computing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on-</a:t>
            </a:r>
            <a:r>
              <a:rPr sz="1500" spc="-25" dirty="0">
                <a:latin typeface="Arial"/>
                <a:cs typeface="Arial"/>
              </a:rPr>
              <a:t>demand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availability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</a:t>
            </a:r>
            <a:r>
              <a:rPr sz="1500" dirty="0">
                <a:latin typeface="Arial"/>
                <a:cs typeface="Arial"/>
              </a:rPr>
              <a:t>computing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resources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services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over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internet. </a:t>
            </a: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eliminates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need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enterprises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procure, conﬁgure,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manage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resources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themselves,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and </a:t>
            </a:r>
            <a:r>
              <a:rPr sz="1500" dirty="0">
                <a:latin typeface="Arial"/>
                <a:cs typeface="Arial"/>
              </a:rPr>
              <a:t>they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only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pay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what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they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use.</a:t>
            </a:r>
            <a:endParaRPr sz="1500" dirty="0">
              <a:latin typeface="Arial"/>
              <a:cs typeface="Arial"/>
            </a:endParaRPr>
          </a:p>
          <a:p>
            <a:pPr marL="12700" marR="173355">
              <a:lnSpc>
                <a:spcPct val="100000"/>
              </a:lnSpc>
              <a:spcBef>
                <a:spcPts val="1575"/>
              </a:spcBef>
            </a:pPr>
            <a:r>
              <a:rPr sz="1500" spc="-10" dirty="0">
                <a:latin typeface="Arial"/>
                <a:cs typeface="Arial"/>
              </a:rPr>
              <a:t>Cloud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computing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service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models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based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spc="-10" dirty="0">
                <a:latin typeface="Arial"/>
                <a:cs typeface="Arial"/>
              </a:rPr>
              <a:t>concept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sharing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on-</a:t>
            </a:r>
            <a:r>
              <a:rPr sz="1500" spc="-25" dirty="0">
                <a:latin typeface="Arial"/>
                <a:cs typeface="Arial"/>
              </a:rPr>
              <a:t>demand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computing </a:t>
            </a:r>
            <a:r>
              <a:rPr sz="1500" spc="-35" dirty="0">
                <a:latin typeface="Arial"/>
                <a:cs typeface="Arial"/>
              </a:rPr>
              <a:t>resources, </a:t>
            </a:r>
            <a:r>
              <a:rPr sz="1500" dirty="0">
                <a:latin typeface="Arial"/>
                <a:cs typeface="Arial"/>
              </a:rPr>
              <a:t>software,</a:t>
            </a:r>
            <a:r>
              <a:rPr sz="1500" spc="-35" dirty="0">
                <a:latin typeface="Arial"/>
                <a:cs typeface="Arial"/>
              </a:rPr>
              <a:t> and </a:t>
            </a:r>
            <a:r>
              <a:rPr sz="1500" dirty="0">
                <a:latin typeface="Arial"/>
                <a:cs typeface="Arial"/>
              </a:rPr>
              <a:t>information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over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spc="-10" dirty="0">
                <a:latin typeface="Arial"/>
                <a:cs typeface="Arial"/>
              </a:rPr>
              <a:t>internet.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spc="-40" dirty="0">
                <a:latin typeface="Arial"/>
                <a:cs typeface="Arial"/>
              </a:rPr>
              <a:t>Companies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or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individuals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pay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80" dirty="0">
                <a:latin typeface="Arial"/>
                <a:cs typeface="Arial"/>
              </a:rPr>
              <a:t>access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virtual</a:t>
            </a:r>
            <a:r>
              <a:rPr sz="1500" spc="5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pool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shared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resources,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including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compute</a:t>
            </a:r>
            <a:r>
              <a:rPr lang="en-GB" sz="1500" spc="-10">
                <a:latin typeface="Arial"/>
                <a:cs typeface="Arial"/>
              </a:rPr>
              <a:t>r</a:t>
            </a:r>
            <a:r>
              <a:rPr sz="1500" spc="-10">
                <a:latin typeface="Arial"/>
                <a:cs typeface="Arial"/>
              </a:rPr>
              <a:t>, </a:t>
            </a:r>
            <a:r>
              <a:rPr sz="1500" spc="-30" dirty="0">
                <a:latin typeface="Arial"/>
                <a:cs typeface="Arial"/>
              </a:rPr>
              <a:t>storage,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networking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services,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which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located on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remote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servers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owned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managed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by </a:t>
            </a:r>
            <a:r>
              <a:rPr sz="1500" spc="-20" dirty="0">
                <a:latin typeface="Arial"/>
                <a:cs typeface="Arial"/>
              </a:rPr>
              <a:t>service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providers.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2625" y="1256450"/>
              <a:ext cx="3824749" cy="26305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312638"/>
            <a:ext cx="2040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On-</a:t>
            </a:r>
            <a:r>
              <a:rPr spc="-10" dirty="0"/>
              <a:t>premise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947892"/>
            <a:ext cx="4299585" cy="3816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IT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infrastructure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hardware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software applications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hosted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on-site.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This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less </a:t>
            </a:r>
            <a:r>
              <a:rPr sz="1500" spc="-25" dirty="0">
                <a:latin typeface="Arial"/>
                <a:cs typeface="Arial"/>
              </a:rPr>
              <a:t>common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approach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modern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times,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however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many </a:t>
            </a:r>
            <a:r>
              <a:rPr sz="1500" spc="-35" dirty="0">
                <a:latin typeface="Arial"/>
                <a:cs typeface="Arial"/>
              </a:rPr>
              <a:t>legacy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traditional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data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center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resources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still </a:t>
            </a:r>
            <a:r>
              <a:rPr sz="1500" spc="-30" dirty="0">
                <a:latin typeface="Arial"/>
                <a:cs typeface="Arial"/>
              </a:rPr>
              <a:t>on-</a:t>
            </a:r>
            <a:r>
              <a:rPr sz="1500" spc="-10" dirty="0">
                <a:latin typeface="Arial"/>
                <a:cs typeface="Arial"/>
              </a:rPr>
              <a:t>premises.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Arial"/>
              <a:cs typeface="Arial"/>
            </a:endParaRPr>
          </a:p>
          <a:p>
            <a:pPr marL="12700" marR="153670">
              <a:lnSpc>
                <a:spcPct val="100000"/>
              </a:lnSpc>
            </a:pPr>
            <a:r>
              <a:rPr sz="1500" spc="-40" dirty="0">
                <a:latin typeface="Arial"/>
                <a:cs typeface="Arial"/>
              </a:rPr>
              <a:t>The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beneﬁts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more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direct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control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spc="-10" dirty="0">
                <a:latin typeface="Arial"/>
                <a:cs typeface="Arial"/>
              </a:rPr>
              <a:t>equipment,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but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initial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server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purchase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and </a:t>
            </a:r>
            <a:r>
              <a:rPr sz="1500" spc="-10" dirty="0">
                <a:latin typeface="Arial"/>
                <a:cs typeface="Arial"/>
              </a:rPr>
              <a:t>setup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cost,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software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license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fees,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ongoing </a:t>
            </a:r>
            <a:r>
              <a:rPr sz="1500" dirty="0">
                <a:latin typeface="Arial"/>
                <a:cs typeface="Arial"/>
              </a:rPr>
              <a:t>server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maintenance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costs.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Arial"/>
              <a:cs typeface="Arial"/>
            </a:endParaRPr>
          </a:p>
          <a:p>
            <a:pPr marL="12700" marR="135255">
              <a:lnSpc>
                <a:spcPct val="100000"/>
              </a:lnSpc>
            </a:pPr>
            <a:r>
              <a:rPr sz="1500" spc="-10" dirty="0">
                <a:latin typeface="Arial"/>
                <a:cs typeface="Arial"/>
              </a:rPr>
              <a:t>There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also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security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concerns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terms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</a:t>
            </a:r>
            <a:r>
              <a:rPr sz="1500" dirty="0">
                <a:latin typeface="Arial"/>
                <a:cs typeface="Arial"/>
              </a:rPr>
              <a:t>protecting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data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corruption</a:t>
            </a:r>
            <a:r>
              <a:rPr sz="1500" spc="3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illegal </a:t>
            </a:r>
            <a:r>
              <a:rPr sz="1500" spc="-25" dirty="0">
                <a:latin typeface="Arial"/>
                <a:cs typeface="Arial"/>
              </a:rPr>
              <a:t>access/manipulation,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sometimes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reason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to </a:t>
            </a:r>
            <a:r>
              <a:rPr sz="1500" dirty="0">
                <a:latin typeface="Arial"/>
                <a:cs typeface="Arial"/>
              </a:rPr>
              <a:t>utilise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on-premise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ensure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you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have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complete </a:t>
            </a:r>
            <a:r>
              <a:rPr sz="1500" dirty="0">
                <a:latin typeface="Arial"/>
                <a:cs typeface="Arial"/>
              </a:rPr>
              <a:t>control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over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these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elements.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8700" y="897300"/>
              <a:ext cx="2232599" cy="33488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126901"/>
            <a:ext cx="3236595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/>
              <a:t>Cloud</a:t>
            </a:r>
            <a:r>
              <a:rPr spc="-35" dirty="0"/>
              <a:t> </a:t>
            </a:r>
            <a:r>
              <a:rPr spc="-10" dirty="0"/>
              <a:t>Deployment 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1190780"/>
            <a:ext cx="4297045" cy="3854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084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There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four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main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types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cloud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computing: </a:t>
            </a:r>
            <a:r>
              <a:rPr sz="1500" dirty="0">
                <a:latin typeface="Arial"/>
                <a:cs typeface="Arial"/>
              </a:rPr>
              <a:t>private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clouds,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public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clouds,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hybrid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clouds,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and </a:t>
            </a:r>
            <a:r>
              <a:rPr sz="1500" dirty="0">
                <a:latin typeface="Arial"/>
                <a:cs typeface="Arial"/>
              </a:rPr>
              <a:t>multiclouds.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Every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cloud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abstracts,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pools,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and </a:t>
            </a:r>
            <a:r>
              <a:rPr sz="1500" spc="-45" dirty="0">
                <a:latin typeface="Arial"/>
                <a:cs typeface="Arial"/>
              </a:rPr>
              <a:t>shares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scalable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computing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resources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across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 </a:t>
            </a:r>
            <a:r>
              <a:rPr sz="1500" spc="-10" dirty="0">
                <a:latin typeface="Arial"/>
                <a:cs typeface="Arial"/>
              </a:rPr>
              <a:t>network.</a:t>
            </a:r>
            <a:endParaRPr sz="1500">
              <a:latin typeface="Arial"/>
              <a:cs typeface="Arial"/>
            </a:endParaRPr>
          </a:p>
          <a:p>
            <a:pPr marL="12700" marR="857250">
              <a:lnSpc>
                <a:spcPct val="100000"/>
              </a:lnSpc>
              <a:spcBef>
                <a:spcPts val="1575"/>
              </a:spcBef>
            </a:pPr>
            <a:r>
              <a:rPr sz="1500" b="1" spc="-70" dirty="0">
                <a:latin typeface="Arial"/>
                <a:cs typeface="Arial"/>
              </a:rPr>
              <a:t>Public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spc="-65" dirty="0">
                <a:latin typeface="Arial"/>
                <a:cs typeface="Arial"/>
              </a:rPr>
              <a:t>Cloud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-</a:t>
            </a:r>
            <a:r>
              <a:rPr sz="1500" b="1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typically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created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IT </a:t>
            </a:r>
            <a:r>
              <a:rPr sz="1500" dirty="0">
                <a:latin typeface="Arial"/>
                <a:cs typeface="Arial"/>
              </a:rPr>
              <a:t>infrastructure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not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owned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by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25" dirty="0">
                <a:latin typeface="Arial"/>
                <a:cs typeface="Arial"/>
              </a:rPr>
              <a:t> end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user.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500" b="1" spc="-25" dirty="0">
                <a:latin typeface="Arial"/>
                <a:cs typeface="Arial"/>
              </a:rPr>
              <a:t>Private</a:t>
            </a:r>
            <a:r>
              <a:rPr sz="1500" b="1" spc="-105" dirty="0">
                <a:latin typeface="Arial"/>
                <a:cs typeface="Arial"/>
              </a:rPr>
              <a:t> </a:t>
            </a:r>
            <a:r>
              <a:rPr sz="1500" b="1" spc="-65" dirty="0">
                <a:latin typeface="Arial"/>
                <a:cs typeface="Arial"/>
              </a:rPr>
              <a:t>Cloud</a:t>
            </a:r>
            <a:r>
              <a:rPr sz="1500" b="1" spc="-10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-</a:t>
            </a:r>
            <a:r>
              <a:rPr sz="1500" b="1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solely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dedicated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single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end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user </a:t>
            </a:r>
            <a:r>
              <a:rPr sz="1500" dirty="0">
                <a:latin typeface="Arial"/>
                <a:cs typeface="Arial"/>
              </a:rPr>
              <a:t>or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group.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"/>
              <a:cs typeface="Arial"/>
            </a:endParaRPr>
          </a:p>
          <a:p>
            <a:pPr marL="12700" marR="641350">
              <a:lnSpc>
                <a:spcPct val="100000"/>
              </a:lnSpc>
            </a:pPr>
            <a:r>
              <a:rPr sz="1500" b="1" dirty="0">
                <a:latin typeface="Arial"/>
                <a:cs typeface="Arial"/>
              </a:rPr>
              <a:t>Hybrid</a:t>
            </a:r>
            <a:r>
              <a:rPr sz="1500" b="1" spc="185" dirty="0">
                <a:latin typeface="Arial"/>
                <a:cs typeface="Arial"/>
              </a:rPr>
              <a:t> </a:t>
            </a:r>
            <a:r>
              <a:rPr sz="1500" b="1" spc="-65" dirty="0">
                <a:latin typeface="Arial"/>
                <a:cs typeface="Arial"/>
              </a:rPr>
              <a:t>Cloud</a:t>
            </a:r>
            <a:r>
              <a:rPr sz="1500" b="1" spc="-11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-</a:t>
            </a:r>
            <a:r>
              <a:rPr sz="1500" b="1" spc="-114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applications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running</a:t>
            </a:r>
            <a:r>
              <a:rPr sz="1500" spc="-1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 </a:t>
            </a:r>
            <a:r>
              <a:rPr sz="1500" dirty="0">
                <a:latin typeface="Arial"/>
                <a:cs typeface="Arial"/>
              </a:rPr>
              <a:t>combination</a:t>
            </a:r>
            <a:r>
              <a:rPr sz="1500" spc="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different</a:t>
            </a:r>
            <a:r>
              <a:rPr sz="1500" spc="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environments.</a:t>
            </a:r>
            <a:endParaRPr sz="1500">
              <a:latin typeface="Arial"/>
              <a:cs typeface="Arial"/>
            </a:endParaRPr>
          </a:p>
          <a:p>
            <a:pPr marL="12700" marR="5715">
              <a:lnSpc>
                <a:spcPct val="100000"/>
              </a:lnSpc>
              <a:spcBef>
                <a:spcPts val="1575"/>
              </a:spcBef>
            </a:pPr>
            <a:r>
              <a:rPr sz="1500" b="1" spc="-45" dirty="0">
                <a:latin typeface="Arial"/>
                <a:cs typeface="Arial"/>
              </a:rPr>
              <a:t>Multiclouds</a:t>
            </a:r>
            <a:r>
              <a:rPr sz="1500" b="1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made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up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more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than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1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cloud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service,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more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than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1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cloud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vendor.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2375" y="821374"/>
              <a:ext cx="3725249" cy="35007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469801"/>
            <a:ext cx="37357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110" dirty="0"/>
              <a:t> </a:t>
            </a:r>
            <a:r>
              <a:rPr dirty="0"/>
              <a:t>Service</a:t>
            </a:r>
            <a:r>
              <a:rPr spc="-105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1105055"/>
            <a:ext cx="4243705" cy="3597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893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There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three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main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types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cloud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computing </a:t>
            </a:r>
            <a:r>
              <a:rPr sz="1500" spc="-20" dirty="0">
                <a:latin typeface="Arial"/>
                <a:cs typeface="Arial"/>
              </a:rPr>
              <a:t>service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models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based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level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control, </a:t>
            </a:r>
            <a:r>
              <a:rPr sz="1500" dirty="0">
                <a:latin typeface="Arial"/>
                <a:cs typeface="Arial"/>
              </a:rPr>
              <a:t>ﬂexibility,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management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user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needs:</a:t>
            </a:r>
            <a:endParaRPr sz="1500">
              <a:latin typeface="Arial"/>
              <a:cs typeface="Arial"/>
            </a:endParaRPr>
          </a:p>
          <a:p>
            <a:pPr marL="12700" marR="177800">
              <a:lnSpc>
                <a:spcPct val="100000"/>
              </a:lnSpc>
              <a:spcBef>
                <a:spcPts val="1575"/>
              </a:spcBef>
            </a:pPr>
            <a:r>
              <a:rPr sz="1500" b="1" spc="-35" dirty="0">
                <a:latin typeface="Arial"/>
                <a:cs typeface="Arial"/>
              </a:rPr>
              <a:t>Infrastructure</a:t>
            </a:r>
            <a:r>
              <a:rPr sz="1500" b="1" spc="-70" dirty="0">
                <a:latin typeface="Arial"/>
                <a:cs typeface="Arial"/>
              </a:rPr>
              <a:t> </a:t>
            </a:r>
            <a:r>
              <a:rPr sz="1500" b="1" spc="-125" dirty="0">
                <a:latin typeface="Arial"/>
                <a:cs typeface="Arial"/>
              </a:rPr>
              <a:t>as</a:t>
            </a:r>
            <a:r>
              <a:rPr sz="1500" b="1" spc="-70" dirty="0">
                <a:latin typeface="Arial"/>
                <a:cs typeface="Arial"/>
              </a:rPr>
              <a:t> </a:t>
            </a:r>
            <a:r>
              <a:rPr sz="1500" b="1" spc="-60" dirty="0">
                <a:latin typeface="Arial"/>
                <a:cs typeface="Arial"/>
              </a:rPr>
              <a:t>a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b="1" spc="-75" dirty="0">
                <a:latin typeface="Arial"/>
                <a:cs typeface="Arial"/>
              </a:rPr>
              <a:t>Service</a:t>
            </a:r>
            <a:r>
              <a:rPr sz="1500" b="1" spc="-70" dirty="0">
                <a:latin typeface="Arial"/>
                <a:cs typeface="Arial"/>
              </a:rPr>
              <a:t> </a:t>
            </a:r>
            <a:r>
              <a:rPr sz="1500" b="1" spc="-75" dirty="0">
                <a:latin typeface="Arial"/>
                <a:cs typeface="Arial"/>
              </a:rPr>
              <a:t>(IaaS):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on-</a:t>
            </a:r>
            <a:r>
              <a:rPr sz="1500" spc="-10" dirty="0">
                <a:latin typeface="Arial"/>
                <a:cs typeface="Arial"/>
              </a:rPr>
              <a:t>demand </a:t>
            </a:r>
            <a:r>
              <a:rPr sz="1500" spc="-80" dirty="0">
                <a:latin typeface="Arial"/>
                <a:cs typeface="Arial"/>
              </a:rPr>
              <a:t>access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IT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infrastructure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services,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including </a:t>
            </a:r>
            <a:r>
              <a:rPr sz="1500" spc="-25" dirty="0">
                <a:latin typeface="Arial"/>
                <a:cs typeface="Arial"/>
              </a:rPr>
              <a:t>compute,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storage,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networking,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virtualization.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b="1" spc="-25" dirty="0">
                <a:latin typeface="Arial"/>
                <a:cs typeface="Arial"/>
              </a:rPr>
              <a:t>Platform</a:t>
            </a:r>
            <a:r>
              <a:rPr sz="1500" b="1" spc="-80" dirty="0">
                <a:latin typeface="Arial"/>
                <a:cs typeface="Arial"/>
              </a:rPr>
              <a:t> </a:t>
            </a:r>
            <a:r>
              <a:rPr sz="1500" b="1" spc="-125" dirty="0">
                <a:latin typeface="Arial"/>
                <a:cs typeface="Arial"/>
              </a:rPr>
              <a:t>as</a:t>
            </a:r>
            <a:r>
              <a:rPr sz="1500" b="1" spc="-80" dirty="0">
                <a:latin typeface="Arial"/>
                <a:cs typeface="Arial"/>
              </a:rPr>
              <a:t> </a:t>
            </a:r>
            <a:r>
              <a:rPr sz="1500" b="1" spc="-60" dirty="0">
                <a:latin typeface="Arial"/>
                <a:cs typeface="Arial"/>
              </a:rPr>
              <a:t>a</a:t>
            </a:r>
            <a:r>
              <a:rPr sz="1500" b="1" spc="-75" dirty="0">
                <a:latin typeface="Arial"/>
                <a:cs typeface="Arial"/>
              </a:rPr>
              <a:t> Service</a:t>
            </a:r>
            <a:r>
              <a:rPr sz="1500" b="1" spc="-80" dirty="0">
                <a:latin typeface="Arial"/>
                <a:cs typeface="Arial"/>
              </a:rPr>
              <a:t> </a:t>
            </a:r>
            <a:r>
              <a:rPr sz="1500" b="1" spc="-100" dirty="0">
                <a:latin typeface="Arial"/>
                <a:cs typeface="Arial"/>
              </a:rPr>
              <a:t>(PaaS):</a:t>
            </a:r>
            <a:r>
              <a:rPr sz="1500" b="1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offers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all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dirty="0">
                <a:latin typeface="Arial"/>
                <a:cs typeface="Arial"/>
              </a:rPr>
              <a:t>hardware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software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resources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needed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cloud </a:t>
            </a:r>
            <a:r>
              <a:rPr sz="1500" dirty="0">
                <a:latin typeface="Arial"/>
                <a:cs typeface="Arial"/>
              </a:rPr>
              <a:t>application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development.</a:t>
            </a:r>
            <a:endParaRPr sz="1500">
              <a:latin typeface="Arial"/>
              <a:cs typeface="Arial"/>
            </a:endParaRPr>
          </a:p>
          <a:p>
            <a:pPr marL="12700" marR="151765">
              <a:lnSpc>
                <a:spcPct val="100000"/>
              </a:lnSpc>
              <a:spcBef>
                <a:spcPts val="1575"/>
              </a:spcBef>
            </a:pPr>
            <a:r>
              <a:rPr sz="1500" b="1" spc="-35" dirty="0">
                <a:latin typeface="Arial"/>
                <a:cs typeface="Arial"/>
              </a:rPr>
              <a:t>Software</a:t>
            </a:r>
            <a:r>
              <a:rPr sz="1500" b="1" spc="-95" dirty="0">
                <a:latin typeface="Arial"/>
                <a:cs typeface="Arial"/>
              </a:rPr>
              <a:t> </a:t>
            </a:r>
            <a:r>
              <a:rPr sz="1500" b="1" spc="-125" dirty="0">
                <a:latin typeface="Arial"/>
                <a:cs typeface="Arial"/>
              </a:rPr>
              <a:t>as</a:t>
            </a:r>
            <a:r>
              <a:rPr sz="1500" b="1" spc="-90" dirty="0">
                <a:latin typeface="Arial"/>
                <a:cs typeface="Arial"/>
              </a:rPr>
              <a:t> </a:t>
            </a:r>
            <a:r>
              <a:rPr sz="1500" b="1" spc="-60" dirty="0">
                <a:latin typeface="Arial"/>
                <a:cs typeface="Arial"/>
              </a:rPr>
              <a:t>a</a:t>
            </a:r>
            <a:r>
              <a:rPr sz="1500" b="1" spc="-95" dirty="0">
                <a:latin typeface="Arial"/>
                <a:cs typeface="Arial"/>
              </a:rPr>
              <a:t> </a:t>
            </a:r>
            <a:r>
              <a:rPr sz="1500" b="1" spc="-75" dirty="0">
                <a:latin typeface="Arial"/>
                <a:cs typeface="Arial"/>
              </a:rPr>
              <a:t>Service</a:t>
            </a:r>
            <a:r>
              <a:rPr sz="1500" b="1" spc="-90" dirty="0">
                <a:latin typeface="Arial"/>
                <a:cs typeface="Arial"/>
              </a:rPr>
              <a:t> </a:t>
            </a:r>
            <a:r>
              <a:rPr sz="1500" b="1" spc="-110" dirty="0">
                <a:latin typeface="Arial"/>
                <a:cs typeface="Arial"/>
              </a:rPr>
              <a:t>(SaaS):</a:t>
            </a:r>
            <a:r>
              <a:rPr sz="1500" b="1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delivers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full </a:t>
            </a:r>
            <a:r>
              <a:rPr sz="1500" dirty="0">
                <a:latin typeface="Arial"/>
                <a:cs typeface="Arial"/>
              </a:rPr>
              <a:t>application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stack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service,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underlying </a:t>
            </a:r>
            <a:r>
              <a:rPr sz="1500" dirty="0">
                <a:latin typeface="Arial"/>
                <a:cs typeface="Arial"/>
              </a:rPr>
              <a:t>infrastructure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25" dirty="0">
                <a:latin typeface="Arial"/>
                <a:cs typeface="Arial"/>
              </a:rPr>
              <a:t> maintenance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25" dirty="0">
                <a:latin typeface="Arial"/>
                <a:cs typeface="Arial"/>
              </a:rPr>
              <a:t> updates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25" dirty="0">
                <a:latin typeface="Arial"/>
                <a:cs typeface="Arial"/>
              </a:rPr>
              <a:t> the </a:t>
            </a:r>
            <a:r>
              <a:rPr sz="1500" spc="-40" dirty="0">
                <a:latin typeface="Arial"/>
                <a:cs typeface="Arial"/>
              </a:rPr>
              <a:t>app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software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itself.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1925" y="1225812"/>
              <a:ext cx="3246149" cy="2691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5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35" dirty="0"/>
              <a:t> </a:t>
            </a:r>
            <a:r>
              <a:rPr spc="-25" dirty="0"/>
              <a:t>Providers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790730"/>
            <a:ext cx="4295140" cy="422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1625" algn="just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latin typeface="Arial"/>
                <a:cs typeface="Arial"/>
              </a:rPr>
              <a:t>There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are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countless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cloud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service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providers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30" dirty="0">
                <a:latin typeface="Arial"/>
                <a:cs typeface="Arial"/>
              </a:rPr>
              <a:t>that </a:t>
            </a:r>
            <a:r>
              <a:rPr sz="1500" spc="-25" dirty="0">
                <a:latin typeface="Arial"/>
                <a:cs typeface="Arial"/>
              </a:rPr>
              <a:t>are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utilised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across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world,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depending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on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their </a:t>
            </a:r>
            <a:r>
              <a:rPr sz="1500" spc="-50" dirty="0">
                <a:latin typeface="Arial"/>
                <a:cs typeface="Arial"/>
              </a:rPr>
              <a:t>needs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preferences.</a:t>
            </a:r>
            <a:endParaRPr sz="1500">
              <a:latin typeface="Arial"/>
              <a:cs typeface="Arial"/>
            </a:endParaRPr>
          </a:p>
          <a:p>
            <a:pPr marL="12700" marR="264795">
              <a:lnSpc>
                <a:spcPct val="100000"/>
              </a:lnSpc>
              <a:spcBef>
                <a:spcPts val="1575"/>
              </a:spcBef>
            </a:pPr>
            <a:r>
              <a:rPr sz="1500" spc="-75" dirty="0">
                <a:latin typeface="Arial"/>
                <a:cs typeface="Arial"/>
              </a:rPr>
              <a:t>Some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providers,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rather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than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operate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their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own </a:t>
            </a:r>
            <a:r>
              <a:rPr sz="1500" spc="-10" dirty="0">
                <a:latin typeface="Arial"/>
                <a:cs typeface="Arial"/>
              </a:rPr>
              <a:t>hardware,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simply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resell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manage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other </a:t>
            </a:r>
            <a:r>
              <a:rPr sz="1500" dirty="0">
                <a:latin typeface="Arial"/>
                <a:cs typeface="Arial"/>
              </a:rPr>
              <a:t>providers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services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make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these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simpler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use.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1500" spc="-4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most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proliﬁc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cloud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providers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market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are:</a:t>
            </a:r>
            <a:endParaRPr sz="1500">
              <a:latin typeface="Arial"/>
              <a:cs typeface="Arial"/>
            </a:endParaRPr>
          </a:p>
          <a:p>
            <a:pPr marL="12700" marR="222250">
              <a:lnSpc>
                <a:spcPct val="100000"/>
              </a:lnSpc>
              <a:spcBef>
                <a:spcPts val="1575"/>
              </a:spcBef>
            </a:pPr>
            <a:r>
              <a:rPr sz="1500" b="1" spc="-70" dirty="0">
                <a:latin typeface="Arial"/>
                <a:cs typeface="Arial"/>
              </a:rPr>
              <a:t>Amazon</a:t>
            </a:r>
            <a:r>
              <a:rPr sz="1500" b="1" spc="-10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Web</a:t>
            </a:r>
            <a:r>
              <a:rPr sz="1500" b="1" spc="-100" dirty="0">
                <a:latin typeface="Arial"/>
                <a:cs typeface="Arial"/>
              </a:rPr>
              <a:t> </a:t>
            </a:r>
            <a:r>
              <a:rPr sz="1500" b="1" spc="-85" dirty="0">
                <a:latin typeface="Arial"/>
                <a:cs typeface="Arial"/>
              </a:rPr>
              <a:t>Services</a:t>
            </a:r>
            <a:r>
              <a:rPr sz="1500" b="1" spc="-100" dirty="0">
                <a:latin typeface="Arial"/>
                <a:cs typeface="Arial"/>
              </a:rPr>
              <a:t> </a:t>
            </a:r>
            <a:r>
              <a:rPr sz="1500" b="1" spc="-40" dirty="0">
                <a:latin typeface="Arial"/>
                <a:cs typeface="Arial"/>
              </a:rPr>
              <a:t>(34%)</a:t>
            </a:r>
            <a:r>
              <a:rPr sz="1500" b="1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dizzying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array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</a:t>
            </a:r>
            <a:r>
              <a:rPr sz="1500" spc="-35" dirty="0">
                <a:latin typeface="Arial"/>
                <a:cs typeface="Arial"/>
              </a:rPr>
              <a:t>services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storage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machine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learning.</a:t>
            </a:r>
            <a:endParaRPr sz="1500">
              <a:latin typeface="Arial"/>
              <a:cs typeface="Arial"/>
            </a:endParaRPr>
          </a:p>
          <a:p>
            <a:pPr marL="12700" marR="200025">
              <a:lnSpc>
                <a:spcPct val="100000"/>
              </a:lnSpc>
              <a:spcBef>
                <a:spcPts val="1575"/>
              </a:spcBef>
            </a:pPr>
            <a:r>
              <a:rPr sz="1500" b="1" spc="-30" dirty="0">
                <a:latin typeface="Arial"/>
                <a:cs typeface="Arial"/>
              </a:rPr>
              <a:t>Microsoft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45" dirty="0">
                <a:latin typeface="Arial"/>
                <a:cs typeface="Arial"/>
              </a:rPr>
              <a:t>Azure</a:t>
            </a:r>
            <a:r>
              <a:rPr sz="1500" b="1" spc="-40" dirty="0">
                <a:latin typeface="Arial"/>
                <a:cs typeface="Arial"/>
              </a:rPr>
              <a:t> (21%)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tightly</a:t>
            </a:r>
            <a:r>
              <a:rPr sz="1500" spc="-35" dirty="0">
                <a:latin typeface="Arial"/>
                <a:cs typeface="Arial"/>
              </a:rPr>
              <a:t> embedded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within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MS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ecosystem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strong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.NET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utilisation.</a:t>
            </a:r>
            <a:endParaRPr sz="1500">
              <a:latin typeface="Arial"/>
              <a:cs typeface="Arial"/>
            </a:endParaRPr>
          </a:p>
          <a:p>
            <a:pPr marL="12700" marR="362585">
              <a:lnSpc>
                <a:spcPct val="100000"/>
              </a:lnSpc>
              <a:spcBef>
                <a:spcPts val="1575"/>
              </a:spcBef>
            </a:pPr>
            <a:r>
              <a:rPr sz="1500" b="1" spc="-80" dirty="0">
                <a:latin typeface="Arial"/>
                <a:cs typeface="Arial"/>
              </a:rPr>
              <a:t>Google</a:t>
            </a:r>
            <a:r>
              <a:rPr sz="1500" b="1" spc="-65" dirty="0">
                <a:latin typeface="Arial"/>
                <a:cs typeface="Arial"/>
              </a:rPr>
              <a:t> Cloud </a:t>
            </a:r>
            <a:r>
              <a:rPr sz="1500" b="1" spc="-25" dirty="0">
                <a:latin typeface="Arial"/>
                <a:cs typeface="Arial"/>
              </a:rPr>
              <a:t>Platform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b="1" spc="-40" dirty="0">
                <a:latin typeface="Arial"/>
                <a:cs typeface="Arial"/>
              </a:rPr>
              <a:t>(11%)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relatively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new </a:t>
            </a:r>
            <a:r>
              <a:rPr sz="1500" dirty="0">
                <a:latin typeface="Arial"/>
                <a:cs typeface="Arial"/>
              </a:rPr>
              <a:t>entry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market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without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range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</a:t>
            </a:r>
            <a:r>
              <a:rPr sz="1500" spc="10" dirty="0">
                <a:latin typeface="Arial"/>
                <a:cs typeface="Arial"/>
              </a:rPr>
              <a:t>functionality</a:t>
            </a:r>
            <a:r>
              <a:rPr sz="1500" spc="35" dirty="0">
                <a:latin typeface="Arial"/>
                <a:cs typeface="Arial"/>
              </a:rPr>
              <a:t> </a:t>
            </a:r>
            <a:r>
              <a:rPr sz="1500" spc="10" dirty="0">
                <a:latin typeface="Arial"/>
                <a:cs typeface="Arial"/>
              </a:rPr>
              <a:t>of</a:t>
            </a:r>
            <a:r>
              <a:rPr sz="1500" spc="3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AWS.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000" y="0"/>
            <a:ext cx="4058285" cy="5143500"/>
            <a:chOff x="50860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099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5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6000" y="1838621"/>
              <a:ext cx="4057999" cy="14662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597150" y="641734"/>
            <a:ext cx="3949700" cy="38600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25000" spc="-25" dirty="0">
                <a:solidFill>
                  <a:srgbClr val="00033D"/>
                </a:solidFill>
                <a:latin typeface="Arial"/>
                <a:cs typeface="Arial"/>
              </a:rPr>
              <a:t>?</a:t>
            </a:r>
            <a:endParaRPr sz="25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1117</Words>
  <Application>Microsoft Macintosh PowerPoint</Application>
  <PresentationFormat>On-screen Show (16:9)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Roboto</vt:lpstr>
      <vt:lpstr>Office Theme</vt:lpstr>
      <vt:lpstr>PowerPoint Presentation</vt:lpstr>
      <vt:lpstr>The Internet &amp; Web (pt 2)</vt:lpstr>
      <vt:lpstr>Web 1, Web 2 &amp; Web 3.0</vt:lpstr>
      <vt:lpstr>Web 3.0 &amp; Web3</vt:lpstr>
      <vt:lpstr>Deep &amp; Dark Web</vt:lpstr>
      <vt:lpstr>Intranet &amp; Extranet</vt:lpstr>
      <vt:lpstr>The Cloud</vt:lpstr>
      <vt:lpstr>What is the Cloud?</vt:lpstr>
      <vt:lpstr>On-premise</vt:lpstr>
      <vt:lpstr>Cloud Deployment Types</vt:lpstr>
      <vt:lpstr>Cloud Service Models</vt:lpstr>
      <vt:lpstr>Cloud Providers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COMP1589 - Cloud, UI &amp; CSS</dc:title>
  <cp:lastModifiedBy>Matthew Prichard</cp:lastModifiedBy>
  <cp:revision>9</cp:revision>
  <dcterms:created xsi:type="dcterms:W3CDTF">2023-12-05T14:54:36Z</dcterms:created>
  <dcterms:modified xsi:type="dcterms:W3CDTF">2025-01-20T15:13:05Z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