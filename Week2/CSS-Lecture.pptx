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9" r:id="rId33"/>
    <p:sldId id="290" r:id="rId3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34586" autoAdjust="0"/>
    <p:restoredTop sz="86467" autoAdjust="0"/>
  </p:normalViewPr>
  <p:slideViewPr>
    <p:cSldViewPr>
      <p:cViewPr varScale="1">
        <p:scale>
          <a:sx n="96" d="100"/>
          <a:sy n="96" d="100"/>
        </p:scale>
        <p:origin x="318" y="9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-152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43731" y="1621028"/>
            <a:ext cx="7766050" cy="1854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Helvetica Neue Light"/>
                <a:cs typeface="Helvetica Neue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Helvetica Neue Light"/>
                <a:cs typeface="Helvetica Neue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Helvetica Neue Light"/>
                <a:cs typeface="Helvetica Neue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Helvetica Neue Light"/>
                <a:cs typeface="Helvetica Neue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Helvetica Neue Light"/>
                <a:cs typeface="Helvetica Neue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Helvetica Neue Light"/>
                <a:cs typeface="Helvetica Neue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486156"/>
            <a:ext cx="8072119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Helvetica Neue Light"/>
                <a:cs typeface="Helvetica Neue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5464" y="1553972"/>
            <a:ext cx="8053070" cy="4280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Helvetica Neue Light"/>
                <a:cs typeface="Helvetica Neue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hyperlink" Target="http://www.w3schools.com/html/html_blocks.asp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TR/CSS2/sample.html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w3schools.com/cssref/css_default_values.asp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css/demo_default.htm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hyperlink" Target="http://www.w3schools.com/css/css_howto.asp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utorialzine.com/2014/07/20-impressive-css3-techniques-libraries-and-examples" TargetMode="Externa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hyperlink" Target="http://www.w3schools.com/css/css_text.asp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css/css_boxmodel.asp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54685">
              <a:lnSpc>
                <a:spcPct val="100000"/>
              </a:lnSpc>
              <a:spcBef>
                <a:spcPts val="95"/>
              </a:spcBef>
            </a:pPr>
            <a:r>
              <a:rPr lang="en-GB" sz="5300" spc="50" noProof="0" dirty="0"/>
              <a:t>CSS</a:t>
            </a:r>
            <a:r>
              <a:rPr lang="en-GB" sz="5300" spc="125" noProof="0" dirty="0"/>
              <a:t> </a:t>
            </a:r>
            <a:r>
              <a:rPr lang="en-GB" sz="5300" noProof="0" dirty="0"/>
              <a:t>&amp;</a:t>
            </a:r>
            <a:r>
              <a:rPr lang="en-GB" sz="5300" spc="110" noProof="0" dirty="0"/>
              <a:t> </a:t>
            </a:r>
            <a:r>
              <a:rPr lang="en-GB" sz="5300" noProof="0" dirty="0"/>
              <a:t>HTML</a:t>
            </a:r>
            <a:r>
              <a:rPr lang="en-GB" sz="5300" spc="114" noProof="0" dirty="0"/>
              <a:t> </a:t>
            </a:r>
            <a:r>
              <a:rPr lang="en-GB" sz="5300" spc="45" noProof="0" dirty="0"/>
              <a:t>RECAP</a:t>
            </a:r>
            <a:endParaRPr lang="en-GB" sz="5300" noProof="0" dirty="0"/>
          </a:p>
        </p:txBody>
      </p:sp>
      <p:sp>
        <p:nvSpPr>
          <p:cNvPr id="3" name="object 3"/>
          <p:cNvSpPr txBox="1"/>
          <p:nvPr/>
        </p:nvSpPr>
        <p:spPr>
          <a:xfrm>
            <a:off x="3840257" y="3878579"/>
            <a:ext cx="14928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000" noProof="0" dirty="0">
                <a:solidFill>
                  <a:srgbClr val="7F7F7F"/>
                </a:solidFill>
                <a:latin typeface="Helvetica Neue Light"/>
                <a:cs typeface="Helvetica Neue Light"/>
              </a:rPr>
              <a:t>Matt</a:t>
            </a:r>
            <a:r>
              <a:rPr lang="en-GB" sz="2000" spc="-30" noProof="0" dirty="0">
                <a:solidFill>
                  <a:srgbClr val="7F7F7F"/>
                </a:solidFill>
                <a:latin typeface="Helvetica Neue Light"/>
                <a:cs typeface="Helvetica Neue Light"/>
              </a:rPr>
              <a:t> </a:t>
            </a:r>
            <a:r>
              <a:rPr lang="en-GB" sz="2000" spc="-10" noProof="0" dirty="0">
                <a:solidFill>
                  <a:srgbClr val="7F7F7F"/>
                </a:solidFill>
                <a:latin typeface="Helvetica Neue Light"/>
                <a:cs typeface="Helvetica Neue Light"/>
              </a:rPr>
              <a:t>Prichard</a:t>
            </a:r>
            <a:endParaRPr lang="en-GB" sz="2000" noProof="0" dirty="0">
              <a:latin typeface="Helvetica Neue Light"/>
              <a:cs typeface="Helvetica Neue Light"/>
            </a:endParaRPr>
          </a:p>
        </p:txBody>
      </p:sp>
      <p:sp>
        <p:nv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566135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1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10" noProof="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6323"/>
            <a:ext cx="3985895" cy="4073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lang="en-GB" sz="2800" noProof="0" dirty="0">
                <a:solidFill>
                  <a:srgbClr val="7F7F7F"/>
                </a:solidFill>
                <a:latin typeface="Helvetica Neue Light"/>
                <a:cs typeface="Helvetica Neue Light"/>
              </a:rPr>
              <a:t>Html</a:t>
            </a:r>
            <a:r>
              <a:rPr lang="en-GB" sz="2800" spc="-15" noProof="0" dirty="0">
                <a:solidFill>
                  <a:srgbClr val="7F7F7F"/>
                </a:solidFill>
                <a:latin typeface="Helvetica Neue Light"/>
                <a:cs typeface="Helvetica Neue Light"/>
              </a:rPr>
              <a:t> </a:t>
            </a:r>
            <a:r>
              <a:rPr lang="en-GB" sz="2800" spc="-10" noProof="0" dirty="0">
                <a:solidFill>
                  <a:srgbClr val="7F7F7F"/>
                </a:solidFill>
                <a:latin typeface="Helvetica Neue Light"/>
                <a:cs typeface="Helvetica Neue Light"/>
              </a:rPr>
              <a:t>recap</a:t>
            </a:r>
            <a:endParaRPr lang="en-GB" sz="2800" noProof="0" dirty="0">
              <a:latin typeface="Helvetica Neue Light"/>
              <a:cs typeface="Helvetica Neue Light"/>
            </a:endParaRPr>
          </a:p>
          <a:p>
            <a:pPr marL="354965" indent="-342265">
              <a:lnSpc>
                <a:spcPct val="100000"/>
              </a:lnSpc>
              <a:spcBef>
                <a:spcPts val="2350"/>
              </a:spcBef>
              <a:buFont typeface="Arial"/>
              <a:buChar char="•"/>
              <a:tabLst>
                <a:tab pos="354965" algn="l"/>
              </a:tabLst>
            </a:pPr>
            <a:r>
              <a:rPr lang="en-GB" sz="2800" noProof="0" dirty="0">
                <a:solidFill>
                  <a:srgbClr val="7F7F7F"/>
                </a:solidFill>
                <a:latin typeface="Helvetica Neue Light"/>
                <a:cs typeface="Helvetica Neue Light"/>
              </a:rPr>
              <a:t>Inline</a:t>
            </a:r>
            <a:r>
              <a:rPr lang="en-GB" sz="2800" spc="-40" noProof="0" dirty="0">
                <a:solidFill>
                  <a:srgbClr val="7F7F7F"/>
                </a:solidFill>
                <a:latin typeface="Helvetica Neue Light"/>
                <a:cs typeface="Helvetica Neue Light"/>
              </a:rPr>
              <a:t> </a:t>
            </a:r>
            <a:r>
              <a:rPr lang="en-GB" sz="2800" noProof="0" dirty="0">
                <a:solidFill>
                  <a:srgbClr val="7F7F7F"/>
                </a:solidFill>
                <a:latin typeface="Helvetica Neue Light"/>
                <a:cs typeface="Helvetica Neue Light"/>
              </a:rPr>
              <a:t>vs</a:t>
            </a:r>
            <a:r>
              <a:rPr lang="en-GB" sz="2800" spc="-35" noProof="0" dirty="0">
                <a:solidFill>
                  <a:srgbClr val="7F7F7F"/>
                </a:solidFill>
                <a:latin typeface="Helvetica Neue Light"/>
                <a:cs typeface="Helvetica Neue Light"/>
              </a:rPr>
              <a:t> </a:t>
            </a:r>
            <a:r>
              <a:rPr lang="en-GB" sz="2800" noProof="0" dirty="0">
                <a:solidFill>
                  <a:srgbClr val="7F7F7F"/>
                </a:solidFill>
                <a:latin typeface="Helvetica Neue Light"/>
                <a:cs typeface="Helvetica Neue Light"/>
              </a:rPr>
              <a:t>block</a:t>
            </a:r>
            <a:r>
              <a:rPr lang="en-GB" sz="2800" spc="-30" noProof="0" dirty="0">
                <a:solidFill>
                  <a:srgbClr val="7F7F7F"/>
                </a:solidFill>
                <a:latin typeface="Helvetica Neue Light"/>
                <a:cs typeface="Helvetica Neue Light"/>
              </a:rPr>
              <a:t> </a:t>
            </a:r>
            <a:r>
              <a:rPr lang="en-GB" sz="2800" spc="-10" noProof="0" dirty="0">
                <a:solidFill>
                  <a:srgbClr val="7F7F7F"/>
                </a:solidFill>
                <a:latin typeface="Helvetica Neue Light"/>
                <a:cs typeface="Helvetica Neue Light"/>
              </a:rPr>
              <a:t>elements</a:t>
            </a:r>
            <a:endParaRPr lang="en-GB" sz="2800" noProof="0" dirty="0">
              <a:latin typeface="Helvetica Neue Light"/>
              <a:cs typeface="Helvetica Neue Light"/>
            </a:endParaRPr>
          </a:p>
          <a:p>
            <a:pPr marL="354965" indent="-342265">
              <a:lnSpc>
                <a:spcPct val="100000"/>
              </a:lnSpc>
              <a:spcBef>
                <a:spcPts val="2330"/>
              </a:spcBef>
              <a:buFont typeface="Arial"/>
              <a:buChar char="•"/>
              <a:tabLst>
                <a:tab pos="354965" algn="l"/>
              </a:tabLst>
            </a:pPr>
            <a:r>
              <a:rPr lang="en-GB" sz="2800" spc="-25" noProof="0" dirty="0">
                <a:solidFill>
                  <a:srgbClr val="7F7F7F"/>
                </a:solidFill>
                <a:latin typeface="Helvetica Neue Light"/>
                <a:cs typeface="Helvetica Neue Light"/>
              </a:rPr>
              <a:t>CSS</a:t>
            </a:r>
            <a:endParaRPr lang="en-GB" sz="2800" noProof="0" dirty="0">
              <a:latin typeface="Helvetica Neue Light"/>
              <a:cs typeface="Helvetica Neue Light"/>
            </a:endParaRPr>
          </a:p>
          <a:p>
            <a:pPr marL="354965" indent="-342265">
              <a:lnSpc>
                <a:spcPct val="100000"/>
              </a:lnSpc>
              <a:spcBef>
                <a:spcPts val="2350"/>
              </a:spcBef>
              <a:buFont typeface="Arial"/>
              <a:buChar char="•"/>
              <a:tabLst>
                <a:tab pos="354965" algn="l"/>
              </a:tabLst>
            </a:pPr>
            <a:r>
              <a:rPr lang="en-GB" sz="2800" noProof="0" dirty="0">
                <a:solidFill>
                  <a:srgbClr val="7F7F7F"/>
                </a:solidFill>
                <a:latin typeface="Helvetica Neue Light"/>
                <a:cs typeface="Helvetica Neue Light"/>
              </a:rPr>
              <a:t>Cascading</a:t>
            </a:r>
            <a:r>
              <a:rPr lang="en-GB" sz="2800" spc="-85" noProof="0" dirty="0">
                <a:solidFill>
                  <a:srgbClr val="7F7F7F"/>
                </a:solidFill>
                <a:latin typeface="Helvetica Neue Light"/>
                <a:cs typeface="Helvetica Neue Light"/>
              </a:rPr>
              <a:t> </a:t>
            </a:r>
            <a:r>
              <a:rPr lang="en-GB" sz="2800" spc="-20" noProof="0" dirty="0">
                <a:solidFill>
                  <a:srgbClr val="7F7F7F"/>
                </a:solidFill>
                <a:latin typeface="Helvetica Neue Light"/>
                <a:cs typeface="Helvetica Neue Light"/>
              </a:rPr>
              <a:t>order</a:t>
            </a:r>
            <a:endParaRPr lang="en-GB" sz="2800" noProof="0" dirty="0">
              <a:latin typeface="Helvetica Neue Light"/>
              <a:cs typeface="Helvetica Neue Light"/>
            </a:endParaRPr>
          </a:p>
          <a:p>
            <a:pPr marL="354965" indent="-342265">
              <a:lnSpc>
                <a:spcPct val="100000"/>
              </a:lnSpc>
              <a:spcBef>
                <a:spcPts val="2330"/>
              </a:spcBef>
              <a:buFont typeface="Arial"/>
              <a:buChar char="•"/>
              <a:tabLst>
                <a:tab pos="354965" algn="l"/>
              </a:tabLst>
            </a:pPr>
            <a:r>
              <a:rPr lang="en-GB" sz="2800" noProof="0" dirty="0">
                <a:solidFill>
                  <a:srgbClr val="7F7F7F"/>
                </a:solidFill>
                <a:latin typeface="Helvetica Neue Light"/>
                <a:cs typeface="Helvetica Neue Light"/>
              </a:rPr>
              <a:t>Examples</a:t>
            </a:r>
            <a:r>
              <a:rPr lang="en-GB" sz="2800" spc="-75" noProof="0" dirty="0">
                <a:solidFill>
                  <a:srgbClr val="7F7F7F"/>
                </a:solidFill>
                <a:latin typeface="Helvetica Neue Light"/>
                <a:cs typeface="Helvetica Neue Light"/>
              </a:rPr>
              <a:t> </a:t>
            </a:r>
            <a:r>
              <a:rPr lang="en-GB" sz="2800" noProof="0" dirty="0">
                <a:solidFill>
                  <a:srgbClr val="7F7F7F"/>
                </a:solidFill>
                <a:latin typeface="Helvetica Neue Light"/>
                <a:cs typeface="Helvetica Neue Light"/>
              </a:rPr>
              <a:t>and</a:t>
            </a:r>
            <a:r>
              <a:rPr lang="en-GB" sz="2800" spc="-70" noProof="0" dirty="0">
                <a:solidFill>
                  <a:srgbClr val="7F7F7F"/>
                </a:solidFill>
                <a:latin typeface="Helvetica Neue Light"/>
                <a:cs typeface="Helvetica Neue Light"/>
              </a:rPr>
              <a:t> </a:t>
            </a:r>
            <a:r>
              <a:rPr lang="en-GB" sz="2800" spc="-10" noProof="0" dirty="0">
                <a:solidFill>
                  <a:srgbClr val="7F7F7F"/>
                </a:solidFill>
                <a:latin typeface="Helvetica Neue Light"/>
                <a:cs typeface="Helvetica Neue Light"/>
              </a:rPr>
              <a:t>demos</a:t>
            </a:r>
            <a:endParaRPr lang="en-GB" sz="2800" noProof="0" dirty="0">
              <a:latin typeface="Helvetica Neue Light"/>
              <a:cs typeface="Helvetica Neue Light"/>
            </a:endParaRPr>
          </a:p>
          <a:p>
            <a:pPr marL="354965" indent="-342265">
              <a:lnSpc>
                <a:spcPct val="100000"/>
              </a:lnSpc>
              <a:spcBef>
                <a:spcPts val="2350"/>
              </a:spcBef>
              <a:buFont typeface="Arial"/>
              <a:buChar char="•"/>
              <a:tabLst>
                <a:tab pos="354965" algn="l"/>
              </a:tabLst>
            </a:pPr>
            <a:r>
              <a:rPr lang="en-GB" sz="2800" noProof="0" dirty="0">
                <a:solidFill>
                  <a:srgbClr val="7F7F7F"/>
                </a:solidFill>
                <a:latin typeface="Helvetica Neue Light"/>
                <a:cs typeface="Helvetica Neue Light"/>
              </a:rPr>
              <a:t>Meta</a:t>
            </a:r>
            <a:r>
              <a:rPr lang="en-GB" sz="2800" spc="-20" noProof="0" dirty="0">
                <a:solidFill>
                  <a:srgbClr val="7F7F7F"/>
                </a:solidFill>
                <a:latin typeface="Helvetica Neue Light"/>
                <a:cs typeface="Helvetica Neue Light"/>
              </a:rPr>
              <a:t> data</a:t>
            </a:r>
            <a:endParaRPr lang="en-GB" sz="2800" noProof="0" dirty="0">
              <a:latin typeface="Helvetica Neue Light"/>
              <a:cs typeface="Helvetica Neue Light"/>
            </a:endParaRP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02118" y="475434"/>
            <a:ext cx="2384681" cy="26075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5719" y="277367"/>
            <a:ext cx="8792845" cy="6480175"/>
            <a:chOff x="45719" y="277367"/>
            <a:chExt cx="8792845" cy="64801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07810" y="741165"/>
              <a:ext cx="4478848" cy="536674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56005" y="642937"/>
              <a:ext cx="4782456" cy="575964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007" y="277367"/>
              <a:ext cx="5864352" cy="64800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19" y="746759"/>
              <a:ext cx="5952744" cy="56388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51805" y="366116"/>
              <a:ext cx="5571490" cy="6197600"/>
            </a:xfrm>
            <a:custGeom>
              <a:avLst/>
              <a:gdLst/>
              <a:ahLst/>
              <a:cxnLst/>
              <a:rect l="l" t="t" r="r" b="b"/>
              <a:pathLst>
                <a:path w="5571490" h="6197600">
                  <a:moveTo>
                    <a:pt x="5098762" y="0"/>
                  </a:moveTo>
                  <a:lnTo>
                    <a:pt x="178478" y="0"/>
                  </a:lnTo>
                  <a:lnTo>
                    <a:pt x="131048" y="6384"/>
                  </a:lnTo>
                  <a:lnTo>
                    <a:pt x="88417" y="24397"/>
                  </a:lnTo>
                  <a:lnTo>
                    <a:pt x="52292" y="52324"/>
                  </a:lnTo>
                  <a:lnTo>
                    <a:pt x="24377" y="88452"/>
                  </a:lnTo>
                  <a:lnTo>
                    <a:pt x="6378" y="131067"/>
                  </a:lnTo>
                  <a:lnTo>
                    <a:pt x="0" y="178456"/>
                  </a:lnTo>
                  <a:lnTo>
                    <a:pt x="0" y="6018746"/>
                  </a:lnTo>
                  <a:lnTo>
                    <a:pt x="6378" y="6066135"/>
                  </a:lnTo>
                  <a:lnTo>
                    <a:pt x="24377" y="6108750"/>
                  </a:lnTo>
                  <a:lnTo>
                    <a:pt x="52292" y="6144878"/>
                  </a:lnTo>
                  <a:lnTo>
                    <a:pt x="88417" y="6172805"/>
                  </a:lnTo>
                  <a:lnTo>
                    <a:pt x="131048" y="6190817"/>
                  </a:lnTo>
                  <a:lnTo>
                    <a:pt x="178478" y="6197202"/>
                  </a:lnTo>
                  <a:lnTo>
                    <a:pt x="5098762" y="6197202"/>
                  </a:lnTo>
                  <a:lnTo>
                    <a:pt x="5146301" y="6190817"/>
                  </a:lnTo>
                  <a:lnTo>
                    <a:pt x="5189005" y="6172805"/>
                  </a:lnTo>
                  <a:lnTo>
                    <a:pt x="5225174" y="6144878"/>
                  </a:lnTo>
                  <a:lnTo>
                    <a:pt x="5253112" y="6108750"/>
                  </a:lnTo>
                  <a:lnTo>
                    <a:pt x="5271119" y="6066135"/>
                  </a:lnTo>
                  <a:lnTo>
                    <a:pt x="5277499" y="6018746"/>
                  </a:lnTo>
                  <a:lnTo>
                    <a:pt x="5277499" y="2144346"/>
                  </a:lnTo>
                  <a:lnTo>
                    <a:pt x="5571009" y="1957857"/>
                  </a:lnTo>
                  <a:lnTo>
                    <a:pt x="5277499" y="1771366"/>
                  </a:lnTo>
                  <a:lnTo>
                    <a:pt x="5277499" y="178456"/>
                  </a:lnTo>
                  <a:lnTo>
                    <a:pt x="5271119" y="131067"/>
                  </a:lnTo>
                  <a:lnTo>
                    <a:pt x="5253112" y="88452"/>
                  </a:lnTo>
                  <a:lnTo>
                    <a:pt x="5225174" y="52324"/>
                  </a:lnTo>
                  <a:lnTo>
                    <a:pt x="5189005" y="24397"/>
                  </a:lnTo>
                  <a:lnTo>
                    <a:pt x="5146301" y="6384"/>
                  </a:lnTo>
                  <a:lnTo>
                    <a:pt x="5098762" y="0"/>
                  </a:lnTo>
                  <a:close/>
                </a:path>
              </a:pathLst>
            </a:custGeom>
            <a:solidFill>
              <a:srgbClr val="020719">
                <a:alpha val="45098"/>
              </a:srgbClr>
            </a:solidFill>
          </p:spPr>
          <p:txBody>
            <a:bodyPr wrap="square" lIns="0" tIns="0" rIns="0" bIns="0" rtlCol="0"/>
            <a:lstStyle/>
            <a:p>
              <a:endParaRPr lang="en-GB" noProof="0"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151805" y="366116"/>
              <a:ext cx="5571490" cy="6197600"/>
            </a:xfrm>
            <a:custGeom>
              <a:avLst/>
              <a:gdLst/>
              <a:ahLst/>
              <a:cxnLst/>
              <a:rect l="l" t="t" r="r" b="b"/>
              <a:pathLst>
                <a:path w="5571490" h="6197600">
                  <a:moveTo>
                    <a:pt x="178478" y="0"/>
                  </a:moveTo>
                  <a:lnTo>
                    <a:pt x="131048" y="6385"/>
                  </a:lnTo>
                  <a:lnTo>
                    <a:pt x="88417" y="24397"/>
                  </a:lnTo>
                  <a:lnTo>
                    <a:pt x="52292" y="52324"/>
                  </a:lnTo>
                  <a:lnTo>
                    <a:pt x="24377" y="88452"/>
                  </a:lnTo>
                  <a:lnTo>
                    <a:pt x="6378" y="131067"/>
                  </a:lnTo>
                  <a:lnTo>
                    <a:pt x="0" y="178456"/>
                  </a:lnTo>
                  <a:lnTo>
                    <a:pt x="0" y="6018746"/>
                  </a:lnTo>
                  <a:lnTo>
                    <a:pt x="6378" y="6066135"/>
                  </a:lnTo>
                  <a:lnTo>
                    <a:pt x="24377" y="6108750"/>
                  </a:lnTo>
                  <a:lnTo>
                    <a:pt x="52292" y="6144878"/>
                  </a:lnTo>
                  <a:lnTo>
                    <a:pt x="88417" y="6172805"/>
                  </a:lnTo>
                  <a:lnTo>
                    <a:pt x="131048" y="6190818"/>
                  </a:lnTo>
                  <a:lnTo>
                    <a:pt x="178478" y="6197203"/>
                  </a:lnTo>
                  <a:lnTo>
                    <a:pt x="5098763" y="6197203"/>
                  </a:lnTo>
                  <a:lnTo>
                    <a:pt x="5146302" y="6190818"/>
                  </a:lnTo>
                  <a:lnTo>
                    <a:pt x="5189005" y="6172805"/>
                  </a:lnTo>
                  <a:lnTo>
                    <a:pt x="5225174" y="6144878"/>
                  </a:lnTo>
                  <a:lnTo>
                    <a:pt x="5253112" y="6108750"/>
                  </a:lnTo>
                  <a:lnTo>
                    <a:pt x="5271120" y="6066135"/>
                  </a:lnTo>
                  <a:lnTo>
                    <a:pt x="5277500" y="6018746"/>
                  </a:lnTo>
                  <a:lnTo>
                    <a:pt x="5277500" y="2144347"/>
                  </a:lnTo>
                  <a:lnTo>
                    <a:pt x="5571009" y="1957857"/>
                  </a:lnTo>
                  <a:lnTo>
                    <a:pt x="5277500" y="1771367"/>
                  </a:lnTo>
                  <a:lnTo>
                    <a:pt x="5277500" y="178456"/>
                  </a:lnTo>
                  <a:lnTo>
                    <a:pt x="5271120" y="131067"/>
                  </a:lnTo>
                  <a:lnTo>
                    <a:pt x="5253112" y="88452"/>
                  </a:lnTo>
                  <a:lnTo>
                    <a:pt x="5225174" y="52324"/>
                  </a:lnTo>
                  <a:lnTo>
                    <a:pt x="5189005" y="24397"/>
                  </a:lnTo>
                  <a:lnTo>
                    <a:pt x="5146302" y="6385"/>
                  </a:lnTo>
                  <a:lnTo>
                    <a:pt x="5098763" y="0"/>
                  </a:lnTo>
                  <a:lnTo>
                    <a:pt x="178478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lang="en-GB" noProof="0" dirty="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90910" y="889507"/>
            <a:ext cx="5283835" cy="51282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328930">
              <a:lnSpc>
                <a:spcPct val="100800"/>
              </a:lnSpc>
              <a:spcBef>
                <a:spcPts val="75"/>
              </a:spcBef>
            </a:pP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Hypertext</a:t>
            </a:r>
            <a:r>
              <a:rPr lang="en-GB" sz="2400" i="1" spc="-7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was</a:t>
            </a:r>
            <a:r>
              <a:rPr lang="en-GB" sz="2400" i="1" spc="-7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r>
              <a:rPr lang="en-GB" sz="2400" i="1" spc="-6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term</a:t>
            </a:r>
            <a:r>
              <a:rPr lang="en-GB" sz="2400" i="1" spc="-7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coined</a:t>
            </a:r>
            <a:r>
              <a:rPr lang="en-GB" sz="2400" i="1" spc="-7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by</a:t>
            </a:r>
            <a:r>
              <a:rPr lang="en-GB" sz="2400" i="1" spc="-6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spc="-25" noProof="0" dirty="0">
                <a:solidFill>
                  <a:srgbClr val="FFFFFF"/>
                </a:solidFill>
                <a:latin typeface="Georgia"/>
                <a:cs typeface="Georgia"/>
              </a:rPr>
              <a:t>Ted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Nelson</a:t>
            </a:r>
            <a:r>
              <a:rPr lang="en-GB" sz="2400" i="1" spc="-5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in</a:t>
            </a:r>
            <a:r>
              <a:rPr lang="en-GB" sz="2400" i="1" spc="-5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the</a:t>
            </a:r>
            <a:r>
              <a:rPr lang="en-GB" sz="2400" i="1" spc="-5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spc="-10" noProof="0" dirty="0">
                <a:solidFill>
                  <a:srgbClr val="FFFFFF"/>
                </a:solidFill>
                <a:latin typeface="Georgia"/>
                <a:cs typeface="Georgia"/>
              </a:rPr>
              <a:t>1960s.</a:t>
            </a:r>
            <a:endParaRPr lang="en-GB" sz="2400" noProof="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lang="en-GB" sz="2400" noProof="0" dirty="0">
              <a:latin typeface="Georgia"/>
              <a:cs typeface="Georgia"/>
            </a:endParaRPr>
          </a:p>
          <a:p>
            <a:pPr marL="12700" marR="66675">
              <a:lnSpc>
                <a:spcPct val="99800"/>
              </a:lnSpc>
            </a:pP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He</a:t>
            </a:r>
            <a:r>
              <a:rPr lang="en-GB" sz="2400" i="1" spc="-6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wanted</a:t>
            </a:r>
            <a:r>
              <a:rPr lang="en-GB" sz="2400" i="1" spc="-6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to</a:t>
            </a:r>
            <a:r>
              <a:rPr lang="en-GB" sz="2400" i="1" spc="-5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come</a:t>
            </a:r>
            <a:r>
              <a:rPr lang="en-GB" sz="2400" i="1" spc="-6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up</a:t>
            </a:r>
            <a:r>
              <a:rPr lang="en-GB" sz="2400" i="1" spc="-5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with</a:t>
            </a:r>
            <a:r>
              <a:rPr lang="en-GB" sz="2400" i="1" spc="-5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r>
              <a:rPr lang="en-GB" sz="2400" i="1" spc="-5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term</a:t>
            </a:r>
            <a:r>
              <a:rPr lang="en-GB" sz="2400" i="1" spc="-6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spc="-25" noProof="0" dirty="0">
                <a:solidFill>
                  <a:srgbClr val="FFFFFF"/>
                </a:solidFill>
                <a:latin typeface="Georgia"/>
                <a:cs typeface="Georgia"/>
              </a:rPr>
              <a:t>to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describe</a:t>
            </a:r>
            <a:r>
              <a:rPr lang="en-GB" sz="2400" i="1" spc="-9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the</a:t>
            </a:r>
            <a:r>
              <a:rPr lang="en-GB" sz="2400" i="1" spc="-8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(then</a:t>
            </a:r>
            <a:r>
              <a:rPr lang="en-GB" sz="2400" i="1" spc="-8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relatively</a:t>
            </a:r>
            <a:r>
              <a:rPr lang="en-GB" sz="2400" i="1" spc="-8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new)</a:t>
            </a:r>
            <a:r>
              <a:rPr lang="en-GB" sz="2400" i="1" spc="-7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spc="-20" noProof="0" dirty="0">
                <a:solidFill>
                  <a:srgbClr val="FFFFFF"/>
                </a:solidFill>
                <a:latin typeface="Georgia"/>
                <a:cs typeface="Georgia"/>
              </a:rPr>
              <a:t>idea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lang="en-GB" sz="2400" i="1" spc="-5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having</a:t>
            </a:r>
            <a:r>
              <a:rPr lang="en-GB" sz="2400" i="1" spc="-5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areas</a:t>
            </a:r>
            <a:r>
              <a:rPr lang="en-GB" sz="2400" i="1" spc="-5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lang="en-GB" sz="2400" i="1" spc="-5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text</a:t>
            </a:r>
            <a:r>
              <a:rPr lang="en-GB" sz="2400" i="1" spc="-5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that</a:t>
            </a:r>
            <a:r>
              <a:rPr lang="en-GB" sz="2400" i="1" spc="-6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spc="-10" noProof="0" dirty="0">
                <a:solidFill>
                  <a:srgbClr val="FFFFFF"/>
                </a:solidFill>
                <a:latin typeface="Georgia"/>
                <a:cs typeface="Georgia"/>
              </a:rPr>
              <a:t>could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branch</a:t>
            </a:r>
            <a:r>
              <a:rPr lang="en-GB" sz="2400" i="1" spc="-5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off</a:t>
            </a:r>
            <a:r>
              <a:rPr lang="en-GB" sz="2400" i="1" spc="-5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into</a:t>
            </a:r>
            <a:r>
              <a:rPr lang="en-GB" sz="2400" i="1" spc="-5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other</a:t>
            </a:r>
            <a:r>
              <a:rPr lang="en-GB" sz="2400" i="1" spc="-6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areas</a:t>
            </a:r>
            <a:r>
              <a:rPr lang="en-GB" sz="2400" i="1" spc="-6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-</a:t>
            </a:r>
            <a:r>
              <a:rPr lang="en-GB" sz="2400" i="1" spc="-5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links,</a:t>
            </a:r>
            <a:r>
              <a:rPr lang="en-GB" sz="2400" i="1" spc="-5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spc="-25" noProof="0" dirty="0">
                <a:solidFill>
                  <a:srgbClr val="FFFFFF"/>
                </a:solidFill>
                <a:latin typeface="Georgia"/>
                <a:cs typeface="Georgia"/>
              </a:rPr>
              <a:t>if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you</a:t>
            </a:r>
            <a:r>
              <a:rPr lang="en-GB" sz="2400" i="1" spc="-3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spc="-20" noProof="0" dirty="0">
                <a:solidFill>
                  <a:srgbClr val="FFFFFF"/>
                </a:solidFill>
                <a:latin typeface="Georgia"/>
                <a:cs typeface="Georgia"/>
              </a:rPr>
              <a:t>like.</a:t>
            </a:r>
            <a:endParaRPr lang="en-GB" sz="2400" noProof="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lang="en-GB" sz="2400" noProof="0" dirty="0">
              <a:latin typeface="Georgia"/>
              <a:cs typeface="Georgia"/>
            </a:endParaRPr>
          </a:p>
          <a:p>
            <a:pPr marL="12700" marR="5080">
              <a:lnSpc>
                <a:spcPct val="99800"/>
              </a:lnSpc>
              <a:spcBef>
                <a:spcPts val="5"/>
              </a:spcBef>
            </a:pP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Hypertext</a:t>
            </a:r>
            <a:r>
              <a:rPr lang="en-GB" sz="2400" i="1" spc="-10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has</a:t>
            </a:r>
            <a:r>
              <a:rPr lang="en-GB" sz="2400" i="1" spc="-9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generally</a:t>
            </a:r>
            <a:r>
              <a:rPr lang="en-GB" sz="2400" i="1" spc="-9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come</a:t>
            </a:r>
            <a:r>
              <a:rPr lang="en-GB" sz="2400" i="1" spc="-9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spc="-25" noProof="0" dirty="0">
                <a:solidFill>
                  <a:srgbClr val="FFFFFF"/>
                </a:solidFill>
                <a:latin typeface="Georgia"/>
                <a:cs typeface="Georgia"/>
              </a:rPr>
              <a:t>to </a:t>
            </a:r>
            <a:r>
              <a:rPr lang="en-GB" sz="2400" i="1" spc="-10" noProof="0" dirty="0">
                <a:solidFill>
                  <a:srgbClr val="FFFFFF"/>
                </a:solidFill>
                <a:latin typeface="Georgia"/>
                <a:cs typeface="Georgia"/>
              </a:rPr>
              <a:t>represent</a:t>
            </a:r>
            <a:r>
              <a:rPr lang="en-GB" sz="2400" i="1" spc="-6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any</a:t>
            </a:r>
            <a:r>
              <a:rPr lang="en-GB" sz="2400" i="1" spc="-5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text</a:t>
            </a:r>
            <a:r>
              <a:rPr lang="en-GB" sz="2400" i="1" spc="-6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that</a:t>
            </a:r>
            <a:r>
              <a:rPr lang="en-GB" sz="2400" i="1" spc="-5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spc="-10" noProof="0" dirty="0">
                <a:solidFill>
                  <a:srgbClr val="FFFFFF"/>
                </a:solidFill>
                <a:latin typeface="Georgia"/>
                <a:cs typeface="Georgia"/>
              </a:rPr>
              <a:t>branches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and/or</a:t>
            </a:r>
            <a:r>
              <a:rPr lang="en-GB" sz="2400" i="1" spc="-6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responds</a:t>
            </a:r>
            <a:r>
              <a:rPr lang="en-GB" sz="2400" i="1" spc="-6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to</a:t>
            </a:r>
            <a:r>
              <a:rPr lang="en-GB" sz="2400" i="1" spc="-5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the</a:t>
            </a:r>
            <a:r>
              <a:rPr lang="en-GB" sz="2400" i="1" spc="-6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user</a:t>
            </a:r>
            <a:r>
              <a:rPr lang="en-GB" sz="2400" i="1" spc="-6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-</a:t>
            </a:r>
            <a:r>
              <a:rPr lang="en-GB" sz="2400" i="1" spc="-5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we</a:t>
            </a:r>
            <a:r>
              <a:rPr lang="en-GB" sz="2400" i="1" spc="-6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spc="-20" noProof="0" dirty="0">
                <a:solidFill>
                  <a:srgbClr val="FFFFFF"/>
                </a:solidFill>
                <a:latin typeface="Georgia"/>
                <a:cs typeface="Georgia"/>
              </a:rPr>
              <a:t>know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it</a:t>
            </a:r>
            <a:r>
              <a:rPr lang="en-GB" sz="2400" i="1" spc="-6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mainly</a:t>
            </a:r>
            <a:r>
              <a:rPr lang="en-GB" sz="2400" i="1" spc="-5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through</a:t>
            </a:r>
            <a:r>
              <a:rPr lang="en-GB" sz="2400" i="1" spc="-4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its</a:t>
            </a:r>
            <a:r>
              <a:rPr lang="en-GB" sz="2400" i="1" spc="-6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use</a:t>
            </a:r>
            <a:r>
              <a:rPr lang="en-GB" sz="2400" i="1" spc="-5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on</a:t>
            </a:r>
            <a:r>
              <a:rPr lang="en-GB" sz="2400" i="1" spc="-5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spc="-25" noProof="0" dirty="0">
                <a:solidFill>
                  <a:srgbClr val="FFFFFF"/>
                </a:solidFill>
                <a:latin typeface="Georgia"/>
                <a:cs typeface="Georgia"/>
              </a:rPr>
              <a:t>the </a:t>
            </a:r>
            <a:r>
              <a:rPr lang="en-GB" sz="2400" i="1" spc="-10" noProof="0" dirty="0">
                <a:solidFill>
                  <a:srgbClr val="FFFFFF"/>
                </a:solidFill>
                <a:latin typeface="Georgia"/>
                <a:cs typeface="Georgia"/>
              </a:rPr>
              <a:t>Internet/WWW</a:t>
            </a:r>
            <a:endParaRPr lang="en-GB" sz="2400" noProof="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7999"/>
                </a:lnTo>
                <a:lnTo>
                  <a:pt x="9144000" y="6857999"/>
                </a:lnTo>
                <a:lnTo>
                  <a:pt x="9144000" y="0"/>
                </a:lnTo>
                <a:close/>
              </a:path>
            </a:pathLst>
          </a:custGeom>
          <a:solidFill>
            <a:srgbClr val="1110A8"/>
          </a:solidFill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grpSp>
        <p:nvGrp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49808" y="277367"/>
            <a:ext cx="6736080" cy="6438265"/>
            <a:chOff x="749808" y="277367"/>
            <a:chExt cx="6736080" cy="64382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14500" y="2428874"/>
              <a:ext cx="5715000" cy="42862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1144" y="277367"/>
              <a:ext cx="6675120" cy="56327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9808" y="862584"/>
              <a:ext cx="6736080" cy="454761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57250" y="366116"/>
              <a:ext cx="6393815" cy="5337175"/>
            </a:xfrm>
            <a:custGeom>
              <a:avLst/>
              <a:gdLst/>
              <a:ahLst/>
              <a:cxnLst/>
              <a:rect l="l" t="t" r="r" b="b"/>
              <a:pathLst>
                <a:path w="6393815" h="5337175">
                  <a:moveTo>
                    <a:pt x="6215166" y="0"/>
                  </a:moveTo>
                  <a:lnTo>
                    <a:pt x="178489" y="0"/>
                  </a:lnTo>
                  <a:lnTo>
                    <a:pt x="131042" y="6386"/>
                  </a:lnTo>
                  <a:lnTo>
                    <a:pt x="88406" y="24407"/>
                  </a:lnTo>
                  <a:lnTo>
                    <a:pt x="52281" y="52352"/>
                  </a:lnTo>
                  <a:lnTo>
                    <a:pt x="24370" y="88513"/>
                  </a:lnTo>
                  <a:lnTo>
                    <a:pt x="6376" y="131181"/>
                  </a:lnTo>
                  <a:lnTo>
                    <a:pt x="0" y="178647"/>
                  </a:lnTo>
                  <a:lnTo>
                    <a:pt x="0" y="4839769"/>
                  </a:lnTo>
                  <a:lnTo>
                    <a:pt x="6376" y="4887320"/>
                  </a:lnTo>
                  <a:lnTo>
                    <a:pt x="24370" y="4930012"/>
                  </a:lnTo>
                  <a:lnTo>
                    <a:pt x="52281" y="4966156"/>
                  </a:lnTo>
                  <a:lnTo>
                    <a:pt x="88406" y="4994064"/>
                  </a:lnTo>
                  <a:lnTo>
                    <a:pt x="131042" y="5012046"/>
                  </a:lnTo>
                  <a:lnTo>
                    <a:pt x="178489" y="5018416"/>
                  </a:lnTo>
                  <a:lnTo>
                    <a:pt x="3473590" y="5018416"/>
                  </a:lnTo>
                  <a:lnTo>
                    <a:pt x="3660071" y="5337162"/>
                  </a:lnTo>
                  <a:lnTo>
                    <a:pt x="3846553" y="5018416"/>
                  </a:lnTo>
                  <a:lnTo>
                    <a:pt x="6215166" y="5018416"/>
                  </a:lnTo>
                  <a:lnTo>
                    <a:pt x="6262613" y="5012046"/>
                  </a:lnTo>
                  <a:lnTo>
                    <a:pt x="6305249" y="4994064"/>
                  </a:lnTo>
                  <a:lnTo>
                    <a:pt x="6341374" y="4966156"/>
                  </a:lnTo>
                  <a:lnTo>
                    <a:pt x="6369285" y="4930012"/>
                  </a:lnTo>
                  <a:lnTo>
                    <a:pt x="6387279" y="4887320"/>
                  </a:lnTo>
                  <a:lnTo>
                    <a:pt x="6393656" y="4839769"/>
                  </a:lnTo>
                  <a:lnTo>
                    <a:pt x="6393656" y="178647"/>
                  </a:lnTo>
                  <a:lnTo>
                    <a:pt x="6387279" y="131181"/>
                  </a:lnTo>
                  <a:lnTo>
                    <a:pt x="6369285" y="88513"/>
                  </a:lnTo>
                  <a:lnTo>
                    <a:pt x="6341374" y="52352"/>
                  </a:lnTo>
                  <a:lnTo>
                    <a:pt x="6305249" y="24407"/>
                  </a:lnTo>
                  <a:lnTo>
                    <a:pt x="6262613" y="6386"/>
                  </a:lnTo>
                  <a:lnTo>
                    <a:pt x="6215166" y="0"/>
                  </a:lnTo>
                  <a:close/>
                </a:path>
              </a:pathLst>
            </a:custGeom>
            <a:solidFill>
              <a:srgbClr val="020719">
                <a:alpha val="45098"/>
              </a:srgbClr>
            </a:solidFill>
          </p:spPr>
          <p:txBody>
            <a:bodyPr wrap="square" lIns="0" tIns="0" rIns="0" bIns="0" rtlCol="0"/>
            <a:lstStyle/>
            <a:p>
              <a:endParaRPr lang="en-GB" noProof="0"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857250" y="366116"/>
              <a:ext cx="6393815" cy="5337175"/>
            </a:xfrm>
            <a:custGeom>
              <a:avLst/>
              <a:gdLst/>
              <a:ahLst/>
              <a:cxnLst/>
              <a:rect l="l" t="t" r="r" b="b"/>
              <a:pathLst>
                <a:path w="6393815" h="5337175">
                  <a:moveTo>
                    <a:pt x="178489" y="0"/>
                  </a:moveTo>
                  <a:lnTo>
                    <a:pt x="131042" y="6386"/>
                  </a:lnTo>
                  <a:lnTo>
                    <a:pt x="88406" y="24407"/>
                  </a:lnTo>
                  <a:lnTo>
                    <a:pt x="52281" y="52352"/>
                  </a:lnTo>
                  <a:lnTo>
                    <a:pt x="24370" y="88513"/>
                  </a:lnTo>
                  <a:lnTo>
                    <a:pt x="6376" y="131181"/>
                  </a:lnTo>
                  <a:lnTo>
                    <a:pt x="0" y="178646"/>
                  </a:lnTo>
                  <a:lnTo>
                    <a:pt x="0" y="4839769"/>
                  </a:lnTo>
                  <a:lnTo>
                    <a:pt x="6376" y="4887320"/>
                  </a:lnTo>
                  <a:lnTo>
                    <a:pt x="24370" y="4930012"/>
                  </a:lnTo>
                  <a:lnTo>
                    <a:pt x="52281" y="4966156"/>
                  </a:lnTo>
                  <a:lnTo>
                    <a:pt x="88406" y="4994063"/>
                  </a:lnTo>
                  <a:lnTo>
                    <a:pt x="131042" y="5012046"/>
                  </a:lnTo>
                  <a:lnTo>
                    <a:pt x="178489" y="5018416"/>
                  </a:lnTo>
                  <a:lnTo>
                    <a:pt x="3473590" y="5018416"/>
                  </a:lnTo>
                  <a:lnTo>
                    <a:pt x="3660072" y="5337163"/>
                  </a:lnTo>
                  <a:lnTo>
                    <a:pt x="3846554" y="5018416"/>
                  </a:lnTo>
                  <a:lnTo>
                    <a:pt x="6215166" y="5018416"/>
                  </a:lnTo>
                  <a:lnTo>
                    <a:pt x="6262612" y="5012046"/>
                  </a:lnTo>
                  <a:lnTo>
                    <a:pt x="6305249" y="4994063"/>
                  </a:lnTo>
                  <a:lnTo>
                    <a:pt x="6341374" y="4966156"/>
                  </a:lnTo>
                  <a:lnTo>
                    <a:pt x="6369285" y="4930012"/>
                  </a:lnTo>
                  <a:lnTo>
                    <a:pt x="6387279" y="4887320"/>
                  </a:lnTo>
                  <a:lnTo>
                    <a:pt x="6393656" y="4839769"/>
                  </a:lnTo>
                  <a:lnTo>
                    <a:pt x="6393656" y="178646"/>
                  </a:lnTo>
                  <a:lnTo>
                    <a:pt x="6387279" y="131181"/>
                  </a:lnTo>
                  <a:lnTo>
                    <a:pt x="6369285" y="88513"/>
                  </a:lnTo>
                  <a:lnTo>
                    <a:pt x="6341374" y="52352"/>
                  </a:lnTo>
                  <a:lnTo>
                    <a:pt x="6305249" y="24407"/>
                  </a:lnTo>
                  <a:lnTo>
                    <a:pt x="6262612" y="6386"/>
                  </a:lnTo>
                  <a:lnTo>
                    <a:pt x="6215166" y="0"/>
                  </a:lnTo>
                  <a:lnTo>
                    <a:pt x="178489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lang="en-GB" noProof="0" dirty="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96354" y="1005332"/>
            <a:ext cx="6066155" cy="403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4"/>
              </a:spcBef>
            </a:pP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Word</a:t>
            </a:r>
            <a:r>
              <a:rPr lang="en-GB" sz="2400" i="1" spc="-4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spc="-10" noProof="0" dirty="0">
                <a:solidFill>
                  <a:srgbClr val="FFFFFF"/>
                </a:solidFill>
                <a:latin typeface="Georgia"/>
                <a:cs typeface="Georgia"/>
              </a:rPr>
              <a:t>processors</a:t>
            </a:r>
            <a:r>
              <a:rPr lang="en-GB" sz="2400" i="1" spc="-4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used</a:t>
            </a:r>
            <a:r>
              <a:rPr lang="en-GB" sz="2400" i="1" spc="-4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to</a:t>
            </a:r>
            <a:r>
              <a:rPr lang="en-GB" sz="2400" i="1" spc="-3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run</a:t>
            </a:r>
            <a:r>
              <a:rPr lang="en-GB" sz="2400" i="1" spc="-3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in</a:t>
            </a:r>
            <a:r>
              <a:rPr lang="en-GB" sz="2400" i="1" spc="-3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r>
              <a:rPr lang="en-GB" sz="2400" i="1" spc="-3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purely</a:t>
            </a:r>
            <a:r>
              <a:rPr lang="en-GB" sz="2400" i="1" spc="-3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spc="-20" noProof="0" dirty="0">
                <a:solidFill>
                  <a:srgbClr val="FFFFFF"/>
                </a:solidFill>
                <a:latin typeface="Georgia"/>
                <a:cs typeface="Georgia"/>
              </a:rPr>
              <a:t>text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form.</a:t>
            </a:r>
            <a:r>
              <a:rPr lang="en-GB" sz="2400" i="1" spc="-7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There</a:t>
            </a:r>
            <a:r>
              <a:rPr lang="en-GB" sz="2400" i="1" spc="-7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were</a:t>
            </a:r>
            <a:r>
              <a:rPr lang="en-GB" sz="2400" i="1" spc="-7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no</a:t>
            </a:r>
            <a:r>
              <a:rPr lang="en-GB" sz="2400" i="1" spc="-7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menus</a:t>
            </a:r>
            <a:r>
              <a:rPr lang="en-GB" sz="2400" i="1" spc="-8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or</a:t>
            </a:r>
            <a:r>
              <a:rPr lang="en-GB" sz="2400" i="1" spc="-8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buttons</a:t>
            </a:r>
            <a:r>
              <a:rPr lang="en-GB" sz="2400" i="1" spc="-8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spc="-25" noProof="0" dirty="0">
                <a:solidFill>
                  <a:srgbClr val="FFFFFF"/>
                </a:solidFill>
                <a:latin typeface="Georgia"/>
                <a:cs typeface="Georgia"/>
              </a:rPr>
              <a:t>to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click</a:t>
            </a:r>
            <a:r>
              <a:rPr lang="en-GB" sz="2400" i="1" spc="-4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-</a:t>
            </a:r>
            <a:r>
              <a:rPr lang="en-GB" sz="2400" i="1" spc="-3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spc="-10" noProof="0" dirty="0">
                <a:solidFill>
                  <a:srgbClr val="FFFFFF"/>
                </a:solidFill>
                <a:latin typeface="Georgia"/>
                <a:cs typeface="Georgia"/>
              </a:rPr>
              <a:t>everything</a:t>
            </a:r>
            <a:r>
              <a:rPr lang="en-GB" sz="2400" i="1" spc="-3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had</a:t>
            </a:r>
            <a:r>
              <a:rPr lang="en-GB" sz="2400" i="1" spc="-3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to</a:t>
            </a:r>
            <a:r>
              <a:rPr lang="en-GB" sz="2400" i="1" spc="-3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be</a:t>
            </a:r>
            <a:r>
              <a:rPr lang="en-GB" sz="2400" i="1" spc="-4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done</a:t>
            </a:r>
            <a:r>
              <a:rPr lang="en-GB" sz="2400" i="1" spc="-4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via</a:t>
            </a:r>
            <a:r>
              <a:rPr lang="en-GB" sz="2400" i="1" spc="-3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spc="-25" noProof="0" dirty="0">
                <a:solidFill>
                  <a:srgbClr val="FFFFFF"/>
                </a:solidFill>
                <a:latin typeface="Georgia"/>
                <a:cs typeface="Georgia"/>
              </a:rPr>
              <a:t>the </a:t>
            </a:r>
            <a:r>
              <a:rPr lang="en-GB" sz="2400" i="1" spc="-10" noProof="0" dirty="0">
                <a:solidFill>
                  <a:srgbClr val="FFFFFF"/>
                </a:solidFill>
                <a:latin typeface="Georgia"/>
                <a:cs typeface="Georgia"/>
              </a:rPr>
              <a:t>keyboard.</a:t>
            </a:r>
            <a:endParaRPr lang="en-GB" sz="2400" noProof="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lang="en-GB" sz="2400" noProof="0" dirty="0">
              <a:latin typeface="Georgia"/>
              <a:cs typeface="Georgia"/>
            </a:endParaRPr>
          </a:p>
          <a:p>
            <a:pPr marL="12700" marR="128905">
              <a:lnSpc>
                <a:spcPct val="99300"/>
              </a:lnSpc>
            </a:pP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In</a:t>
            </a:r>
            <a:r>
              <a:rPr lang="en-GB" sz="2400" i="1" spc="-7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order</a:t>
            </a:r>
            <a:r>
              <a:rPr lang="en-GB" sz="2400" i="1" spc="-7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to</a:t>
            </a:r>
            <a:r>
              <a:rPr lang="en-GB" sz="2400" i="1" spc="-6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make</a:t>
            </a:r>
            <a:r>
              <a:rPr lang="en-GB" sz="2400" i="1" spc="-7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something</a:t>
            </a:r>
            <a:r>
              <a:rPr lang="en-GB" sz="2400" i="1" spc="-6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b="1" i="1" noProof="0" dirty="0">
                <a:solidFill>
                  <a:srgbClr val="FFFFFF"/>
                </a:solidFill>
                <a:latin typeface="Georgia"/>
                <a:cs typeface="Georgia"/>
              </a:rPr>
              <a:t>bold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,</a:t>
            </a:r>
            <a:r>
              <a:rPr lang="en-GB" sz="2400" i="1" spc="-6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spc="-25" noProof="0" dirty="0">
                <a:solidFill>
                  <a:srgbClr val="FFFFFF"/>
                </a:solidFill>
                <a:latin typeface="Georgia"/>
                <a:cs typeface="Georgia"/>
              </a:rPr>
              <a:t>for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example,</a:t>
            </a:r>
            <a:r>
              <a:rPr lang="en-GB" sz="2400" i="1" spc="-7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you</a:t>
            </a:r>
            <a:r>
              <a:rPr lang="en-GB" sz="2400" i="1" spc="-7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had</a:t>
            </a:r>
            <a:r>
              <a:rPr lang="en-GB" sz="2400" i="1" spc="-7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to</a:t>
            </a:r>
            <a:r>
              <a:rPr lang="en-GB" sz="2400" i="1" spc="-7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insert</a:t>
            </a:r>
            <a:r>
              <a:rPr lang="en-GB" sz="2400" i="1" spc="-7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special</a:t>
            </a:r>
            <a:r>
              <a:rPr lang="en-GB" sz="2400" i="1" spc="-6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spc="-10" noProof="0" dirty="0">
                <a:solidFill>
                  <a:srgbClr val="FFFFFF"/>
                </a:solidFill>
                <a:latin typeface="Georgia"/>
                <a:cs typeface="Georgia"/>
              </a:rPr>
              <a:t>codes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around</a:t>
            </a:r>
            <a:r>
              <a:rPr lang="en-GB" sz="2400" i="1" spc="-5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the</a:t>
            </a:r>
            <a:r>
              <a:rPr lang="en-GB" sz="2400" i="1" spc="-6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word(s)</a:t>
            </a:r>
            <a:r>
              <a:rPr lang="en-GB" sz="2400" i="1" spc="-5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you</a:t>
            </a:r>
            <a:r>
              <a:rPr lang="en-GB" sz="2400" i="1" spc="-5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wanted</a:t>
            </a:r>
            <a:r>
              <a:rPr lang="en-GB" sz="2400" i="1" spc="-5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to</a:t>
            </a:r>
            <a:r>
              <a:rPr lang="en-GB" sz="2400" i="1" spc="-5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be</a:t>
            </a:r>
            <a:r>
              <a:rPr lang="en-GB" sz="2400" i="1" spc="-6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bold</a:t>
            </a:r>
            <a:r>
              <a:rPr lang="en-GB" sz="2400" i="1" spc="-50" noProof="0" dirty="0">
                <a:solidFill>
                  <a:srgbClr val="FFFFFF"/>
                </a:solidFill>
                <a:latin typeface="Georgia"/>
                <a:cs typeface="Georgia"/>
              </a:rPr>
              <a:t> -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the</a:t>
            </a:r>
            <a:r>
              <a:rPr lang="en-GB" sz="2400" i="1" spc="-8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word</a:t>
            </a:r>
            <a:r>
              <a:rPr lang="en-GB" sz="2400" i="1" spc="-7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processor</a:t>
            </a:r>
            <a:r>
              <a:rPr lang="en-GB" sz="2400" i="1" spc="-7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then</a:t>
            </a:r>
            <a:r>
              <a:rPr lang="en-GB" sz="2400" i="1" spc="-7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knew</a:t>
            </a:r>
            <a:r>
              <a:rPr lang="en-GB" sz="2400" i="1" spc="-7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how</a:t>
            </a:r>
            <a:r>
              <a:rPr lang="en-GB" sz="2400" i="1" spc="-8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spc="-25" noProof="0" dirty="0">
                <a:solidFill>
                  <a:srgbClr val="FFFFFF"/>
                </a:solidFill>
                <a:latin typeface="Georgia"/>
                <a:cs typeface="Georgia"/>
              </a:rPr>
              <a:t>to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process</a:t>
            </a:r>
            <a:r>
              <a:rPr lang="en-GB" sz="2400" i="1" spc="-7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the</a:t>
            </a:r>
            <a:r>
              <a:rPr lang="en-GB" sz="2400" i="1" spc="-6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text</a:t>
            </a:r>
            <a:r>
              <a:rPr lang="en-GB" sz="2400" i="1" spc="-6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to</a:t>
            </a:r>
            <a:r>
              <a:rPr lang="en-GB" sz="2400" i="1" spc="-6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make</a:t>
            </a:r>
            <a:r>
              <a:rPr lang="en-GB" sz="2400" i="1" spc="-6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it</a:t>
            </a:r>
            <a:r>
              <a:rPr lang="en-GB" sz="2400" i="1" spc="-6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appear</a:t>
            </a:r>
            <a:r>
              <a:rPr lang="en-GB" sz="2400" i="1" spc="-6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how</a:t>
            </a:r>
            <a:r>
              <a:rPr lang="en-GB" sz="2400" i="1" spc="-7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spc="-25" noProof="0" dirty="0">
                <a:solidFill>
                  <a:srgbClr val="FFFFFF"/>
                </a:solidFill>
                <a:latin typeface="Georgia"/>
                <a:cs typeface="Georgia"/>
              </a:rPr>
              <a:t>you </a:t>
            </a:r>
            <a:r>
              <a:rPr lang="en-GB" sz="2400" i="1" spc="-10" noProof="0" dirty="0">
                <a:solidFill>
                  <a:srgbClr val="FFFFFF"/>
                </a:solidFill>
                <a:latin typeface="Georgia"/>
                <a:cs typeface="Georgia"/>
              </a:rPr>
              <a:t>wanted.</a:t>
            </a:r>
            <a:endParaRPr lang="en-GB" sz="2400" noProof="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596900"/>
            <a:ext cx="10052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3000" spc="-30" noProof="0" dirty="0"/>
              <a:t>HTML</a:t>
            </a:r>
            <a:endParaRPr lang="en-GB" sz="3000" noProof="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marR="5080">
              <a:lnSpc>
                <a:spcPct val="149300"/>
              </a:lnSpc>
              <a:spcBef>
                <a:spcPts val="100"/>
              </a:spcBef>
            </a:pPr>
            <a:r>
              <a:rPr lang="en-GB" sz="2800" noProof="0" dirty="0"/>
              <a:t>So,</a:t>
            </a:r>
            <a:r>
              <a:rPr lang="en-GB" sz="2800" spc="-55" noProof="0" dirty="0"/>
              <a:t> </a:t>
            </a:r>
            <a:r>
              <a:rPr lang="en-GB" sz="2800" noProof="0" dirty="0"/>
              <a:t>HTML</a:t>
            </a:r>
            <a:r>
              <a:rPr lang="en-GB" sz="2800" spc="-55" noProof="0" dirty="0"/>
              <a:t> </a:t>
            </a:r>
            <a:r>
              <a:rPr lang="en-GB" sz="2800" noProof="0" dirty="0"/>
              <a:t>is</a:t>
            </a:r>
            <a:r>
              <a:rPr lang="en-GB" sz="2800" spc="-50" noProof="0" dirty="0"/>
              <a:t> </a:t>
            </a:r>
            <a:r>
              <a:rPr lang="en-GB" sz="2800" noProof="0" dirty="0"/>
              <a:t>a</a:t>
            </a:r>
            <a:r>
              <a:rPr lang="en-GB" sz="2800" spc="-55" noProof="0" dirty="0"/>
              <a:t> </a:t>
            </a:r>
            <a:r>
              <a:rPr lang="en-GB" sz="2800" noProof="0" dirty="0"/>
              <a:t>combination</a:t>
            </a:r>
            <a:r>
              <a:rPr lang="en-GB" sz="2800" spc="-55" noProof="0" dirty="0"/>
              <a:t> </a:t>
            </a:r>
            <a:r>
              <a:rPr lang="en-GB" sz="2800" noProof="0" dirty="0"/>
              <a:t>of</a:t>
            </a:r>
            <a:r>
              <a:rPr lang="en-GB" sz="2800" spc="-55" noProof="0" dirty="0"/>
              <a:t> </a:t>
            </a:r>
            <a:r>
              <a:rPr lang="en-GB" sz="2800" noProof="0" dirty="0"/>
              <a:t>approaches</a:t>
            </a:r>
            <a:r>
              <a:rPr lang="en-GB" sz="2800" spc="-45" noProof="0" dirty="0"/>
              <a:t> </a:t>
            </a:r>
            <a:r>
              <a:rPr lang="en-GB" sz="2800" noProof="0" dirty="0"/>
              <a:t>that</a:t>
            </a:r>
            <a:r>
              <a:rPr lang="en-GB" sz="2800" spc="-55" noProof="0" dirty="0"/>
              <a:t> </a:t>
            </a:r>
            <a:r>
              <a:rPr lang="en-GB" sz="2800" spc="-10" noProof="0" dirty="0"/>
              <a:t>gives </a:t>
            </a:r>
            <a:r>
              <a:rPr lang="en-GB" sz="2800" noProof="0" dirty="0"/>
              <a:t>us</a:t>
            </a:r>
            <a:r>
              <a:rPr lang="en-GB" sz="2800" spc="-30" noProof="0" dirty="0"/>
              <a:t> </a:t>
            </a:r>
            <a:r>
              <a:rPr lang="en-GB" sz="2800" noProof="0" dirty="0"/>
              <a:t>the</a:t>
            </a:r>
            <a:r>
              <a:rPr lang="en-GB" sz="2800" spc="-35" noProof="0" dirty="0"/>
              <a:t> </a:t>
            </a:r>
            <a:r>
              <a:rPr lang="en-GB" sz="2800" noProof="0" dirty="0"/>
              <a:t>ability</a:t>
            </a:r>
            <a:r>
              <a:rPr lang="en-GB" sz="2800" spc="-25" noProof="0" dirty="0"/>
              <a:t> to:</a:t>
            </a:r>
            <a:endParaRPr lang="en-GB" sz="2800" noProof="0" dirty="0"/>
          </a:p>
          <a:p>
            <a:pPr marL="3175">
              <a:lnSpc>
                <a:spcPct val="100000"/>
              </a:lnSpc>
              <a:spcBef>
                <a:spcPts val="2325"/>
              </a:spcBef>
            </a:pPr>
            <a:r>
              <a:rPr lang="en-GB" sz="2800" noProof="0" dirty="0"/>
              <a:t>Describe</a:t>
            </a:r>
            <a:r>
              <a:rPr lang="en-GB" sz="2800" spc="-50" noProof="0" dirty="0"/>
              <a:t> </a:t>
            </a:r>
            <a:r>
              <a:rPr lang="en-GB" sz="2800" noProof="0" dirty="0"/>
              <a:t>the</a:t>
            </a:r>
            <a:r>
              <a:rPr lang="en-GB" sz="2800" spc="-50" noProof="0" dirty="0"/>
              <a:t> </a:t>
            </a:r>
            <a:r>
              <a:rPr lang="en-GB" sz="2800" noProof="0" dirty="0"/>
              <a:t>structure</a:t>
            </a:r>
            <a:r>
              <a:rPr lang="en-GB" sz="2800" spc="-50" noProof="0" dirty="0"/>
              <a:t> </a:t>
            </a:r>
            <a:r>
              <a:rPr lang="en-GB" sz="2800" noProof="0" dirty="0"/>
              <a:t>of</a:t>
            </a:r>
            <a:r>
              <a:rPr lang="en-GB" sz="2800" spc="-45" noProof="0" dirty="0"/>
              <a:t> </a:t>
            </a:r>
            <a:r>
              <a:rPr lang="en-GB" sz="2800" spc="-10" noProof="0" dirty="0"/>
              <a:t>pages/text.</a:t>
            </a:r>
            <a:endParaRPr lang="en-GB" sz="2800" noProof="0" dirty="0"/>
          </a:p>
          <a:p>
            <a:pPr marL="3175" marR="263525">
              <a:lnSpc>
                <a:spcPct val="151400"/>
              </a:lnSpc>
              <a:spcBef>
                <a:spcPts val="625"/>
              </a:spcBef>
            </a:pPr>
            <a:r>
              <a:rPr lang="en-GB" sz="2800" noProof="0" dirty="0"/>
              <a:t>Link</a:t>
            </a:r>
            <a:r>
              <a:rPr lang="en-GB" sz="2800" spc="-45" noProof="0" dirty="0"/>
              <a:t> </a:t>
            </a:r>
            <a:r>
              <a:rPr lang="en-GB" sz="2800" noProof="0" dirty="0"/>
              <a:t>to</a:t>
            </a:r>
            <a:r>
              <a:rPr lang="en-GB" sz="2800" spc="-40" noProof="0" dirty="0"/>
              <a:t> </a:t>
            </a:r>
            <a:r>
              <a:rPr lang="en-GB" sz="2800" noProof="0" dirty="0"/>
              <a:t>and</a:t>
            </a:r>
            <a:r>
              <a:rPr lang="en-GB" sz="2800" spc="-40" noProof="0" dirty="0"/>
              <a:t> </a:t>
            </a:r>
            <a:r>
              <a:rPr lang="en-GB" sz="2800" noProof="0" dirty="0"/>
              <a:t>from</a:t>
            </a:r>
            <a:r>
              <a:rPr lang="en-GB" sz="2800" spc="-40" noProof="0" dirty="0"/>
              <a:t> </a:t>
            </a:r>
            <a:r>
              <a:rPr lang="en-GB" sz="2800" noProof="0" dirty="0"/>
              <a:t>other</a:t>
            </a:r>
            <a:r>
              <a:rPr lang="en-GB" sz="2800" spc="-40" noProof="0" dirty="0"/>
              <a:t> </a:t>
            </a:r>
            <a:r>
              <a:rPr lang="en-GB" sz="2800" noProof="0" dirty="0"/>
              <a:t>documents</a:t>
            </a:r>
            <a:r>
              <a:rPr lang="en-GB" sz="2800" spc="-40" noProof="0" dirty="0"/>
              <a:t> </a:t>
            </a:r>
            <a:r>
              <a:rPr lang="en-GB" sz="2800" noProof="0" dirty="0"/>
              <a:t>using</a:t>
            </a:r>
            <a:r>
              <a:rPr lang="en-GB" sz="2800" spc="-40" noProof="0" dirty="0"/>
              <a:t> </a:t>
            </a:r>
            <a:r>
              <a:rPr lang="en-GB" sz="2800" noProof="0" dirty="0"/>
              <a:t>the</a:t>
            </a:r>
            <a:r>
              <a:rPr lang="en-GB" sz="2800" spc="-50" noProof="0" dirty="0"/>
              <a:t> </a:t>
            </a:r>
            <a:r>
              <a:rPr lang="en-GB" sz="2800" noProof="0" dirty="0"/>
              <a:t>text</a:t>
            </a:r>
            <a:r>
              <a:rPr lang="en-GB" sz="2800" spc="-50" noProof="0" dirty="0"/>
              <a:t> </a:t>
            </a:r>
            <a:r>
              <a:rPr lang="en-GB" sz="2800" spc="-25" noProof="0" dirty="0"/>
              <a:t>of </a:t>
            </a:r>
            <a:r>
              <a:rPr lang="en-GB" sz="2800" noProof="0" dirty="0"/>
              <a:t>the</a:t>
            </a:r>
            <a:r>
              <a:rPr lang="en-GB" sz="2800" spc="-45" noProof="0" dirty="0"/>
              <a:t> </a:t>
            </a:r>
            <a:r>
              <a:rPr lang="en-GB" sz="2800" noProof="0" dirty="0"/>
              <a:t>page</a:t>
            </a:r>
            <a:r>
              <a:rPr lang="en-GB" sz="2800" spc="-40" noProof="0" dirty="0"/>
              <a:t> </a:t>
            </a:r>
            <a:r>
              <a:rPr lang="en-GB" sz="2800" spc="-10" noProof="0" dirty="0"/>
              <a:t>itself.</a:t>
            </a:r>
            <a:endParaRPr lang="en-GB" sz="28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545083"/>
            <a:ext cx="6811645" cy="57404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1270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 Neue Light"/>
                <a:cs typeface="Helvetica Neue Light"/>
              </a:rPr>
              <a:t>Why</a:t>
            </a:r>
            <a:r>
              <a:rPr kumimoji="0" lang="en-GB" sz="36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 Neue Light"/>
                <a:cs typeface="Helvetica Neue Light"/>
              </a:rPr>
              <a:t> </a:t>
            </a:r>
            <a:r>
              <a:rPr kumimoji="0" lang="en-GB" sz="3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 Neue Light"/>
                <a:cs typeface="Helvetica Neue Light"/>
              </a:rPr>
              <a:t>use</a:t>
            </a:r>
            <a:r>
              <a:rPr kumimoji="0" lang="en-GB" sz="36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 Neue Light"/>
                <a:cs typeface="Helvetica Neue Light"/>
              </a:rPr>
              <a:t> </a:t>
            </a:r>
            <a:r>
              <a:rPr kumimoji="0" lang="en-GB" sz="3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 Neue Light"/>
                <a:cs typeface="Helvetica Neue Light"/>
              </a:rPr>
              <a:t>HTML</a:t>
            </a:r>
            <a:r>
              <a:rPr kumimoji="0" lang="en-GB" sz="36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 Neue Light"/>
                <a:cs typeface="Helvetica Neue Light"/>
              </a:rPr>
              <a:t> </a:t>
            </a:r>
            <a:r>
              <a:rPr kumimoji="0" lang="en-GB" sz="3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 Neue Light"/>
                <a:cs typeface="Helvetica Neue Light"/>
              </a:rPr>
              <a:t>for</a:t>
            </a:r>
            <a:r>
              <a:rPr kumimoji="0" lang="en-GB" sz="36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 Neue Light"/>
                <a:cs typeface="Helvetica Neue Light"/>
              </a:rPr>
              <a:t> </a:t>
            </a:r>
            <a:r>
              <a:rPr kumimoji="0" lang="en-GB" sz="3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 Neue Light"/>
                <a:cs typeface="Helvetica Neue Light"/>
              </a:rPr>
              <a:t>screen</a:t>
            </a:r>
            <a:r>
              <a:rPr kumimoji="0" lang="en-GB" sz="36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 Neue Light"/>
                <a:cs typeface="Helvetica Neue Light"/>
              </a:rPr>
              <a:t> </a:t>
            </a:r>
            <a:r>
              <a:rPr kumimoji="0" lang="en-GB" sz="3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 Neue Light"/>
                <a:cs typeface="Helvetica Neue Light"/>
              </a:rPr>
              <a:t>design?</a:t>
            </a:r>
            <a:endParaRPr kumimoji="0" lang="en-GB" sz="3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 Neue Light"/>
              <a:cs typeface="Helvetica Neue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32635"/>
            <a:ext cx="7522209" cy="1653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8300"/>
              </a:lnSpc>
              <a:spcBef>
                <a:spcPts val="100"/>
              </a:spcBef>
              <a:tabLst>
                <a:tab pos="2077720" algn="l"/>
              </a:tabLst>
            </a:pPr>
            <a:r>
              <a:rPr lang="en-GB" sz="3600" spc="-10" noProof="0" dirty="0">
                <a:latin typeface="Helvetica Neue Light"/>
                <a:cs typeface="Helvetica Neue Light"/>
              </a:rPr>
              <a:t>Designing</a:t>
            </a:r>
            <a:r>
              <a:rPr lang="en-GB" sz="3600" noProof="0" dirty="0">
                <a:latin typeface="Helvetica Neue Light"/>
                <a:cs typeface="Helvetica Neue Light"/>
              </a:rPr>
              <a:t>	content</a:t>
            </a:r>
            <a:r>
              <a:rPr lang="en-GB" sz="3600" spc="-70" noProof="0" dirty="0">
                <a:latin typeface="Helvetica Neue Light"/>
                <a:cs typeface="Helvetica Neue Light"/>
              </a:rPr>
              <a:t> </a:t>
            </a:r>
            <a:r>
              <a:rPr lang="en-GB" sz="3600" noProof="0" dirty="0">
                <a:latin typeface="Helvetica Neue Light"/>
                <a:cs typeface="Helvetica Neue Light"/>
              </a:rPr>
              <a:t>for</a:t>
            </a:r>
            <a:r>
              <a:rPr lang="en-GB" sz="3600" spc="-65" noProof="0" dirty="0">
                <a:latin typeface="Helvetica Neue Light"/>
                <a:cs typeface="Helvetica Neue Light"/>
              </a:rPr>
              <a:t> </a:t>
            </a:r>
            <a:r>
              <a:rPr lang="en-GB" sz="3600" noProof="0" dirty="0">
                <a:latin typeface="Helvetica Neue Light"/>
                <a:cs typeface="Helvetica Neue Light"/>
              </a:rPr>
              <a:t>the</a:t>
            </a:r>
            <a:r>
              <a:rPr lang="en-GB" sz="3600" spc="-75" noProof="0" dirty="0">
                <a:latin typeface="Helvetica Neue Light"/>
                <a:cs typeface="Helvetica Neue Light"/>
              </a:rPr>
              <a:t> </a:t>
            </a:r>
            <a:r>
              <a:rPr lang="en-GB" sz="3600" noProof="0" dirty="0">
                <a:latin typeface="Helvetica Neue Light"/>
                <a:cs typeface="Helvetica Neue Light"/>
              </a:rPr>
              <a:t>screen</a:t>
            </a:r>
            <a:r>
              <a:rPr lang="en-GB" sz="3600" spc="-65" noProof="0" dirty="0">
                <a:latin typeface="Helvetica Neue Light"/>
                <a:cs typeface="Helvetica Neue Light"/>
              </a:rPr>
              <a:t> </a:t>
            </a:r>
            <a:r>
              <a:rPr lang="en-GB" sz="3600" spc="-25" noProof="0" dirty="0">
                <a:latin typeface="Helvetica Neue Light"/>
                <a:cs typeface="Helvetica Neue Light"/>
              </a:rPr>
              <a:t>can </a:t>
            </a:r>
            <a:r>
              <a:rPr lang="en-GB" sz="3600" noProof="0" dirty="0">
                <a:latin typeface="Helvetica Neue Light"/>
                <a:cs typeface="Helvetica Neue Light"/>
              </a:rPr>
              <a:t>become</a:t>
            </a:r>
            <a:r>
              <a:rPr lang="en-GB" sz="3600" spc="-60" noProof="0" dirty="0">
                <a:latin typeface="Helvetica Neue Light"/>
                <a:cs typeface="Helvetica Neue Light"/>
              </a:rPr>
              <a:t> </a:t>
            </a:r>
            <a:r>
              <a:rPr lang="en-GB" sz="3600" noProof="0" dirty="0">
                <a:latin typeface="Helvetica Neue Light"/>
                <a:cs typeface="Helvetica Neue Light"/>
              </a:rPr>
              <a:t>very</a:t>
            </a:r>
            <a:r>
              <a:rPr lang="en-GB" sz="3600" spc="-50" noProof="0" dirty="0">
                <a:latin typeface="Helvetica Neue Light"/>
                <a:cs typeface="Helvetica Neue Light"/>
              </a:rPr>
              <a:t> </a:t>
            </a:r>
            <a:r>
              <a:rPr lang="en-GB" sz="3600" noProof="0" dirty="0">
                <a:latin typeface="Helvetica Neue Light"/>
                <a:cs typeface="Helvetica Neue Light"/>
              </a:rPr>
              <a:t>technical</a:t>
            </a:r>
            <a:r>
              <a:rPr lang="en-GB" sz="3600" spc="-40" noProof="0" dirty="0">
                <a:latin typeface="Helvetica Neue Light"/>
                <a:cs typeface="Helvetica Neue Light"/>
              </a:rPr>
              <a:t> </a:t>
            </a:r>
            <a:r>
              <a:rPr lang="en-GB" sz="3600" noProof="0" dirty="0">
                <a:latin typeface="Helvetica Neue Light"/>
                <a:cs typeface="Helvetica Neue Light"/>
              </a:rPr>
              <a:t>-</a:t>
            </a:r>
            <a:r>
              <a:rPr lang="en-GB" sz="3600" spc="-45" noProof="0" dirty="0">
                <a:latin typeface="Helvetica Neue Light"/>
                <a:cs typeface="Helvetica Neue Light"/>
              </a:rPr>
              <a:t> </a:t>
            </a:r>
            <a:r>
              <a:rPr lang="en-GB" sz="3600" noProof="0" dirty="0">
                <a:latin typeface="Helvetica Neue Light"/>
                <a:cs typeface="Helvetica Neue Light"/>
              </a:rPr>
              <a:t>for</a:t>
            </a:r>
            <a:r>
              <a:rPr lang="en-GB" sz="3600" spc="-45" noProof="0" dirty="0">
                <a:latin typeface="Helvetica Neue Light"/>
                <a:cs typeface="Helvetica Neue Light"/>
              </a:rPr>
              <a:t> </a:t>
            </a:r>
            <a:r>
              <a:rPr lang="en-GB" sz="3600" spc="-10" noProof="0" dirty="0">
                <a:latin typeface="Helvetica Neue Light"/>
                <a:cs typeface="Helvetica Neue Light"/>
              </a:rPr>
              <a:t>instance...</a:t>
            </a:r>
            <a:endParaRPr lang="en-GB" sz="3600" noProof="0" dirty="0">
              <a:latin typeface="Helvetica Neue Light"/>
              <a:cs typeface="Helvetica Neue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36575"/>
            <a:ext cx="9131935" cy="6821805"/>
            <a:chOff x="0" y="36575"/>
            <a:chExt cx="9131935" cy="68218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446609"/>
              <a:ext cx="5751300" cy="541138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17064" y="36575"/>
              <a:ext cx="6681216" cy="64190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35351" y="1316736"/>
              <a:ext cx="6696456" cy="394411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517569" y="125016"/>
              <a:ext cx="6385560" cy="6134735"/>
            </a:xfrm>
            <a:custGeom>
              <a:avLst/>
              <a:gdLst/>
              <a:ahLst/>
              <a:cxnLst/>
              <a:rect l="l" t="t" r="r" b="b"/>
              <a:pathLst>
                <a:path w="6385559" h="6134735">
                  <a:moveTo>
                    <a:pt x="6216235" y="0"/>
                  </a:moveTo>
                  <a:lnTo>
                    <a:pt x="504322" y="0"/>
                  </a:lnTo>
                  <a:lnTo>
                    <a:pt x="459360" y="6388"/>
                  </a:lnTo>
                  <a:lnTo>
                    <a:pt x="418965" y="24414"/>
                  </a:lnTo>
                  <a:lnTo>
                    <a:pt x="384745" y="52364"/>
                  </a:lnTo>
                  <a:lnTo>
                    <a:pt x="358309" y="88527"/>
                  </a:lnTo>
                  <a:lnTo>
                    <a:pt x="341267" y="131191"/>
                  </a:lnTo>
                  <a:lnTo>
                    <a:pt x="335229" y="178644"/>
                  </a:lnTo>
                  <a:lnTo>
                    <a:pt x="335229" y="4162503"/>
                  </a:lnTo>
                  <a:lnTo>
                    <a:pt x="0" y="4349101"/>
                  </a:lnTo>
                  <a:lnTo>
                    <a:pt x="335229" y="4535129"/>
                  </a:lnTo>
                  <a:lnTo>
                    <a:pt x="335229" y="5956050"/>
                  </a:lnTo>
                  <a:lnTo>
                    <a:pt x="341267" y="6003502"/>
                  </a:lnTo>
                  <a:lnTo>
                    <a:pt x="358309" y="6046166"/>
                  </a:lnTo>
                  <a:lnTo>
                    <a:pt x="384745" y="6082329"/>
                  </a:lnTo>
                  <a:lnTo>
                    <a:pt x="418965" y="6110279"/>
                  </a:lnTo>
                  <a:lnTo>
                    <a:pt x="459360" y="6128305"/>
                  </a:lnTo>
                  <a:lnTo>
                    <a:pt x="504322" y="6134694"/>
                  </a:lnTo>
                  <a:lnTo>
                    <a:pt x="6216235" y="6134694"/>
                  </a:lnTo>
                  <a:lnTo>
                    <a:pt x="6261197" y="6128305"/>
                  </a:lnTo>
                  <a:lnTo>
                    <a:pt x="6301592" y="6110279"/>
                  </a:lnTo>
                  <a:lnTo>
                    <a:pt x="6335812" y="6082329"/>
                  </a:lnTo>
                  <a:lnTo>
                    <a:pt x="6362248" y="6046166"/>
                  </a:lnTo>
                  <a:lnTo>
                    <a:pt x="6379290" y="6003502"/>
                  </a:lnTo>
                  <a:lnTo>
                    <a:pt x="6385328" y="5956050"/>
                  </a:lnTo>
                  <a:lnTo>
                    <a:pt x="6385328" y="178644"/>
                  </a:lnTo>
                  <a:lnTo>
                    <a:pt x="6379290" y="131191"/>
                  </a:lnTo>
                  <a:lnTo>
                    <a:pt x="6362248" y="88527"/>
                  </a:lnTo>
                  <a:lnTo>
                    <a:pt x="6335812" y="52364"/>
                  </a:lnTo>
                  <a:lnTo>
                    <a:pt x="6301592" y="24414"/>
                  </a:lnTo>
                  <a:lnTo>
                    <a:pt x="6261197" y="6388"/>
                  </a:lnTo>
                  <a:lnTo>
                    <a:pt x="6216235" y="0"/>
                  </a:lnTo>
                  <a:close/>
                </a:path>
              </a:pathLst>
            </a:custGeom>
            <a:solidFill>
              <a:srgbClr val="020719">
                <a:alpha val="45098"/>
              </a:srgbClr>
            </a:solidFill>
          </p:spPr>
          <p:txBody>
            <a:bodyPr wrap="square" lIns="0" tIns="0" rIns="0" bIns="0" rtlCol="0"/>
            <a:lstStyle/>
            <a:p>
              <a:endParaRPr lang="en-GB" noProof="0"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2517569" y="125016"/>
              <a:ext cx="6385560" cy="6134735"/>
            </a:xfrm>
            <a:custGeom>
              <a:avLst/>
              <a:gdLst/>
              <a:ahLst/>
              <a:cxnLst/>
              <a:rect l="l" t="t" r="r" b="b"/>
              <a:pathLst>
                <a:path w="6385559" h="6134735">
                  <a:moveTo>
                    <a:pt x="504322" y="0"/>
                  </a:moveTo>
                  <a:lnTo>
                    <a:pt x="459361" y="6388"/>
                  </a:lnTo>
                  <a:lnTo>
                    <a:pt x="418966" y="24414"/>
                  </a:lnTo>
                  <a:lnTo>
                    <a:pt x="384745" y="52365"/>
                  </a:lnTo>
                  <a:lnTo>
                    <a:pt x="358309" y="88528"/>
                  </a:lnTo>
                  <a:lnTo>
                    <a:pt x="341268" y="131191"/>
                  </a:lnTo>
                  <a:lnTo>
                    <a:pt x="335229" y="178644"/>
                  </a:lnTo>
                  <a:lnTo>
                    <a:pt x="335229" y="4162504"/>
                  </a:lnTo>
                  <a:lnTo>
                    <a:pt x="0" y="4349101"/>
                  </a:lnTo>
                  <a:lnTo>
                    <a:pt x="335229" y="4535130"/>
                  </a:lnTo>
                  <a:lnTo>
                    <a:pt x="335229" y="5956050"/>
                  </a:lnTo>
                  <a:lnTo>
                    <a:pt x="341268" y="6003502"/>
                  </a:lnTo>
                  <a:lnTo>
                    <a:pt x="358309" y="6046166"/>
                  </a:lnTo>
                  <a:lnTo>
                    <a:pt x="384745" y="6082329"/>
                  </a:lnTo>
                  <a:lnTo>
                    <a:pt x="418966" y="6110280"/>
                  </a:lnTo>
                  <a:lnTo>
                    <a:pt x="459361" y="6128306"/>
                  </a:lnTo>
                  <a:lnTo>
                    <a:pt x="504322" y="6134695"/>
                  </a:lnTo>
                  <a:lnTo>
                    <a:pt x="6216237" y="6134695"/>
                  </a:lnTo>
                  <a:lnTo>
                    <a:pt x="6261198" y="6128306"/>
                  </a:lnTo>
                  <a:lnTo>
                    <a:pt x="6301593" y="6110280"/>
                  </a:lnTo>
                  <a:lnTo>
                    <a:pt x="6335814" y="6082329"/>
                  </a:lnTo>
                  <a:lnTo>
                    <a:pt x="6362250" y="6046166"/>
                  </a:lnTo>
                  <a:lnTo>
                    <a:pt x="6379291" y="6003502"/>
                  </a:lnTo>
                  <a:lnTo>
                    <a:pt x="6385330" y="5956050"/>
                  </a:lnTo>
                  <a:lnTo>
                    <a:pt x="6385330" y="178644"/>
                  </a:lnTo>
                  <a:lnTo>
                    <a:pt x="6379291" y="131191"/>
                  </a:lnTo>
                  <a:lnTo>
                    <a:pt x="6362250" y="88528"/>
                  </a:lnTo>
                  <a:lnTo>
                    <a:pt x="6335814" y="52365"/>
                  </a:lnTo>
                  <a:lnTo>
                    <a:pt x="6301593" y="24414"/>
                  </a:lnTo>
                  <a:lnTo>
                    <a:pt x="6261198" y="6388"/>
                  </a:lnTo>
                  <a:lnTo>
                    <a:pt x="6216237" y="0"/>
                  </a:lnTo>
                  <a:lnTo>
                    <a:pt x="504322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lang="en-GB" noProof="0" dirty="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656673" y="1453896"/>
            <a:ext cx="6073140" cy="346075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33375" marR="5080" indent="-321310">
              <a:lnSpc>
                <a:spcPct val="97700"/>
              </a:lnSpc>
              <a:spcBef>
                <a:spcPts val="160"/>
              </a:spcBef>
              <a:buFont typeface="Arial"/>
              <a:buChar char="•"/>
              <a:tabLst>
                <a:tab pos="333375" algn="l"/>
              </a:tabLst>
            </a:pP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If</a:t>
            </a:r>
            <a:r>
              <a:rPr lang="en-GB" sz="2300" i="1" spc="-9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we</a:t>
            </a:r>
            <a:r>
              <a:rPr lang="en-GB" sz="2300" i="1" spc="-9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25" noProof="0" dirty="0">
                <a:solidFill>
                  <a:srgbClr val="FFFFFF"/>
                </a:solidFill>
                <a:latin typeface="Georgia"/>
                <a:cs typeface="Georgia"/>
              </a:rPr>
              <a:t>wanted</a:t>
            </a:r>
            <a:r>
              <a:rPr lang="en-GB" sz="2300" i="1" spc="-9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to</a:t>
            </a:r>
            <a:r>
              <a:rPr lang="en-GB" sz="2300" i="1" spc="-10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20" noProof="0" dirty="0">
                <a:solidFill>
                  <a:srgbClr val="FFFFFF"/>
                </a:solidFill>
                <a:latin typeface="Georgia"/>
                <a:cs typeface="Georgia"/>
              </a:rPr>
              <a:t>design</a:t>
            </a:r>
            <a:r>
              <a:rPr lang="en-GB" sz="2300" i="1" spc="-10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an</a:t>
            </a:r>
            <a:r>
              <a:rPr lang="en-GB" sz="2300" i="1" spc="-10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app</a:t>
            </a:r>
            <a:r>
              <a:rPr lang="en-GB" sz="2300" i="1" spc="-10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for</a:t>
            </a:r>
            <a:r>
              <a:rPr lang="en-GB" sz="2300" i="1" spc="-9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25" noProof="0" dirty="0">
                <a:solidFill>
                  <a:srgbClr val="FFFFFF"/>
                </a:solidFill>
                <a:latin typeface="Georgia"/>
                <a:cs typeface="Georgia"/>
              </a:rPr>
              <a:t>the iPhone,</a:t>
            </a:r>
            <a:r>
              <a:rPr lang="en-GB" sz="2300" i="1" spc="-8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we</a:t>
            </a:r>
            <a:r>
              <a:rPr lang="en-GB" sz="2300" i="1" spc="-9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10" noProof="0" dirty="0">
                <a:solidFill>
                  <a:srgbClr val="FFFFFF"/>
                </a:solidFill>
                <a:latin typeface="Georgia"/>
                <a:cs typeface="Georgia"/>
              </a:rPr>
              <a:t>not</a:t>
            </a:r>
            <a:r>
              <a:rPr lang="en-GB" sz="2300" i="1" spc="-9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10" noProof="0" dirty="0">
                <a:solidFill>
                  <a:srgbClr val="FFFFFF"/>
                </a:solidFill>
                <a:latin typeface="Georgia"/>
                <a:cs typeface="Georgia"/>
              </a:rPr>
              <a:t>only</a:t>
            </a:r>
            <a:r>
              <a:rPr lang="en-GB" sz="2300" i="1" spc="-9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20" noProof="0" dirty="0">
                <a:solidFill>
                  <a:srgbClr val="FFFFFF"/>
                </a:solidFill>
                <a:latin typeface="Georgia"/>
                <a:cs typeface="Georgia"/>
              </a:rPr>
              <a:t>need</a:t>
            </a:r>
            <a:r>
              <a:rPr lang="en-GB" sz="2300" i="1" spc="-9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to</a:t>
            </a:r>
            <a:r>
              <a:rPr lang="en-GB" sz="2300" i="1" spc="-9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25" noProof="0" dirty="0">
                <a:solidFill>
                  <a:srgbClr val="FFFFFF"/>
                </a:solidFill>
                <a:latin typeface="Georgia"/>
                <a:cs typeface="Georgia"/>
              </a:rPr>
              <a:t>consider</a:t>
            </a:r>
            <a:r>
              <a:rPr lang="en-GB" sz="2300" i="1" spc="-9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r>
              <a:rPr lang="en-GB" sz="2300" i="1" spc="-10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lot</a:t>
            </a:r>
            <a:r>
              <a:rPr lang="en-GB" sz="2300" i="1" spc="-9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25" noProof="0" dirty="0">
                <a:solidFill>
                  <a:srgbClr val="FFFFFF"/>
                </a:solidFill>
                <a:latin typeface="Georgia"/>
                <a:cs typeface="Georgia"/>
              </a:rPr>
              <a:t>of </a:t>
            </a:r>
            <a:r>
              <a:rPr lang="en-GB" sz="2300" i="1" spc="-10" noProof="0" dirty="0">
                <a:solidFill>
                  <a:srgbClr val="FFFFFF"/>
                </a:solidFill>
                <a:latin typeface="Georgia"/>
                <a:cs typeface="Georgia"/>
              </a:rPr>
              <a:t>visual</a:t>
            </a:r>
            <a:r>
              <a:rPr lang="en-GB" sz="2300" i="1" spc="-10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20" noProof="0" dirty="0">
                <a:solidFill>
                  <a:srgbClr val="FFFFFF"/>
                </a:solidFill>
                <a:latin typeface="Georgia"/>
                <a:cs typeface="Georgia"/>
              </a:rPr>
              <a:t>design</a:t>
            </a:r>
            <a:r>
              <a:rPr lang="en-GB" sz="2300" i="1" spc="-11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10" noProof="0" dirty="0">
                <a:solidFill>
                  <a:srgbClr val="FFFFFF"/>
                </a:solidFill>
                <a:latin typeface="Georgia"/>
                <a:cs typeface="Georgia"/>
              </a:rPr>
              <a:t>issues</a:t>
            </a:r>
            <a:r>
              <a:rPr lang="en-GB" sz="2300" i="1" spc="-10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but</a:t>
            </a:r>
            <a:r>
              <a:rPr lang="en-GB" sz="2300" i="1" spc="-10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also</a:t>
            </a:r>
            <a:r>
              <a:rPr lang="en-GB" sz="2300" i="1" spc="-10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25" noProof="0" dirty="0">
                <a:solidFill>
                  <a:srgbClr val="FFFFFF"/>
                </a:solidFill>
                <a:latin typeface="Georgia"/>
                <a:cs typeface="Georgia"/>
              </a:rPr>
              <a:t>technical</a:t>
            </a:r>
            <a:r>
              <a:rPr lang="en-GB" sz="2300" i="1" spc="-10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10" noProof="0" dirty="0">
                <a:solidFill>
                  <a:srgbClr val="FFFFFF"/>
                </a:solidFill>
                <a:latin typeface="Georgia"/>
                <a:cs typeface="Georgia"/>
              </a:rPr>
              <a:t>design issues.</a:t>
            </a:r>
            <a:endParaRPr lang="en-GB" sz="2300" noProof="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Clr>
                <a:srgbClr val="FFFFFF"/>
              </a:buClr>
              <a:buFont typeface="Arial"/>
              <a:buChar char="•"/>
            </a:pPr>
            <a:endParaRPr lang="en-GB" sz="2300" noProof="0" dirty="0">
              <a:latin typeface="Georgia"/>
              <a:cs typeface="Georgia"/>
            </a:endParaRPr>
          </a:p>
          <a:p>
            <a:pPr marL="333375" marR="404495" indent="-321310">
              <a:lnSpc>
                <a:spcPct val="97800"/>
              </a:lnSpc>
              <a:buFont typeface="Arial"/>
              <a:buChar char="•"/>
              <a:tabLst>
                <a:tab pos="333375" algn="l"/>
              </a:tabLst>
            </a:pP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For</a:t>
            </a:r>
            <a:r>
              <a:rPr lang="en-GB" sz="2300" i="1" spc="-9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25" noProof="0" dirty="0">
                <a:solidFill>
                  <a:srgbClr val="FFFFFF"/>
                </a:solidFill>
                <a:latin typeface="Georgia"/>
                <a:cs typeface="Georgia"/>
              </a:rPr>
              <a:t>instance,</a:t>
            </a:r>
            <a:r>
              <a:rPr lang="en-GB" sz="2300" i="1" spc="-8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you</a:t>
            </a:r>
            <a:r>
              <a:rPr lang="en-GB" sz="2300" i="1" spc="-9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10" noProof="0" dirty="0">
                <a:solidFill>
                  <a:srgbClr val="FFFFFF"/>
                </a:solidFill>
                <a:latin typeface="Georgia"/>
                <a:cs typeface="Georgia"/>
              </a:rPr>
              <a:t>could</a:t>
            </a:r>
            <a:r>
              <a:rPr lang="en-GB" sz="2300" i="1" spc="-9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20" noProof="0" dirty="0">
                <a:solidFill>
                  <a:srgbClr val="FFFFFF"/>
                </a:solidFill>
                <a:latin typeface="Georgia"/>
                <a:cs typeface="Georgia"/>
              </a:rPr>
              <a:t>design</a:t>
            </a:r>
            <a:r>
              <a:rPr lang="en-GB" sz="2300" i="1" spc="-10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r>
              <a:rPr lang="en-GB" sz="2300" i="1" spc="-10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10" noProof="0" dirty="0">
                <a:solidFill>
                  <a:srgbClr val="FFFFFF"/>
                </a:solidFill>
                <a:latin typeface="Georgia"/>
                <a:cs typeface="Georgia"/>
              </a:rPr>
              <a:t>fantastic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app</a:t>
            </a:r>
            <a:r>
              <a:rPr lang="en-GB" sz="2300" i="1" spc="-10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in</a:t>
            </a:r>
            <a:r>
              <a:rPr lang="en-GB" sz="2300" i="1" spc="-10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30" noProof="0" dirty="0">
                <a:solidFill>
                  <a:srgbClr val="FFFFFF"/>
                </a:solidFill>
                <a:latin typeface="Georgia"/>
                <a:cs typeface="Georgia"/>
              </a:rPr>
              <a:t>Photoshop</a:t>
            </a:r>
            <a:r>
              <a:rPr lang="en-GB" sz="2300" i="1" spc="-9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-</a:t>
            </a:r>
            <a:r>
              <a:rPr lang="en-GB" sz="2300" i="1" spc="-9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but</a:t>
            </a:r>
            <a:r>
              <a:rPr lang="en-GB" sz="2300" i="1" spc="-9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it</a:t>
            </a:r>
            <a:r>
              <a:rPr lang="en-GB" sz="2300" i="1" spc="-8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20" noProof="0" dirty="0">
                <a:solidFill>
                  <a:srgbClr val="FFFFFF"/>
                </a:solidFill>
                <a:latin typeface="Georgia"/>
                <a:cs typeface="Georgia"/>
              </a:rPr>
              <a:t>would</a:t>
            </a:r>
            <a:r>
              <a:rPr lang="en-GB" sz="2300" i="1" spc="-9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not</a:t>
            </a:r>
            <a:r>
              <a:rPr lang="en-GB" sz="2300" i="1" spc="-9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25" noProof="0" dirty="0">
                <a:solidFill>
                  <a:srgbClr val="FFFFFF"/>
                </a:solidFill>
                <a:latin typeface="Georgia"/>
                <a:cs typeface="Georgia"/>
              </a:rPr>
              <a:t>do </a:t>
            </a:r>
            <a:r>
              <a:rPr lang="en-GB" sz="2300" i="1" spc="-30" noProof="0" dirty="0">
                <a:solidFill>
                  <a:srgbClr val="FFFFFF"/>
                </a:solidFill>
                <a:latin typeface="Georgia"/>
                <a:cs typeface="Georgia"/>
              </a:rPr>
              <a:t>anything</a:t>
            </a:r>
            <a:r>
              <a:rPr lang="en-GB" sz="2300" i="1" spc="-11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on</a:t>
            </a:r>
            <a:r>
              <a:rPr lang="en-GB" sz="2300" i="1" spc="-12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the</a:t>
            </a:r>
            <a:r>
              <a:rPr lang="en-GB" sz="2300" i="1" spc="-10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25" noProof="0" dirty="0">
                <a:solidFill>
                  <a:srgbClr val="FFFFFF"/>
                </a:solidFill>
                <a:latin typeface="Georgia"/>
                <a:cs typeface="Georgia"/>
              </a:rPr>
              <a:t>phone,</a:t>
            </a:r>
            <a:r>
              <a:rPr lang="en-GB" sz="2300" i="1" spc="-9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you</a:t>
            </a:r>
            <a:r>
              <a:rPr lang="en-GB" sz="2300" i="1" spc="-10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10" noProof="0" dirty="0">
                <a:solidFill>
                  <a:srgbClr val="FFFFFF"/>
                </a:solidFill>
                <a:latin typeface="Georgia"/>
                <a:cs typeface="Georgia"/>
              </a:rPr>
              <a:t>may</a:t>
            </a:r>
            <a:r>
              <a:rPr lang="en-GB" sz="2300" i="1" spc="-11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20" noProof="0" dirty="0">
                <a:solidFill>
                  <a:srgbClr val="FFFFFF"/>
                </a:solidFill>
                <a:latin typeface="Georgia"/>
                <a:cs typeface="Georgia"/>
              </a:rPr>
              <a:t>need</a:t>
            </a:r>
            <a:r>
              <a:rPr lang="en-GB" sz="2300" i="1" spc="-10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25" noProof="0" dirty="0">
                <a:solidFill>
                  <a:srgbClr val="FFFFFF"/>
                </a:solidFill>
                <a:latin typeface="Georgia"/>
                <a:cs typeface="Georgia"/>
              </a:rPr>
              <a:t>to </a:t>
            </a:r>
            <a:r>
              <a:rPr lang="en-GB" sz="2300" i="1" spc="-10" noProof="0" dirty="0">
                <a:solidFill>
                  <a:srgbClr val="FFFFFF"/>
                </a:solidFill>
                <a:latin typeface="Georgia"/>
                <a:cs typeface="Georgia"/>
              </a:rPr>
              <a:t>code</a:t>
            </a:r>
            <a:r>
              <a:rPr lang="en-GB" sz="2300" i="1" spc="-10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it</a:t>
            </a:r>
            <a:r>
              <a:rPr lang="en-GB" sz="2300" i="1" spc="-10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10" noProof="0" dirty="0">
                <a:solidFill>
                  <a:srgbClr val="FFFFFF"/>
                </a:solidFill>
                <a:latin typeface="Georgia"/>
                <a:cs typeface="Georgia"/>
              </a:rPr>
              <a:t>using</a:t>
            </a:r>
            <a:r>
              <a:rPr lang="en-GB" sz="2300" i="1" spc="-10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the</a:t>
            </a:r>
            <a:r>
              <a:rPr lang="en-GB" sz="2300" i="1" spc="-10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25" noProof="0" dirty="0">
                <a:solidFill>
                  <a:srgbClr val="FFFFFF"/>
                </a:solidFill>
                <a:latin typeface="Georgia"/>
                <a:cs typeface="Georgia"/>
              </a:rPr>
              <a:t>iPhone’s</a:t>
            </a:r>
            <a:r>
              <a:rPr lang="en-GB" sz="2300" i="1" spc="-9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10" noProof="0" dirty="0">
                <a:solidFill>
                  <a:srgbClr val="FFFFFF"/>
                </a:solidFill>
                <a:latin typeface="Georgia"/>
                <a:cs typeface="Georgia"/>
              </a:rPr>
              <a:t>programming </a:t>
            </a:r>
            <a:r>
              <a:rPr lang="en-GB" sz="2300" i="1" spc="-25" noProof="0" dirty="0">
                <a:solidFill>
                  <a:srgbClr val="FFFFFF"/>
                </a:solidFill>
                <a:latin typeface="Georgia"/>
                <a:cs typeface="Georgia"/>
              </a:rPr>
              <a:t>language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-</a:t>
            </a:r>
            <a:r>
              <a:rPr lang="en-GB" sz="2300" i="1" spc="-1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40" noProof="0" dirty="0">
                <a:solidFill>
                  <a:srgbClr val="FFFFFF"/>
                </a:solidFill>
                <a:latin typeface="Georgia"/>
                <a:cs typeface="Georgia"/>
              </a:rPr>
              <a:t>Objective-</a:t>
            </a:r>
            <a:r>
              <a:rPr lang="en-GB" sz="2300" i="1" spc="-50" noProof="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lang="en-GB" sz="2300" noProof="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5823" y="277368"/>
            <a:ext cx="8909685" cy="6245860"/>
            <a:chOff x="115823" y="277368"/>
            <a:chExt cx="8909685" cy="62458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1835" y="2620864"/>
              <a:ext cx="8340268" cy="360759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0030" y="2522636"/>
              <a:ext cx="8643879" cy="4000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159" y="277368"/>
              <a:ext cx="8887968" cy="36667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823" y="789431"/>
              <a:ext cx="8836152" cy="273100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23241" y="366116"/>
              <a:ext cx="8608695" cy="3366770"/>
            </a:xfrm>
            <a:custGeom>
              <a:avLst/>
              <a:gdLst/>
              <a:ahLst/>
              <a:cxnLst/>
              <a:rect l="l" t="t" r="r" b="b"/>
              <a:pathLst>
                <a:path w="8608695" h="3366770">
                  <a:moveTo>
                    <a:pt x="8429678" y="0"/>
                  </a:moveTo>
                  <a:lnTo>
                    <a:pt x="178540" y="0"/>
                  </a:lnTo>
                  <a:lnTo>
                    <a:pt x="131136" y="6378"/>
                  </a:lnTo>
                  <a:lnTo>
                    <a:pt x="88502" y="24380"/>
                  </a:lnTo>
                  <a:lnTo>
                    <a:pt x="52356" y="52304"/>
                  </a:lnTo>
                  <a:lnTo>
                    <a:pt x="24413" y="88449"/>
                  </a:lnTo>
                  <a:lnTo>
                    <a:pt x="6389" y="131113"/>
                  </a:lnTo>
                  <a:lnTo>
                    <a:pt x="0" y="178596"/>
                  </a:lnTo>
                  <a:lnTo>
                    <a:pt x="0" y="2777126"/>
                  </a:lnTo>
                  <a:lnTo>
                    <a:pt x="6389" y="2824609"/>
                  </a:lnTo>
                  <a:lnTo>
                    <a:pt x="24413" y="2867273"/>
                  </a:lnTo>
                  <a:lnTo>
                    <a:pt x="52356" y="2903418"/>
                  </a:lnTo>
                  <a:lnTo>
                    <a:pt x="88502" y="2931342"/>
                  </a:lnTo>
                  <a:lnTo>
                    <a:pt x="131136" y="2949344"/>
                  </a:lnTo>
                  <a:lnTo>
                    <a:pt x="178540" y="2955723"/>
                  </a:lnTo>
                  <a:lnTo>
                    <a:pt x="3408216" y="2955723"/>
                  </a:lnTo>
                  <a:lnTo>
                    <a:pt x="3594329" y="3366213"/>
                  </a:lnTo>
                  <a:lnTo>
                    <a:pt x="3780840" y="2955723"/>
                  </a:lnTo>
                  <a:lnTo>
                    <a:pt x="8429678" y="2955723"/>
                  </a:lnTo>
                  <a:lnTo>
                    <a:pt x="8477082" y="2949344"/>
                  </a:lnTo>
                  <a:lnTo>
                    <a:pt x="8519715" y="2931342"/>
                  </a:lnTo>
                  <a:lnTo>
                    <a:pt x="8555862" y="2903418"/>
                  </a:lnTo>
                  <a:lnTo>
                    <a:pt x="8583805" y="2867273"/>
                  </a:lnTo>
                  <a:lnTo>
                    <a:pt x="8601829" y="2824609"/>
                  </a:lnTo>
                  <a:lnTo>
                    <a:pt x="8608218" y="2777126"/>
                  </a:lnTo>
                  <a:lnTo>
                    <a:pt x="8608218" y="178596"/>
                  </a:lnTo>
                  <a:lnTo>
                    <a:pt x="8601829" y="131113"/>
                  </a:lnTo>
                  <a:lnTo>
                    <a:pt x="8583805" y="88449"/>
                  </a:lnTo>
                  <a:lnTo>
                    <a:pt x="8555862" y="52304"/>
                  </a:lnTo>
                  <a:lnTo>
                    <a:pt x="8519715" y="24380"/>
                  </a:lnTo>
                  <a:lnTo>
                    <a:pt x="8477082" y="6378"/>
                  </a:lnTo>
                  <a:lnTo>
                    <a:pt x="8429678" y="0"/>
                  </a:lnTo>
                  <a:close/>
                </a:path>
              </a:pathLst>
            </a:custGeom>
            <a:solidFill>
              <a:srgbClr val="020719">
                <a:alpha val="45098"/>
              </a:srgbClr>
            </a:solidFill>
          </p:spPr>
          <p:txBody>
            <a:bodyPr wrap="square" lIns="0" tIns="0" rIns="0" bIns="0" rtlCol="0"/>
            <a:lstStyle/>
            <a:p>
              <a:endParaRPr lang="en-GB" noProof="0"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223241" y="366116"/>
              <a:ext cx="8608695" cy="3366770"/>
            </a:xfrm>
            <a:custGeom>
              <a:avLst/>
              <a:gdLst/>
              <a:ahLst/>
              <a:cxnLst/>
              <a:rect l="l" t="t" r="r" b="b"/>
              <a:pathLst>
                <a:path w="8608695" h="3366770">
                  <a:moveTo>
                    <a:pt x="178540" y="0"/>
                  </a:moveTo>
                  <a:lnTo>
                    <a:pt x="131136" y="6378"/>
                  </a:lnTo>
                  <a:lnTo>
                    <a:pt x="88502" y="24380"/>
                  </a:lnTo>
                  <a:lnTo>
                    <a:pt x="52356" y="52304"/>
                  </a:lnTo>
                  <a:lnTo>
                    <a:pt x="24413" y="88449"/>
                  </a:lnTo>
                  <a:lnTo>
                    <a:pt x="6389" y="131113"/>
                  </a:lnTo>
                  <a:lnTo>
                    <a:pt x="0" y="178596"/>
                  </a:lnTo>
                  <a:lnTo>
                    <a:pt x="0" y="2777126"/>
                  </a:lnTo>
                  <a:lnTo>
                    <a:pt x="6389" y="2824608"/>
                  </a:lnTo>
                  <a:lnTo>
                    <a:pt x="24413" y="2867272"/>
                  </a:lnTo>
                  <a:lnTo>
                    <a:pt x="52356" y="2903417"/>
                  </a:lnTo>
                  <a:lnTo>
                    <a:pt x="88502" y="2931342"/>
                  </a:lnTo>
                  <a:lnTo>
                    <a:pt x="131136" y="2949344"/>
                  </a:lnTo>
                  <a:lnTo>
                    <a:pt x="178540" y="2955723"/>
                  </a:lnTo>
                  <a:lnTo>
                    <a:pt x="3408217" y="2955723"/>
                  </a:lnTo>
                  <a:lnTo>
                    <a:pt x="3594330" y="3366214"/>
                  </a:lnTo>
                  <a:lnTo>
                    <a:pt x="3780841" y="2955723"/>
                  </a:lnTo>
                  <a:lnTo>
                    <a:pt x="8429678" y="2955723"/>
                  </a:lnTo>
                  <a:lnTo>
                    <a:pt x="8477082" y="2949344"/>
                  </a:lnTo>
                  <a:lnTo>
                    <a:pt x="8519716" y="2931342"/>
                  </a:lnTo>
                  <a:lnTo>
                    <a:pt x="8555862" y="2903417"/>
                  </a:lnTo>
                  <a:lnTo>
                    <a:pt x="8583805" y="2867272"/>
                  </a:lnTo>
                  <a:lnTo>
                    <a:pt x="8601829" y="2824608"/>
                  </a:lnTo>
                  <a:lnTo>
                    <a:pt x="8608219" y="2777126"/>
                  </a:lnTo>
                  <a:lnTo>
                    <a:pt x="8608219" y="178596"/>
                  </a:lnTo>
                  <a:lnTo>
                    <a:pt x="8601829" y="131113"/>
                  </a:lnTo>
                  <a:lnTo>
                    <a:pt x="8583805" y="88449"/>
                  </a:lnTo>
                  <a:lnTo>
                    <a:pt x="8555862" y="52304"/>
                  </a:lnTo>
                  <a:lnTo>
                    <a:pt x="8519716" y="24380"/>
                  </a:lnTo>
                  <a:lnTo>
                    <a:pt x="8477082" y="6378"/>
                  </a:lnTo>
                  <a:lnTo>
                    <a:pt x="8429678" y="0"/>
                  </a:lnTo>
                  <a:lnTo>
                    <a:pt x="178540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lang="en-GB" noProof="0" dirty="0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62346" y="932179"/>
            <a:ext cx="8161020" cy="112585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85"/>
              </a:spcBef>
            </a:pPr>
            <a:r>
              <a:rPr lang="en-GB" sz="2400" i="1" spc="-20" noProof="0" dirty="0">
                <a:solidFill>
                  <a:srgbClr val="FFFFFF"/>
                </a:solidFill>
                <a:latin typeface="Georgia"/>
                <a:cs typeface="Georgia"/>
              </a:rPr>
              <a:t>Objective-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r>
              <a:rPr lang="en-GB" sz="2400" i="1" spc="-3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is</a:t>
            </a:r>
            <a:r>
              <a:rPr lang="en-GB" sz="2400" i="1" spc="-4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not</a:t>
            </a:r>
            <a:r>
              <a:rPr lang="en-GB" sz="2400" i="1" spc="-3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the</a:t>
            </a:r>
            <a:r>
              <a:rPr lang="en-GB" sz="2400" i="1" spc="-4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spc="-10" noProof="0" dirty="0">
                <a:solidFill>
                  <a:srgbClr val="FFFFFF"/>
                </a:solidFill>
                <a:latin typeface="Georgia"/>
                <a:cs typeface="Georgia"/>
              </a:rPr>
              <a:t>friendliest</a:t>
            </a:r>
            <a:r>
              <a:rPr lang="en-GB" sz="2400" i="1" spc="-3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spc="-10" noProof="0" dirty="0">
                <a:solidFill>
                  <a:srgbClr val="FFFFFF"/>
                </a:solidFill>
                <a:latin typeface="Georgia"/>
                <a:cs typeface="Georgia"/>
              </a:rPr>
              <a:t>programming</a:t>
            </a:r>
            <a:r>
              <a:rPr lang="en-GB" sz="2400" i="1" spc="-3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language</a:t>
            </a:r>
            <a:r>
              <a:rPr lang="en-GB" sz="2400" i="1" spc="-4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spc="-25" noProof="0" dirty="0">
                <a:solidFill>
                  <a:srgbClr val="FFFFFF"/>
                </a:solidFill>
                <a:latin typeface="Georgia"/>
                <a:cs typeface="Georgia"/>
              </a:rPr>
              <a:t>in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the</a:t>
            </a:r>
            <a:r>
              <a:rPr lang="en-GB" sz="2400" i="1" spc="-7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world,</a:t>
            </a:r>
            <a:r>
              <a:rPr lang="en-GB" sz="2400" i="1" spc="-5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as</a:t>
            </a:r>
            <a:r>
              <a:rPr lang="en-GB" sz="2400" i="1" spc="-6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you</a:t>
            </a:r>
            <a:r>
              <a:rPr lang="en-GB" sz="2400" i="1" spc="-6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can</a:t>
            </a:r>
            <a:r>
              <a:rPr lang="en-GB" sz="2400" i="1" spc="-6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probably</a:t>
            </a:r>
            <a:r>
              <a:rPr lang="en-GB" sz="2400" i="1" spc="-6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guess</a:t>
            </a:r>
            <a:r>
              <a:rPr lang="en-GB" sz="2400" i="1" spc="-6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from</a:t>
            </a:r>
            <a:r>
              <a:rPr lang="en-GB" sz="2400" i="1" spc="-6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this</a:t>
            </a:r>
            <a:r>
              <a:rPr lang="en-GB" sz="2400" i="1" spc="-6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little</a:t>
            </a:r>
            <a:r>
              <a:rPr lang="en-GB" sz="2400" i="1" spc="-6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spc="-10" noProof="0" dirty="0">
                <a:solidFill>
                  <a:srgbClr val="FFFFFF"/>
                </a:solidFill>
                <a:latin typeface="Georgia"/>
                <a:cs typeface="Georgia"/>
              </a:rPr>
              <a:t>snippet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lang="en-GB" sz="2400" i="1" spc="-10" noProof="0" dirty="0">
                <a:solidFill>
                  <a:srgbClr val="FFFFFF"/>
                </a:solidFill>
                <a:latin typeface="Georgia"/>
                <a:cs typeface="Georgia"/>
              </a:rPr>
              <a:t> code.</a:t>
            </a:r>
            <a:endParaRPr lang="en-GB" sz="2400" noProof="0" dirty="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2346" y="2392171"/>
            <a:ext cx="8025130" cy="7600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So,</a:t>
            </a:r>
            <a:r>
              <a:rPr lang="en-GB" sz="2400" i="1" spc="-6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we</a:t>
            </a:r>
            <a:r>
              <a:rPr lang="en-GB" sz="2400" i="1" spc="-6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do</a:t>
            </a:r>
            <a:r>
              <a:rPr lang="en-GB" sz="2400" i="1" spc="-6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not</a:t>
            </a:r>
            <a:r>
              <a:rPr lang="en-GB" sz="2400" i="1" spc="-6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want</a:t>
            </a:r>
            <a:r>
              <a:rPr lang="en-GB" sz="2400" i="1" spc="-6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to</a:t>
            </a:r>
            <a:r>
              <a:rPr lang="en-GB" sz="2400" i="1" spc="-6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be</a:t>
            </a:r>
            <a:r>
              <a:rPr lang="en-GB" sz="2400" i="1" spc="-6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struggling</a:t>
            </a:r>
            <a:r>
              <a:rPr lang="en-GB" sz="2400" i="1" spc="-5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with</a:t>
            </a:r>
            <a:r>
              <a:rPr lang="en-GB" sz="2400" i="1" spc="-6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this...but</a:t>
            </a:r>
            <a:r>
              <a:rPr lang="en-GB" sz="2400" i="1" spc="-6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how</a:t>
            </a:r>
            <a:r>
              <a:rPr lang="en-GB" sz="2400" i="1" spc="-7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spc="-25" noProof="0" dirty="0">
                <a:solidFill>
                  <a:srgbClr val="FFFFFF"/>
                </a:solidFill>
                <a:latin typeface="Georgia"/>
                <a:cs typeface="Georgia"/>
              </a:rPr>
              <a:t>can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we</a:t>
            </a:r>
            <a:r>
              <a:rPr lang="en-GB" sz="2400" i="1" spc="-9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make</a:t>
            </a:r>
            <a:r>
              <a:rPr lang="en-GB" sz="2400" i="1" spc="-8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functional</a:t>
            </a:r>
            <a:r>
              <a:rPr lang="en-GB" sz="2400" i="1" spc="-7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screen</a:t>
            </a:r>
            <a:r>
              <a:rPr lang="en-GB" sz="2400" i="1" spc="-8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based</a:t>
            </a:r>
            <a:r>
              <a:rPr lang="en-GB" sz="2400" i="1" spc="-8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spc="-10" noProof="0" dirty="0">
                <a:solidFill>
                  <a:srgbClr val="FFFFFF"/>
                </a:solidFill>
                <a:latin typeface="Georgia"/>
                <a:cs typeface="Georgia"/>
              </a:rPr>
              <a:t>designs?</a:t>
            </a:r>
            <a:endParaRPr lang="en-GB" sz="2400" noProof="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7432"/>
              <a:ext cx="8400288" cy="21793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4592"/>
              <a:ext cx="8342376" cy="127101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115746"/>
              <a:ext cx="8206740" cy="1889125"/>
            </a:xfrm>
            <a:custGeom>
              <a:avLst/>
              <a:gdLst/>
              <a:ahLst/>
              <a:cxnLst/>
              <a:rect l="l" t="t" r="r" b="b"/>
              <a:pathLst>
                <a:path w="8206740" h="1889125">
                  <a:moveTo>
                    <a:pt x="8030961" y="0"/>
                  </a:moveTo>
                  <a:lnTo>
                    <a:pt x="0" y="0"/>
                  </a:lnTo>
                  <a:lnTo>
                    <a:pt x="0" y="1658496"/>
                  </a:lnTo>
                  <a:lnTo>
                    <a:pt x="3095324" y="1658496"/>
                  </a:lnTo>
                  <a:lnTo>
                    <a:pt x="3278256" y="1888827"/>
                  </a:lnTo>
                  <a:lnTo>
                    <a:pt x="3461579" y="1658496"/>
                  </a:lnTo>
                  <a:lnTo>
                    <a:pt x="8030961" y="1658496"/>
                  </a:lnTo>
                  <a:lnTo>
                    <a:pt x="8086366" y="1653388"/>
                  </a:lnTo>
                  <a:lnTo>
                    <a:pt x="8134531" y="1639163"/>
                  </a:lnTo>
                  <a:lnTo>
                    <a:pt x="8172543" y="1617471"/>
                  </a:lnTo>
                  <a:lnTo>
                    <a:pt x="8197487" y="1589961"/>
                  </a:lnTo>
                  <a:lnTo>
                    <a:pt x="8206450" y="1558283"/>
                  </a:lnTo>
                  <a:lnTo>
                    <a:pt x="8206450" y="100211"/>
                  </a:lnTo>
                  <a:lnTo>
                    <a:pt x="8197487" y="68534"/>
                  </a:lnTo>
                  <a:lnTo>
                    <a:pt x="8172543" y="41024"/>
                  </a:lnTo>
                  <a:lnTo>
                    <a:pt x="8134531" y="19332"/>
                  </a:lnTo>
                  <a:lnTo>
                    <a:pt x="8086366" y="5108"/>
                  </a:lnTo>
                  <a:lnTo>
                    <a:pt x="8030961" y="0"/>
                  </a:lnTo>
                  <a:close/>
                </a:path>
              </a:pathLst>
            </a:custGeom>
            <a:solidFill>
              <a:srgbClr val="020719">
                <a:alpha val="45098"/>
              </a:srgbClr>
            </a:solidFill>
          </p:spPr>
          <p:txBody>
            <a:bodyPr wrap="square" lIns="0" tIns="0" rIns="0" bIns="0" rtlCol="0"/>
            <a:lstStyle/>
            <a:p>
              <a:endParaRPr lang="en-GB" noProof="0"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115746"/>
              <a:ext cx="8206740" cy="1889125"/>
            </a:xfrm>
            <a:custGeom>
              <a:avLst/>
              <a:gdLst/>
              <a:ahLst/>
              <a:cxnLst/>
              <a:rect l="l" t="t" r="r" b="b"/>
              <a:pathLst>
                <a:path w="8206740" h="1889125">
                  <a:moveTo>
                    <a:pt x="0" y="1658497"/>
                  </a:moveTo>
                  <a:lnTo>
                    <a:pt x="3095324" y="1658497"/>
                  </a:lnTo>
                  <a:lnTo>
                    <a:pt x="3278256" y="1888829"/>
                  </a:lnTo>
                  <a:lnTo>
                    <a:pt x="3461580" y="1658497"/>
                  </a:lnTo>
                  <a:lnTo>
                    <a:pt x="8030962" y="1658497"/>
                  </a:lnTo>
                  <a:lnTo>
                    <a:pt x="8086366" y="1653388"/>
                  </a:lnTo>
                  <a:lnTo>
                    <a:pt x="8134532" y="1639163"/>
                  </a:lnTo>
                  <a:lnTo>
                    <a:pt x="8172544" y="1617471"/>
                  </a:lnTo>
                  <a:lnTo>
                    <a:pt x="8197488" y="1589961"/>
                  </a:lnTo>
                  <a:lnTo>
                    <a:pt x="8206451" y="1558284"/>
                  </a:lnTo>
                  <a:lnTo>
                    <a:pt x="8206451" y="100212"/>
                  </a:lnTo>
                  <a:lnTo>
                    <a:pt x="8172544" y="41025"/>
                  </a:lnTo>
                  <a:lnTo>
                    <a:pt x="8134532" y="19333"/>
                  </a:lnTo>
                  <a:lnTo>
                    <a:pt x="8086366" y="5108"/>
                  </a:lnTo>
                  <a:lnTo>
                    <a:pt x="8030962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lang="en-GB" noProof="0" dirty="0"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7239" y="329694"/>
            <a:ext cx="80302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HTML</a:t>
            </a:r>
            <a:r>
              <a:rPr lang="en-GB" sz="2400" i="1" spc="-7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allows</a:t>
            </a:r>
            <a:r>
              <a:rPr lang="en-GB" sz="2400" i="1" spc="-6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us</a:t>
            </a:r>
            <a:r>
              <a:rPr lang="en-GB" sz="2400" i="1" spc="-6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to</a:t>
            </a:r>
            <a:r>
              <a:rPr lang="en-GB" sz="2400" i="1" spc="-6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quickly</a:t>
            </a:r>
            <a:r>
              <a:rPr lang="en-GB" sz="2400" i="1" spc="-6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and</a:t>
            </a:r>
            <a:r>
              <a:rPr lang="en-GB" sz="2400" i="1" spc="-6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easily</a:t>
            </a:r>
            <a:r>
              <a:rPr lang="en-GB" sz="2400" i="1" spc="-6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produce</a:t>
            </a:r>
            <a:r>
              <a:rPr lang="en-GB" sz="2400" i="1" spc="-6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layouts</a:t>
            </a:r>
            <a:r>
              <a:rPr lang="en-GB" sz="2400" i="1" spc="-6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spc="-20" noProof="0" dirty="0">
                <a:solidFill>
                  <a:srgbClr val="FFFFFF"/>
                </a:solidFill>
                <a:latin typeface="Georgia"/>
                <a:cs typeface="Georgia"/>
              </a:rPr>
              <a:t>that</a:t>
            </a:r>
            <a:endParaRPr lang="en-GB" sz="2400" noProof="0" dirty="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1624" y="882650"/>
            <a:ext cx="4961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we</a:t>
            </a:r>
            <a:r>
              <a:rPr lang="en-GB" sz="2400" i="1" spc="-6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can</a:t>
            </a:r>
            <a:r>
              <a:rPr lang="en-GB" sz="2400" i="1" spc="-5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noProof="0" dirty="0">
                <a:solidFill>
                  <a:srgbClr val="FFFFFF"/>
                </a:solidFill>
                <a:latin typeface="Georgia"/>
                <a:cs typeface="Georgia"/>
              </a:rPr>
              <a:t>make</a:t>
            </a:r>
            <a:r>
              <a:rPr lang="en-GB" sz="2400" i="1" spc="-6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400" i="1" spc="-10" noProof="0" dirty="0">
                <a:solidFill>
                  <a:srgbClr val="FFFFFF"/>
                </a:solidFill>
                <a:latin typeface="Georgia"/>
                <a:cs typeface="Georgia"/>
              </a:rPr>
              <a:t>interactive/functional.</a:t>
            </a:r>
            <a:endParaRPr lang="en-GB" sz="2400" noProof="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26995">
              <a:lnSpc>
                <a:spcPct val="100000"/>
              </a:lnSpc>
              <a:spcBef>
                <a:spcPts val="100"/>
              </a:spcBef>
            </a:pPr>
            <a:r>
              <a:rPr lang="en-GB" noProof="0" dirty="0"/>
              <a:t>The</a:t>
            </a:r>
            <a:r>
              <a:rPr lang="en-GB" spc="-55" noProof="0" dirty="0"/>
              <a:t> </a:t>
            </a:r>
            <a:r>
              <a:rPr lang="en-GB" noProof="0" dirty="0"/>
              <a:t>DIV</a:t>
            </a:r>
            <a:r>
              <a:rPr lang="en-GB" spc="-50" noProof="0" dirty="0"/>
              <a:t> </a:t>
            </a:r>
            <a:r>
              <a:rPr lang="en-GB" spc="-25" noProof="0" dirty="0"/>
              <a:t>tag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3530091"/>
            <a:ext cx="785558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800" u="sng" spc="-10" noProof="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Helvetica Neue Light"/>
                <a:cs typeface="Helvetica Neue Light"/>
              </a:rPr>
              <a:t>https://</a:t>
            </a:r>
            <a:r>
              <a:rPr lang="en-GB" sz="2800" u="sng" spc="-10" noProof="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Helvetica Neue Light"/>
                <a:cs typeface="Helvetica Neue Light"/>
                <a:hlinkClick r:id="rId2"/>
              </a:rPr>
              <a:t>www.w3schools.com/html/html_blocks.asp</a:t>
            </a:r>
            <a:endParaRPr lang="en-GB" sz="2800" noProof="0" dirty="0">
              <a:latin typeface="Helvetica Neue Light"/>
              <a:cs typeface="Helvetica Neue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89112" y="2107692"/>
            <a:ext cx="57188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4400" noProof="0" dirty="0">
                <a:latin typeface="Helvetica Neue Light"/>
                <a:cs typeface="Helvetica Neue Light"/>
              </a:rPr>
              <a:t>Inline</a:t>
            </a:r>
            <a:r>
              <a:rPr lang="en-GB" sz="4400" spc="-40" noProof="0" dirty="0">
                <a:latin typeface="Helvetica Neue Light"/>
                <a:cs typeface="Helvetica Neue Light"/>
              </a:rPr>
              <a:t> </a:t>
            </a:r>
            <a:r>
              <a:rPr lang="en-GB" sz="4400" noProof="0" dirty="0">
                <a:latin typeface="Helvetica Neue Light"/>
                <a:cs typeface="Helvetica Neue Light"/>
              </a:rPr>
              <a:t>vs</a:t>
            </a:r>
            <a:r>
              <a:rPr lang="en-GB" sz="4400" spc="-45" noProof="0" dirty="0">
                <a:latin typeface="Helvetica Neue Light"/>
                <a:cs typeface="Helvetica Neue Light"/>
              </a:rPr>
              <a:t> </a:t>
            </a:r>
            <a:r>
              <a:rPr lang="en-GB" sz="4400" noProof="0" dirty="0">
                <a:latin typeface="Helvetica Neue Light"/>
                <a:cs typeface="Helvetica Neue Light"/>
              </a:rPr>
              <a:t>block</a:t>
            </a:r>
            <a:r>
              <a:rPr lang="en-GB" sz="4400" spc="-45" noProof="0" dirty="0">
                <a:latin typeface="Helvetica Neue Light"/>
                <a:cs typeface="Helvetica Neue Light"/>
              </a:rPr>
              <a:t> </a:t>
            </a:r>
            <a:r>
              <a:rPr lang="en-GB" sz="4400" spc="-10" noProof="0" dirty="0">
                <a:latin typeface="Helvetica Neue Light"/>
                <a:cs typeface="Helvetica Neue Light"/>
              </a:rPr>
              <a:t>elements</a:t>
            </a:r>
            <a:endParaRPr lang="en-GB" sz="4400" noProof="0" dirty="0">
              <a:latin typeface="Helvetica Neue Light"/>
              <a:cs typeface="Helvetica Neue Light"/>
            </a:endParaRPr>
          </a:p>
        </p:txBody>
      </p:sp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27319" y="5546468"/>
            <a:ext cx="1118209" cy="11182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5536" y="2901188"/>
            <a:ext cx="689292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6600" noProof="0" dirty="0"/>
              <a:t>Separation</a:t>
            </a:r>
            <a:r>
              <a:rPr lang="en-GB" sz="6600" spc="-120" noProof="0" dirty="0"/>
              <a:t> </a:t>
            </a:r>
            <a:r>
              <a:rPr lang="en-GB" sz="6600" noProof="0" dirty="0"/>
              <a:t>of</a:t>
            </a:r>
            <a:r>
              <a:rPr lang="en-GB" sz="6600" spc="-114" noProof="0" dirty="0"/>
              <a:t> </a:t>
            </a:r>
            <a:r>
              <a:rPr lang="en-GB" sz="6600" spc="-20" noProof="0" dirty="0"/>
              <a:t>code</a:t>
            </a:r>
            <a:endParaRPr lang="en-GB" sz="66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A close-up of a fla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6314" y="381975"/>
            <a:ext cx="831263" cy="427661"/>
          </a:xfrm>
          <a:prstGeom prst="rect">
            <a:avLst/>
          </a:prstGeom>
        </p:spPr>
      </p:pic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4192" y="1496951"/>
            <a:ext cx="2539547" cy="3238012"/>
          </a:xfrm>
          <a:prstGeom prst="rect">
            <a:avLst/>
          </a:prstGeom>
        </p:spPr>
      </p:pic>
      <p:pic>
        <p:nvPicPr>
          <p:cNvPr id="4" name="object 4" descr="A group of colorful squar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40965" y="733270"/>
            <a:ext cx="4003792" cy="471955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94478" y="375639"/>
            <a:ext cx="606425" cy="430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1615">
              <a:lnSpc>
                <a:spcPts val="925"/>
              </a:lnSpc>
              <a:spcBef>
                <a:spcPts val="100"/>
              </a:spcBef>
            </a:pPr>
            <a:r>
              <a:rPr lang="en-GB" sz="850" b="1" spc="80" noProof="0" dirty="0">
                <a:solidFill>
                  <a:srgbClr val="242424"/>
                </a:solidFill>
                <a:latin typeface="Arial"/>
                <a:cs typeface="Arial"/>
              </a:rPr>
              <a:t>HTML</a:t>
            </a:r>
            <a:endParaRPr lang="en-GB" sz="850" noProof="0" dirty="0">
              <a:latin typeface="Arial"/>
              <a:cs typeface="Arial"/>
            </a:endParaRPr>
          </a:p>
          <a:p>
            <a:pPr marL="315595">
              <a:lnSpc>
                <a:spcPts val="1225"/>
              </a:lnSpc>
            </a:pPr>
            <a:r>
              <a:rPr lang="en-GB" sz="1100" b="1" spc="80" noProof="0" dirty="0" err="1">
                <a:solidFill>
                  <a:srgbClr val="242424"/>
                </a:solidFill>
                <a:latin typeface="Arial"/>
                <a:cs typeface="Arial"/>
              </a:rPr>
              <a:t>css</a:t>
            </a:r>
            <a:endParaRPr lang="en-GB" sz="1100" noProof="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GB" sz="850" b="1" spc="95" noProof="0" dirty="0">
                <a:solidFill>
                  <a:srgbClr val="242424"/>
                </a:solidFill>
                <a:latin typeface="Arial"/>
                <a:cs typeface="Arial"/>
              </a:rPr>
              <a:t>SCRIPTS</a:t>
            </a:r>
            <a:endParaRPr lang="en-GB" sz="850" noProof="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61385" y="368003"/>
            <a:ext cx="1049655" cy="438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00"/>
              </a:spcBef>
            </a:pPr>
            <a:r>
              <a:rPr lang="en-GB" sz="850" b="1" spc="105" noProof="0" dirty="0">
                <a:solidFill>
                  <a:srgbClr val="242424"/>
                </a:solidFill>
                <a:latin typeface="Arial"/>
                <a:cs typeface="Arial"/>
              </a:rPr>
              <a:t>MARKUP </a:t>
            </a:r>
            <a:r>
              <a:rPr lang="en-GB" sz="850" b="1" spc="100" noProof="0" dirty="0">
                <a:solidFill>
                  <a:srgbClr val="242424"/>
                </a:solidFill>
                <a:latin typeface="Arial"/>
                <a:cs typeface="Arial"/>
              </a:rPr>
              <a:t>PRESENTATION </a:t>
            </a:r>
            <a:r>
              <a:rPr lang="en-GB" sz="850" b="1" spc="95" noProof="0" dirty="0">
                <a:solidFill>
                  <a:srgbClr val="242424"/>
                </a:solidFill>
                <a:latin typeface="Arial"/>
                <a:cs typeface="Arial"/>
              </a:rPr>
              <a:t>BEHAVIOR</a:t>
            </a:r>
            <a:endParaRPr lang="en-GB" sz="850" noProof="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1083" y="2249206"/>
            <a:ext cx="130365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250" noProof="0" dirty="0">
                <a:solidFill>
                  <a:srgbClr val="383838"/>
                </a:solidFill>
                <a:latin typeface="Arial"/>
                <a:cs typeface="Arial"/>
              </a:rPr>
              <a:t>&lt;</a:t>
            </a:r>
            <a:r>
              <a:rPr lang="en-GB" sz="1250" spc="120" noProof="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lang="en-GB" sz="850" b="1" spc="85" noProof="0" dirty="0">
                <a:solidFill>
                  <a:srgbClr val="242424"/>
                </a:solidFill>
                <a:latin typeface="Arial"/>
                <a:cs typeface="Arial"/>
              </a:rPr>
              <a:t>BECOMES</a:t>
            </a:r>
            <a:r>
              <a:rPr lang="en-GB" sz="850" b="1" spc="345" noProof="0" dirty="0">
                <a:solidFill>
                  <a:srgbClr val="242424"/>
                </a:solidFill>
                <a:latin typeface="Arial"/>
                <a:cs typeface="Arial"/>
              </a:rPr>
              <a:t> </a:t>
            </a:r>
            <a:r>
              <a:rPr lang="en-GB" sz="850" b="1" spc="90" noProof="0" dirty="0">
                <a:solidFill>
                  <a:srgbClr val="242424"/>
                </a:solidFill>
                <a:latin typeface="Arial"/>
                <a:cs typeface="Arial"/>
              </a:rPr>
              <a:t>THIS</a:t>
            </a:r>
            <a:r>
              <a:rPr lang="en-GB" sz="850" b="1" spc="229" noProof="0" dirty="0">
                <a:solidFill>
                  <a:srgbClr val="242424"/>
                </a:solidFill>
                <a:latin typeface="Arial"/>
                <a:cs typeface="Arial"/>
              </a:rPr>
              <a:t> </a:t>
            </a:r>
            <a:r>
              <a:rPr lang="en-GB" sz="1250" spc="-50" noProof="0" dirty="0">
                <a:solidFill>
                  <a:srgbClr val="383838"/>
                </a:solidFill>
                <a:latin typeface="Arial"/>
                <a:cs typeface="Arial"/>
              </a:rPr>
              <a:t>&gt;</a:t>
            </a:r>
            <a:endParaRPr lang="en-GB" sz="1250" noProof="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605" y="6150349"/>
            <a:ext cx="6203950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64"/>
              </a:lnSpc>
              <a:spcBef>
                <a:spcPts val="100"/>
              </a:spcBef>
              <a:tabLst>
                <a:tab pos="1290955" algn="l"/>
              </a:tabLst>
            </a:pPr>
            <a:r>
              <a:rPr lang="en-GB" sz="1500" b="1" noProof="0" dirty="0">
                <a:solidFill>
                  <a:srgbClr val="B8B8B8"/>
                </a:solidFill>
                <a:latin typeface="Arial"/>
                <a:cs typeface="Arial"/>
              </a:rPr>
              <a:t>by</a:t>
            </a:r>
            <a:r>
              <a:rPr lang="en-GB" sz="1500" b="1" spc="-95" noProof="0" dirty="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lang="en-GB" sz="1450" noProof="0" dirty="0" err="1">
                <a:solidFill>
                  <a:srgbClr val="B8B8B8"/>
                </a:solidFill>
                <a:latin typeface="Arial"/>
                <a:cs typeface="Arial"/>
              </a:rPr>
              <a:t>Naalie</a:t>
            </a:r>
            <a:r>
              <a:rPr lang="en-GB" sz="1450" spc="-5" noProof="0" dirty="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lang="en-GB" sz="1450" spc="-20" noProof="0" dirty="0">
                <a:solidFill>
                  <a:srgbClr val="B8B8B8"/>
                </a:solidFill>
                <a:latin typeface="Arial"/>
                <a:cs typeface="Arial"/>
              </a:rPr>
              <a:t>Jost</a:t>
            </a:r>
            <a:r>
              <a:rPr lang="en-GB" sz="1450" noProof="0" dirty="0">
                <a:solidFill>
                  <a:srgbClr val="B8B8B8"/>
                </a:solidFill>
                <a:latin typeface="Arial"/>
                <a:cs typeface="Arial"/>
              </a:rPr>
              <a:t>	</a:t>
            </a:r>
            <a:r>
              <a:rPr lang="en-GB" sz="1450" spc="-135" noProof="0" dirty="0">
                <a:solidFill>
                  <a:srgbClr val="B8B8B8"/>
                </a:solidFill>
                <a:latin typeface="Arial"/>
                <a:cs typeface="Arial"/>
              </a:rPr>
              <a:t>,,..,.,..,w.nct-</a:t>
            </a:r>
            <a:r>
              <a:rPr lang="en-GB" sz="1450" spc="-75" noProof="0" dirty="0">
                <a:solidFill>
                  <a:srgbClr val="B8B8B8"/>
                </a:solidFill>
                <a:latin typeface="Arial"/>
                <a:cs typeface="Arial"/>
              </a:rPr>
              <a:t>oliejosl.com</a:t>
            </a:r>
            <a:r>
              <a:rPr lang="en-GB" sz="1450" spc="400" noProof="0" dirty="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lang="en-GB" sz="1450" noProof="0" dirty="0">
                <a:solidFill>
                  <a:srgbClr val="B8B8B8"/>
                </a:solidFill>
                <a:latin typeface="Arial"/>
                <a:cs typeface="Arial"/>
              </a:rPr>
              <a:t>March</a:t>
            </a:r>
            <a:r>
              <a:rPr lang="en-GB" sz="1450" spc="235" noProof="0" dirty="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lang="en-GB" sz="1450" noProof="0" dirty="0">
                <a:solidFill>
                  <a:srgbClr val="B8B8B8"/>
                </a:solidFill>
                <a:latin typeface="Arial"/>
                <a:cs typeface="Arial"/>
              </a:rPr>
              <a:t>7,</a:t>
            </a:r>
            <a:r>
              <a:rPr lang="en-GB" sz="1450" spc="170" noProof="0" dirty="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lang="en-GB" sz="1450" spc="-20" noProof="0" dirty="0">
                <a:solidFill>
                  <a:srgbClr val="B8B8B8"/>
                </a:solidFill>
                <a:latin typeface="Arial"/>
                <a:cs typeface="Arial"/>
              </a:rPr>
              <a:t>2086</a:t>
            </a:r>
            <a:endParaRPr lang="en-GB" sz="1450" noProof="0" dirty="0">
              <a:latin typeface="Arial"/>
              <a:cs typeface="Arial"/>
            </a:endParaRPr>
          </a:p>
          <a:p>
            <a:pPr marL="26670">
              <a:lnSpc>
                <a:spcPts val="1705"/>
              </a:lnSpc>
            </a:pPr>
            <a:r>
              <a:rPr lang="en-GB" sz="1450" b="1" noProof="0" dirty="0">
                <a:solidFill>
                  <a:srgbClr val="B8B8B8"/>
                </a:solidFill>
                <a:latin typeface="Arial"/>
                <a:cs typeface="Arial"/>
              </a:rPr>
              <a:t>Permi</a:t>
            </a:r>
            <a:r>
              <a:rPr lang="en-GB" sz="1450" b="1" spc="5" noProof="0" dirty="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lang="en-GB" sz="1450" b="1" spc="-10" noProof="0" dirty="0">
                <a:solidFill>
                  <a:srgbClr val="B8B8B8"/>
                </a:solidFill>
                <a:latin typeface="Arial"/>
                <a:cs typeface="Arial"/>
              </a:rPr>
              <a:t>ion</a:t>
            </a:r>
            <a:r>
              <a:rPr lang="en-GB" sz="1450" b="1" spc="-75" noProof="0" dirty="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lang="en-GB" sz="1450" noProof="0" dirty="0">
                <a:solidFill>
                  <a:srgbClr val="B8B8B8"/>
                </a:solidFill>
                <a:latin typeface="Arial"/>
                <a:cs typeface="Arial"/>
              </a:rPr>
              <a:t>lo</a:t>
            </a:r>
            <a:r>
              <a:rPr lang="en-GB" sz="1450" spc="-175" noProof="0" dirty="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lang="en-GB" sz="1450" spc="-105" noProof="0" dirty="0">
                <a:solidFill>
                  <a:srgbClr val="B8B8B8"/>
                </a:solidFill>
                <a:latin typeface="Arial"/>
                <a:cs typeface="Arial"/>
              </a:rPr>
              <a:t>reprin1ror</a:t>
            </a:r>
            <a:r>
              <a:rPr lang="en-GB" sz="1450" spc="-20" noProof="0" dirty="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lang="en-GB" sz="1450" spc="-10" noProof="0" dirty="0" err="1">
                <a:solidFill>
                  <a:srgbClr val="B8B8B8"/>
                </a:solidFill>
                <a:latin typeface="Arial"/>
                <a:cs typeface="Arial"/>
              </a:rPr>
              <a:t>educdional</a:t>
            </a:r>
            <a:r>
              <a:rPr lang="en-GB" sz="1450" spc="-75" noProof="0" dirty="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lang="en-GB" sz="1450" spc="-40" noProof="0" dirty="0">
                <a:solidFill>
                  <a:srgbClr val="B8B8B8"/>
                </a:solidFill>
                <a:latin typeface="Arial"/>
                <a:cs typeface="Arial"/>
              </a:rPr>
              <a:t>purposes,</a:t>
            </a:r>
            <a:r>
              <a:rPr lang="en-GB" sz="1450" spc="-10" noProof="0" dirty="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lang="en-GB" sz="1450" noProof="0" dirty="0" err="1">
                <a:solidFill>
                  <a:srgbClr val="B8B8B8"/>
                </a:solidFill>
                <a:latin typeface="Arial"/>
                <a:cs typeface="Arial"/>
              </a:rPr>
              <a:t>bul</a:t>
            </a:r>
            <a:r>
              <a:rPr lang="en-GB" sz="1450" spc="-160" noProof="0" dirty="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lang="en-GB" sz="1450" spc="-25" noProof="0" dirty="0" err="1">
                <a:solidFill>
                  <a:srgbClr val="B8B8B8"/>
                </a:solidFill>
                <a:latin typeface="Arial"/>
                <a:cs typeface="Arial"/>
              </a:rPr>
              <a:t>ool</a:t>
            </a:r>
            <a:r>
              <a:rPr lang="en-GB" sz="1450" spc="-195" noProof="0" dirty="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lang="en-GB" sz="1450" noProof="0" dirty="0">
                <a:solidFill>
                  <a:srgbClr val="B8B8B8"/>
                </a:solidFill>
                <a:latin typeface="Arial"/>
                <a:cs typeface="Arial"/>
              </a:rPr>
              <a:t>le</a:t>
            </a:r>
            <a:r>
              <a:rPr lang="en-GB" sz="1450" spc="434" noProof="0" dirty="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lang="en-GB" sz="1450" noProof="0" dirty="0" err="1">
                <a:solidFill>
                  <a:srgbClr val="B8B8B8"/>
                </a:solidFill>
                <a:latin typeface="Arial"/>
                <a:cs typeface="Arial"/>
              </a:rPr>
              <a:t>el</a:t>
            </a:r>
            <a:r>
              <a:rPr lang="en-GB" sz="1450" spc="380" noProof="0" dirty="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lang="en-GB" sz="1450" spc="-70" noProof="0" dirty="0">
                <a:solidFill>
                  <a:srgbClr val="B8B8B8"/>
                </a:solidFill>
                <a:latin typeface="Arial"/>
                <a:cs typeface="Arial"/>
              </a:rPr>
              <a:t>for</a:t>
            </a:r>
            <a:r>
              <a:rPr lang="en-GB" sz="1450" spc="-45" noProof="0" dirty="0">
                <a:solidFill>
                  <a:srgbClr val="B8B8B8"/>
                </a:solidFill>
                <a:latin typeface="Arial"/>
                <a:cs typeface="Arial"/>
              </a:rPr>
              <a:t> commercial</a:t>
            </a:r>
            <a:r>
              <a:rPr lang="en-GB" sz="1450" spc="-55" noProof="0" dirty="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lang="en-GB" sz="1450" spc="-10" noProof="0" dirty="0">
                <a:solidFill>
                  <a:srgbClr val="B8B8B8"/>
                </a:solidFill>
                <a:latin typeface="Arial"/>
                <a:cs typeface="Arial"/>
              </a:rPr>
              <a:t>one::;</a:t>
            </a:r>
            <a:endParaRPr lang="en-GB" sz="1450" noProof="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3976" y="404814"/>
            <a:ext cx="4138612" cy="58324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51603" y="1453388"/>
            <a:ext cx="5771515" cy="3308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algn="ctr">
              <a:lnSpc>
                <a:spcPct val="99600"/>
              </a:lnSpc>
              <a:spcBef>
                <a:spcPts val="135"/>
              </a:spcBef>
            </a:pPr>
            <a:r>
              <a:rPr lang="en-GB" sz="7200" noProof="0" dirty="0">
                <a:solidFill>
                  <a:srgbClr val="FFFFFF"/>
                </a:solidFill>
                <a:latin typeface="Times New Roman"/>
                <a:cs typeface="Times New Roman"/>
              </a:rPr>
              <a:t>CSS</a:t>
            </a:r>
            <a:r>
              <a:rPr lang="en-GB" sz="7200" spc="-430" noProof="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GB" sz="7200" spc="-40" noProof="0" dirty="0">
                <a:solidFill>
                  <a:srgbClr val="FFFFFF"/>
                </a:solidFill>
                <a:latin typeface="Times New Roman"/>
                <a:cs typeface="Times New Roman"/>
              </a:rPr>
              <a:t>stands</a:t>
            </a:r>
            <a:r>
              <a:rPr lang="en-GB" sz="7200" spc="-395" noProof="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GB" sz="7200" spc="-25" noProof="0" dirty="0">
                <a:solidFill>
                  <a:srgbClr val="FFFFFF"/>
                </a:solidFill>
                <a:latin typeface="Times New Roman"/>
                <a:cs typeface="Times New Roman"/>
              </a:rPr>
              <a:t>for </a:t>
            </a:r>
            <a:r>
              <a:rPr lang="en-GB" sz="7200" spc="-80" noProof="0" dirty="0">
                <a:solidFill>
                  <a:srgbClr val="FFFFFF"/>
                </a:solidFill>
                <a:latin typeface="Times New Roman"/>
                <a:cs typeface="Times New Roman"/>
              </a:rPr>
              <a:t>Cascading</a:t>
            </a:r>
            <a:r>
              <a:rPr lang="en-GB" sz="7200" spc="-370" noProof="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GB" sz="7200" spc="-70" noProof="0" dirty="0">
                <a:solidFill>
                  <a:srgbClr val="FFFFFF"/>
                </a:solidFill>
                <a:latin typeface="Times New Roman"/>
                <a:cs typeface="Times New Roman"/>
              </a:rPr>
              <a:t>Style </a:t>
            </a:r>
            <a:r>
              <a:rPr lang="en-GB" sz="7200" spc="-10" noProof="0" dirty="0">
                <a:solidFill>
                  <a:srgbClr val="FFFFFF"/>
                </a:solidFill>
                <a:latin typeface="Times New Roman"/>
                <a:cs typeface="Times New Roman"/>
              </a:rPr>
              <a:t>Sheets</a:t>
            </a:r>
            <a:endParaRPr lang="en-GB" sz="7200" noProof="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A black and white gradient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40657" y="1538732"/>
            <a:ext cx="7181850" cy="22383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478280" marR="5080" indent="-1465580">
              <a:lnSpc>
                <a:spcPts val="8780"/>
              </a:lnSpc>
              <a:spcBef>
                <a:spcPts val="75"/>
              </a:spcBef>
            </a:pPr>
            <a:r>
              <a:rPr lang="en-GB" sz="7200" noProof="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lang="en-GB" sz="7200" spc="-345" noProof="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GB" sz="7200" spc="-135" noProof="0" dirty="0">
                <a:solidFill>
                  <a:srgbClr val="FFFFFF"/>
                </a:solidFill>
                <a:latin typeface="Times New Roman"/>
                <a:cs typeface="Times New Roman"/>
              </a:rPr>
              <a:t>elements</a:t>
            </a:r>
            <a:r>
              <a:rPr lang="en-GB" sz="7200" spc="-315" noProof="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GB" sz="7200" spc="-50" noProof="0" dirty="0">
                <a:solidFill>
                  <a:srgbClr val="FFFFFF"/>
                </a:solidFill>
                <a:latin typeface="Times New Roman"/>
                <a:cs typeface="Times New Roman"/>
              </a:rPr>
              <a:t>has</a:t>
            </a:r>
            <a:r>
              <a:rPr lang="en-GB" sz="7200" spc="-385" noProof="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GB" sz="7200" spc="-50" noProof="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lang="en-GB" sz="7200" spc="-105" noProof="0" dirty="0">
                <a:solidFill>
                  <a:srgbClr val="FFFFFF"/>
                </a:solidFill>
                <a:latin typeface="Times New Roman"/>
                <a:cs typeface="Times New Roman"/>
              </a:rPr>
              <a:t>default</a:t>
            </a:r>
            <a:r>
              <a:rPr lang="en-GB" sz="7200" spc="-310" noProof="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GB" sz="7200" spc="-290" noProof="0" dirty="0">
                <a:solidFill>
                  <a:srgbClr val="FFFFFF"/>
                </a:solidFill>
                <a:latin typeface="Times New Roman"/>
                <a:cs typeface="Times New Roman"/>
              </a:rPr>
              <a:t>style</a:t>
            </a:r>
            <a:endParaRPr lang="en-GB" sz="7200" noProof="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2682" y="4210811"/>
            <a:ext cx="7138670" cy="14055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080">
              <a:lnSpc>
                <a:spcPct val="100000"/>
              </a:lnSpc>
              <a:spcBef>
                <a:spcPts val="100"/>
              </a:spcBef>
            </a:pPr>
            <a:r>
              <a:rPr lang="en-GB" sz="3200" u="heavy" spc="-10" noProof="0" dirty="0">
                <a:solidFill>
                  <a:schemeClr val="bg1"/>
                </a:solidFill>
                <a:uFill>
                  <a:solidFill>
                    <a:srgbClr val="F0FFFF"/>
                  </a:solidFill>
                </a:uFill>
                <a:latin typeface="Times New Roman"/>
                <a:cs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http://www.w3.org/TR/CSS2/sample.html</a:t>
            </a:r>
            <a:endParaRPr lang="en-GB" sz="3200" noProof="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lang="en-GB" sz="3200" noProof="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GB" sz="2400" u="sng" spc="-10" noProof="0" dirty="0">
                <a:solidFill>
                  <a:schemeClr val="bg1"/>
                </a:solidFill>
                <a:uFill>
                  <a:solidFill>
                    <a:srgbClr val="DEF5F4"/>
                  </a:solidFill>
                </a:uFill>
                <a:latin typeface="Times New Roman"/>
                <a:cs typeface="Times New Roman"/>
              </a:rPr>
              <a:t>https://</a:t>
            </a:r>
            <a:r>
              <a:rPr lang="en-GB" sz="2400" u="sng" spc="-10" noProof="0" dirty="0">
                <a:solidFill>
                  <a:schemeClr val="bg1"/>
                </a:solidFill>
                <a:uFill>
                  <a:solidFill>
                    <a:srgbClr val="DEF5F4"/>
                  </a:solidFill>
                </a:uFill>
                <a:latin typeface="Times New Roman"/>
                <a:cs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www.w3schools.com/cssref/css_default_values.asp</a:t>
            </a:r>
            <a:endParaRPr lang="en-GB" sz="2400" noProof="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34158"/>
            <a:ext cx="9144000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01345">
              <a:lnSpc>
                <a:spcPct val="100000"/>
              </a:lnSpc>
              <a:spcBef>
                <a:spcPts val="100"/>
              </a:spcBef>
            </a:pPr>
            <a:r>
              <a:rPr lang="en-GB" sz="6000" spc="-994" noProof="0" dirty="0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lang="en-GB" sz="6000" noProof="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lang="en-GB" sz="6000" spc="-1030" noProof="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GB" sz="6000" spc="-50" noProof="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lang="en-GB" sz="6000" spc="-300" noProof="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GB" sz="6000" spc="-85" noProof="0" dirty="0">
                <a:solidFill>
                  <a:srgbClr val="FFFFFF"/>
                </a:solidFill>
                <a:latin typeface="Times New Roman"/>
                <a:cs typeface="Times New Roman"/>
              </a:rPr>
              <a:t>override</a:t>
            </a:r>
            <a:r>
              <a:rPr lang="en-GB" sz="6000" spc="-254" noProof="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GB" sz="6000" spc="-10" noProof="0" dirty="0">
                <a:solidFill>
                  <a:srgbClr val="FFFFFF"/>
                </a:solidFill>
                <a:latin typeface="Times New Roman"/>
                <a:cs typeface="Times New Roman"/>
              </a:rPr>
              <a:t>those </a:t>
            </a:r>
            <a:r>
              <a:rPr lang="en-GB" sz="6000" spc="-175" noProof="0" dirty="0">
                <a:solidFill>
                  <a:srgbClr val="FFFFFF"/>
                </a:solidFill>
                <a:latin typeface="Times New Roman"/>
                <a:cs typeface="Times New Roman"/>
              </a:rPr>
              <a:t>styles</a:t>
            </a:r>
            <a:r>
              <a:rPr lang="en-GB" sz="6000" spc="-200" noProof="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GB" sz="6000" noProof="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lang="en-GB" sz="6000" spc="-235" noProof="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GB" sz="6000" spc="-100" noProof="0" dirty="0">
                <a:solidFill>
                  <a:srgbClr val="FFFFFF"/>
                </a:solidFill>
                <a:latin typeface="Times New Roman"/>
                <a:cs typeface="Times New Roman"/>
              </a:rPr>
              <a:t>create</a:t>
            </a:r>
            <a:r>
              <a:rPr lang="en-GB" sz="6000" spc="-275" noProof="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GB" sz="6000" spc="-60" noProof="0" dirty="0">
                <a:solidFill>
                  <a:srgbClr val="FFFFFF"/>
                </a:solidFill>
                <a:latin typeface="Times New Roman"/>
                <a:cs typeface="Times New Roman"/>
              </a:rPr>
              <a:t>new</a:t>
            </a:r>
            <a:r>
              <a:rPr lang="en-GB" sz="6000" spc="-180" noProof="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GB" sz="6000" spc="-20" noProof="0" dirty="0">
                <a:solidFill>
                  <a:srgbClr val="FFFFFF"/>
                </a:solidFill>
                <a:latin typeface="Times New Roman"/>
                <a:cs typeface="Times New Roman"/>
              </a:rPr>
              <a:t>ones</a:t>
            </a:r>
            <a:endParaRPr lang="en-GB" sz="6000" noProof="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2528" y="3956811"/>
            <a:ext cx="76454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800" spc="-125" noProof="0" dirty="0">
                <a:solidFill>
                  <a:schemeClr val="bg1"/>
                </a:solidFill>
                <a:latin typeface="Times New Roman"/>
                <a:cs typeface="Times New Roman"/>
              </a:rPr>
              <a:t>e.g.</a:t>
            </a:r>
            <a:r>
              <a:rPr lang="en-GB" sz="2800" spc="-35" noProof="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GB" sz="2800" u="sng" spc="-10" noProof="0" dirty="0">
                <a:solidFill>
                  <a:schemeClr val="bg1"/>
                </a:solidFill>
                <a:uFill>
                  <a:solidFill>
                    <a:srgbClr val="F0FFFF"/>
                  </a:solidFill>
                </a:uFill>
                <a:latin typeface="Times New Roman"/>
                <a:cs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http://www.w3schools.com/css/demo_default.htm</a:t>
            </a:r>
            <a:endParaRPr lang="en-GB" sz="2800" noProof="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2768" y="2836164"/>
            <a:ext cx="801878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5000" noProof="0" dirty="0">
                <a:solidFill>
                  <a:srgbClr val="747474"/>
                </a:solidFill>
              </a:rPr>
              <a:t>What</a:t>
            </a:r>
            <a:r>
              <a:rPr lang="en-GB" sz="5000" spc="70" noProof="0" dirty="0">
                <a:solidFill>
                  <a:srgbClr val="747474"/>
                </a:solidFill>
              </a:rPr>
              <a:t> </a:t>
            </a:r>
            <a:r>
              <a:rPr lang="en-GB" sz="5000" noProof="0" dirty="0">
                <a:solidFill>
                  <a:srgbClr val="747474"/>
                </a:solidFill>
              </a:rPr>
              <a:t>does</a:t>
            </a:r>
            <a:r>
              <a:rPr lang="en-GB" sz="5000" spc="75" noProof="0" dirty="0">
                <a:solidFill>
                  <a:srgbClr val="747474"/>
                </a:solidFill>
              </a:rPr>
              <a:t> </a:t>
            </a:r>
            <a:r>
              <a:rPr lang="en-GB" sz="4900" noProof="0" dirty="0"/>
              <a:t>cascading</a:t>
            </a:r>
            <a:r>
              <a:rPr lang="en-GB" sz="4900" spc="114" noProof="0" dirty="0"/>
              <a:t> </a:t>
            </a:r>
            <a:r>
              <a:rPr lang="en-GB" sz="5000" spc="-10" noProof="0" dirty="0">
                <a:solidFill>
                  <a:srgbClr val="747474"/>
                </a:solidFill>
              </a:rPr>
              <a:t>mean?</a:t>
            </a:r>
            <a:endParaRPr lang="en-GB" sz="5000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77367"/>
              <a:ext cx="6022848" cy="648004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417319"/>
              <a:ext cx="5858256" cy="428853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221" y="366116"/>
              <a:ext cx="5789930" cy="6197600"/>
            </a:xfrm>
            <a:custGeom>
              <a:avLst/>
              <a:gdLst/>
              <a:ahLst/>
              <a:cxnLst/>
              <a:rect l="l" t="t" r="r" b="b"/>
              <a:pathLst>
                <a:path w="5789930" h="6197600">
                  <a:moveTo>
                    <a:pt x="5298929" y="0"/>
                  </a:moveTo>
                  <a:lnTo>
                    <a:pt x="185485" y="0"/>
                  </a:lnTo>
                  <a:lnTo>
                    <a:pt x="136192" y="6384"/>
                  </a:lnTo>
                  <a:lnTo>
                    <a:pt x="91888" y="24397"/>
                  </a:lnTo>
                  <a:lnTo>
                    <a:pt x="54345" y="52324"/>
                  </a:lnTo>
                  <a:lnTo>
                    <a:pt x="25334" y="88452"/>
                  </a:lnTo>
                  <a:lnTo>
                    <a:pt x="6629" y="131067"/>
                  </a:lnTo>
                  <a:lnTo>
                    <a:pt x="0" y="178456"/>
                  </a:lnTo>
                  <a:lnTo>
                    <a:pt x="0" y="6018746"/>
                  </a:lnTo>
                  <a:lnTo>
                    <a:pt x="6629" y="6066135"/>
                  </a:lnTo>
                  <a:lnTo>
                    <a:pt x="25334" y="6108750"/>
                  </a:lnTo>
                  <a:lnTo>
                    <a:pt x="54345" y="6144878"/>
                  </a:lnTo>
                  <a:lnTo>
                    <a:pt x="91888" y="6172805"/>
                  </a:lnTo>
                  <a:lnTo>
                    <a:pt x="136192" y="6190817"/>
                  </a:lnTo>
                  <a:lnTo>
                    <a:pt x="185485" y="6197202"/>
                  </a:lnTo>
                  <a:lnTo>
                    <a:pt x="5298929" y="6197202"/>
                  </a:lnTo>
                  <a:lnTo>
                    <a:pt x="5348334" y="6190817"/>
                  </a:lnTo>
                  <a:lnTo>
                    <a:pt x="5392714" y="6172805"/>
                  </a:lnTo>
                  <a:lnTo>
                    <a:pt x="5430303" y="6144878"/>
                  </a:lnTo>
                  <a:lnTo>
                    <a:pt x="5459338" y="6108750"/>
                  </a:lnTo>
                  <a:lnTo>
                    <a:pt x="5478052" y="6066135"/>
                  </a:lnTo>
                  <a:lnTo>
                    <a:pt x="5484683" y="6018746"/>
                  </a:lnTo>
                  <a:lnTo>
                    <a:pt x="5484683" y="2144346"/>
                  </a:lnTo>
                  <a:lnTo>
                    <a:pt x="5789714" y="1957857"/>
                  </a:lnTo>
                  <a:lnTo>
                    <a:pt x="5484683" y="1771366"/>
                  </a:lnTo>
                  <a:lnTo>
                    <a:pt x="5484683" y="178456"/>
                  </a:lnTo>
                  <a:lnTo>
                    <a:pt x="5478052" y="131067"/>
                  </a:lnTo>
                  <a:lnTo>
                    <a:pt x="5459338" y="88452"/>
                  </a:lnTo>
                  <a:lnTo>
                    <a:pt x="5430303" y="52324"/>
                  </a:lnTo>
                  <a:lnTo>
                    <a:pt x="5392714" y="24397"/>
                  </a:lnTo>
                  <a:lnTo>
                    <a:pt x="5348334" y="6384"/>
                  </a:lnTo>
                  <a:lnTo>
                    <a:pt x="5298929" y="0"/>
                  </a:lnTo>
                  <a:close/>
                </a:path>
              </a:pathLst>
            </a:custGeom>
            <a:solidFill>
              <a:srgbClr val="020719">
                <a:alpha val="45098"/>
              </a:srgbClr>
            </a:solidFill>
          </p:spPr>
          <p:txBody>
            <a:bodyPr wrap="square" lIns="0" tIns="0" rIns="0" bIns="0" rtlCol="0"/>
            <a:lstStyle/>
            <a:p>
              <a:endParaRPr lang="en-GB" noProof="0"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27221" y="366116"/>
              <a:ext cx="5789930" cy="6197600"/>
            </a:xfrm>
            <a:custGeom>
              <a:avLst/>
              <a:gdLst/>
              <a:ahLst/>
              <a:cxnLst/>
              <a:rect l="l" t="t" r="r" b="b"/>
              <a:pathLst>
                <a:path w="5789930" h="6197600">
                  <a:moveTo>
                    <a:pt x="185485" y="0"/>
                  </a:moveTo>
                  <a:lnTo>
                    <a:pt x="136192" y="6385"/>
                  </a:lnTo>
                  <a:lnTo>
                    <a:pt x="91888" y="24397"/>
                  </a:lnTo>
                  <a:lnTo>
                    <a:pt x="54345" y="52324"/>
                  </a:lnTo>
                  <a:lnTo>
                    <a:pt x="25334" y="88452"/>
                  </a:lnTo>
                  <a:lnTo>
                    <a:pt x="6629" y="131067"/>
                  </a:lnTo>
                  <a:lnTo>
                    <a:pt x="0" y="178456"/>
                  </a:lnTo>
                  <a:lnTo>
                    <a:pt x="0" y="6018746"/>
                  </a:lnTo>
                  <a:lnTo>
                    <a:pt x="6629" y="6066135"/>
                  </a:lnTo>
                  <a:lnTo>
                    <a:pt x="25334" y="6108750"/>
                  </a:lnTo>
                  <a:lnTo>
                    <a:pt x="54345" y="6144878"/>
                  </a:lnTo>
                  <a:lnTo>
                    <a:pt x="91888" y="6172805"/>
                  </a:lnTo>
                  <a:lnTo>
                    <a:pt x="136192" y="6190818"/>
                  </a:lnTo>
                  <a:lnTo>
                    <a:pt x="185485" y="6197203"/>
                  </a:lnTo>
                  <a:lnTo>
                    <a:pt x="5298930" y="6197203"/>
                  </a:lnTo>
                  <a:lnTo>
                    <a:pt x="5348335" y="6190818"/>
                  </a:lnTo>
                  <a:lnTo>
                    <a:pt x="5392714" y="6172805"/>
                  </a:lnTo>
                  <a:lnTo>
                    <a:pt x="5430304" y="6144878"/>
                  </a:lnTo>
                  <a:lnTo>
                    <a:pt x="5459338" y="6108750"/>
                  </a:lnTo>
                  <a:lnTo>
                    <a:pt x="5478052" y="6066135"/>
                  </a:lnTo>
                  <a:lnTo>
                    <a:pt x="5484683" y="6018746"/>
                  </a:lnTo>
                  <a:lnTo>
                    <a:pt x="5484683" y="2144347"/>
                  </a:lnTo>
                  <a:lnTo>
                    <a:pt x="5789715" y="1957857"/>
                  </a:lnTo>
                  <a:lnTo>
                    <a:pt x="5484683" y="1771367"/>
                  </a:lnTo>
                  <a:lnTo>
                    <a:pt x="5484683" y="178456"/>
                  </a:lnTo>
                  <a:lnTo>
                    <a:pt x="5478052" y="131067"/>
                  </a:lnTo>
                  <a:lnTo>
                    <a:pt x="5459338" y="88452"/>
                  </a:lnTo>
                  <a:lnTo>
                    <a:pt x="5430304" y="52324"/>
                  </a:lnTo>
                  <a:lnTo>
                    <a:pt x="5392714" y="24397"/>
                  </a:lnTo>
                  <a:lnTo>
                    <a:pt x="5348335" y="6385"/>
                  </a:lnTo>
                  <a:lnTo>
                    <a:pt x="5298930" y="0"/>
                  </a:lnTo>
                  <a:lnTo>
                    <a:pt x="185485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lang="en-GB" noProof="0" dirty="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66326" y="1554479"/>
            <a:ext cx="5351145" cy="380492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186690">
              <a:lnSpc>
                <a:spcPct val="97800"/>
              </a:lnSpc>
              <a:spcBef>
                <a:spcPts val="160"/>
              </a:spcBef>
            </a:pPr>
            <a:r>
              <a:rPr lang="en-GB" sz="2300" i="1" spc="-25" noProof="0" dirty="0">
                <a:solidFill>
                  <a:srgbClr val="FFFFFF"/>
                </a:solidFill>
                <a:latin typeface="Georgia"/>
                <a:cs typeface="Georgia"/>
              </a:rPr>
              <a:t>Cascading</a:t>
            </a:r>
            <a:r>
              <a:rPr lang="en-GB" sz="2300" i="1" spc="-10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25" noProof="0" dirty="0">
                <a:solidFill>
                  <a:srgbClr val="FFFFFF"/>
                </a:solidFill>
                <a:latin typeface="Georgia"/>
                <a:cs typeface="Georgia"/>
              </a:rPr>
              <a:t>means</a:t>
            </a:r>
            <a:r>
              <a:rPr lang="en-GB" sz="2300" i="1" spc="-8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20" noProof="0" dirty="0">
                <a:solidFill>
                  <a:srgbClr val="FFFFFF"/>
                </a:solidFill>
                <a:latin typeface="Georgia"/>
                <a:cs typeface="Georgia"/>
              </a:rPr>
              <a:t>that</a:t>
            </a:r>
            <a:r>
              <a:rPr lang="en-GB" sz="2300" i="1" spc="-9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the</a:t>
            </a:r>
            <a:r>
              <a:rPr lang="en-GB" sz="2300" i="1" spc="-8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10" noProof="0" dirty="0">
                <a:solidFill>
                  <a:srgbClr val="FFFFFF"/>
                </a:solidFill>
                <a:latin typeface="Georgia"/>
                <a:cs typeface="Georgia"/>
              </a:rPr>
              <a:t>rules</a:t>
            </a:r>
            <a:r>
              <a:rPr lang="en-GB" sz="2300" i="1" spc="-8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in</a:t>
            </a:r>
            <a:r>
              <a:rPr lang="en-GB" sz="2300" i="1" spc="-9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r>
              <a:rPr lang="en-GB" sz="2300" i="1" spc="-9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25" noProof="0" dirty="0">
                <a:solidFill>
                  <a:srgbClr val="FFFFFF"/>
                </a:solidFill>
                <a:latin typeface="Georgia"/>
                <a:cs typeface="Georgia"/>
              </a:rPr>
              <a:t>CSS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file</a:t>
            </a:r>
            <a:r>
              <a:rPr lang="en-GB" sz="2300" i="1" spc="-10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can</a:t>
            </a:r>
            <a:r>
              <a:rPr lang="en-GB" sz="2300" i="1" spc="-10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be</a:t>
            </a:r>
            <a:r>
              <a:rPr lang="en-GB" sz="2300" i="1" spc="-10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20" noProof="0" dirty="0">
                <a:solidFill>
                  <a:srgbClr val="FFFFFF"/>
                </a:solidFill>
                <a:latin typeface="Georgia"/>
                <a:cs typeface="Georgia"/>
              </a:rPr>
              <a:t>applied</a:t>
            </a:r>
            <a:r>
              <a:rPr lang="en-GB" sz="2300" i="1" spc="-10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to</a:t>
            </a:r>
            <a:r>
              <a:rPr lang="en-GB" sz="2300" i="1" spc="-10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25" noProof="0" dirty="0">
                <a:solidFill>
                  <a:srgbClr val="FFFFFF"/>
                </a:solidFill>
                <a:latin typeface="Georgia"/>
                <a:cs typeface="Georgia"/>
              </a:rPr>
              <a:t>many</a:t>
            </a:r>
            <a:r>
              <a:rPr lang="en-GB" sz="2300" i="1" spc="-10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files</a:t>
            </a:r>
            <a:r>
              <a:rPr lang="en-GB" sz="2300" i="1" spc="-9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at</a:t>
            </a:r>
            <a:r>
              <a:rPr lang="en-GB" sz="2300" i="1" spc="-10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25" noProof="0" dirty="0">
                <a:solidFill>
                  <a:srgbClr val="FFFFFF"/>
                </a:solidFill>
                <a:latin typeface="Georgia"/>
                <a:cs typeface="Georgia"/>
              </a:rPr>
              <a:t>the </a:t>
            </a:r>
            <a:r>
              <a:rPr lang="en-GB" sz="2300" i="1" spc="-20" noProof="0" dirty="0">
                <a:solidFill>
                  <a:srgbClr val="FFFFFF"/>
                </a:solidFill>
                <a:latin typeface="Georgia"/>
                <a:cs typeface="Georgia"/>
              </a:rPr>
              <a:t>same</a:t>
            </a:r>
            <a:r>
              <a:rPr lang="en-GB" sz="2300" i="1" spc="-9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20" noProof="0" dirty="0">
                <a:solidFill>
                  <a:srgbClr val="FFFFFF"/>
                </a:solidFill>
                <a:latin typeface="Georgia"/>
                <a:cs typeface="Georgia"/>
              </a:rPr>
              <a:t>time.</a:t>
            </a:r>
            <a:endParaRPr lang="en-GB" sz="2300" noProof="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lang="en-GB" sz="2300" noProof="0" dirty="0">
              <a:latin typeface="Georgia"/>
              <a:cs typeface="Georgia"/>
            </a:endParaRPr>
          </a:p>
          <a:p>
            <a:pPr marL="12700" marR="5080">
              <a:lnSpc>
                <a:spcPct val="97700"/>
              </a:lnSpc>
            </a:pPr>
            <a:r>
              <a:rPr lang="en-GB" sz="2300" i="1" spc="-10" noProof="0" dirty="0">
                <a:solidFill>
                  <a:srgbClr val="FFFFFF"/>
                </a:solidFill>
                <a:latin typeface="Georgia"/>
                <a:cs typeface="Georgia"/>
              </a:rPr>
              <a:t>The</a:t>
            </a:r>
            <a:r>
              <a:rPr lang="en-GB" sz="2300" i="1" spc="-12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20" noProof="0" dirty="0">
                <a:solidFill>
                  <a:srgbClr val="FFFFFF"/>
                </a:solidFill>
                <a:latin typeface="Georgia"/>
                <a:cs typeface="Georgia"/>
              </a:rPr>
              <a:t>term</a:t>
            </a:r>
            <a:r>
              <a:rPr lang="en-GB" sz="2300" i="1" spc="-114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20" noProof="0" dirty="0">
                <a:solidFill>
                  <a:srgbClr val="FFFFFF"/>
                </a:solidFill>
                <a:latin typeface="Georgia"/>
                <a:cs typeface="Georgia"/>
              </a:rPr>
              <a:t>comes</a:t>
            </a:r>
            <a:r>
              <a:rPr lang="en-GB" sz="2300" i="1" spc="-10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20" noProof="0" dirty="0">
                <a:solidFill>
                  <a:srgbClr val="FFFFFF"/>
                </a:solidFill>
                <a:latin typeface="Georgia"/>
                <a:cs typeface="Georgia"/>
              </a:rPr>
              <a:t>about</a:t>
            </a:r>
            <a:r>
              <a:rPr lang="en-GB" sz="2300" i="1" spc="-11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20" noProof="0" dirty="0">
                <a:solidFill>
                  <a:srgbClr val="FFFFFF"/>
                </a:solidFill>
                <a:latin typeface="Georgia"/>
                <a:cs typeface="Georgia"/>
              </a:rPr>
              <a:t>because</a:t>
            </a:r>
            <a:r>
              <a:rPr lang="en-GB" sz="2300" i="1" spc="-10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the</a:t>
            </a:r>
            <a:r>
              <a:rPr lang="en-GB" sz="2300" i="1" spc="-10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10" noProof="0" dirty="0">
                <a:solidFill>
                  <a:srgbClr val="FFFFFF"/>
                </a:solidFill>
                <a:latin typeface="Georgia"/>
                <a:cs typeface="Georgia"/>
              </a:rPr>
              <a:t>rules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in</a:t>
            </a:r>
            <a:r>
              <a:rPr lang="en-GB" sz="2300" i="1" spc="-10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the</a:t>
            </a:r>
            <a:r>
              <a:rPr lang="en-GB" sz="2300" i="1" spc="-10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CSS</a:t>
            </a:r>
            <a:r>
              <a:rPr lang="en-GB" sz="2300" i="1" spc="-10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files</a:t>
            </a:r>
            <a:r>
              <a:rPr lang="en-GB" sz="2300" i="1" spc="-9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25" noProof="0" dirty="0">
                <a:solidFill>
                  <a:srgbClr val="FFFFFF"/>
                </a:solidFill>
                <a:latin typeface="Georgia"/>
                <a:cs typeface="Georgia"/>
              </a:rPr>
              <a:t>“cascade”</a:t>
            </a:r>
            <a:r>
              <a:rPr lang="en-GB" sz="2300" i="1" spc="-10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30" noProof="0" dirty="0">
                <a:solidFill>
                  <a:srgbClr val="FFFFFF"/>
                </a:solidFill>
                <a:latin typeface="Georgia"/>
                <a:cs typeface="Georgia"/>
              </a:rPr>
              <a:t>through</a:t>
            </a:r>
            <a:r>
              <a:rPr lang="en-GB" sz="2300" i="1" spc="-10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all</a:t>
            </a:r>
            <a:r>
              <a:rPr lang="en-GB" sz="2300" i="1" spc="-9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25" noProof="0" dirty="0">
                <a:solidFill>
                  <a:srgbClr val="FFFFFF"/>
                </a:solidFill>
                <a:latin typeface="Georgia"/>
                <a:cs typeface="Georgia"/>
              </a:rPr>
              <a:t>of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the</a:t>
            </a:r>
            <a:r>
              <a:rPr lang="en-GB" sz="2300" i="1" spc="-114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30" noProof="0" dirty="0">
                <a:solidFill>
                  <a:srgbClr val="FFFFFF"/>
                </a:solidFill>
                <a:latin typeface="Georgia"/>
                <a:cs typeface="Georgia"/>
              </a:rPr>
              <a:t>HTML</a:t>
            </a:r>
            <a:r>
              <a:rPr lang="en-GB" sz="2300" i="1" spc="-11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files,</a:t>
            </a:r>
            <a:r>
              <a:rPr lang="en-GB" sz="2300" i="1" spc="-9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so</a:t>
            </a:r>
            <a:r>
              <a:rPr lang="en-GB" sz="2300" i="1" spc="-11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we</a:t>
            </a:r>
            <a:r>
              <a:rPr lang="en-GB" sz="2300" i="1" spc="-10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can</a:t>
            </a:r>
            <a:r>
              <a:rPr lang="en-GB" sz="2300" i="1" spc="-12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20" noProof="0" dirty="0">
                <a:solidFill>
                  <a:srgbClr val="FFFFFF"/>
                </a:solidFill>
                <a:latin typeface="Georgia"/>
                <a:cs typeface="Georgia"/>
              </a:rPr>
              <a:t>write</a:t>
            </a:r>
            <a:r>
              <a:rPr lang="en-GB" sz="2300" i="1" spc="-11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one</a:t>
            </a:r>
            <a:r>
              <a:rPr lang="en-GB" sz="2300" i="1" spc="-10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10" noProof="0" dirty="0">
                <a:solidFill>
                  <a:srgbClr val="FFFFFF"/>
                </a:solidFill>
                <a:latin typeface="Georgia"/>
                <a:cs typeface="Georgia"/>
              </a:rPr>
              <a:t>style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file</a:t>
            </a:r>
            <a:r>
              <a:rPr lang="en-GB" sz="2300" i="1" spc="-10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10" noProof="0" dirty="0">
                <a:solidFill>
                  <a:srgbClr val="FFFFFF"/>
                </a:solidFill>
                <a:latin typeface="Georgia"/>
                <a:cs typeface="Georgia"/>
              </a:rPr>
              <a:t>that</a:t>
            </a:r>
            <a:r>
              <a:rPr lang="en-GB" sz="2300" i="1" spc="-10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20" noProof="0" dirty="0">
                <a:solidFill>
                  <a:srgbClr val="FFFFFF"/>
                </a:solidFill>
                <a:latin typeface="Georgia"/>
                <a:cs typeface="Georgia"/>
              </a:rPr>
              <a:t>applies</a:t>
            </a:r>
            <a:r>
              <a:rPr lang="en-GB" sz="2300" i="1" spc="-9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to</a:t>
            </a:r>
            <a:r>
              <a:rPr lang="en-GB" sz="2300" i="1" spc="-10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all</a:t>
            </a:r>
            <a:r>
              <a:rPr lang="en-GB" sz="2300" i="1" spc="-9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the</a:t>
            </a:r>
            <a:r>
              <a:rPr lang="en-GB" sz="2300" i="1" spc="-10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files</a:t>
            </a:r>
            <a:r>
              <a:rPr lang="en-GB" sz="2300" i="1" spc="-9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in</a:t>
            </a:r>
            <a:r>
              <a:rPr lang="en-GB" sz="2300" i="1" spc="-10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20" noProof="0" dirty="0">
                <a:solidFill>
                  <a:srgbClr val="FFFFFF"/>
                </a:solidFill>
                <a:latin typeface="Georgia"/>
                <a:cs typeface="Georgia"/>
              </a:rPr>
              <a:t>your</a:t>
            </a:r>
            <a:r>
              <a:rPr lang="en-GB" sz="2300" i="1" spc="-10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10" noProof="0" dirty="0">
                <a:solidFill>
                  <a:srgbClr val="FFFFFF"/>
                </a:solidFill>
                <a:latin typeface="Georgia"/>
                <a:cs typeface="Georgia"/>
              </a:rPr>
              <a:t>site.</a:t>
            </a:r>
            <a:endParaRPr lang="en-GB" sz="2300" noProof="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lang="en-GB" sz="2300" noProof="0" dirty="0">
              <a:latin typeface="Georgia"/>
              <a:cs typeface="Georgia"/>
            </a:endParaRPr>
          </a:p>
          <a:p>
            <a:pPr marL="12700" marR="459740">
              <a:lnSpc>
                <a:spcPts val="2710"/>
              </a:lnSpc>
              <a:spcBef>
                <a:spcPts val="5"/>
              </a:spcBef>
            </a:pPr>
            <a:r>
              <a:rPr lang="en-GB" sz="2300" i="1" spc="-25" noProof="0" dirty="0">
                <a:solidFill>
                  <a:srgbClr val="FFFFFF"/>
                </a:solidFill>
                <a:latin typeface="Georgia"/>
                <a:cs typeface="Georgia"/>
              </a:rPr>
              <a:t>There</a:t>
            </a:r>
            <a:r>
              <a:rPr lang="en-GB" sz="2300" i="1" spc="-8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is</a:t>
            </a:r>
            <a:r>
              <a:rPr lang="en-GB" sz="2300" i="1" spc="-8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also</a:t>
            </a:r>
            <a:r>
              <a:rPr lang="en-GB" sz="2300" i="1" spc="-8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r>
              <a:rPr lang="en-GB" sz="2300" i="1" spc="-9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30" noProof="0" dirty="0">
                <a:solidFill>
                  <a:srgbClr val="FFFFFF"/>
                </a:solidFill>
                <a:latin typeface="Georgia"/>
                <a:cs typeface="Georgia"/>
              </a:rPr>
              <a:t>hierarchy</a:t>
            </a:r>
            <a:r>
              <a:rPr lang="en-GB" sz="2300" i="1" spc="-8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noProof="0" dirty="0">
                <a:solidFill>
                  <a:srgbClr val="FFFFFF"/>
                </a:solidFill>
                <a:latin typeface="Georgia"/>
                <a:cs typeface="Georgia"/>
              </a:rPr>
              <a:t>to</a:t>
            </a:r>
            <a:r>
              <a:rPr lang="en-GB" sz="2300" i="1" spc="-9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10" noProof="0" dirty="0">
                <a:solidFill>
                  <a:srgbClr val="FFFFFF"/>
                </a:solidFill>
                <a:latin typeface="Georgia"/>
                <a:cs typeface="Georgia"/>
              </a:rPr>
              <a:t>styles</a:t>
            </a:r>
            <a:r>
              <a:rPr lang="en-GB" sz="2300" i="1" spc="-7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20" noProof="0" dirty="0">
                <a:solidFill>
                  <a:srgbClr val="FFFFFF"/>
                </a:solidFill>
                <a:latin typeface="Georgia"/>
                <a:cs typeface="Georgia"/>
              </a:rPr>
              <a:t>that enable</a:t>
            </a:r>
            <a:r>
              <a:rPr lang="en-GB" sz="2300" i="1" spc="-10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20" noProof="0" dirty="0">
                <a:solidFill>
                  <a:srgbClr val="FFFFFF"/>
                </a:solidFill>
                <a:latin typeface="Georgia"/>
                <a:cs typeface="Georgia"/>
              </a:rPr>
              <a:t>more</a:t>
            </a:r>
            <a:r>
              <a:rPr lang="en-GB" sz="2300" i="1" spc="-105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25" noProof="0" dirty="0">
                <a:solidFill>
                  <a:srgbClr val="FFFFFF"/>
                </a:solidFill>
                <a:latin typeface="Georgia"/>
                <a:cs typeface="Georgia"/>
              </a:rPr>
              <a:t>complex</a:t>
            </a:r>
            <a:r>
              <a:rPr lang="en-GB" sz="2300" i="1" spc="-11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2300" i="1" spc="-10" noProof="0" dirty="0">
                <a:solidFill>
                  <a:srgbClr val="FFFFFF"/>
                </a:solidFill>
                <a:latin typeface="Georgia"/>
                <a:cs typeface="Georgia"/>
              </a:rPr>
              <a:t>cascading.</a:t>
            </a:r>
            <a:endParaRPr lang="en-GB" sz="2300" noProof="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3063" y="277367"/>
              <a:ext cx="5126736" cy="648004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5255" y="472439"/>
              <a:ext cx="3898392" cy="55778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79825" y="366116"/>
              <a:ext cx="4837430" cy="6197600"/>
            </a:xfrm>
            <a:custGeom>
              <a:avLst/>
              <a:gdLst/>
              <a:ahLst/>
              <a:cxnLst/>
              <a:rect l="l" t="t" r="r" b="b"/>
              <a:pathLst>
                <a:path w="4837430" h="6197600">
                  <a:moveTo>
                    <a:pt x="4427076" y="0"/>
                  </a:moveTo>
                  <a:lnTo>
                    <a:pt x="154966" y="0"/>
                  </a:lnTo>
                  <a:lnTo>
                    <a:pt x="113784" y="6384"/>
                  </a:lnTo>
                  <a:lnTo>
                    <a:pt x="76770" y="24397"/>
                  </a:lnTo>
                  <a:lnTo>
                    <a:pt x="45403" y="52324"/>
                  </a:lnTo>
                  <a:lnTo>
                    <a:pt x="21166" y="88452"/>
                  </a:lnTo>
                  <a:lnTo>
                    <a:pt x="5538" y="131067"/>
                  </a:lnTo>
                  <a:lnTo>
                    <a:pt x="0" y="178456"/>
                  </a:lnTo>
                  <a:lnTo>
                    <a:pt x="0" y="6018746"/>
                  </a:lnTo>
                  <a:lnTo>
                    <a:pt x="5538" y="6066135"/>
                  </a:lnTo>
                  <a:lnTo>
                    <a:pt x="21166" y="6108750"/>
                  </a:lnTo>
                  <a:lnTo>
                    <a:pt x="45403" y="6144878"/>
                  </a:lnTo>
                  <a:lnTo>
                    <a:pt x="76770" y="6172805"/>
                  </a:lnTo>
                  <a:lnTo>
                    <a:pt x="113784" y="6190817"/>
                  </a:lnTo>
                  <a:lnTo>
                    <a:pt x="154966" y="6197202"/>
                  </a:lnTo>
                  <a:lnTo>
                    <a:pt x="4427076" y="6197202"/>
                  </a:lnTo>
                  <a:lnTo>
                    <a:pt x="4468352" y="6190817"/>
                  </a:lnTo>
                  <a:lnTo>
                    <a:pt x="4505430" y="6172805"/>
                  </a:lnTo>
                  <a:lnTo>
                    <a:pt x="4536834" y="6144878"/>
                  </a:lnTo>
                  <a:lnTo>
                    <a:pt x="4561092" y="6108750"/>
                  </a:lnTo>
                  <a:lnTo>
                    <a:pt x="4576727" y="6066135"/>
                  </a:lnTo>
                  <a:lnTo>
                    <a:pt x="4582266" y="6018746"/>
                  </a:lnTo>
                  <a:lnTo>
                    <a:pt x="4582266" y="2144346"/>
                  </a:lnTo>
                  <a:lnTo>
                    <a:pt x="4837110" y="1957857"/>
                  </a:lnTo>
                  <a:lnTo>
                    <a:pt x="4582266" y="1771366"/>
                  </a:lnTo>
                  <a:lnTo>
                    <a:pt x="4582266" y="178456"/>
                  </a:lnTo>
                  <a:lnTo>
                    <a:pt x="4576727" y="131067"/>
                  </a:lnTo>
                  <a:lnTo>
                    <a:pt x="4561092" y="88452"/>
                  </a:lnTo>
                  <a:lnTo>
                    <a:pt x="4536834" y="52324"/>
                  </a:lnTo>
                  <a:lnTo>
                    <a:pt x="4505430" y="24397"/>
                  </a:lnTo>
                  <a:lnTo>
                    <a:pt x="4468352" y="6384"/>
                  </a:lnTo>
                  <a:lnTo>
                    <a:pt x="4427076" y="0"/>
                  </a:lnTo>
                  <a:close/>
                </a:path>
              </a:pathLst>
            </a:custGeom>
            <a:solidFill>
              <a:srgbClr val="020719">
                <a:alpha val="45098"/>
              </a:srgbClr>
            </a:solidFill>
          </p:spPr>
          <p:txBody>
            <a:bodyPr wrap="square" lIns="0" tIns="0" rIns="0" bIns="0" rtlCol="0"/>
            <a:lstStyle/>
            <a:p>
              <a:endParaRPr lang="en-GB" noProof="0"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979825" y="366116"/>
              <a:ext cx="4837430" cy="6197600"/>
            </a:xfrm>
            <a:custGeom>
              <a:avLst/>
              <a:gdLst/>
              <a:ahLst/>
              <a:cxnLst/>
              <a:rect l="l" t="t" r="r" b="b"/>
              <a:pathLst>
                <a:path w="4837430" h="6197600">
                  <a:moveTo>
                    <a:pt x="154966" y="0"/>
                  </a:moveTo>
                  <a:lnTo>
                    <a:pt x="113784" y="6385"/>
                  </a:lnTo>
                  <a:lnTo>
                    <a:pt x="76770" y="24397"/>
                  </a:lnTo>
                  <a:lnTo>
                    <a:pt x="45403" y="52324"/>
                  </a:lnTo>
                  <a:lnTo>
                    <a:pt x="21166" y="88452"/>
                  </a:lnTo>
                  <a:lnTo>
                    <a:pt x="5538" y="131067"/>
                  </a:lnTo>
                  <a:lnTo>
                    <a:pt x="0" y="178456"/>
                  </a:lnTo>
                  <a:lnTo>
                    <a:pt x="0" y="6018746"/>
                  </a:lnTo>
                  <a:lnTo>
                    <a:pt x="5538" y="6066135"/>
                  </a:lnTo>
                  <a:lnTo>
                    <a:pt x="21166" y="6108750"/>
                  </a:lnTo>
                  <a:lnTo>
                    <a:pt x="45403" y="6144878"/>
                  </a:lnTo>
                  <a:lnTo>
                    <a:pt x="76770" y="6172805"/>
                  </a:lnTo>
                  <a:lnTo>
                    <a:pt x="113784" y="6190818"/>
                  </a:lnTo>
                  <a:lnTo>
                    <a:pt x="154966" y="6197203"/>
                  </a:lnTo>
                  <a:lnTo>
                    <a:pt x="4427076" y="6197203"/>
                  </a:lnTo>
                  <a:lnTo>
                    <a:pt x="4468352" y="6190818"/>
                  </a:lnTo>
                  <a:lnTo>
                    <a:pt x="4505430" y="6172805"/>
                  </a:lnTo>
                  <a:lnTo>
                    <a:pt x="4536835" y="6144878"/>
                  </a:lnTo>
                  <a:lnTo>
                    <a:pt x="4561092" y="6108750"/>
                  </a:lnTo>
                  <a:lnTo>
                    <a:pt x="4576727" y="6066135"/>
                  </a:lnTo>
                  <a:lnTo>
                    <a:pt x="4582267" y="6018746"/>
                  </a:lnTo>
                  <a:lnTo>
                    <a:pt x="4582267" y="2144347"/>
                  </a:lnTo>
                  <a:lnTo>
                    <a:pt x="4837111" y="1957857"/>
                  </a:lnTo>
                  <a:lnTo>
                    <a:pt x="4582267" y="1771367"/>
                  </a:lnTo>
                  <a:lnTo>
                    <a:pt x="4582267" y="178456"/>
                  </a:lnTo>
                  <a:lnTo>
                    <a:pt x="4576727" y="131067"/>
                  </a:lnTo>
                  <a:lnTo>
                    <a:pt x="4561092" y="88452"/>
                  </a:lnTo>
                  <a:lnTo>
                    <a:pt x="4536835" y="52324"/>
                  </a:lnTo>
                  <a:lnTo>
                    <a:pt x="4505430" y="24397"/>
                  </a:lnTo>
                  <a:lnTo>
                    <a:pt x="4468352" y="6385"/>
                  </a:lnTo>
                  <a:lnTo>
                    <a:pt x="4427076" y="0"/>
                  </a:lnTo>
                  <a:lnTo>
                    <a:pt x="154966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lang="en-GB" noProof="0" dirty="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18929" y="583691"/>
            <a:ext cx="3365500" cy="5130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000" spc="-165" noProof="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lang="en-GB" sz="2000" spc="-100" noProof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GB" sz="2000" spc="-175" noProof="0" dirty="0">
                <a:solidFill>
                  <a:srgbClr val="FFFFFF"/>
                </a:solidFill>
                <a:latin typeface="Arial"/>
                <a:cs typeface="Arial"/>
              </a:rPr>
              <a:t>Cascading</a:t>
            </a:r>
            <a:r>
              <a:rPr lang="en-GB" sz="2000" spc="-95" noProof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GB" sz="2000" spc="-20" noProof="0" dirty="0">
                <a:solidFill>
                  <a:srgbClr val="FFFFFF"/>
                </a:solidFill>
                <a:latin typeface="Arial"/>
                <a:cs typeface="Arial"/>
              </a:rPr>
              <a:t>Order</a:t>
            </a:r>
            <a:endParaRPr lang="en-GB" sz="20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lang="en-GB" sz="2000" noProof="0" dirty="0">
              <a:latin typeface="Arial"/>
              <a:cs typeface="Arial"/>
            </a:endParaRPr>
          </a:p>
          <a:p>
            <a:pPr marL="534670" indent="-52197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534670" algn="l"/>
              </a:tabLst>
            </a:pPr>
            <a:r>
              <a:rPr lang="en-GB" sz="2000" spc="-114" noProof="0" dirty="0">
                <a:solidFill>
                  <a:srgbClr val="FFFFFF"/>
                </a:solidFill>
                <a:latin typeface="Arial"/>
                <a:cs typeface="Arial"/>
              </a:rPr>
              <a:t>Browser</a:t>
            </a:r>
            <a:r>
              <a:rPr lang="en-GB" sz="2000" spc="-95" noProof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GB" sz="2000" spc="-10" noProof="0" dirty="0">
                <a:solidFill>
                  <a:srgbClr val="FFFFFF"/>
                </a:solidFill>
                <a:latin typeface="Arial"/>
                <a:cs typeface="Arial"/>
              </a:rPr>
              <a:t>default</a:t>
            </a:r>
            <a:endParaRPr lang="en-GB" sz="2000" noProof="0" dirty="0">
              <a:latin typeface="Arial"/>
              <a:cs typeface="Arial"/>
            </a:endParaRPr>
          </a:p>
          <a:p>
            <a:pPr marL="534670" indent="-521970">
              <a:lnSpc>
                <a:spcPts val="2350"/>
              </a:lnSpc>
              <a:buAutoNum type="arabicPeriod"/>
              <a:tabLst>
                <a:tab pos="534670" algn="l"/>
              </a:tabLst>
            </a:pPr>
            <a:r>
              <a:rPr lang="en-GB" sz="2000" spc="-110" noProof="0" dirty="0">
                <a:solidFill>
                  <a:srgbClr val="FFFFFF"/>
                </a:solidFill>
                <a:latin typeface="Arial"/>
                <a:cs typeface="Arial"/>
              </a:rPr>
              <a:t>External</a:t>
            </a:r>
            <a:r>
              <a:rPr lang="en-GB" sz="2000" spc="-75" noProof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GB" sz="2000" spc="-85" noProof="0" dirty="0">
                <a:solidFill>
                  <a:srgbClr val="FFFFFF"/>
                </a:solidFill>
                <a:latin typeface="Arial"/>
                <a:cs typeface="Arial"/>
              </a:rPr>
              <a:t>style</a:t>
            </a:r>
            <a:r>
              <a:rPr lang="en-GB" sz="2000" spc="-90" noProof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GB" sz="2000" spc="-10" noProof="0" dirty="0">
                <a:solidFill>
                  <a:srgbClr val="FFFFFF"/>
                </a:solidFill>
                <a:latin typeface="Arial"/>
                <a:cs typeface="Arial"/>
              </a:rPr>
              <a:t>sheet</a:t>
            </a:r>
            <a:endParaRPr lang="en-GB" sz="2000" noProof="0" dirty="0">
              <a:latin typeface="Arial"/>
              <a:cs typeface="Arial"/>
            </a:endParaRPr>
          </a:p>
          <a:p>
            <a:pPr marL="534670" indent="-521970">
              <a:lnSpc>
                <a:spcPts val="2350"/>
              </a:lnSpc>
              <a:buAutoNum type="arabicPeriod"/>
              <a:tabLst>
                <a:tab pos="534670" algn="l"/>
              </a:tabLst>
            </a:pPr>
            <a:r>
              <a:rPr lang="en-GB" sz="2000" spc="-60" noProof="0" dirty="0">
                <a:solidFill>
                  <a:srgbClr val="FFFFFF"/>
                </a:solidFill>
                <a:latin typeface="Arial"/>
                <a:cs typeface="Arial"/>
              </a:rPr>
              <a:t>Internal</a:t>
            </a:r>
            <a:r>
              <a:rPr lang="en-GB" sz="2000" spc="-85" noProof="0" dirty="0">
                <a:solidFill>
                  <a:srgbClr val="FFFFFF"/>
                </a:solidFill>
                <a:latin typeface="Arial"/>
                <a:cs typeface="Arial"/>
              </a:rPr>
              <a:t> style</a:t>
            </a:r>
            <a:r>
              <a:rPr lang="en-GB" sz="2000" spc="-105" noProof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GB" sz="2000" spc="-10" noProof="0" dirty="0">
                <a:solidFill>
                  <a:srgbClr val="FFFFFF"/>
                </a:solidFill>
                <a:latin typeface="Arial"/>
                <a:cs typeface="Arial"/>
              </a:rPr>
              <a:t>sheet</a:t>
            </a:r>
            <a:endParaRPr lang="en-GB" sz="2000" noProof="0" dirty="0">
              <a:latin typeface="Arial"/>
              <a:cs typeface="Arial"/>
            </a:endParaRPr>
          </a:p>
          <a:p>
            <a:pPr marL="534670" indent="-521970">
              <a:lnSpc>
                <a:spcPct val="100000"/>
              </a:lnSpc>
              <a:buAutoNum type="arabicPeriod"/>
              <a:tabLst>
                <a:tab pos="534670" algn="l"/>
              </a:tabLst>
            </a:pPr>
            <a:r>
              <a:rPr lang="en-GB" sz="2000" spc="-65" noProof="0" dirty="0">
                <a:solidFill>
                  <a:srgbClr val="FFFFFF"/>
                </a:solidFill>
                <a:latin typeface="Arial"/>
                <a:cs typeface="Arial"/>
              </a:rPr>
              <a:t>Inline</a:t>
            </a:r>
            <a:r>
              <a:rPr lang="en-GB" sz="2000" spc="-95" noProof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GB" sz="2000" spc="-10" noProof="0" dirty="0">
                <a:solidFill>
                  <a:srgbClr val="FFFFFF"/>
                </a:solidFill>
                <a:latin typeface="Arial"/>
                <a:cs typeface="Arial"/>
              </a:rPr>
              <a:t>style</a:t>
            </a:r>
            <a:endParaRPr lang="en-GB" sz="20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lang="en-GB" sz="2000" noProof="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GB" sz="2000" b="1" spc="-110" noProof="0" dirty="0">
                <a:solidFill>
                  <a:srgbClr val="FFFFFF"/>
                </a:solidFill>
                <a:latin typeface="Arial"/>
                <a:cs typeface="Arial"/>
              </a:rPr>
              <a:t>Internal</a:t>
            </a:r>
            <a:r>
              <a:rPr lang="en-GB" sz="2000" b="1" spc="-65" noProof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GB" sz="2000" b="1" spc="-30" noProof="0" dirty="0">
                <a:solidFill>
                  <a:srgbClr val="FFFFFF"/>
                </a:solidFill>
                <a:latin typeface="Arial"/>
                <a:cs typeface="Arial"/>
              </a:rPr>
              <a:t>Priorities</a:t>
            </a:r>
            <a:endParaRPr lang="en-GB" sz="20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lang="en-GB" sz="2000" noProof="0" dirty="0">
              <a:latin typeface="Arial"/>
              <a:cs typeface="Arial"/>
            </a:endParaRPr>
          </a:p>
          <a:p>
            <a:pPr marL="374015" indent="-361315">
              <a:lnSpc>
                <a:spcPct val="100000"/>
              </a:lnSpc>
              <a:buAutoNum type="arabicPeriod"/>
              <a:tabLst>
                <a:tab pos="374015" algn="l"/>
              </a:tabLst>
            </a:pPr>
            <a:r>
              <a:rPr lang="en-GB" sz="2000" b="1" spc="-10" noProof="0" dirty="0">
                <a:solidFill>
                  <a:srgbClr val="FFFFFF"/>
                </a:solidFill>
                <a:latin typeface="Arial"/>
                <a:cs typeface="Arial"/>
              </a:rPr>
              <a:t>element</a:t>
            </a:r>
            <a:endParaRPr lang="en-GB" sz="2000" noProof="0" dirty="0">
              <a:latin typeface="Arial"/>
              <a:cs typeface="Arial"/>
            </a:endParaRPr>
          </a:p>
          <a:p>
            <a:pPr marL="374015" indent="-361315">
              <a:lnSpc>
                <a:spcPct val="100000"/>
              </a:lnSpc>
              <a:buAutoNum type="arabicPeriod"/>
              <a:tabLst>
                <a:tab pos="374015" algn="l"/>
              </a:tabLst>
            </a:pPr>
            <a:r>
              <a:rPr lang="en-GB" sz="2000" b="1" spc="-45" noProof="0" dirty="0">
                <a:solidFill>
                  <a:srgbClr val="FFFFFF"/>
                </a:solidFill>
                <a:latin typeface="Arial"/>
                <a:cs typeface="Arial"/>
              </a:rPr>
              <a:t>.class</a:t>
            </a:r>
            <a:endParaRPr lang="en-GB" sz="2000" noProof="0" dirty="0">
              <a:latin typeface="Arial"/>
              <a:cs typeface="Arial"/>
            </a:endParaRPr>
          </a:p>
          <a:p>
            <a:pPr marL="374015" indent="-361315">
              <a:lnSpc>
                <a:spcPct val="100000"/>
              </a:lnSpc>
              <a:buAutoNum type="arabicPeriod"/>
              <a:tabLst>
                <a:tab pos="374015" algn="l"/>
              </a:tabLst>
            </a:pPr>
            <a:r>
              <a:rPr lang="en-GB" sz="2000" b="1" spc="-25" noProof="0" dirty="0">
                <a:solidFill>
                  <a:srgbClr val="FFFFFF"/>
                </a:solidFill>
                <a:latin typeface="Arial"/>
                <a:cs typeface="Arial"/>
              </a:rPr>
              <a:t>#id</a:t>
            </a:r>
            <a:endParaRPr lang="en-GB" sz="20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lang="en-GB" sz="2000" noProof="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GB" sz="2000" spc="-10" noProof="0" dirty="0">
                <a:solidFill>
                  <a:srgbClr val="FFFFFF"/>
                </a:solidFill>
                <a:latin typeface="Arial"/>
                <a:cs typeface="Arial"/>
              </a:rPr>
              <a:t>!important</a:t>
            </a:r>
            <a:endParaRPr lang="en-GB" sz="2000" noProof="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2280"/>
              </a:spcBef>
            </a:pPr>
            <a:r>
              <a:rPr lang="en-GB" sz="2000" spc="-165" noProof="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lang="en-GB" sz="2000" spc="-114" noProof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GB" sz="2000" spc="-30" noProof="0" dirty="0">
                <a:solidFill>
                  <a:srgbClr val="FFFFFF"/>
                </a:solidFill>
                <a:latin typeface="Arial"/>
                <a:cs typeface="Arial"/>
              </a:rPr>
              <a:t>!important</a:t>
            </a:r>
            <a:r>
              <a:rPr lang="en-GB" sz="2000" spc="-90" noProof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GB" sz="2000" spc="-50" noProof="0" dirty="0">
                <a:solidFill>
                  <a:srgbClr val="FFFFFF"/>
                </a:solidFill>
                <a:latin typeface="Arial"/>
                <a:cs typeface="Arial"/>
              </a:rPr>
              <a:t>rule</a:t>
            </a:r>
            <a:r>
              <a:rPr lang="en-GB" sz="2000" spc="-114" noProof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GB" sz="2000" spc="-120" noProof="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lang="en-GB" sz="2000" spc="-90" noProof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GB" sz="2000" spc="-40" noProof="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lang="en-GB" sz="2000" spc="-114" noProof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GB" sz="2000" spc="-130" noProof="0" dirty="0">
                <a:solidFill>
                  <a:srgbClr val="FFFFFF"/>
                </a:solidFill>
                <a:latin typeface="Arial"/>
                <a:cs typeface="Arial"/>
              </a:rPr>
              <a:t>way</a:t>
            </a:r>
            <a:r>
              <a:rPr lang="en-GB" sz="2000" spc="-105" noProof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GB" sz="2000" spc="-25" noProof="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lang="en-GB" sz="2000" spc="-75" noProof="0" dirty="0">
                <a:solidFill>
                  <a:srgbClr val="FFFFFF"/>
                </a:solidFill>
                <a:latin typeface="Arial"/>
                <a:cs typeface="Arial"/>
              </a:rPr>
              <a:t>override</a:t>
            </a:r>
            <a:r>
              <a:rPr lang="en-GB" sz="2000" spc="-105" noProof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GB" sz="2000" spc="-70" noProof="0" dirty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lang="en-GB" sz="2000" spc="-95" noProof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GB" sz="2000" spc="-10" noProof="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lang="en-GB" sz="2000" spc="-90" noProof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GB" sz="2000" spc="-10" noProof="0" dirty="0">
                <a:solidFill>
                  <a:srgbClr val="FFFFFF"/>
                </a:solidFill>
                <a:latin typeface="Arial"/>
                <a:cs typeface="Arial"/>
              </a:rPr>
              <a:t>this.</a:t>
            </a:r>
            <a:endParaRPr lang="en-GB" sz="2000" noProof="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5779" y="648715"/>
            <a:ext cx="7211059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7200" spc="-254" noProof="0" dirty="0">
                <a:latin typeface="Times New Roman"/>
                <a:cs typeface="Times New Roman"/>
              </a:rPr>
              <a:t>3</a:t>
            </a:r>
            <a:r>
              <a:rPr lang="en-GB" sz="7200" spc="-204" noProof="0" dirty="0">
                <a:latin typeface="Times New Roman"/>
                <a:cs typeface="Times New Roman"/>
              </a:rPr>
              <a:t> </a:t>
            </a:r>
            <a:r>
              <a:rPr lang="en-GB" sz="7200" spc="-430" noProof="0" dirty="0">
                <a:latin typeface="Times New Roman"/>
                <a:cs typeface="Times New Roman"/>
              </a:rPr>
              <a:t>ways</a:t>
            </a:r>
            <a:r>
              <a:rPr lang="en-GB" sz="7200" spc="-20" noProof="0" dirty="0">
                <a:latin typeface="Times New Roman"/>
                <a:cs typeface="Times New Roman"/>
              </a:rPr>
              <a:t> </a:t>
            </a:r>
            <a:r>
              <a:rPr lang="en-GB" sz="7200" spc="75" noProof="0" dirty="0">
                <a:latin typeface="Times New Roman"/>
                <a:cs typeface="Times New Roman"/>
              </a:rPr>
              <a:t>to</a:t>
            </a:r>
            <a:r>
              <a:rPr lang="en-GB" sz="7200" spc="-105" noProof="0" dirty="0">
                <a:latin typeface="Times New Roman"/>
                <a:cs typeface="Times New Roman"/>
              </a:rPr>
              <a:t> </a:t>
            </a:r>
            <a:r>
              <a:rPr lang="en-GB" sz="7200" spc="-10" noProof="0" dirty="0">
                <a:latin typeface="Times New Roman"/>
                <a:cs typeface="Times New Roman"/>
              </a:rPr>
              <a:t>insert</a:t>
            </a:r>
            <a:r>
              <a:rPr lang="en-GB" sz="7200" spc="-100" noProof="0" dirty="0">
                <a:latin typeface="Times New Roman"/>
                <a:cs typeface="Times New Roman"/>
              </a:rPr>
              <a:t> </a:t>
            </a:r>
            <a:r>
              <a:rPr lang="en-GB" sz="7200" spc="-480" noProof="0" dirty="0">
                <a:latin typeface="Times New Roman"/>
                <a:cs typeface="Times New Roman"/>
              </a:rPr>
              <a:t>CSS</a:t>
            </a:r>
            <a:endParaRPr lang="en-GB" sz="7200" noProof="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04872" y="1806955"/>
            <a:ext cx="2411095" cy="249745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ctr">
              <a:lnSpc>
                <a:spcPct val="100200"/>
              </a:lnSpc>
              <a:spcBef>
                <a:spcPts val="85"/>
              </a:spcBef>
            </a:pPr>
            <a:r>
              <a:rPr lang="en-GB" sz="5400" spc="-140" noProof="0" dirty="0">
                <a:latin typeface="Arial"/>
                <a:cs typeface="Arial"/>
              </a:rPr>
              <a:t>External </a:t>
            </a:r>
            <a:r>
              <a:rPr lang="en-GB" sz="5400" spc="-10" noProof="0" dirty="0">
                <a:latin typeface="Arial"/>
                <a:cs typeface="Arial"/>
              </a:rPr>
              <a:t>Internal Inline</a:t>
            </a:r>
            <a:endParaRPr lang="en-GB" sz="5400" noProof="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6125" y="5278628"/>
            <a:ext cx="61868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400" spc="-20" noProof="0" dirty="0">
                <a:latin typeface="Arial"/>
                <a:cs typeface="Arial"/>
                <a:hlinkClick r:id="rId2"/>
              </a:rPr>
              <a:t>http://www.w3schools.com/css/css_howto.asp</a:t>
            </a:r>
            <a:endParaRPr lang="en-GB" sz="2400" noProof="0" dirty="0">
              <a:latin typeface="Arial"/>
              <a:cs typeface="Arial"/>
            </a:endParaRPr>
          </a:p>
        </p:txBody>
      </p:sp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27319" y="5546468"/>
            <a:ext cx="1118209" cy="111820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350" y="-6350"/>
            <a:ext cx="9156700" cy="6870700"/>
            <a:chOff x="-6350" y="-6350"/>
            <a:chExt cx="9156700" cy="68707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0" y="0"/>
                  </a:moveTo>
                  <a:lnTo>
                    <a:pt x="9144000" y="0"/>
                  </a:lnTo>
                  <a:lnTo>
                    <a:pt x="9144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n-GB" noProof="0"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455414" y="1384101"/>
              <a:ext cx="8233409" cy="635"/>
            </a:xfrm>
            <a:custGeom>
              <a:avLst/>
              <a:gdLst/>
              <a:ahLst/>
              <a:cxnLst/>
              <a:rect l="l" t="t" r="r" b="b"/>
              <a:pathLst>
                <a:path w="8233409" h="634">
                  <a:moveTo>
                    <a:pt x="0" y="0"/>
                  </a:moveTo>
                  <a:lnTo>
                    <a:pt x="8233172" y="89"/>
                  </a:lnTo>
                </a:path>
              </a:pathLst>
            </a:custGeom>
            <a:ln w="12700">
              <a:solidFill>
                <a:srgbClr val="9A9A9A"/>
              </a:solidFill>
            </a:ln>
          </p:spPr>
          <p:txBody>
            <a:bodyPr wrap="square" lIns="0" tIns="0" rIns="0" bIns="0" rtlCol="0"/>
            <a:lstStyle/>
            <a:p>
              <a:endParaRPr lang="en-GB" noProof="0" dirty="0"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344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3000" noProof="0" dirty="0"/>
              <a:t>Why</a:t>
            </a:r>
            <a:r>
              <a:rPr lang="en-GB" sz="3000" spc="-130" noProof="0" dirty="0"/>
              <a:t> </a:t>
            </a:r>
            <a:r>
              <a:rPr lang="en-GB" sz="3000" noProof="0" dirty="0"/>
              <a:t>use</a:t>
            </a:r>
            <a:r>
              <a:rPr lang="en-GB" sz="3000" spc="-120" noProof="0" dirty="0"/>
              <a:t> </a:t>
            </a:r>
            <a:r>
              <a:rPr lang="en-GB" sz="3000" noProof="0" dirty="0"/>
              <a:t>CSS</a:t>
            </a:r>
            <a:r>
              <a:rPr lang="en-GB" sz="3000" spc="-130" noProof="0" dirty="0"/>
              <a:t> </a:t>
            </a:r>
            <a:r>
              <a:rPr lang="en-GB" sz="3000" noProof="0" dirty="0"/>
              <a:t>for</a:t>
            </a:r>
            <a:r>
              <a:rPr lang="en-GB" sz="3000" spc="-120" noProof="0" dirty="0"/>
              <a:t> </a:t>
            </a:r>
            <a:r>
              <a:rPr lang="en-GB" sz="3000" spc="-20" noProof="0" dirty="0"/>
              <a:t>screen</a:t>
            </a:r>
            <a:r>
              <a:rPr lang="en-GB" sz="3000" spc="-125" noProof="0" dirty="0"/>
              <a:t> </a:t>
            </a:r>
            <a:r>
              <a:rPr lang="en-GB" sz="3000" spc="-10" noProof="0" dirty="0"/>
              <a:t>design?</a:t>
            </a:r>
            <a:endParaRPr lang="en-GB" sz="3000" noProof="0" dirty="0"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658495" marR="127635" indent="-342900">
              <a:lnSpc>
                <a:spcPct val="140400"/>
              </a:lnSpc>
              <a:spcBef>
                <a:spcPts val="160"/>
              </a:spcBef>
              <a:buFont typeface="Arial"/>
              <a:buChar char="•"/>
              <a:tabLst>
                <a:tab pos="658495" algn="l"/>
              </a:tabLst>
            </a:pPr>
            <a:r>
              <a:rPr lang="en-GB" i="1" noProof="0" dirty="0">
                <a:latin typeface="Helvetica Neue Light"/>
                <a:cs typeface="Helvetica Neue Light"/>
              </a:rPr>
              <a:t>Flexibility</a:t>
            </a:r>
            <a:r>
              <a:rPr lang="en-GB" i="1" spc="-45" noProof="0" dirty="0">
                <a:latin typeface="Helvetica Neue Light"/>
                <a:cs typeface="Helvetica Neue Light"/>
              </a:rPr>
              <a:t> </a:t>
            </a:r>
            <a:r>
              <a:rPr lang="en-GB" noProof="0" dirty="0"/>
              <a:t>-</a:t>
            </a:r>
            <a:r>
              <a:rPr lang="en-GB" spc="-45" noProof="0" dirty="0"/>
              <a:t> </a:t>
            </a:r>
            <a:r>
              <a:rPr lang="en-GB" noProof="0" dirty="0"/>
              <a:t>as</a:t>
            </a:r>
            <a:r>
              <a:rPr lang="en-GB" spc="-50" noProof="0" dirty="0"/>
              <a:t> </a:t>
            </a:r>
            <a:r>
              <a:rPr lang="en-GB" noProof="0" dirty="0"/>
              <a:t>CSS</a:t>
            </a:r>
            <a:r>
              <a:rPr lang="en-GB" spc="-50" noProof="0" dirty="0"/>
              <a:t> </a:t>
            </a:r>
            <a:r>
              <a:rPr lang="en-GB" noProof="0" dirty="0"/>
              <a:t>cascades</a:t>
            </a:r>
            <a:r>
              <a:rPr lang="en-GB" spc="-50" noProof="0" dirty="0"/>
              <a:t> </a:t>
            </a:r>
            <a:r>
              <a:rPr lang="en-GB" noProof="0" dirty="0"/>
              <a:t>through</a:t>
            </a:r>
            <a:r>
              <a:rPr lang="en-GB" spc="-45" noProof="0" dirty="0"/>
              <a:t> </a:t>
            </a:r>
            <a:r>
              <a:rPr lang="en-GB" noProof="0" dirty="0"/>
              <a:t>all</a:t>
            </a:r>
            <a:r>
              <a:rPr lang="en-GB" spc="-35" noProof="0" dirty="0"/>
              <a:t> </a:t>
            </a:r>
            <a:r>
              <a:rPr lang="en-GB" noProof="0" dirty="0"/>
              <a:t>the</a:t>
            </a:r>
            <a:r>
              <a:rPr lang="en-GB" spc="-45" noProof="0" dirty="0"/>
              <a:t> </a:t>
            </a:r>
            <a:r>
              <a:rPr lang="en-GB" noProof="0" dirty="0"/>
              <a:t>files</a:t>
            </a:r>
            <a:r>
              <a:rPr lang="en-GB" spc="-50" noProof="0" dirty="0"/>
              <a:t> </a:t>
            </a:r>
            <a:r>
              <a:rPr lang="en-GB" noProof="0" dirty="0"/>
              <a:t>in</a:t>
            </a:r>
            <a:r>
              <a:rPr lang="en-GB" spc="-45" noProof="0" dirty="0"/>
              <a:t> </a:t>
            </a:r>
            <a:r>
              <a:rPr lang="en-GB" spc="-20" noProof="0" dirty="0"/>
              <a:t>your </a:t>
            </a:r>
            <a:r>
              <a:rPr lang="en-GB" noProof="0" dirty="0"/>
              <a:t>work,</a:t>
            </a:r>
            <a:r>
              <a:rPr lang="en-GB" spc="-55" noProof="0" dirty="0"/>
              <a:t> </a:t>
            </a:r>
            <a:r>
              <a:rPr lang="en-GB" noProof="0" dirty="0"/>
              <a:t>you</a:t>
            </a:r>
            <a:r>
              <a:rPr lang="en-GB" spc="-55" noProof="0" dirty="0"/>
              <a:t> </a:t>
            </a:r>
            <a:r>
              <a:rPr lang="en-GB" noProof="0" dirty="0"/>
              <a:t>can</a:t>
            </a:r>
            <a:r>
              <a:rPr lang="en-GB" spc="-55" noProof="0" dirty="0"/>
              <a:t> </a:t>
            </a:r>
            <a:r>
              <a:rPr lang="en-GB" noProof="0" dirty="0"/>
              <a:t>make</a:t>
            </a:r>
            <a:r>
              <a:rPr lang="en-GB" spc="-50" noProof="0" dirty="0"/>
              <a:t> </a:t>
            </a:r>
            <a:r>
              <a:rPr lang="en-GB" noProof="0" dirty="0"/>
              <a:t>variants</a:t>
            </a:r>
            <a:r>
              <a:rPr lang="en-GB" spc="-55" noProof="0" dirty="0"/>
              <a:t> </a:t>
            </a:r>
            <a:r>
              <a:rPr lang="en-GB" noProof="0" dirty="0"/>
              <a:t>quickly</a:t>
            </a:r>
            <a:r>
              <a:rPr lang="en-GB" spc="-50" noProof="0" dirty="0"/>
              <a:t> </a:t>
            </a:r>
            <a:r>
              <a:rPr lang="en-GB" noProof="0" dirty="0"/>
              <a:t>and</a:t>
            </a:r>
            <a:r>
              <a:rPr lang="en-GB" spc="-55" noProof="0" dirty="0"/>
              <a:t> </a:t>
            </a:r>
            <a:r>
              <a:rPr lang="en-GB" spc="-25" noProof="0" dirty="0"/>
              <a:t>easily,</a:t>
            </a:r>
            <a:r>
              <a:rPr lang="en-GB" spc="-55" noProof="0" dirty="0"/>
              <a:t> </a:t>
            </a:r>
            <a:r>
              <a:rPr lang="en-GB" spc="-10" noProof="0" dirty="0"/>
              <a:t>which </a:t>
            </a:r>
            <a:r>
              <a:rPr lang="en-GB" noProof="0" dirty="0"/>
              <a:t>then</a:t>
            </a:r>
            <a:r>
              <a:rPr lang="en-GB" spc="-45" noProof="0" dirty="0"/>
              <a:t> </a:t>
            </a:r>
            <a:r>
              <a:rPr lang="en-GB" noProof="0" dirty="0"/>
              <a:t>gets</a:t>
            </a:r>
            <a:r>
              <a:rPr lang="en-GB" spc="-45" noProof="0" dirty="0"/>
              <a:t> </a:t>
            </a:r>
            <a:r>
              <a:rPr lang="en-GB" noProof="0" dirty="0"/>
              <a:t>applied</a:t>
            </a:r>
            <a:r>
              <a:rPr lang="en-GB" spc="-40" noProof="0" dirty="0"/>
              <a:t> </a:t>
            </a:r>
            <a:r>
              <a:rPr lang="en-GB" noProof="0" dirty="0"/>
              <a:t>to</a:t>
            </a:r>
            <a:r>
              <a:rPr lang="en-GB" spc="-35" noProof="0" dirty="0"/>
              <a:t> </a:t>
            </a:r>
            <a:r>
              <a:rPr lang="en-GB" noProof="0" dirty="0"/>
              <a:t>all</a:t>
            </a:r>
            <a:r>
              <a:rPr lang="en-GB" spc="-30" noProof="0" dirty="0"/>
              <a:t> </a:t>
            </a:r>
            <a:r>
              <a:rPr lang="en-GB" noProof="0" dirty="0"/>
              <a:t>the</a:t>
            </a:r>
            <a:r>
              <a:rPr lang="en-GB" spc="-35" noProof="0" dirty="0"/>
              <a:t> </a:t>
            </a:r>
            <a:r>
              <a:rPr lang="en-GB" noProof="0" dirty="0"/>
              <a:t>files</a:t>
            </a:r>
            <a:r>
              <a:rPr lang="en-GB" spc="-45" noProof="0" dirty="0"/>
              <a:t> </a:t>
            </a:r>
            <a:r>
              <a:rPr lang="en-GB" spc="-10" noProof="0" dirty="0"/>
              <a:t>automatically</a:t>
            </a:r>
          </a:p>
          <a:p>
            <a:pPr marL="658495" marR="5080" indent="-342900">
              <a:lnSpc>
                <a:spcPct val="140000"/>
              </a:lnSpc>
              <a:spcBef>
                <a:spcPts val="575"/>
              </a:spcBef>
              <a:buFont typeface="Arial"/>
              <a:buChar char="•"/>
              <a:tabLst>
                <a:tab pos="658495" algn="l"/>
              </a:tabLst>
            </a:pPr>
            <a:r>
              <a:rPr lang="en-GB" noProof="0" dirty="0"/>
              <a:t>Imagine</a:t>
            </a:r>
            <a:r>
              <a:rPr lang="en-GB" spc="-60" noProof="0" dirty="0"/>
              <a:t> </a:t>
            </a:r>
            <a:r>
              <a:rPr lang="en-GB" noProof="0" dirty="0"/>
              <a:t>if</a:t>
            </a:r>
            <a:r>
              <a:rPr lang="en-GB" spc="-65" noProof="0" dirty="0"/>
              <a:t> </a:t>
            </a:r>
            <a:r>
              <a:rPr lang="en-GB" noProof="0" dirty="0"/>
              <a:t>you</a:t>
            </a:r>
            <a:r>
              <a:rPr lang="en-GB" spc="-65" noProof="0" dirty="0"/>
              <a:t> </a:t>
            </a:r>
            <a:r>
              <a:rPr lang="en-GB" noProof="0" dirty="0"/>
              <a:t>were</a:t>
            </a:r>
            <a:r>
              <a:rPr lang="en-GB" spc="-60" noProof="0" dirty="0"/>
              <a:t> </a:t>
            </a:r>
            <a:r>
              <a:rPr lang="en-GB" noProof="0" dirty="0"/>
              <a:t>creating</a:t>
            </a:r>
            <a:r>
              <a:rPr lang="en-GB" spc="-60" noProof="0" dirty="0"/>
              <a:t> </a:t>
            </a:r>
            <a:r>
              <a:rPr lang="en-GB" noProof="0" dirty="0"/>
              <a:t>screen</a:t>
            </a:r>
            <a:r>
              <a:rPr lang="en-GB" spc="-70" noProof="0" dirty="0"/>
              <a:t> </a:t>
            </a:r>
            <a:r>
              <a:rPr lang="en-GB" noProof="0" dirty="0"/>
              <a:t>pages</a:t>
            </a:r>
            <a:r>
              <a:rPr lang="en-GB" spc="-65" noProof="0" dirty="0"/>
              <a:t> </a:t>
            </a:r>
            <a:r>
              <a:rPr lang="en-GB" spc="-10" noProof="0" dirty="0"/>
              <a:t>using </a:t>
            </a:r>
            <a:r>
              <a:rPr lang="en-GB" noProof="0" dirty="0"/>
              <a:t>Photoshop</a:t>
            </a:r>
            <a:r>
              <a:rPr lang="en-GB" spc="-50" noProof="0" dirty="0"/>
              <a:t> </a:t>
            </a:r>
            <a:r>
              <a:rPr lang="en-GB" noProof="0" dirty="0"/>
              <a:t>-</a:t>
            </a:r>
            <a:r>
              <a:rPr lang="en-GB" spc="-50" noProof="0" dirty="0"/>
              <a:t> </a:t>
            </a:r>
            <a:r>
              <a:rPr lang="en-GB" noProof="0" dirty="0"/>
              <a:t>if</a:t>
            </a:r>
            <a:r>
              <a:rPr lang="en-GB" spc="-45" noProof="0" dirty="0"/>
              <a:t> </a:t>
            </a:r>
            <a:r>
              <a:rPr lang="en-GB" noProof="0" dirty="0"/>
              <a:t>you</a:t>
            </a:r>
            <a:r>
              <a:rPr lang="en-GB" spc="-45" noProof="0" dirty="0"/>
              <a:t> </a:t>
            </a:r>
            <a:r>
              <a:rPr lang="en-GB" noProof="0" dirty="0"/>
              <a:t>wanted</a:t>
            </a:r>
            <a:r>
              <a:rPr lang="en-GB" spc="-50" noProof="0" dirty="0"/>
              <a:t> </a:t>
            </a:r>
            <a:r>
              <a:rPr lang="en-GB" noProof="0" dirty="0"/>
              <a:t>to</a:t>
            </a:r>
            <a:r>
              <a:rPr lang="en-GB" spc="-45" noProof="0" dirty="0"/>
              <a:t> </a:t>
            </a:r>
            <a:r>
              <a:rPr lang="en-GB" noProof="0" dirty="0"/>
              <a:t>change</a:t>
            </a:r>
            <a:r>
              <a:rPr lang="en-GB" spc="-45" noProof="0" dirty="0"/>
              <a:t> </a:t>
            </a:r>
            <a:r>
              <a:rPr lang="en-GB" noProof="0" dirty="0"/>
              <a:t>something</a:t>
            </a:r>
            <a:r>
              <a:rPr lang="en-GB" spc="-40" noProof="0" dirty="0"/>
              <a:t> </a:t>
            </a:r>
            <a:r>
              <a:rPr lang="en-GB" spc="-20" noProof="0" dirty="0"/>
              <a:t>that </a:t>
            </a:r>
            <a:r>
              <a:rPr lang="en-GB" noProof="0" dirty="0"/>
              <a:t>features</a:t>
            </a:r>
            <a:r>
              <a:rPr lang="en-GB" spc="-60" noProof="0" dirty="0"/>
              <a:t> </a:t>
            </a:r>
            <a:r>
              <a:rPr lang="en-GB" noProof="0" dirty="0"/>
              <a:t>on</a:t>
            </a:r>
            <a:r>
              <a:rPr lang="en-GB" spc="-55" noProof="0" dirty="0"/>
              <a:t> </a:t>
            </a:r>
            <a:r>
              <a:rPr lang="en-GB" noProof="0" dirty="0"/>
              <a:t>all</a:t>
            </a:r>
            <a:r>
              <a:rPr lang="en-GB" spc="-45" noProof="0" dirty="0"/>
              <a:t> </a:t>
            </a:r>
            <a:r>
              <a:rPr lang="en-GB" noProof="0" dirty="0"/>
              <a:t>the</a:t>
            </a:r>
            <a:r>
              <a:rPr lang="en-GB" spc="-50" noProof="0" dirty="0"/>
              <a:t> </a:t>
            </a:r>
            <a:r>
              <a:rPr lang="en-GB" noProof="0" dirty="0"/>
              <a:t>pages</a:t>
            </a:r>
            <a:r>
              <a:rPr lang="en-GB" spc="-60" noProof="0" dirty="0"/>
              <a:t> </a:t>
            </a:r>
            <a:r>
              <a:rPr lang="en-GB" noProof="0" dirty="0"/>
              <a:t>(e.g.</a:t>
            </a:r>
            <a:r>
              <a:rPr lang="en-GB" spc="-55" noProof="0" dirty="0"/>
              <a:t> </a:t>
            </a:r>
            <a:r>
              <a:rPr lang="en-GB" noProof="0" dirty="0"/>
              <a:t>a</a:t>
            </a:r>
            <a:r>
              <a:rPr lang="en-GB" spc="-50" noProof="0" dirty="0"/>
              <a:t> </a:t>
            </a:r>
            <a:r>
              <a:rPr lang="en-GB" noProof="0" dirty="0"/>
              <a:t>logo</a:t>
            </a:r>
            <a:r>
              <a:rPr lang="en-GB" spc="-50" noProof="0" dirty="0"/>
              <a:t> </a:t>
            </a:r>
            <a:r>
              <a:rPr lang="en-GB" spc="-25" noProof="0" dirty="0"/>
              <a:t>colour,</a:t>
            </a:r>
            <a:r>
              <a:rPr lang="en-GB" spc="-60" noProof="0" dirty="0"/>
              <a:t> </a:t>
            </a:r>
            <a:r>
              <a:rPr lang="en-GB" noProof="0" dirty="0"/>
              <a:t>the</a:t>
            </a:r>
            <a:r>
              <a:rPr lang="en-GB" spc="-50" noProof="0" dirty="0"/>
              <a:t> </a:t>
            </a:r>
            <a:r>
              <a:rPr lang="en-GB" spc="-10" noProof="0" dirty="0"/>
              <a:t>font)</a:t>
            </a:r>
            <a:r>
              <a:rPr lang="en-GB" spc="600" noProof="0" dirty="0"/>
              <a:t> </a:t>
            </a:r>
            <a:r>
              <a:rPr lang="en-GB" noProof="0" dirty="0"/>
              <a:t>you</a:t>
            </a:r>
            <a:r>
              <a:rPr lang="en-GB" spc="-40" noProof="0" dirty="0"/>
              <a:t> </a:t>
            </a:r>
            <a:r>
              <a:rPr lang="en-GB" noProof="0" dirty="0"/>
              <a:t>would</a:t>
            </a:r>
            <a:r>
              <a:rPr lang="en-GB" spc="-40" noProof="0" dirty="0"/>
              <a:t> </a:t>
            </a:r>
            <a:r>
              <a:rPr lang="en-GB" noProof="0" dirty="0"/>
              <a:t>have</a:t>
            </a:r>
            <a:r>
              <a:rPr lang="en-GB" spc="-35" noProof="0" dirty="0"/>
              <a:t> </a:t>
            </a:r>
            <a:r>
              <a:rPr lang="en-GB" noProof="0" dirty="0"/>
              <a:t>to</a:t>
            </a:r>
            <a:r>
              <a:rPr lang="en-GB" spc="-40" noProof="0" dirty="0"/>
              <a:t> </a:t>
            </a:r>
            <a:r>
              <a:rPr lang="en-GB" noProof="0" dirty="0"/>
              <a:t>do</a:t>
            </a:r>
            <a:r>
              <a:rPr lang="en-GB" spc="-35" noProof="0" dirty="0"/>
              <a:t> </a:t>
            </a:r>
            <a:r>
              <a:rPr lang="en-GB" noProof="0" dirty="0"/>
              <a:t>it</a:t>
            </a:r>
            <a:r>
              <a:rPr lang="en-GB" spc="-35" noProof="0" dirty="0"/>
              <a:t> </a:t>
            </a:r>
            <a:r>
              <a:rPr lang="en-GB" noProof="0" dirty="0"/>
              <a:t>on</a:t>
            </a:r>
            <a:r>
              <a:rPr lang="en-GB" spc="-40" noProof="0" dirty="0"/>
              <a:t> </a:t>
            </a:r>
            <a:r>
              <a:rPr lang="en-GB" noProof="0" dirty="0"/>
              <a:t>every</a:t>
            </a:r>
            <a:r>
              <a:rPr lang="en-GB" spc="-35" noProof="0" dirty="0"/>
              <a:t> </a:t>
            </a:r>
            <a:r>
              <a:rPr lang="en-GB" noProof="0" dirty="0"/>
              <a:t>single</a:t>
            </a:r>
            <a:r>
              <a:rPr lang="en-GB" spc="-35" noProof="0" dirty="0"/>
              <a:t> </a:t>
            </a:r>
            <a:r>
              <a:rPr lang="en-GB" noProof="0" dirty="0"/>
              <a:t>page</a:t>
            </a:r>
            <a:r>
              <a:rPr lang="en-GB" spc="-35" noProof="0" dirty="0"/>
              <a:t> </a:t>
            </a:r>
            <a:r>
              <a:rPr lang="en-GB" spc="-10" noProof="0" dirty="0"/>
              <a:t>individually.</a:t>
            </a:r>
          </a:p>
          <a:p>
            <a:pPr marL="657860" indent="-342265">
              <a:lnSpc>
                <a:spcPct val="100000"/>
              </a:lnSpc>
              <a:spcBef>
                <a:spcPts val="1730"/>
              </a:spcBef>
              <a:buFont typeface="Arial"/>
              <a:buChar char="•"/>
              <a:tabLst>
                <a:tab pos="657860" algn="l"/>
              </a:tabLst>
            </a:pPr>
            <a:r>
              <a:rPr lang="en-GB" noProof="0" dirty="0"/>
              <a:t>With</a:t>
            </a:r>
            <a:r>
              <a:rPr lang="en-GB" spc="-40" noProof="0" dirty="0"/>
              <a:t> </a:t>
            </a:r>
            <a:r>
              <a:rPr lang="en-GB" noProof="0" dirty="0"/>
              <a:t>CSS</a:t>
            </a:r>
            <a:r>
              <a:rPr lang="en-GB" spc="-35" noProof="0" dirty="0"/>
              <a:t> </a:t>
            </a:r>
            <a:r>
              <a:rPr lang="en-GB" noProof="0" dirty="0"/>
              <a:t>you</a:t>
            </a:r>
            <a:r>
              <a:rPr lang="en-GB" spc="-40" noProof="0" dirty="0"/>
              <a:t> </a:t>
            </a:r>
            <a:r>
              <a:rPr lang="en-GB" noProof="0" dirty="0"/>
              <a:t>change</a:t>
            </a:r>
            <a:r>
              <a:rPr lang="en-GB" spc="-30" noProof="0" dirty="0"/>
              <a:t> </a:t>
            </a:r>
            <a:r>
              <a:rPr lang="en-GB" noProof="0" dirty="0"/>
              <a:t>one</a:t>
            </a:r>
            <a:r>
              <a:rPr lang="en-GB" spc="-30" noProof="0" dirty="0"/>
              <a:t> </a:t>
            </a:r>
            <a:r>
              <a:rPr lang="en-GB" noProof="0" dirty="0"/>
              <a:t>file</a:t>
            </a:r>
            <a:r>
              <a:rPr lang="en-GB" spc="-30" noProof="0" dirty="0"/>
              <a:t> </a:t>
            </a:r>
            <a:r>
              <a:rPr lang="en-GB" noProof="0" dirty="0"/>
              <a:t>and</a:t>
            </a:r>
            <a:r>
              <a:rPr lang="en-GB" spc="-35" noProof="0" dirty="0"/>
              <a:t> </a:t>
            </a:r>
            <a:r>
              <a:rPr lang="en-GB" i="1" noProof="0" dirty="0">
                <a:latin typeface="Helvetica Neue Light"/>
                <a:cs typeface="Helvetica Neue Light"/>
              </a:rPr>
              <a:t>everything</a:t>
            </a:r>
            <a:r>
              <a:rPr lang="en-GB" i="1" spc="-40" noProof="0" dirty="0">
                <a:latin typeface="Helvetica Neue Light"/>
                <a:cs typeface="Helvetica Neue Light"/>
              </a:rPr>
              <a:t> </a:t>
            </a:r>
            <a:r>
              <a:rPr lang="en-GB" spc="-10" noProof="0" dirty="0"/>
              <a:t>updates.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145" y="-10510"/>
            <a:ext cx="9144000" cy="6612711"/>
            <a:chOff x="0" y="245288"/>
            <a:chExt cx="9144000" cy="6612711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45288"/>
              <a:ext cx="9144000" cy="661271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160" y="277367"/>
              <a:ext cx="8887968" cy="29994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823" y="1155192"/>
              <a:ext cx="6821424" cy="199339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23241" y="366116"/>
              <a:ext cx="8608695" cy="2803374"/>
            </a:xfrm>
            <a:custGeom>
              <a:avLst/>
              <a:gdLst/>
              <a:ahLst/>
              <a:cxnLst/>
              <a:rect l="l" t="t" r="r" b="b"/>
              <a:pathLst>
                <a:path w="8608695" h="3366770">
                  <a:moveTo>
                    <a:pt x="8429678" y="0"/>
                  </a:moveTo>
                  <a:lnTo>
                    <a:pt x="178540" y="0"/>
                  </a:lnTo>
                  <a:lnTo>
                    <a:pt x="131136" y="6378"/>
                  </a:lnTo>
                  <a:lnTo>
                    <a:pt x="88502" y="24380"/>
                  </a:lnTo>
                  <a:lnTo>
                    <a:pt x="52356" y="52304"/>
                  </a:lnTo>
                  <a:lnTo>
                    <a:pt x="24413" y="88449"/>
                  </a:lnTo>
                  <a:lnTo>
                    <a:pt x="6389" y="131113"/>
                  </a:lnTo>
                  <a:lnTo>
                    <a:pt x="0" y="178596"/>
                  </a:lnTo>
                  <a:lnTo>
                    <a:pt x="0" y="2777126"/>
                  </a:lnTo>
                  <a:lnTo>
                    <a:pt x="6389" y="2824609"/>
                  </a:lnTo>
                  <a:lnTo>
                    <a:pt x="24413" y="2867273"/>
                  </a:lnTo>
                  <a:lnTo>
                    <a:pt x="52356" y="2903418"/>
                  </a:lnTo>
                  <a:lnTo>
                    <a:pt x="88502" y="2931342"/>
                  </a:lnTo>
                  <a:lnTo>
                    <a:pt x="131136" y="2949344"/>
                  </a:lnTo>
                  <a:lnTo>
                    <a:pt x="178540" y="2955723"/>
                  </a:lnTo>
                  <a:lnTo>
                    <a:pt x="3408216" y="2955723"/>
                  </a:lnTo>
                  <a:lnTo>
                    <a:pt x="3594329" y="3366213"/>
                  </a:lnTo>
                  <a:lnTo>
                    <a:pt x="3780840" y="2955723"/>
                  </a:lnTo>
                  <a:lnTo>
                    <a:pt x="8429678" y="2955723"/>
                  </a:lnTo>
                  <a:lnTo>
                    <a:pt x="8477082" y="2949344"/>
                  </a:lnTo>
                  <a:lnTo>
                    <a:pt x="8519715" y="2931342"/>
                  </a:lnTo>
                  <a:lnTo>
                    <a:pt x="8555862" y="2903418"/>
                  </a:lnTo>
                  <a:lnTo>
                    <a:pt x="8583805" y="2867273"/>
                  </a:lnTo>
                  <a:lnTo>
                    <a:pt x="8601829" y="2824609"/>
                  </a:lnTo>
                  <a:lnTo>
                    <a:pt x="8608218" y="2777126"/>
                  </a:lnTo>
                  <a:lnTo>
                    <a:pt x="8608218" y="178596"/>
                  </a:lnTo>
                  <a:lnTo>
                    <a:pt x="8601829" y="131113"/>
                  </a:lnTo>
                  <a:lnTo>
                    <a:pt x="8583805" y="88449"/>
                  </a:lnTo>
                  <a:lnTo>
                    <a:pt x="8555862" y="52304"/>
                  </a:lnTo>
                  <a:lnTo>
                    <a:pt x="8519715" y="24380"/>
                  </a:lnTo>
                  <a:lnTo>
                    <a:pt x="8477082" y="6378"/>
                  </a:lnTo>
                  <a:lnTo>
                    <a:pt x="8429678" y="0"/>
                  </a:lnTo>
                  <a:close/>
                </a:path>
              </a:pathLst>
            </a:custGeom>
            <a:solidFill>
              <a:srgbClr val="020719">
                <a:alpha val="45098"/>
              </a:srgbClr>
            </a:solidFill>
          </p:spPr>
          <p:txBody>
            <a:bodyPr wrap="square" lIns="0" tIns="0" rIns="0" bIns="0" rtlCol="0"/>
            <a:lstStyle/>
            <a:p>
              <a:endParaRPr lang="en-GB" noProof="0"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223241" y="366116"/>
              <a:ext cx="8608695" cy="2782467"/>
            </a:xfrm>
            <a:custGeom>
              <a:avLst/>
              <a:gdLst/>
              <a:ahLst/>
              <a:cxnLst/>
              <a:rect l="l" t="t" r="r" b="b"/>
              <a:pathLst>
                <a:path w="8608695" h="3366770">
                  <a:moveTo>
                    <a:pt x="178540" y="0"/>
                  </a:moveTo>
                  <a:lnTo>
                    <a:pt x="131136" y="6378"/>
                  </a:lnTo>
                  <a:lnTo>
                    <a:pt x="88502" y="24380"/>
                  </a:lnTo>
                  <a:lnTo>
                    <a:pt x="52356" y="52304"/>
                  </a:lnTo>
                  <a:lnTo>
                    <a:pt x="24413" y="88449"/>
                  </a:lnTo>
                  <a:lnTo>
                    <a:pt x="6389" y="131113"/>
                  </a:lnTo>
                  <a:lnTo>
                    <a:pt x="0" y="178596"/>
                  </a:lnTo>
                  <a:lnTo>
                    <a:pt x="0" y="2777126"/>
                  </a:lnTo>
                  <a:lnTo>
                    <a:pt x="6389" y="2824608"/>
                  </a:lnTo>
                  <a:lnTo>
                    <a:pt x="24413" y="2867272"/>
                  </a:lnTo>
                  <a:lnTo>
                    <a:pt x="52356" y="2903417"/>
                  </a:lnTo>
                  <a:lnTo>
                    <a:pt x="88502" y="2931342"/>
                  </a:lnTo>
                  <a:lnTo>
                    <a:pt x="131136" y="2949344"/>
                  </a:lnTo>
                  <a:lnTo>
                    <a:pt x="178540" y="2955723"/>
                  </a:lnTo>
                  <a:lnTo>
                    <a:pt x="3408217" y="2955723"/>
                  </a:lnTo>
                  <a:lnTo>
                    <a:pt x="3594330" y="3366214"/>
                  </a:lnTo>
                  <a:lnTo>
                    <a:pt x="3780841" y="2955723"/>
                  </a:lnTo>
                  <a:lnTo>
                    <a:pt x="8429678" y="2955723"/>
                  </a:lnTo>
                  <a:lnTo>
                    <a:pt x="8477082" y="2949344"/>
                  </a:lnTo>
                  <a:lnTo>
                    <a:pt x="8519716" y="2931342"/>
                  </a:lnTo>
                  <a:lnTo>
                    <a:pt x="8555862" y="2903417"/>
                  </a:lnTo>
                  <a:lnTo>
                    <a:pt x="8583805" y="2867272"/>
                  </a:lnTo>
                  <a:lnTo>
                    <a:pt x="8601829" y="2824608"/>
                  </a:lnTo>
                  <a:lnTo>
                    <a:pt x="8608219" y="2777126"/>
                  </a:lnTo>
                  <a:lnTo>
                    <a:pt x="8608219" y="178596"/>
                  </a:lnTo>
                  <a:lnTo>
                    <a:pt x="8601829" y="131113"/>
                  </a:lnTo>
                  <a:lnTo>
                    <a:pt x="8583805" y="88449"/>
                  </a:lnTo>
                  <a:lnTo>
                    <a:pt x="8555862" y="52304"/>
                  </a:lnTo>
                  <a:lnTo>
                    <a:pt x="8519716" y="24380"/>
                  </a:lnTo>
                  <a:lnTo>
                    <a:pt x="8477082" y="6378"/>
                  </a:lnTo>
                  <a:lnTo>
                    <a:pt x="8429678" y="0"/>
                  </a:lnTo>
                  <a:lnTo>
                    <a:pt x="178540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lang="en-GB" noProof="0" dirty="0"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90600" y="916694"/>
            <a:ext cx="67056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3200" i="1" noProof="0" dirty="0">
                <a:solidFill>
                  <a:srgbClr val="FFFFFF"/>
                </a:solidFill>
                <a:latin typeface="Georgia"/>
                <a:cs typeface="Georgia"/>
              </a:rPr>
              <a:t>CSS</a:t>
            </a:r>
            <a:r>
              <a:rPr lang="en-GB" sz="3200" i="1" spc="-8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3200" i="1" noProof="0" dirty="0">
                <a:solidFill>
                  <a:srgbClr val="FFFFFF"/>
                </a:solidFill>
                <a:latin typeface="Georgia"/>
                <a:cs typeface="Georgia"/>
              </a:rPr>
              <a:t>works</a:t>
            </a:r>
            <a:r>
              <a:rPr lang="en-GB" sz="3200" i="1" spc="-8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3200" i="1" noProof="0" dirty="0">
                <a:solidFill>
                  <a:srgbClr val="FFFFFF"/>
                </a:solidFill>
                <a:latin typeface="Georgia"/>
                <a:cs typeface="Georgia"/>
              </a:rPr>
              <a:t>great</a:t>
            </a:r>
            <a:r>
              <a:rPr lang="en-GB" sz="3200" i="1" spc="-8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3200" i="1" noProof="0" dirty="0">
                <a:solidFill>
                  <a:srgbClr val="FFFFFF"/>
                </a:solidFill>
                <a:latin typeface="Georgia"/>
                <a:cs typeface="Georgia"/>
              </a:rPr>
              <a:t>with</a:t>
            </a:r>
            <a:r>
              <a:rPr lang="en-GB" sz="3200" i="1" spc="-70" noProof="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GB" sz="3200" i="1" spc="-10" noProof="0" dirty="0">
                <a:solidFill>
                  <a:srgbClr val="FFFFFF"/>
                </a:solidFill>
                <a:latin typeface="Georgia"/>
                <a:cs typeface="Georgia"/>
              </a:rPr>
              <a:t>HTML.</a:t>
            </a:r>
            <a:endParaRPr lang="en-GB" sz="3200" noProof="0" dirty="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8274" y="1829915"/>
            <a:ext cx="8686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5074920" algn="l"/>
              </a:tabLst>
            </a:pPr>
            <a:r>
              <a:rPr lang="en-GB" sz="3200" i="1" noProof="0" dirty="0">
                <a:solidFill>
                  <a:schemeClr val="bg1"/>
                </a:solidFill>
                <a:latin typeface="Georgia"/>
                <a:cs typeface="Georgia"/>
              </a:rPr>
              <a:t>And</a:t>
            </a:r>
            <a:r>
              <a:rPr lang="en-GB" sz="3200" i="1" spc="-50" noProof="0" dirty="0">
                <a:solidFill>
                  <a:schemeClr val="bg1"/>
                </a:solidFill>
                <a:latin typeface="Georgia"/>
                <a:cs typeface="Georgia"/>
              </a:rPr>
              <a:t> </a:t>
            </a:r>
            <a:r>
              <a:rPr lang="en-GB" sz="3200" i="1" noProof="0" dirty="0">
                <a:solidFill>
                  <a:schemeClr val="bg1"/>
                </a:solidFill>
                <a:latin typeface="Georgia"/>
                <a:cs typeface="Georgia"/>
              </a:rPr>
              <a:t>you</a:t>
            </a:r>
            <a:r>
              <a:rPr lang="en-GB" sz="3200" i="1" spc="-50" noProof="0" dirty="0">
                <a:solidFill>
                  <a:schemeClr val="bg1"/>
                </a:solidFill>
                <a:latin typeface="Georgia"/>
                <a:cs typeface="Georgia"/>
              </a:rPr>
              <a:t> </a:t>
            </a:r>
            <a:r>
              <a:rPr lang="en-GB" sz="3200" i="1" noProof="0" dirty="0">
                <a:solidFill>
                  <a:schemeClr val="bg1"/>
                </a:solidFill>
                <a:latin typeface="Georgia"/>
                <a:cs typeface="Georgia"/>
              </a:rPr>
              <a:t>can</a:t>
            </a:r>
            <a:r>
              <a:rPr lang="en-GB" sz="3200" i="1" spc="-55" noProof="0" dirty="0">
                <a:solidFill>
                  <a:schemeClr val="bg1"/>
                </a:solidFill>
                <a:latin typeface="Georgia"/>
                <a:cs typeface="Georgia"/>
              </a:rPr>
              <a:t> </a:t>
            </a:r>
            <a:r>
              <a:rPr lang="en-GB" sz="3200" i="1" noProof="0" dirty="0">
                <a:solidFill>
                  <a:schemeClr val="bg1"/>
                </a:solidFill>
                <a:latin typeface="Georgia"/>
                <a:cs typeface="Georgia"/>
              </a:rPr>
              <a:t>do</a:t>
            </a:r>
            <a:r>
              <a:rPr lang="en-GB" sz="3200" i="1" spc="-45" noProof="0" dirty="0">
                <a:solidFill>
                  <a:schemeClr val="bg1"/>
                </a:solidFill>
                <a:latin typeface="Georgia"/>
                <a:cs typeface="Georgia"/>
              </a:rPr>
              <a:t> </a:t>
            </a:r>
            <a:r>
              <a:rPr lang="en-GB" sz="3200" i="1" noProof="0" dirty="0">
                <a:solidFill>
                  <a:schemeClr val="bg1"/>
                </a:solidFill>
                <a:latin typeface="Georgia"/>
                <a:cs typeface="Georgia"/>
              </a:rPr>
              <a:t>some</a:t>
            </a:r>
            <a:r>
              <a:rPr lang="en-GB" sz="3200" i="1" spc="-55" noProof="0" dirty="0">
                <a:solidFill>
                  <a:schemeClr val="bg1"/>
                </a:solidFill>
                <a:latin typeface="Georgia"/>
                <a:cs typeface="Georgia"/>
              </a:rPr>
              <a:t> </a:t>
            </a:r>
            <a:r>
              <a:rPr lang="en-GB" sz="3200" i="1" spc="-10" noProof="0" dirty="0">
                <a:solidFill>
                  <a:schemeClr val="bg1"/>
                </a:solidFill>
                <a:uFill>
                  <a:solidFill>
                    <a:srgbClr val="800080"/>
                  </a:solidFill>
                </a:uFill>
                <a:latin typeface="Georgia"/>
                <a:cs typeface="Georgia"/>
              </a:rPr>
              <a:t>awesome</a:t>
            </a:r>
            <a:r>
              <a:rPr lang="en-GB" sz="3200" i="1" spc="-50" noProof="0" dirty="0">
                <a:solidFill>
                  <a:schemeClr val="bg1"/>
                </a:solidFill>
                <a:uFill>
                  <a:solidFill>
                    <a:srgbClr val="800080"/>
                  </a:solidFill>
                </a:uFill>
                <a:latin typeface="Georgia"/>
                <a:cs typeface="Georgia"/>
              </a:rPr>
              <a:t> </a:t>
            </a:r>
            <a:r>
              <a:rPr lang="en-GB" sz="3200" i="1" spc="-10" noProof="0" dirty="0">
                <a:solidFill>
                  <a:schemeClr val="bg1"/>
                </a:solidFill>
                <a:uFill>
                  <a:solidFill>
                    <a:srgbClr val="800080"/>
                  </a:solidFill>
                </a:uFill>
                <a:latin typeface="Georgia"/>
                <a:cs typeface="Georgia"/>
              </a:rPr>
              <a:t>stuff </a:t>
            </a:r>
            <a:r>
              <a:rPr lang="en-GB" sz="3200" i="1" noProof="0" dirty="0">
                <a:solidFill>
                  <a:schemeClr val="bg1"/>
                </a:solidFill>
                <a:latin typeface="Georgia"/>
                <a:cs typeface="Georgia"/>
              </a:rPr>
              <a:t>with</a:t>
            </a:r>
            <a:r>
              <a:rPr lang="en-GB" sz="3200" i="1" spc="-75" noProof="0" dirty="0">
                <a:solidFill>
                  <a:schemeClr val="bg1"/>
                </a:solidFill>
                <a:latin typeface="Georgia"/>
                <a:cs typeface="Georgia"/>
              </a:rPr>
              <a:t> </a:t>
            </a:r>
            <a:r>
              <a:rPr lang="en-GB" sz="3200" i="1" spc="-10" noProof="0" dirty="0">
                <a:solidFill>
                  <a:schemeClr val="bg1"/>
                </a:solidFill>
                <a:latin typeface="Georgia"/>
                <a:cs typeface="Georgia"/>
              </a:rPr>
              <a:t>it</a:t>
            </a:r>
            <a:r>
              <a:rPr lang="en-GB" sz="3200" i="1" spc="-10" noProof="0" dirty="0">
                <a:solidFill>
                  <a:srgbClr val="FFFFFF"/>
                </a:solidFill>
                <a:latin typeface="Georgia"/>
                <a:cs typeface="Georgia"/>
              </a:rPr>
              <a:t>...</a:t>
            </a:r>
            <a:endParaRPr lang="en-GB" sz="3200" noProof="0" dirty="0">
              <a:latin typeface="Georgia"/>
              <a:cs typeface="Georgia"/>
            </a:endParaRPr>
          </a:p>
        </p:txBody>
      </p:sp>
      <p:sp>
        <p:nvSpPr>
          <p:cNvPr id="10" name="object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89037"/>
            <a:ext cx="9144000" cy="352425"/>
          </a:xfrm>
          <a:custGeom>
            <a:avLst/>
            <a:gdLst/>
            <a:ahLst/>
            <a:cxnLst/>
            <a:rect l="l" t="t" r="r" b="b"/>
            <a:pathLst>
              <a:path w="9144000" h="352425">
                <a:moveTo>
                  <a:pt x="0" y="351955"/>
                </a:moveTo>
                <a:lnTo>
                  <a:pt x="0" y="0"/>
                </a:lnTo>
                <a:lnTo>
                  <a:pt x="9144000" y="0"/>
                </a:lnTo>
                <a:lnTo>
                  <a:pt x="9144000" y="351955"/>
                </a:lnTo>
                <a:lnTo>
                  <a:pt x="0" y="3519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sp>
        <p:nvSpPr>
          <p:cNvPr id="11" name="object 11"/>
          <p:cNvSpPr txBox="1"/>
          <p:nvPr/>
        </p:nvSpPr>
        <p:spPr>
          <a:xfrm>
            <a:off x="137161" y="6409944"/>
            <a:ext cx="8887968" cy="5488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700" spc="-35" noProof="0" dirty="0">
                <a:solidFill>
                  <a:srgbClr val="0D0D0D"/>
                </a:solidFill>
                <a:latin typeface="Arial"/>
                <a:cs typeface="Arial"/>
                <a:hlinkClick r:id="rId5"/>
              </a:rPr>
              <a:t>https://tutorialzine.com/2014/07/20-impressive-css3-techniques-libraries-and-examples</a:t>
            </a:r>
            <a:endParaRPr lang="en-GB" sz="1700" spc="-35" noProof="0" dirty="0">
              <a:solidFill>
                <a:srgbClr val="0D0D0D"/>
              </a:solidFill>
              <a:latin typeface="Arial"/>
              <a:cs typeface="Arial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GB" sz="1700" noProof="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98195" rIns="0" bIns="0" rtlCol="0">
            <a:spAutoFit/>
          </a:bodyPr>
          <a:lstStyle/>
          <a:p>
            <a:pPr marL="2465070">
              <a:lnSpc>
                <a:spcPct val="100000"/>
              </a:lnSpc>
              <a:spcBef>
                <a:spcPts val="100"/>
              </a:spcBef>
            </a:pPr>
            <a:r>
              <a:rPr lang="en-GB" noProof="0" dirty="0"/>
              <a:t>View</a:t>
            </a:r>
            <a:r>
              <a:rPr lang="en-GB" spc="-65" noProof="0" dirty="0"/>
              <a:t> </a:t>
            </a:r>
            <a:r>
              <a:rPr lang="en-GB" spc="-10" noProof="0" dirty="0"/>
              <a:t>source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70919" y="3794252"/>
            <a:ext cx="559879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4200" noProof="0" dirty="0">
                <a:latin typeface="Helvetica Neue Light"/>
                <a:cs typeface="Helvetica Neue Light"/>
              </a:rPr>
              <a:t>Chrome</a:t>
            </a:r>
            <a:r>
              <a:rPr lang="en-GB" sz="4200" spc="-90" noProof="0" dirty="0">
                <a:latin typeface="Helvetica Neue Light"/>
                <a:cs typeface="Helvetica Neue Light"/>
              </a:rPr>
              <a:t> </a:t>
            </a:r>
            <a:r>
              <a:rPr lang="en-GB" sz="4200" noProof="0" dirty="0">
                <a:latin typeface="Helvetica Neue Light"/>
                <a:cs typeface="Helvetica Neue Light"/>
              </a:rPr>
              <a:t>Developer</a:t>
            </a:r>
            <a:r>
              <a:rPr lang="en-GB" sz="4200" spc="-95" noProof="0" dirty="0">
                <a:latin typeface="Helvetica Neue Light"/>
                <a:cs typeface="Helvetica Neue Light"/>
              </a:rPr>
              <a:t> </a:t>
            </a:r>
            <a:r>
              <a:rPr lang="en-GB" sz="4200" spc="-10" noProof="0" dirty="0">
                <a:latin typeface="Helvetica Neue Light"/>
                <a:cs typeface="Helvetica Neue Light"/>
              </a:rPr>
              <a:t>tools</a:t>
            </a:r>
            <a:endParaRPr lang="en-GB" sz="4200" noProof="0" dirty="0">
              <a:latin typeface="Helvetica Neue Light"/>
              <a:cs typeface="Helvetica Neue Ligh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2750" y="2281237"/>
            <a:ext cx="8350250" cy="17462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39356" y="431291"/>
            <a:ext cx="15773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10" noProof="0" dirty="0"/>
              <a:t>syntax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6152" y="795020"/>
            <a:ext cx="7711440" cy="3311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065" marR="5080" indent="635" algn="ctr">
              <a:lnSpc>
                <a:spcPct val="99800"/>
              </a:lnSpc>
              <a:spcBef>
                <a:spcPts val="110"/>
              </a:spcBef>
              <a:tabLst>
                <a:tab pos="3252470" algn="l"/>
              </a:tabLst>
            </a:pPr>
            <a:r>
              <a:rPr lang="en-GB" sz="5400" spc="-345" noProof="0" dirty="0">
                <a:latin typeface="Times New Roman"/>
                <a:cs typeface="Times New Roman"/>
              </a:rPr>
              <a:t>CSS</a:t>
            </a:r>
            <a:r>
              <a:rPr lang="en-GB" sz="5400" noProof="0" dirty="0">
                <a:latin typeface="Times New Roman"/>
                <a:cs typeface="Times New Roman"/>
              </a:rPr>
              <a:t> </a:t>
            </a:r>
            <a:r>
              <a:rPr lang="en-GB" sz="5400" spc="-95" noProof="0" dirty="0">
                <a:latin typeface="Times New Roman"/>
                <a:cs typeface="Times New Roman"/>
              </a:rPr>
              <a:t>declarations</a:t>
            </a:r>
            <a:r>
              <a:rPr lang="en-GB" sz="5400" spc="-80" noProof="0" dirty="0">
                <a:latin typeface="Times New Roman"/>
                <a:cs typeface="Times New Roman"/>
              </a:rPr>
              <a:t> </a:t>
            </a:r>
            <a:r>
              <a:rPr lang="en-GB" sz="5400" spc="-295" noProof="0" dirty="0">
                <a:latin typeface="Times New Roman"/>
                <a:cs typeface="Times New Roman"/>
              </a:rPr>
              <a:t>always</a:t>
            </a:r>
            <a:r>
              <a:rPr lang="en-GB" sz="5400" spc="-40" noProof="0" dirty="0">
                <a:latin typeface="Times New Roman"/>
                <a:cs typeface="Times New Roman"/>
              </a:rPr>
              <a:t> </a:t>
            </a:r>
            <a:r>
              <a:rPr lang="en-GB" sz="5400" spc="-25" noProof="0" dirty="0">
                <a:latin typeface="Times New Roman"/>
                <a:cs typeface="Times New Roman"/>
              </a:rPr>
              <a:t>end </a:t>
            </a:r>
            <a:r>
              <a:rPr lang="en-GB" sz="5400" spc="-55" noProof="0" dirty="0">
                <a:latin typeface="Times New Roman"/>
                <a:cs typeface="Times New Roman"/>
              </a:rPr>
              <a:t>with</a:t>
            </a:r>
            <a:r>
              <a:rPr lang="en-GB" sz="5400" spc="-220" noProof="0" dirty="0">
                <a:latin typeface="Times New Roman"/>
                <a:cs typeface="Times New Roman"/>
              </a:rPr>
              <a:t> </a:t>
            </a:r>
            <a:r>
              <a:rPr lang="en-GB" sz="5400" noProof="0" dirty="0">
                <a:latin typeface="Times New Roman"/>
                <a:cs typeface="Times New Roman"/>
              </a:rPr>
              <a:t>a</a:t>
            </a:r>
            <a:r>
              <a:rPr lang="en-GB" sz="5400" spc="-200" noProof="0" dirty="0">
                <a:latin typeface="Times New Roman"/>
                <a:cs typeface="Times New Roman"/>
              </a:rPr>
              <a:t> </a:t>
            </a:r>
            <a:r>
              <a:rPr lang="en-GB" sz="5400" spc="-95" noProof="0" dirty="0">
                <a:latin typeface="Times New Roman"/>
                <a:cs typeface="Times New Roman"/>
              </a:rPr>
              <a:t>semicolon,</a:t>
            </a:r>
            <a:r>
              <a:rPr lang="en-GB" sz="5400" spc="-204" noProof="0" dirty="0">
                <a:latin typeface="Times New Roman"/>
                <a:cs typeface="Times New Roman"/>
              </a:rPr>
              <a:t> </a:t>
            </a:r>
            <a:r>
              <a:rPr lang="en-GB" sz="5400" spc="-25" noProof="0" dirty="0">
                <a:latin typeface="Times New Roman"/>
                <a:cs typeface="Times New Roman"/>
              </a:rPr>
              <a:t>and </a:t>
            </a:r>
            <a:r>
              <a:rPr lang="en-GB" sz="5400" spc="-90" noProof="0" dirty="0">
                <a:latin typeface="Times New Roman"/>
                <a:cs typeface="Times New Roman"/>
              </a:rPr>
              <a:t>declaration</a:t>
            </a:r>
            <a:r>
              <a:rPr lang="en-GB" sz="5400" spc="-235" noProof="0" dirty="0">
                <a:latin typeface="Times New Roman"/>
                <a:cs typeface="Times New Roman"/>
              </a:rPr>
              <a:t> </a:t>
            </a:r>
            <a:r>
              <a:rPr lang="en-GB" sz="5400" noProof="0" dirty="0">
                <a:latin typeface="Times New Roman"/>
                <a:cs typeface="Times New Roman"/>
              </a:rPr>
              <a:t>groups</a:t>
            </a:r>
            <a:r>
              <a:rPr lang="en-GB" sz="5400" spc="-225" noProof="0" dirty="0">
                <a:latin typeface="Times New Roman"/>
                <a:cs typeface="Times New Roman"/>
              </a:rPr>
              <a:t> </a:t>
            </a:r>
            <a:r>
              <a:rPr lang="en-GB" sz="5400" spc="-25" noProof="0" dirty="0">
                <a:latin typeface="Times New Roman"/>
                <a:cs typeface="Times New Roman"/>
              </a:rPr>
              <a:t>are </a:t>
            </a:r>
            <a:r>
              <a:rPr lang="en-GB" sz="5400" spc="-10" noProof="0" dirty="0">
                <a:latin typeface="Times New Roman"/>
                <a:cs typeface="Times New Roman"/>
              </a:rPr>
              <a:t>surrounded</a:t>
            </a:r>
            <a:r>
              <a:rPr lang="en-GB" sz="5400" noProof="0" dirty="0">
                <a:latin typeface="Times New Roman"/>
                <a:cs typeface="Times New Roman"/>
              </a:rPr>
              <a:t>	</a:t>
            </a:r>
            <a:r>
              <a:rPr lang="en-GB" sz="5400" spc="-155" noProof="0" dirty="0">
                <a:latin typeface="Times New Roman"/>
                <a:cs typeface="Times New Roman"/>
              </a:rPr>
              <a:t>by </a:t>
            </a:r>
            <a:r>
              <a:rPr lang="en-GB" sz="5400" spc="-170" noProof="0" dirty="0">
                <a:latin typeface="Times New Roman"/>
                <a:cs typeface="Times New Roman"/>
              </a:rPr>
              <a:t>curly</a:t>
            </a:r>
            <a:r>
              <a:rPr lang="en-GB" sz="5400" spc="-150" noProof="0" dirty="0">
                <a:latin typeface="Times New Roman"/>
                <a:cs typeface="Times New Roman"/>
              </a:rPr>
              <a:t> </a:t>
            </a:r>
            <a:r>
              <a:rPr lang="en-GB" sz="5400" spc="-105" noProof="0" dirty="0">
                <a:latin typeface="Times New Roman"/>
                <a:cs typeface="Times New Roman"/>
              </a:rPr>
              <a:t>brackets</a:t>
            </a:r>
            <a:endParaRPr lang="en-GB" sz="5400" noProof="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7700" y="4579620"/>
            <a:ext cx="7849234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3200" noProof="0" dirty="0">
                <a:latin typeface="Courier New"/>
                <a:cs typeface="Courier New"/>
              </a:rPr>
              <a:t>p</a:t>
            </a:r>
            <a:r>
              <a:rPr lang="en-GB" sz="3200" spc="75" noProof="0" dirty="0">
                <a:latin typeface="Courier New"/>
                <a:cs typeface="Courier New"/>
              </a:rPr>
              <a:t> </a:t>
            </a:r>
            <a:r>
              <a:rPr lang="en-GB" sz="3200" spc="-25" noProof="0" dirty="0">
                <a:latin typeface="Courier New"/>
                <a:cs typeface="Courier New"/>
              </a:rPr>
              <a:t>{</a:t>
            </a:r>
            <a:r>
              <a:rPr lang="en-GB" sz="3200" spc="-25" noProof="0" dirty="0" err="1">
                <a:latin typeface="Courier New"/>
                <a:cs typeface="Courier New"/>
              </a:rPr>
              <a:t>color:red;text-</a:t>
            </a:r>
            <a:r>
              <a:rPr lang="en-GB" sz="3200" spc="-10" noProof="0" dirty="0" err="1">
                <a:latin typeface="Courier New"/>
                <a:cs typeface="Courier New"/>
              </a:rPr>
              <a:t>align:center</a:t>
            </a:r>
            <a:r>
              <a:rPr lang="en-GB" sz="3200" spc="-10" noProof="0" dirty="0">
                <a:latin typeface="Courier New"/>
                <a:cs typeface="Courier New"/>
              </a:rPr>
              <a:t>;}</a:t>
            </a:r>
            <a:endParaRPr lang="en-GB" sz="3200" noProof="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noProof="0" dirty="0"/>
              <a:t>CSS</a:t>
            </a:r>
            <a:r>
              <a:rPr lang="en-GB" spc="-90" noProof="0" dirty="0"/>
              <a:t> </a:t>
            </a:r>
            <a:r>
              <a:rPr lang="en-GB" spc="-10" noProof="0" dirty="0"/>
              <a:t>Demonstration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759203"/>
            <a:ext cx="7289165" cy="33727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6415" indent="-51371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526415" algn="l"/>
              </a:tabLst>
            </a:pPr>
            <a:r>
              <a:rPr lang="en-GB" sz="2800" noProof="0" dirty="0">
                <a:latin typeface="Helvetica Neue Light"/>
                <a:cs typeface="Helvetica Neue Light"/>
              </a:rPr>
              <a:t>Styling</a:t>
            </a:r>
            <a:r>
              <a:rPr lang="en-GB" sz="2800" spc="-55" noProof="0" dirty="0">
                <a:latin typeface="Helvetica Neue Light"/>
                <a:cs typeface="Helvetica Neue Light"/>
              </a:rPr>
              <a:t> </a:t>
            </a:r>
            <a:r>
              <a:rPr lang="en-GB" sz="2800" spc="-10" noProof="0" dirty="0">
                <a:latin typeface="Helvetica Neue Light"/>
                <a:cs typeface="Helvetica Neue Light"/>
              </a:rPr>
              <a:t>elements</a:t>
            </a:r>
            <a:endParaRPr lang="en-GB" sz="2800" noProof="0" dirty="0">
              <a:latin typeface="Helvetica Neue Light"/>
              <a:cs typeface="Helvetica Neue Light"/>
            </a:endParaRPr>
          </a:p>
          <a:p>
            <a:pPr marL="526415" indent="-513715">
              <a:lnSpc>
                <a:spcPct val="100000"/>
              </a:lnSpc>
              <a:spcBef>
                <a:spcPts val="2350"/>
              </a:spcBef>
              <a:buAutoNum type="arabicPeriod"/>
              <a:tabLst>
                <a:tab pos="526415" algn="l"/>
              </a:tabLst>
            </a:pPr>
            <a:r>
              <a:rPr lang="en-GB" sz="2800" noProof="0" dirty="0">
                <a:latin typeface="Helvetica Neue Light"/>
                <a:cs typeface="Helvetica Neue Light"/>
              </a:rPr>
              <a:t>Id</a:t>
            </a:r>
            <a:r>
              <a:rPr lang="en-GB" sz="2800" spc="-30" noProof="0" dirty="0">
                <a:latin typeface="Helvetica Neue Light"/>
                <a:cs typeface="Helvetica Neue Light"/>
              </a:rPr>
              <a:t> </a:t>
            </a:r>
            <a:r>
              <a:rPr lang="en-GB" sz="2800" noProof="0" dirty="0">
                <a:latin typeface="Helvetica Neue Light"/>
                <a:cs typeface="Helvetica Neue Light"/>
              </a:rPr>
              <a:t>and</a:t>
            </a:r>
            <a:r>
              <a:rPr lang="en-GB" sz="2800" spc="-30" noProof="0" dirty="0">
                <a:latin typeface="Helvetica Neue Light"/>
                <a:cs typeface="Helvetica Neue Light"/>
              </a:rPr>
              <a:t> </a:t>
            </a:r>
            <a:r>
              <a:rPr lang="en-GB" sz="2800" noProof="0" dirty="0">
                <a:latin typeface="Helvetica Neue Light"/>
                <a:cs typeface="Helvetica Neue Light"/>
              </a:rPr>
              <a:t>class</a:t>
            </a:r>
            <a:r>
              <a:rPr lang="en-GB" sz="2800" spc="-30" noProof="0" dirty="0">
                <a:latin typeface="Helvetica Neue Light"/>
                <a:cs typeface="Helvetica Neue Light"/>
              </a:rPr>
              <a:t> </a:t>
            </a:r>
            <a:r>
              <a:rPr lang="en-GB" sz="2800" spc="-10" noProof="0" dirty="0">
                <a:latin typeface="Helvetica Neue Light"/>
                <a:cs typeface="Helvetica Neue Light"/>
              </a:rPr>
              <a:t>selectors</a:t>
            </a:r>
            <a:endParaRPr lang="en-GB" sz="2800" noProof="0" dirty="0">
              <a:latin typeface="Helvetica Neue Light"/>
              <a:cs typeface="Helvetica Neue Light"/>
            </a:endParaRPr>
          </a:p>
          <a:p>
            <a:pPr marL="526415" indent="-513715">
              <a:lnSpc>
                <a:spcPct val="100000"/>
              </a:lnSpc>
              <a:spcBef>
                <a:spcPts val="2330"/>
              </a:spcBef>
              <a:buAutoNum type="arabicPeriod"/>
              <a:tabLst>
                <a:tab pos="526415" algn="l"/>
              </a:tabLst>
            </a:pPr>
            <a:r>
              <a:rPr lang="en-GB" sz="2800" spc="-10" noProof="0" dirty="0">
                <a:latin typeface="Helvetica Neue Light"/>
                <a:cs typeface="Helvetica Neue Light"/>
              </a:rPr>
              <a:t>Backgrounds</a:t>
            </a:r>
            <a:endParaRPr lang="en-GB" sz="2800" noProof="0" dirty="0">
              <a:latin typeface="Helvetica Neue Light"/>
              <a:cs typeface="Helvetica Neue Light"/>
            </a:endParaRPr>
          </a:p>
          <a:p>
            <a:pPr marL="526415" indent="-513715">
              <a:lnSpc>
                <a:spcPct val="100000"/>
              </a:lnSpc>
              <a:spcBef>
                <a:spcPts val="2350"/>
              </a:spcBef>
              <a:buAutoNum type="arabicPeriod"/>
              <a:tabLst>
                <a:tab pos="526415" algn="l"/>
              </a:tabLst>
            </a:pPr>
            <a:r>
              <a:rPr lang="en-GB" sz="2800" spc="-20" noProof="0" dirty="0">
                <a:latin typeface="Helvetica Neue Light"/>
                <a:cs typeface="Helvetica Neue Light"/>
              </a:rPr>
              <a:t>Text</a:t>
            </a:r>
            <a:endParaRPr lang="en-GB" sz="2800" noProof="0" dirty="0">
              <a:latin typeface="Helvetica Neue Light"/>
              <a:cs typeface="Helvetica Neue Light"/>
            </a:endParaRPr>
          </a:p>
          <a:p>
            <a:pPr marL="526415" indent="-513715">
              <a:lnSpc>
                <a:spcPct val="100000"/>
              </a:lnSpc>
              <a:spcBef>
                <a:spcPts val="2330"/>
              </a:spcBef>
              <a:buAutoNum type="arabicPeriod"/>
              <a:tabLst>
                <a:tab pos="526415" algn="l"/>
              </a:tabLst>
            </a:pPr>
            <a:r>
              <a:rPr lang="en-GB" sz="2800" noProof="0" dirty="0">
                <a:latin typeface="Helvetica Neue Light"/>
                <a:cs typeface="Helvetica Neue Light"/>
              </a:rPr>
              <a:t>Margins</a:t>
            </a:r>
            <a:r>
              <a:rPr lang="en-GB" sz="2800" spc="-45" noProof="0" dirty="0">
                <a:latin typeface="Helvetica Neue Light"/>
                <a:cs typeface="Helvetica Neue Light"/>
              </a:rPr>
              <a:t> </a:t>
            </a:r>
            <a:r>
              <a:rPr lang="en-GB" sz="2800" noProof="0" dirty="0">
                <a:latin typeface="Helvetica Neue Light"/>
                <a:cs typeface="Helvetica Neue Light"/>
              </a:rPr>
              <a:t>and</a:t>
            </a:r>
            <a:r>
              <a:rPr lang="en-GB" sz="2800" spc="-35" noProof="0" dirty="0">
                <a:latin typeface="Helvetica Neue Light"/>
                <a:cs typeface="Helvetica Neue Light"/>
              </a:rPr>
              <a:t> </a:t>
            </a:r>
            <a:r>
              <a:rPr lang="en-GB" sz="2800" noProof="0" dirty="0">
                <a:latin typeface="Helvetica Neue Light"/>
                <a:cs typeface="Helvetica Neue Light"/>
              </a:rPr>
              <a:t>Padding</a:t>
            </a:r>
            <a:r>
              <a:rPr lang="en-GB" sz="2800" spc="-35" noProof="0" dirty="0">
                <a:latin typeface="Helvetica Neue Light"/>
                <a:cs typeface="Helvetica Neue Light"/>
              </a:rPr>
              <a:t> </a:t>
            </a:r>
            <a:r>
              <a:rPr lang="en-GB" sz="2800" noProof="0" dirty="0">
                <a:latin typeface="Helvetica Neue Light"/>
                <a:cs typeface="Helvetica Neue Light"/>
              </a:rPr>
              <a:t>(see</a:t>
            </a:r>
            <a:r>
              <a:rPr lang="en-GB" sz="2800" spc="-45" noProof="0" dirty="0">
                <a:latin typeface="Helvetica Neue Light"/>
                <a:cs typeface="Helvetica Neue Light"/>
              </a:rPr>
              <a:t> </a:t>
            </a:r>
            <a:r>
              <a:rPr lang="en-GB" sz="2800" noProof="0" dirty="0">
                <a:latin typeface="Helvetica Neue Light"/>
                <a:cs typeface="Helvetica Neue Light"/>
              </a:rPr>
              <a:t>box</a:t>
            </a:r>
            <a:r>
              <a:rPr lang="en-GB" sz="2800" spc="-40" noProof="0" dirty="0">
                <a:latin typeface="Helvetica Neue Light"/>
                <a:cs typeface="Helvetica Neue Light"/>
              </a:rPr>
              <a:t> </a:t>
            </a:r>
            <a:r>
              <a:rPr lang="en-GB" sz="2800" spc="-10" noProof="0" dirty="0">
                <a:latin typeface="Helvetica Neue Light"/>
                <a:cs typeface="Helvetica Neue Light"/>
              </a:rPr>
              <a:t>model)</a:t>
            </a:r>
            <a:endParaRPr lang="en-GB" sz="2800" noProof="0" dirty="0">
              <a:latin typeface="Helvetica Neue Light"/>
              <a:cs typeface="Helvetica Neue Ligh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051" y="928623"/>
            <a:ext cx="7847330" cy="56095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248285">
              <a:lnSpc>
                <a:spcPct val="103099"/>
              </a:lnSpc>
              <a:spcBef>
                <a:spcPts val="50"/>
              </a:spcBef>
            </a:pPr>
            <a:r>
              <a:rPr lang="en-GB" sz="1300" noProof="0" dirty="0">
                <a:solidFill>
                  <a:srgbClr val="595959"/>
                </a:solidFill>
                <a:latin typeface="Helvetica Neue"/>
                <a:cs typeface="Helvetica Neue"/>
              </a:rPr>
              <a:t>In</a:t>
            </a:r>
            <a:r>
              <a:rPr lang="en-GB" sz="1300" spc="-6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1300" spc="-25" noProof="0" dirty="0">
                <a:solidFill>
                  <a:srgbClr val="595959"/>
                </a:solidFill>
                <a:latin typeface="Helvetica Neue"/>
                <a:cs typeface="Helvetica Neue"/>
              </a:rPr>
              <a:t>addition</a:t>
            </a:r>
            <a:r>
              <a:rPr lang="en-GB" sz="1300" spc="-5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1300" noProof="0" dirty="0">
                <a:solidFill>
                  <a:srgbClr val="595959"/>
                </a:solidFill>
                <a:latin typeface="Helvetica Neue"/>
                <a:cs typeface="Helvetica Neue"/>
              </a:rPr>
              <a:t>to</a:t>
            </a:r>
            <a:r>
              <a:rPr lang="en-GB" sz="1300" spc="-5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1300" spc="-20" noProof="0" dirty="0">
                <a:solidFill>
                  <a:srgbClr val="595959"/>
                </a:solidFill>
                <a:latin typeface="Helvetica Neue"/>
                <a:cs typeface="Helvetica Neue"/>
              </a:rPr>
              <a:t>setting</a:t>
            </a:r>
            <a:r>
              <a:rPr lang="en-GB" sz="1300" spc="-5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1300" noProof="0" dirty="0">
                <a:solidFill>
                  <a:srgbClr val="595959"/>
                </a:solidFill>
                <a:latin typeface="Helvetica Neue"/>
                <a:cs typeface="Helvetica Neue"/>
              </a:rPr>
              <a:t>a</a:t>
            </a:r>
            <a:r>
              <a:rPr lang="en-GB" sz="1300" spc="-5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1300" spc="-10" noProof="0" dirty="0">
                <a:solidFill>
                  <a:srgbClr val="595959"/>
                </a:solidFill>
                <a:latin typeface="Helvetica Neue"/>
                <a:cs typeface="Helvetica Neue"/>
              </a:rPr>
              <a:t>style</a:t>
            </a:r>
            <a:r>
              <a:rPr lang="en-GB" sz="1300" spc="-5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1300" noProof="0" dirty="0">
                <a:solidFill>
                  <a:srgbClr val="595959"/>
                </a:solidFill>
                <a:latin typeface="Helvetica Neue"/>
                <a:cs typeface="Helvetica Neue"/>
              </a:rPr>
              <a:t>for</a:t>
            </a:r>
            <a:r>
              <a:rPr lang="en-GB" sz="13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1300" noProof="0" dirty="0">
                <a:solidFill>
                  <a:srgbClr val="595959"/>
                </a:solidFill>
                <a:latin typeface="Helvetica Neue"/>
                <a:cs typeface="Helvetica Neue"/>
              </a:rPr>
              <a:t>a</a:t>
            </a:r>
            <a:r>
              <a:rPr lang="en-GB" sz="1300" spc="-5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1300" spc="-25" noProof="0" dirty="0">
                <a:solidFill>
                  <a:srgbClr val="595959"/>
                </a:solidFill>
                <a:latin typeface="Helvetica Neue"/>
                <a:cs typeface="Helvetica Neue"/>
              </a:rPr>
              <a:t>HTML</a:t>
            </a:r>
            <a:r>
              <a:rPr lang="en-GB" sz="1300" spc="-6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1300" spc="-25" noProof="0" dirty="0">
                <a:solidFill>
                  <a:srgbClr val="595959"/>
                </a:solidFill>
                <a:latin typeface="Helvetica Neue"/>
                <a:cs typeface="Helvetica Neue"/>
              </a:rPr>
              <a:t>element,</a:t>
            </a:r>
            <a:r>
              <a:rPr lang="en-GB" sz="13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1300" noProof="0" dirty="0">
                <a:solidFill>
                  <a:srgbClr val="595959"/>
                </a:solidFill>
                <a:latin typeface="Helvetica Neue"/>
                <a:cs typeface="Helvetica Neue"/>
              </a:rPr>
              <a:t>CSS</a:t>
            </a:r>
            <a:r>
              <a:rPr lang="en-GB" sz="1300" spc="-5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1300" spc="-20" noProof="0" dirty="0">
                <a:solidFill>
                  <a:srgbClr val="595959"/>
                </a:solidFill>
                <a:latin typeface="Helvetica Neue"/>
                <a:cs typeface="Helvetica Neue"/>
              </a:rPr>
              <a:t>allows</a:t>
            </a:r>
            <a:r>
              <a:rPr lang="en-GB" sz="13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1300" spc="-10" noProof="0" dirty="0">
                <a:solidFill>
                  <a:srgbClr val="595959"/>
                </a:solidFill>
                <a:latin typeface="Helvetica Neue"/>
                <a:cs typeface="Helvetica Neue"/>
              </a:rPr>
              <a:t>you</a:t>
            </a:r>
            <a:r>
              <a:rPr lang="en-GB" sz="1300" spc="-5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1300" noProof="0" dirty="0">
                <a:solidFill>
                  <a:srgbClr val="595959"/>
                </a:solidFill>
                <a:latin typeface="Helvetica Neue"/>
                <a:cs typeface="Helvetica Neue"/>
              </a:rPr>
              <a:t>to</a:t>
            </a:r>
            <a:r>
              <a:rPr lang="en-GB" sz="1300" spc="-5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1300" spc="-20" noProof="0" dirty="0">
                <a:solidFill>
                  <a:srgbClr val="595959"/>
                </a:solidFill>
                <a:latin typeface="Helvetica Neue"/>
                <a:cs typeface="Helvetica Neue"/>
              </a:rPr>
              <a:t>specify</a:t>
            </a:r>
            <a:r>
              <a:rPr lang="en-GB" sz="13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1300" spc="-10" noProof="0" dirty="0">
                <a:solidFill>
                  <a:srgbClr val="595959"/>
                </a:solidFill>
                <a:latin typeface="Helvetica Neue"/>
                <a:cs typeface="Helvetica Neue"/>
              </a:rPr>
              <a:t>your</a:t>
            </a:r>
            <a:r>
              <a:rPr lang="en-GB" sz="13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1300" spc="-20" noProof="0" dirty="0">
                <a:solidFill>
                  <a:srgbClr val="595959"/>
                </a:solidFill>
                <a:latin typeface="Helvetica Neue"/>
                <a:cs typeface="Helvetica Neue"/>
              </a:rPr>
              <a:t>own</a:t>
            </a:r>
            <a:r>
              <a:rPr lang="en-GB" sz="1300" spc="-5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1300" spc="-20" noProof="0" dirty="0">
                <a:solidFill>
                  <a:srgbClr val="595959"/>
                </a:solidFill>
                <a:latin typeface="Helvetica Neue"/>
                <a:cs typeface="Helvetica Neue"/>
              </a:rPr>
              <a:t>selectors</a:t>
            </a:r>
            <a:r>
              <a:rPr lang="en-GB" sz="13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1300" spc="-20" noProof="0" dirty="0">
                <a:solidFill>
                  <a:srgbClr val="595959"/>
                </a:solidFill>
                <a:latin typeface="Helvetica Neue"/>
                <a:cs typeface="Helvetica Neue"/>
              </a:rPr>
              <a:t>called</a:t>
            </a:r>
            <a:r>
              <a:rPr lang="en-GB" sz="1300" spc="-5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1300" spc="-20" noProof="0" dirty="0">
                <a:solidFill>
                  <a:srgbClr val="595959"/>
                </a:solidFill>
                <a:latin typeface="Helvetica Neue"/>
                <a:cs typeface="Helvetica Neue"/>
              </a:rPr>
              <a:t>"id" </a:t>
            </a:r>
            <a:r>
              <a:rPr lang="en-GB" sz="1300" spc="-10" noProof="0" dirty="0">
                <a:solidFill>
                  <a:srgbClr val="595959"/>
                </a:solidFill>
                <a:latin typeface="Helvetica Neue"/>
                <a:cs typeface="Helvetica Neue"/>
              </a:rPr>
              <a:t>and</a:t>
            </a:r>
            <a:r>
              <a:rPr lang="en-GB" sz="1300" spc="-8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1300" spc="-10" noProof="0" dirty="0">
                <a:solidFill>
                  <a:srgbClr val="595959"/>
                </a:solidFill>
                <a:latin typeface="Helvetica Neue"/>
                <a:cs typeface="Helvetica Neue"/>
              </a:rPr>
              <a:t>"class".</a:t>
            </a:r>
            <a:endParaRPr lang="en-GB" sz="1300" noProof="0" dirty="0">
              <a:latin typeface="Helvetica Neue"/>
              <a:cs typeface="Helvetica Neue"/>
            </a:endParaRPr>
          </a:p>
          <a:p>
            <a:pPr marL="354965" indent="-342265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354965" algn="l"/>
              </a:tabLst>
            </a:pP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The</a:t>
            </a:r>
            <a:r>
              <a:rPr lang="en-GB" sz="2000" spc="-3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id</a:t>
            </a:r>
            <a:r>
              <a:rPr lang="en-GB" sz="2000" spc="-3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selector</a:t>
            </a:r>
            <a:r>
              <a:rPr lang="en-GB" sz="2000" spc="-3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is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used</a:t>
            </a:r>
            <a:r>
              <a:rPr lang="en-GB" sz="2000" spc="-3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to</a:t>
            </a:r>
            <a:r>
              <a:rPr lang="en-GB" sz="2000" spc="-3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specify</a:t>
            </a:r>
            <a:r>
              <a:rPr lang="en-GB" sz="2000" spc="-3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a</a:t>
            </a:r>
            <a:r>
              <a:rPr lang="en-GB" sz="2000" spc="-3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style</a:t>
            </a:r>
            <a:r>
              <a:rPr lang="en-GB" sz="2000" spc="-3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for</a:t>
            </a:r>
            <a:r>
              <a:rPr lang="en-GB" sz="2000" spc="-3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a</a:t>
            </a:r>
            <a:r>
              <a:rPr lang="en-GB" sz="2000" spc="-3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single,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spc="-10" noProof="0" dirty="0">
                <a:solidFill>
                  <a:srgbClr val="595959"/>
                </a:solidFill>
                <a:latin typeface="Helvetica Neue"/>
                <a:cs typeface="Helvetica Neue"/>
              </a:rPr>
              <a:t>unique</a:t>
            </a:r>
            <a:endParaRPr lang="en-GB" sz="2000" noProof="0" dirty="0">
              <a:latin typeface="Helvetica Neue"/>
              <a:cs typeface="Helvetica Neue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lang="en-GB" sz="2000" spc="-10" noProof="0" dirty="0">
                <a:solidFill>
                  <a:srgbClr val="595959"/>
                </a:solidFill>
                <a:latin typeface="Helvetica Neue"/>
                <a:cs typeface="Helvetica Neue"/>
              </a:rPr>
              <a:t>element.</a:t>
            </a:r>
            <a:endParaRPr lang="en-GB" sz="2000" noProof="0" dirty="0">
              <a:latin typeface="Helvetica Neue"/>
              <a:cs typeface="Helvetica Neue"/>
            </a:endParaRPr>
          </a:p>
          <a:p>
            <a:pPr marL="355600" marR="212725" indent="-342900">
              <a:lnSpc>
                <a:spcPct val="150000"/>
              </a:lnSpc>
              <a:buFont typeface="Arial"/>
              <a:buChar char="•"/>
              <a:tabLst>
                <a:tab pos="355600" algn="l"/>
              </a:tabLst>
            </a:pP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The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id</a:t>
            </a:r>
            <a:r>
              <a:rPr lang="en-GB" sz="2000" spc="-3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selector</a:t>
            </a:r>
            <a:r>
              <a:rPr lang="en-GB" sz="2000" spc="-4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uses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the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id</a:t>
            </a:r>
            <a:r>
              <a:rPr lang="en-GB" sz="2000" spc="-3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attribute</a:t>
            </a:r>
            <a:r>
              <a:rPr lang="en-GB" sz="2000" spc="-3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of</a:t>
            </a:r>
            <a:r>
              <a:rPr lang="en-GB" sz="2000" spc="-5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the</a:t>
            </a:r>
            <a:r>
              <a:rPr lang="en-GB" sz="2000" spc="-3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HTML</a:t>
            </a:r>
            <a:r>
              <a:rPr lang="en-GB" sz="2000" spc="-4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element,</a:t>
            </a:r>
            <a:r>
              <a:rPr lang="en-GB" sz="2000" spc="-4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and</a:t>
            </a:r>
            <a:r>
              <a:rPr lang="en-GB" sz="2000" spc="-3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spc="-25" noProof="0" dirty="0">
                <a:solidFill>
                  <a:srgbClr val="595959"/>
                </a:solidFill>
                <a:latin typeface="Helvetica Neue"/>
                <a:cs typeface="Helvetica Neue"/>
              </a:rPr>
              <a:t>is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defined</a:t>
            </a:r>
            <a:r>
              <a:rPr lang="en-GB" sz="2000" spc="-3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with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a</a:t>
            </a:r>
            <a:r>
              <a:rPr lang="en-GB" sz="2000" spc="-3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spc="-20" noProof="0" dirty="0">
                <a:solidFill>
                  <a:srgbClr val="595959"/>
                </a:solidFill>
                <a:latin typeface="Helvetica Neue"/>
                <a:cs typeface="Helvetica Neue"/>
              </a:rPr>
              <a:t>"#”.</a:t>
            </a:r>
            <a:endParaRPr lang="en-GB" sz="2000" noProof="0" dirty="0">
              <a:latin typeface="Helvetica Neue"/>
              <a:cs typeface="Helvetica Neue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</a:tabLst>
            </a:pP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The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style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rule</a:t>
            </a:r>
            <a:r>
              <a:rPr lang="en-GB" sz="2000" spc="-3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below</a:t>
            </a:r>
            <a:r>
              <a:rPr lang="en-GB" sz="2000" spc="-4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will</a:t>
            </a:r>
            <a:r>
              <a:rPr lang="en-GB" sz="2000" spc="-3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be</a:t>
            </a:r>
            <a:r>
              <a:rPr lang="en-GB" sz="2000" spc="-3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applied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to</a:t>
            </a:r>
            <a:r>
              <a:rPr lang="en-GB" sz="2000" spc="-3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the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element</a:t>
            </a:r>
            <a:r>
              <a:rPr lang="en-GB" sz="2000" spc="-5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with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spc="-10" noProof="0" dirty="0">
                <a:solidFill>
                  <a:srgbClr val="595959"/>
                </a:solidFill>
                <a:latin typeface="Helvetica Neue"/>
                <a:cs typeface="Helvetica Neue"/>
              </a:rPr>
              <a:t>id=”menu”</a:t>
            </a:r>
            <a:endParaRPr lang="en-GB" sz="2000" noProof="0" dirty="0">
              <a:latin typeface="Helvetica Neue"/>
              <a:cs typeface="Helvetica Neue"/>
            </a:endParaRPr>
          </a:p>
          <a:p>
            <a:pPr marL="207645">
              <a:lnSpc>
                <a:spcPct val="100000"/>
              </a:lnSpc>
              <a:spcBef>
                <a:spcPts val="2090"/>
              </a:spcBef>
            </a:pPr>
            <a:r>
              <a:rPr lang="en-GB" sz="2500" b="1" spc="-10" noProof="0" dirty="0">
                <a:solidFill>
                  <a:srgbClr val="595959"/>
                </a:solidFill>
                <a:latin typeface="Courier New"/>
                <a:cs typeface="Courier New"/>
              </a:rPr>
              <a:t>#nav{</a:t>
            </a:r>
            <a:endParaRPr lang="en-GB" sz="2500" noProof="0" dirty="0">
              <a:latin typeface="Courier New"/>
              <a:cs typeface="Courier New"/>
            </a:endParaRPr>
          </a:p>
          <a:p>
            <a:pPr marL="664845" marR="3691254" indent="123825">
              <a:lnSpc>
                <a:spcPct val="100000"/>
              </a:lnSpc>
              <a:spcBef>
                <a:spcPts val="100"/>
              </a:spcBef>
            </a:pPr>
            <a:r>
              <a:rPr lang="en-GB" sz="2500" b="1" spc="-10" noProof="0" dirty="0">
                <a:solidFill>
                  <a:srgbClr val="595959"/>
                </a:solidFill>
                <a:latin typeface="Courier New"/>
                <a:cs typeface="Courier New"/>
              </a:rPr>
              <a:t>width:950px; padding:10px; </a:t>
            </a:r>
            <a:r>
              <a:rPr lang="en-GB" sz="2500" b="1" noProof="0" dirty="0" err="1">
                <a:solidFill>
                  <a:srgbClr val="595959"/>
                </a:solidFill>
                <a:latin typeface="Courier New"/>
                <a:cs typeface="Courier New"/>
              </a:rPr>
              <a:t>text-</a:t>
            </a:r>
            <a:r>
              <a:rPr lang="en-GB" sz="2500" b="1" spc="-10" noProof="0" dirty="0" err="1">
                <a:solidFill>
                  <a:srgbClr val="595959"/>
                </a:solidFill>
                <a:latin typeface="Courier New"/>
                <a:cs typeface="Courier New"/>
              </a:rPr>
              <a:t>align:center</a:t>
            </a:r>
            <a:r>
              <a:rPr lang="en-GB" sz="2500" b="1" spc="-10" noProof="0" dirty="0">
                <a:solidFill>
                  <a:srgbClr val="595959"/>
                </a:solidFill>
                <a:latin typeface="Courier New"/>
                <a:cs typeface="Courier New"/>
              </a:rPr>
              <a:t>;</a:t>
            </a:r>
            <a:endParaRPr lang="en-GB" sz="2500" noProof="0" dirty="0">
              <a:latin typeface="Courier New"/>
              <a:cs typeface="Courier New"/>
            </a:endParaRPr>
          </a:p>
          <a:p>
            <a:pPr marL="207645">
              <a:lnSpc>
                <a:spcPct val="100000"/>
              </a:lnSpc>
              <a:spcBef>
                <a:spcPts val="95"/>
              </a:spcBef>
            </a:pPr>
            <a:r>
              <a:rPr lang="en-GB" sz="2500" b="1" spc="-50" noProof="0" dirty="0">
                <a:solidFill>
                  <a:srgbClr val="595959"/>
                </a:solidFill>
                <a:latin typeface="Courier New"/>
                <a:cs typeface="Courier New"/>
              </a:rPr>
              <a:t>}</a:t>
            </a:r>
            <a:endParaRPr lang="en-GB" sz="2500" noProof="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lang="en-GB" sz="2500" noProof="0" dirty="0">
              <a:latin typeface="Courier New"/>
              <a:cs typeface="Courier New"/>
            </a:endParaRPr>
          </a:p>
          <a:p>
            <a:pPr marL="207645">
              <a:lnSpc>
                <a:spcPct val="100000"/>
              </a:lnSpc>
              <a:spcBef>
                <a:spcPts val="5"/>
              </a:spcBef>
            </a:pPr>
            <a:r>
              <a:rPr lang="en-GB" sz="2500" b="1" noProof="0" dirty="0">
                <a:solidFill>
                  <a:srgbClr val="595959"/>
                </a:solidFill>
                <a:latin typeface="Courier New"/>
                <a:cs typeface="Courier New"/>
              </a:rPr>
              <a:t>&lt;</a:t>
            </a:r>
            <a:r>
              <a:rPr lang="en-GB" sz="2500" b="1" noProof="0" dirty="0" err="1">
                <a:solidFill>
                  <a:srgbClr val="595959"/>
                </a:solidFill>
                <a:latin typeface="Courier New"/>
                <a:cs typeface="Courier New"/>
              </a:rPr>
              <a:t>ol</a:t>
            </a:r>
            <a:r>
              <a:rPr lang="en-GB" sz="2500" b="1" spc="85" noProof="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lang="en-GB" sz="2500" b="1" spc="-10" noProof="0" dirty="0">
                <a:solidFill>
                  <a:srgbClr val="595959"/>
                </a:solidFill>
                <a:latin typeface="Courier New"/>
                <a:cs typeface="Courier New"/>
              </a:rPr>
              <a:t>id="nav"&gt;</a:t>
            </a:r>
            <a:endParaRPr lang="en-GB" sz="2500" noProof="0" dirty="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9338" y="355091"/>
            <a:ext cx="31432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3200" b="1" spc="-335" noProof="0" dirty="0">
                <a:solidFill>
                  <a:srgbClr val="595959"/>
                </a:solidFill>
                <a:latin typeface="Arial"/>
                <a:cs typeface="Arial"/>
              </a:rPr>
              <a:t>CSS</a:t>
            </a:r>
            <a:r>
              <a:rPr lang="en-GB" sz="3200" b="1" spc="15" noProof="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GB" sz="3200" b="1" spc="70" noProof="0" dirty="0">
                <a:solidFill>
                  <a:srgbClr val="595959"/>
                </a:solidFill>
                <a:latin typeface="Arial"/>
                <a:cs typeface="Arial"/>
              </a:rPr>
              <a:t>Id</a:t>
            </a:r>
            <a:r>
              <a:rPr lang="en-GB" sz="3200" b="1" spc="15" noProof="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GB" sz="3200" b="1" noProof="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lang="en-GB" sz="3200" b="1" spc="15" noProof="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GB" sz="3200" b="1" spc="-180" noProof="0" dirty="0">
                <a:solidFill>
                  <a:srgbClr val="595959"/>
                </a:solidFill>
                <a:latin typeface="Arial"/>
                <a:cs typeface="Arial"/>
              </a:rPr>
              <a:t>Class</a:t>
            </a:r>
            <a:endParaRPr lang="en-GB" sz="3200" noProof="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051" y="876300"/>
            <a:ext cx="7737475" cy="41402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The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class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selector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is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used</a:t>
            </a:r>
            <a:r>
              <a:rPr lang="en-GB" sz="2000" spc="-3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to</a:t>
            </a:r>
            <a:r>
              <a:rPr lang="en-GB" sz="2000" spc="-3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specify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a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style</a:t>
            </a:r>
            <a:r>
              <a:rPr lang="en-GB" sz="2000" spc="-3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for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a</a:t>
            </a:r>
            <a:r>
              <a:rPr lang="en-GB" sz="2000" spc="-3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group</a:t>
            </a:r>
            <a:r>
              <a:rPr lang="en-GB" sz="2000" spc="-3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of</a:t>
            </a:r>
            <a:r>
              <a:rPr lang="en-GB" sz="2000" spc="-4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spc="-10" noProof="0" dirty="0">
                <a:solidFill>
                  <a:srgbClr val="595959"/>
                </a:solidFill>
                <a:latin typeface="Helvetica Neue"/>
                <a:cs typeface="Helvetica Neue"/>
              </a:rPr>
              <a:t>elements.</a:t>
            </a:r>
            <a:endParaRPr lang="en-GB" sz="2000" noProof="0" dirty="0">
              <a:latin typeface="Helvetica Neue"/>
              <a:cs typeface="Helvetica Neue"/>
            </a:endParaRPr>
          </a:p>
          <a:p>
            <a:pPr marL="355600" marR="364490" indent="-342900">
              <a:lnSpc>
                <a:spcPct val="150000"/>
              </a:lnSpc>
              <a:buFont typeface="Arial"/>
              <a:buChar char="•"/>
              <a:tabLst>
                <a:tab pos="355600" algn="l"/>
              </a:tabLst>
            </a:pP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Unlike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the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id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spc="-20" noProof="0" dirty="0">
                <a:solidFill>
                  <a:srgbClr val="595959"/>
                </a:solidFill>
                <a:latin typeface="Helvetica Neue"/>
                <a:cs typeface="Helvetica Neue"/>
              </a:rPr>
              <a:t>selector,</a:t>
            </a:r>
            <a:r>
              <a:rPr lang="en-GB" sz="2000" spc="-5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the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class</a:t>
            </a:r>
            <a:r>
              <a:rPr lang="en-GB" sz="2000" spc="-4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selector</a:t>
            </a:r>
            <a:r>
              <a:rPr lang="en-GB" sz="2000" spc="-4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is</a:t>
            </a:r>
            <a:r>
              <a:rPr lang="en-GB" sz="2000" spc="-4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most</a:t>
            </a:r>
            <a:r>
              <a:rPr lang="en-GB" sz="2000" spc="-5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often</a:t>
            </a:r>
            <a:r>
              <a:rPr lang="en-GB" sz="2000" spc="-4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used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spc="-25" noProof="0" dirty="0">
                <a:solidFill>
                  <a:srgbClr val="595959"/>
                </a:solidFill>
                <a:latin typeface="Helvetica Neue"/>
                <a:cs typeface="Helvetica Neue"/>
              </a:rPr>
              <a:t>on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several</a:t>
            </a:r>
            <a:r>
              <a:rPr lang="en-GB" sz="2000" spc="-7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spc="-10" noProof="0" dirty="0">
                <a:solidFill>
                  <a:srgbClr val="595959"/>
                </a:solidFill>
                <a:latin typeface="Helvetica Neue"/>
                <a:cs typeface="Helvetica Neue"/>
              </a:rPr>
              <a:t>elements.</a:t>
            </a:r>
            <a:endParaRPr lang="en-GB" sz="2000" noProof="0" dirty="0">
              <a:latin typeface="Helvetica Neue"/>
              <a:cs typeface="Helvetica Neue"/>
            </a:endParaRPr>
          </a:p>
          <a:p>
            <a:pPr marL="355600" marR="59690" indent="-342900">
              <a:lnSpc>
                <a:spcPct val="150000"/>
              </a:lnSpc>
              <a:buFont typeface="Arial"/>
              <a:buChar char="•"/>
              <a:tabLst>
                <a:tab pos="355600" algn="l"/>
              </a:tabLst>
            </a:pP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This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allows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you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to</a:t>
            </a:r>
            <a:r>
              <a:rPr lang="en-GB" sz="2000" spc="-3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set</a:t>
            </a:r>
            <a:r>
              <a:rPr lang="en-GB" sz="2000" spc="-4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a</a:t>
            </a:r>
            <a:r>
              <a:rPr lang="en-GB" sz="2000" spc="-3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particular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style</a:t>
            </a:r>
            <a:r>
              <a:rPr lang="en-GB" sz="2000" spc="-3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for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many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HTML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spc="-10" noProof="0" dirty="0">
                <a:solidFill>
                  <a:srgbClr val="595959"/>
                </a:solidFill>
                <a:latin typeface="Helvetica Neue"/>
                <a:cs typeface="Helvetica Neue"/>
              </a:rPr>
              <a:t>elements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with</a:t>
            </a:r>
            <a:r>
              <a:rPr lang="en-GB" sz="2000" spc="-4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the</a:t>
            </a:r>
            <a:r>
              <a:rPr lang="en-GB" sz="2000" spc="-3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same</a:t>
            </a:r>
            <a:r>
              <a:rPr lang="en-GB" sz="2000" spc="-3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spc="-10" noProof="0" dirty="0">
                <a:solidFill>
                  <a:srgbClr val="595959"/>
                </a:solidFill>
                <a:latin typeface="Helvetica Neue"/>
                <a:cs typeface="Helvetica Neue"/>
              </a:rPr>
              <a:t>class.</a:t>
            </a:r>
            <a:endParaRPr lang="en-GB" sz="2000" noProof="0" dirty="0">
              <a:latin typeface="Helvetica Neue"/>
              <a:cs typeface="Helvetica Neue"/>
            </a:endParaRPr>
          </a:p>
          <a:p>
            <a:pPr marL="355600" marR="123825" indent="-342900">
              <a:lnSpc>
                <a:spcPct val="150000"/>
              </a:lnSpc>
              <a:buFont typeface="Arial"/>
              <a:buChar char="•"/>
              <a:tabLst>
                <a:tab pos="355600" algn="l"/>
              </a:tabLst>
            </a:pP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The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class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selector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uses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the</a:t>
            </a:r>
            <a:r>
              <a:rPr lang="en-GB" sz="2000" spc="-3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HTML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class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attribute,</a:t>
            </a:r>
            <a:r>
              <a:rPr lang="en-GB" sz="2000" spc="-4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and</a:t>
            </a:r>
            <a:r>
              <a:rPr lang="en-GB" sz="2000" spc="-3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is</a:t>
            </a:r>
            <a:r>
              <a:rPr lang="en-GB" sz="2000" spc="-4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spc="-10" noProof="0" dirty="0">
                <a:solidFill>
                  <a:srgbClr val="595959"/>
                </a:solidFill>
                <a:latin typeface="Helvetica Neue"/>
                <a:cs typeface="Helvetica Neue"/>
              </a:rPr>
              <a:t>defined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with</a:t>
            </a:r>
            <a:r>
              <a:rPr lang="en-GB" sz="2000" spc="-3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a</a:t>
            </a:r>
            <a:r>
              <a:rPr lang="en-GB" sz="2000" spc="-3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spc="-25" noProof="0" dirty="0">
                <a:solidFill>
                  <a:srgbClr val="595959"/>
                </a:solidFill>
                <a:latin typeface="Helvetica Neue"/>
                <a:cs typeface="Helvetica Neue"/>
              </a:rPr>
              <a:t>".”</a:t>
            </a:r>
            <a:endParaRPr lang="en-GB" sz="2000" noProof="0" dirty="0">
              <a:latin typeface="Helvetica Neue"/>
              <a:cs typeface="Helvetica Neue"/>
            </a:endParaRPr>
          </a:p>
          <a:p>
            <a:pPr marL="355600" marR="5080" indent="-342900">
              <a:lnSpc>
                <a:spcPct val="150000"/>
              </a:lnSpc>
              <a:buFont typeface="Arial"/>
              <a:buChar char="•"/>
              <a:tabLst>
                <a:tab pos="355600" algn="l"/>
              </a:tabLst>
            </a:pP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In</a:t>
            </a:r>
            <a:r>
              <a:rPr lang="en-GB" sz="2000" spc="-6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the</a:t>
            </a:r>
            <a:r>
              <a:rPr lang="en-GB" sz="2000" spc="-5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example</a:t>
            </a:r>
            <a:r>
              <a:rPr lang="en-GB" sz="2000" spc="-5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spc="-10" noProof="0" dirty="0">
                <a:solidFill>
                  <a:srgbClr val="595959"/>
                </a:solidFill>
                <a:latin typeface="Helvetica Neue"/>
                <a:cs typeface="Helvetica Neue"/>
              </a:rPr>
              <a:t>below,</a:t>
            </a:r>
            <a:r>
              <a:rPr lang="en-GB" sz="2000" spc="-6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all</a:t>
            </a:r>
            <a:r>
              <a:rPr lang="en-GB" sz="2000" spc="-5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HTML</a:t>
            </a:r>
            <a:r>
              <a:rPr lang="en-GB" sz="2000" spc="-5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elements</a:t>
            </a:r>
            <a:r>
              <a:rPr lang="en-GB" sz="2000" spc="-6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with</a:t>
            </a:r>
            <a:r>
              <a:rPr lang="en-GB" sz="2000" spc="-5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class="</a:t>
            </a:r>
            <a:r>
              <a:rPr lang="en-GB" sz="2000" noProof="0" dirty="0" err="1">
                <a:solidFill>
                  <a:srgbClr val="595959"/>
                </a:solidFill>
                <a:latin typeface="Helvetica Neue"/>
                <a:cs typeface="Helvetica Neue"/>
              </a:rPr>
              <a:t>center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"</a:t>
            </a:r>
            <a:r>
              <a:rPr lang="en-GB" sz="2000" spc="-60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spc="-20" noProof="0" dirty="0">
                <a:solidFill>
                  <a:srgbClr val="595959"/>
                </a:solidFill>
                <a:latin typeface="Helvetica Neue"/>
                <a:cs typeface="Helvetica Neue"/>
              </a:rPr>
              <a:t>will </a:t>
            </a:r>
            <a:r>
              <a:rPr lang="en-GB" sz="2000" noProof="0" dirty="0">
                <a:solidFill>
                  <a:srgbClr val="595959"/>
                </a:solidFill>
                <a:latin typeface="Helvetica Neue"/>
                <a:cs typeface="Helvetica Neue"/>
              </a:rPr>
              <a:t>be</a:t>
            </a:r>
            <a:r>
              <a:rPr lang="en-GB" sz="2000" spc="35" noProof="0" dirty="0">
                <a:solidFill>
                  <a:srgbClr val="595959"/>
                </a:solidFill>
                <a:latin typeface="Helvetica Neue"/>
                <a:cs typeface="Helvetica Neue"/>
              </a:rPr>
              <a:t> </a:t>
            </a:r>
            <a:r>
              <a:rPr lang="en-GB" sz="2000" spc="-35" noProof="0" dirty="0" err="1">
                <a:solidFill>
                  <a:srgbClr val="595959"/>
                </a:solidFill>
                <a:latin typeface="Helvetica Neue"/>
                <a:cs typeface="Helvetica Neue"/>
              </a:rPr>
              <a:t>center</a:t>
            </a:r>
            <a:r>
              <a:rPr lang="en-GB" sz="2000" spc="-35" noProof="0" dirty="0">
                <a:solidFill>
                  <a:srgbClr val="595959"/>
                </a:solidFill>
                <a:latin typeface="Helvetica Neue"/>
                <a:cs typeface="Helvetica Neue"/>
              </a:rPr>
              <a:t>-</a:t>
            </a:r>
            <a:r>
              <a:rPr lang="en-GB" sz="2000" spc="-10" noProof="0" dirty="0">
                <a:solidFill>
                  <a:srgbClr val="595959"/>
                </a:solidFill>
                <a:latin typeface="Helvetica Neue"/>
                <a:cs typeface="Helvetica Neue"/>
              </a:rPr>
              <a:t>aligned:</a:t>
            </a:r>
            <a:endParaRPr lang="en-GB" sz="2000" noProof="0" dirty="0">
              <a:latin typeface="Helvetica Neue"/>
              <a:cs typeface="Helvetica Neu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5675" y="5186171"/>
            <a:ext cx="7162165" cy="111061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530"/>
              </a:spcBef>
            </a:pPr>
            <a:r>
              <a:rPr lang="en-GB" sz="3200" b="1" noProof="0" dirty="0">
                <a:solidFill>
                  <a:srgbClr val="595959"/>
                </a:solidFill>
                <a:latin typeface="Courier New"/>
                <a:cs typeface="Courier New"/>
              </a:rPr>
              <a:t>.</a:t>
            </a:r>
            <a:r>
              <a:rPr lang="en-GB" sz="3200" b="1" noProof="0" dirty="0" err="1">
                <a:solidFill>
                  <a:srgbClr val="595959"/>
                </a:solidFill>
                <a:latin typeface="Courier New"/>
                <a:cs typeface="Courier New"/>
              </a:rPr>
              <a:t>center</a:t>
            </a:r>
            <a:r>
              <a:rPr lang="en-GB" sz="3200" b="1" spc="15" noProof="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lang="en-GB" sz="3200" b="1" spc="-10" noProof="0" dirty="0">
                <a:solidFill>
                  <a:srgbClr val="595959"/>
                </a:solidFill>
                <a:latin typeface="Courier New"/>
                <a:cs typeface="Courier New"/>
              </a:rPr>
              <a:t>{</a:t>
            </a:r>
            <a:r>
              <a:rPr lang="en-GB" sz="3200" b="1" spc="-10" noProof="0" dirty="0" err="1">
                <a:solidFill>
                  <a:srgbClr val="595959"/>
                </a:solidFill>
                <a:latin typeface="Courier New"/>
                <a:cs typeface="Courier New"/>
              </a:rPr>
              <a:t>text-align:center</a:t>
            </a:r>
            <a:r>
              <a:rPr lang="en-GB" sz="3200" b="1" spc="-10" noProof="0" dirty="0">
                <a:solidFill>
                  <a:srgbClr val="595959"/>
                </a:solidFill>
                <a:latin typeface="Courier New"/>
                <a:cs typeface="Courier New"/>
              </a:rPr>
              <a:t>;}</a:t>
            </a:r>
            <a:endParaRPr lang="en-GB" sz="3200" noProof="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lang="en-GB" sz="3200" b="1" noProof="0" dirty="0">
                <a:solidFill>
                  <a:srgbClr val="595959"/>
                </a:solidFill>
                <a:latin typeface="Courier New"/>
                <a:cs typeface="Courier New"/>
              </a:rPr>
              <a:t>&lt;p</a:t>
            </a:r>
            <a:r>
              <a:rPr lang="en-GB" sz="3200" b="1" spc="-20" noProof="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lang="en-GB" sz="3200" b="1" noProof="0" dirty="0">
                <a:solidFill>
                  <a:srgbClr val="595959"/>
                </a:solidFill>
                <a:latin typeface="Courier New"/>
                <a:cs typeface="Courier New"/>
              </a:rPr>
              <a:t>class=“</a:t>
            </a:r>
            <a:r>
              <a:rPr lang="en-GB" sz="3200" b="1" noProof="0" dirty="0" err="1">
                <a:solidFill>
                  <a:srgbClr val="595959"/>
                </a:solidFill>
                <a:latin typeface="Courier New"/>
                <a:cs typeface="Courier New"/>
              </a:rPr>
              <a:t>center</a:t>
            </a:r>
            <a:r>
              <a:rPr lang="en-GB" sz="3200" b="1" noProof="0" dirty="0">
                <a:solidFill>
                  <a:srgbClr val="595959"/>
                </a:solidFill>
                <a:latin typeface="Courier New"/>
                <a:cs typeface="Courier New"/>
              </a:rPr>
              <a:t>”&gt;text</a:t>
            </a:r>
            <a:r>
              <a:rPr lang="en-GB" sz="3200" b="1" spc="-15" noProof="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lang="en-GB" sz="3200" b="1" noProof="0" dirty="0">
                <a:solidFill>
                  <a:srgbClr val="595959"/>
                </a:solidFill>
                <a:latin typeface="Courier New"/>
                <a:cs typeface="Courier New"/>
              </a:rPr>
              <a:t>…</a:t>
            </a:r>
            <a:r>
              <a:rPr lang="en-GB" sz="3200" b="1" spc="-15" noProof="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lang="en-GB" sz="3200" b="1" spc="-20" noProof="0" dirty="0">
                <a:solidFill>
                  <a:srgbClr val="595959"/>
                </a:solidFill>
                <a:latin typeface="Courier New"/>
                <a:cs typeface="Courier New"/>
              </a:rPr>
              <a:t>&lt;/p&gt;</a:t>
            </a:r>
            <a:endParaRPr lang="en-GB" sz="3200" noProof="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9338" y="355091"/>
            <a:ext cx="31432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3200" b="1" spc="-335" noProof="0" dirty="0">
                <a:solidFill>
                  <a:srgbClr val="595959"/>
                </a:solidFill>
                <a:latin typeface="Arial"/>
                <a:cs typeface="Arial"/>
              </a:rPr>
              <a:t>CSS</a:t>
            </a:r>
            <a:r>
              <a:rPr lang="en-GB" sz="3200" b="1" spc="15" noProof="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GB" sz="3200" b="1" spc="70" noProof="0" dirty="0">
                <a:solidFill>
                  <a:srgbClr val="595959"/>
                </a:solidFill>
                <a:latin typeface="Arial"/>
                <a:cs typeface="Arial"/>
              </a:rPr>
              <a:t>Id</a:t>
            </a:r>
            <a:r>
              <a:rPr lang="en-GB" sz="3200" b="1" spc="15" noProof="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GB" sz="3200" b="1" noProof="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lang="en-GB" sz="3200" b="1" spc="15" noProof="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GB" sz="3200" b="1" spc="-180" noProof="0" dirty="0">
                <a:solidFill>
                  <a:srgbClr val="595959"/>
                </a:solidFill>
                <a:latin typeface="Arial"/>
                <a:cs typeface="Arial"/>
              </a:rPr>
              <a:t>Class</a:t>
            </a:r>
            <a:endParaRPr lang="en-GB" sz="3200" noProof="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052" y="3278632"/>
            <a:ext cx="6292850" cy="3004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500" b="1" spc="-25" noProof="0" dirty="0">
                <a:solidFill>
                  <a:srgbClr val="595959"/>
                </a:solidFill>
                <a:latin typeface="Courier New"/>
                <a:cs typeface="Courier New"/>
              </a:rPr>
              <a:t>p{</a:t>
            </a:r>
            <a:endParaRPr lang="en-GB" sz="2500" noProof="0" dirty="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95"/>
              </a:spcBef>
            </a:pPr>
            <a:r>
              <a:rPr lang="en-GB" sz="2500" b="1" spc="-10" noProof="0" dirty="0" err="1">
                <a:solidFill>
                  <a:srgbClr val="595959"/>
                </a:solidFill>
                <a:latin typeface="Courier New"/>
                <a:cs typeface="Courier New"/>
              </a:rPr>
              <a:t>color:blue</a:t>
            </a:r>
            <a:r>
              <a:rPr lang="en-GB" sz="2500" b="1" spc="-10" noProof="0" dirty="0">
                <a:solidFill>
                  <a:srgbClr val="595959"/>
                </a:solidFill>
                <a:latin typeface="Courier New"/>
                <a:cs typeface="Courier New"/>
              </a:rPr>
              <a:t>;</a:t>
            </a:r>
            <a:endParaRPr lang="en-GB" sz="2500" noProof="0" dirty="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lang="en-GB" sz="2500" b="1" noProof="0" dirty="0" err="1">
                <a:solidFill>
                  <a:srgbClr val="595959"/>
                </a:solidFill>
                <a:latin typeface="Courier New"/>
                <a:cs typeface="Courier New"/>
              </a:rPr>
              <a:t>text-</a:t>
            </a:r>
            <a:r>
              <a:rPr lang="en-GB" sz="2500" b="1" spc="-10" noProof="0" dirty="0" err="1">
                <a:solidFill>
                  <a:srgbClr val="595959"/>
                </a:solidFill>
                <a:latin typeface="Courier New"/>
                <a:cs typeface="Courier New"/>
              </a:rPr>
              <a:t>align:center</a:t>
            </a:r>
            <a:r>
              <a:rPr lang="en-GB" sz="2500" b="1" spc="-10" noProof="0" dirty="0">
                <a:solidFill>
                  <a:srgbClr val="595959"/>
                </a:solidFill>
                <a:latin typeface="Courier New"/>
                <a:cs typeface="Courier New"/>
              </a:rPr>
              <a:t>;</a:t>
            </a:r>
            <a:endParaRPr lang="en-GB" sz="2500" noProof="0" dirty="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lang="en-GB" sz="2500" b="1" noProof="0" dirty="0" err="1">
                <a:solidFill>
                  <a:srgbClr val="595959"/>
                </a:solidFill>
                <a:latin typeface="Courier New"/>
                <a:cs typeface="Courier New"/>
              </a:rPr>
              <a:t>text-</a:t>
            </a:r>
            <a:r>
              <a:rPr lang="en-GB" sz="2500" b="1" spc="-10" noProof="0" dirty="0" err="1">
                <a:solidFill>
                  <a:srgbClr val="595959"/>
                </a:solidFill>
                <a:latin typeface="Courier New"/>
                <a:cs typeface="Courier New"/>
              </a:rPr>
              <a:t>decoration:underline</a:t>
            </a:r>
            <a:r>
              <a:rPr lang="en-GB" sz="2500" b="1" spc="-10" noProof="0" dirty="0">
                <a:solidFill>
                  <a:srgbClr val="595959"/>
                </a:solidFill>
                <a:latin typeface="Courier New"/>
                <a:cs typeface="Courier New"/>
              </a:rPr>
              <a:t>;</a:t>
            </a:r>
            <a:endParaRPr lang="en-GB" sz="2500" noProof="0" dirty="0">
              <a:latin typeface="Courier New"/>
              <a:cs typeface="Courier New"/>
            </a:endParaRPr>
          </a:p>
          <a:p>
            <a:pPr marL="469900" marR="5080">
              <a:lnSpc>
                <a:spcPct val="100000"/>
              </a:lnSpc>
              <a:spcBef>
                <a:spcPts val="120"/>
              </a:spcBef>
            </a:pPr>
            <a:r>
              <a:rPr lang="en-GB" sz="2500" b="1" noProof="0" dirty="0" err="1">
                <a:solidFill>
                  <a:srgbClr val="595959"/>
                </a:solidFill>
                <a:latin typeface="Courier New"/>
                <a:cs typeface="Courier New"/>
              </a:rPr>
              <a:t>font-family:"Times</a:t>
            </a:r>
            <a:r>
              <a:rPr lang="en-GB" sz="2500" b="1" spc="225" noProof="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lang="en-GB" sz="2500" b="1" noProof="0" dirty="0">
                <a:solidFill>
                  <a:srgbClr val="595959"/>
                </a:solidFill>
                <a:latin typeface="Courier New"/>
                <a:cs typeface="Courier New"/>
              </a:rPr>
              <a:t>New</a:t>
            </a:r>
            <a:r>
              <a:rPr lang="en-GB" sz="2500" b="1" spc="235" noProof="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lang="en-GB" sz="2500" b="1" spc="-10" noProof="0" dirty="0">
                <a:solidFill>
                  <a:srgbClr val="595959"/>
                </a:solidFill>
                <a:latin typeface="Courier New"/>
                <a:cs typeface="Courier New"/>
              </a:rPr>
              <a:t>Roman”; </a:t>
            </a:r>
            <a:r>
              <a:rPr lang="en-GB" sz="2500" b="1" noProof="0" dirty="0">
                <a:solidFill>
                  <a:srgbClr val="595959"/>
                </a:solidFill>
                <a:latin typeface="Courier New"/>
                <a:cs typeface="Courier New"/>
              </a:rPr>
              <a:t>font-</a:t>
            </a:r>
            <a:r>
              <a:rPr lang="en-GB" sz="2500" b="1" spc="-10" noProof="0" dirty="0">
                <a:solidFill>
                  <a:srgbClr val="595959"/>
                </a:solidFill>
                <a:latin typeface="Courier New"/>
                <a:cs typeface="Courier New"/>
              </a:rPr>
              <a:t>size:30px;</a:t>
            </a:r>
            <a:endParaRPr lang="en-GB" sz="2500" noProof="0" dirty="0">
              <a:latin typeface="Courier New"/>
              <a:cs typeface="Courier New"/>
            </a:endParaRPr>
          </a:p>
          <a:p>
            <a:pPr marL="12700">
              <a:lnSpc>
                <a:spcPts val="2990"/>
              </a:lnSpc>
              <a:spcBef>
                <a:spcPts val="95"/>
              </a:spcBef>
            </a:pPr>
            <a:r>
              <a:rPr lang="en-GB" sz="2500" b="1" spc="-50" noProof="0" dirty="0">
                <a:solidFill>
                  <a:srgbClr val="595959"/>
                </a:solidFill>
                <a:latin typeface="Courier New"/>
                <a:cs typeface="Courier New"/>
              </a:rPr>
              <a:t>}</a:t>
            </a:r>
            <a:endParaRPr lang="en-GB" sz="2500" noProof="0" dirty="0">
              <a:latin typeface="Courier New"/>
              <a:cs typeface="Courier New"/>
            </a:endParaRPr>
          </a:p>
          <a:p>
            <a:pPr marL="1799589">
              <a:lnSpc>
                <a:spcPts val="2150"/>
              </a:lnSpc>
            </a:pPr>
            <a:r>
              <a:rPr lang="en-GB" sz="1800" spc="-10" noProof="0" dirty="0">
                <a:solidFill>
                  <a:srgbClr val="595959"/>
                </a:solidFill>
                <a:latin typeface="Arial"/>
                <a:cs typeface="Arial"/>
                <a:hlinkClick r:id="rId2"/>
              </a:rPr>
              <a:t>http://www.w3schools.com/css/css_text.asp</a:t>
            </a:r>
            <a:endParaRPr lang="en-GB" sz="1800" noProof="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3425" y="355091"/>
            <a:ext cx="16668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3200" b="1" spc="-335" noProof="0" dirty="0">
                <a:solidFill>
                  <a:srgbClr val="595959"/>
                </a:solidFill>
                <a:latin typeface="Arial"/>
                <a:cs typeface="Arial"/>
              </a:rPr>
              <a:t>CSS</a:t>
            </a:r>
            <a:r>
              <a:rPr lang="en-GB" sz="3200" b="1" spc="20" noProof="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GB" sz="3200" b="1" spc="-30" noProof="0" dirty="0">
                <a:solidFill>
                  <a:srgbClr val="595959"/>
                </a:solidFill>
                <a:latin typeface="Arial"/>
                <a:cs typeface="Arial"/>
              </a:rPr>
              <a:t>Text</a:t>
            </a:r>
            <a:endParaRPr lang="en-GB" sz="3200" noProof="0" dirty="0">
              <a:latin typeface="Arial"/>
              <a:cs typeface="Arial"/>
            </a:endParaRP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950" y="1157698"/>
            <a:ext cx="8416049" cy="199853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350" y="268287"/>
            <a:ext cx="9150350" cy="6590030"/>
            <a:chOff x="-6350" y="268287"/>
            <a:chExt cx="9150350" cy="6590030"/>
          </a:xfrm>
        </p:grpSpPr>
        <p:sp>
          <p:nvSpPr>
            <p:cNvPr id="3" name="object 3"/>
            <p:cNvSpPr/>
            <p:nvPr/>
          </p:nvSpPr>
          <p:spPr>
            <a:xfrm>
              <a:off x="0" y="274637"/>
              <a:ext cx="9144000" cy="6583680"/>
            </a:xfrm>
            <a:custGeom>
              <a:avLst/>
              <a:gdLst/>
              <a:ahLst/>
              <a:cxnLst/>
              <a:rect l="l" t="t" r="r" b="b"/>
              <a:pathLst>
                <a:path w="9144000" h="6583680">
                  <a:moveTo>
                    <a:pt x="0" y="0"/>
                  </a:moveTo>
                  <a:lnTo>
                    <a:pt x="9144000" y="0"/>
                  </a:lnTo>
                </a:path>
                <a:path w="9144000" h="6583680">
                  <a:moveTo>
                    <a:pt x="0" y="6583362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n-GB" noProof="0"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455414" y="1384101"/>
              <a:ext cx="8233409" cy="635"/>
            </a:xfrm>
            <a:custGeom>
              <a:avLst/>
              <a:gdLst/>
              <a:ahLst/>
              <a:cxnLst/>
              <a:rect l="l" t="t" r="r" b="b"/>
              <a:pathLst>
                <a:path w="8233409" h="634">
                  <a:moveTo>
                    <a:pt x="0" y="0"/>
                  </a:moveTo>
                  <a:lnTo>
                    <a:pt x="8233172" y="89"/>
                  </a:lnTo>
                </a:path>
              </a:pathLst>
            </a:custGeom>
            <a:ln w="12700">
              <a:solidFill>
                <a:srgbClr val="9A9A9A"/>
              </a:solidFill>
            </a:ln>
          </p:spPr>
          <p:txBody>
            <a:bodyPr wrap="square" lIns="0" tIns="0" rIns="0" bIns="0" rtlCol="0"/>
            <a:lstStyle/>
            <a:p>
              <a:endParaRPr lang="en-GB" noProof="0" dirty="0"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344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3000" spc="-25" noProof="0" dirty="0"/>
              <a:t>Understanding</a:t>
            </a:r>
            <a:r>
              <a:rPr lang="en-GB" sz="3000" spc="-90" noProof="0" dirty="0"/>
              <a:t> </a:t>
            </a:r>
            <a:r>
              <a:rPr lang="en-GB" sz="3000" spc="-25" noProof="0" dirty="0"/>
              <a:t>CSS</a:t>
            </a:r>
            <a:endParaRPr lang="en-GB" sz="3000" noProof="0"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1585467"/>
            <a:ext cx="7949565" cy="5082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4925">
              <a:lnSpc>
                <a:spcPct val="129099"/>
              </a:lnSpc>
              <a:spcBef>
                <a:spcPts val="100"/>
              </a:spcBef>
            </a:pPr>
            <a:r>
              <a:rPr lang="en-GB" sz="2200" noProof="0" dirty="0">
                <a:latin typeface="Helvetica Neue Light"/>
                <a:cs typeface="Helvetica Neue Light"/>
              </a:rPr>
              <a:t>The</a:t>
            </a:r>
            <a:r>
              <a:rPr lang="en-GB" sz="2200" spc="-4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key</a:t>
            </a:r>
            <a:r>
              <a:rPr lang="en-GB" sz="2200" spc="-4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to</a:t>
            </a:r>
            <a:r>
              <a:rPr lang="en-GB" sz="2200" spc="-3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understanding</a:t>
            </a:r>
            <a:r>
              <a:rPr lang="en-GB" sz="2200" spc="-3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how</a:t>
            </a:r>
            <a:r>
              <a:rPr lang="en-GB" sz="2200" spc="-4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CSS</a:t>
            </a:r>
            <a:r>
              <a:rPr lang="en-GB" sz="2200" spc="-3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works</a:t>
            </a:r>
            <a:r>
              <a:rPr lang="en-GB" sz="2200" spc="-25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is</a:t>
            </a:r>
            <a:r>
              <a:rPr lang="en-GB" sz="2200" spc="-25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to</a:t>
            </a:r>
            <a:r>
              <a:rPr lang="en-GB" sz="2200" spc="-35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imagine</a:t>
            </a:r>
            <a:r>
              <a:rPr lang="en-GB" sz="2200" spc="-35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that</a:t>
            </a:r>
            <a:r>
              <a:rPr lang="en-GB" sz="2200" spc="-35" noProof="0" dirty="0">
                <a:latin typeface="Helvetica Neue Light"/>
                <a:cs typeface="Helvetica Neue Light"/>
              </a:rPr>
              <a:t> </a:t>
            </a:r>
            <a:r>
              <a:rPr lang="en-GB" sz="2200" spc="-10" noProof="0" dirty="0">
                <a:latin typeface="Helvetica Neue Light"/>
                <a:cs typeface="Helvetica Neue Light"/>
              </a:rPr>
              <a:t>there </a:t>
            </a:r>
            <a:r>
              <a:rPr lang="en-GB" sz="2200" noProof="0" dirty="0">
                <a:latin typeface="Helvetica Neue Light"/>
                <a:cs typeface="Helvetica Neue Light"/>
              </a:rPr>
              <a:t>is</a:t>
            </a:r>
            <a:r>
              <a:rPr lang="en-GB" sz="2200" spc="-45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an</a:t>
            </a:r>
            <a:r>
              <a:rPr lang="en-GB" sz="2200" spc="-4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invisible</a:t>
            </a:r>
            <a:r>
              <a:rPr lang="en-GB" sz="2200" spc="-5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box</a:t>
            </a:r>
            <a:r>
              <a:rPr lang="en-GB" sz="2200" spc="-45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around</a:t>
            </a:r>
            <a:r>
              <a:rPr lang="en-GB" sz="2200" spc="-45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every</a:t>
            </a:r>
            <a:r>
              <a:rPr lang="en-GB" sz="2200" spc="-5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HTML</a:t>
            </a:r>
            <a:r>
              <a:rPr lang="en-GB" sz="2200" spc="-40" noProof="0" dirty="0">
                <a:latin typeface="Helvetica Neue Light"/>
                <a:cs typeface="Helvetica Neue Light"/>
              </a:rPr>
              <a:t> </a:t>
            </a:r>
            <a:r>
              <a:rPr lang="en-GB" sz="2200" spc="-10" noProof="0" dirty="0">
                <a:latin typeface="Helvetica Neue Light"/>
                <a:cs typeface="Helvetica Neue Light"/>
              </a:rPr>
              <a:t>element.</a:t>
            </a:r>
            <a:endParaRPr lang="en-GB" sz="2200" noProof="0" dirty="0">
              <a:latin typeface="Helvetica Neue Light"/>
              <a:cs typeface="Helvetica Neue Light"/>
            </a:endParaRPr>
          </a:p>
          <a:p>
            <a:pPr marL="12700" marR="872490">
              <a:lnSpc>
                <a:spcPct val="128200"/>
              </a:lnSpc>
              <a:spcBef>
                <a:spcPts val="620"/>
              </a:spcBef>
            </a:pPr>
            <a:r>
              <a:rPr lang="en-GB" sz="2200" noProof="0" dirty="0">
                <a:latin typeface="Helvetica Neue Light"/>
                <a:cs typeface="Helvetica Neue Light"/>
              </a:rPr>
              <a:t>CSS</a:t>
            </a:r>
            <a:r>
              <a:rPr lang="en-GB" sz="2200" spc="-45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rules</a:t>
            </a:r>
            <a:r>
              <a:rPr lang="en-GB" sz="2200" spc="-35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can</a:t>
            </a:r>
            <a:r>
              <a:rPr lang="en-GB" sz="2200" spc="-35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control</a:t>
            </a:r>
            <a:r>
              <a:rPr lang="en-GB" sz="2200" spc="-35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the</a:t>
            </a:r>
            <a:r>
              <a:rPr lang="en-GB" sz="2200" spc="-45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way</a:t>
            </a:r>
            <a:r>
              <a:rPr lang="en-GB" sz="2200" spc="-45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each</a:t>
            </a:r>
            <a:r>
              <a:rPr lang="en-GB" sz="2200" spc="-35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individual</a:t>
            </a:r>
            <a:r>
              <a:rPr lang="en-GB" sz="2200" spc="-4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box</a:t>
            </a:r>
            <a:r>
              <a:rPr lang="en-GB" sz="2200" spc="-35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(and</a:t>
            </a:r>
            <a:r>
              <a:rPr lang="en-GB" sz="2200" spc="-40" noProof="0" dirty="0">
                <a:latin typeface="Helvetica Neue Light"/>
                <a:cs typeface="Helvetica Neue Light"/>
              </a:rPr>
              <a:t> </a:t>
            </a:r>
            <a:r>
              <a:rPr lang="en-GB" sz="2200" spc="-25" noProof="0" dirty="0">
                <a:latin typeface="Helvetica Neue Light"/>
                <a:cs typeface="Helvetica Neue Light"/>
              </a:rPr>
              <a:t>the </a:t>
            </a:r>
            <a:r>
              <a:rPr lang="en-GB" sz="2200" noProof="0" dirty="0">
                <a:latin typeface="Helvetica Neue Light"/>
                <a:cs typeface="Helvetica Neue Light"/>
              </a:rPr>
              <a:t>contents</a:t>
            </a:r>
            <a:r>
              <a:rPr lang="en-GB" sz="2200" spc="-35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of</a:t>
            </a:r>
            <a:r>
              <a:rPr lang="en-GB" sz="2200" spc="-3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that</a:t>
            </a:r>
            <a:r>
              <a:rPr lang="en-GB" sz="2200" spc="-3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box)</a:t>
            </a:r>
            <a:r>
              <a:rPr lang="en-GB" sz="2200" spc="-4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is</a:t>
            </a:r>
            <a:r>
              <a:rPr lang="en-GB" sz="2200" spc="-3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presented,</a:t>
            </a:r>
            <a:r>
              <a:rPr lang="en-GB" sz="2200" spc="-3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for</a:t>
            </a:r>
            <a:r>
              <a:rPr lang="en-GB" sz="2200" spc="-40" noProof="0" dirty="0">
                <a:latin typeface="Helvetica Neue Light"/>
                <a:cs typeface="Helvetica Neue Light"/>
              </a:rPr>
              <a:t> </a:t>
            </a:r>
            <a:r>
              <a:rPr lang="en-GB" sz="2200" spc="-10" noProof="0" dirty="0">
                <a:latin typeface="Helvetica Neue Light"/>
                <a:cs typeface="Helvetica Neue Light"/>
              </a:rPr>
              <a:t>example:</a:t>
            </a:r>
            <a:endParaRPr lang="en-GB" sz="2200" noProof="0" dirty="0">
              <a:latin typeface="Helvetica Neue Light"/>
              <a:cs typeface="Helvetica Neue Light"/>
            </a:endParaRPr>
          </a:p>
          <a:p>
            <a:pPr marL="755650" marR="5080" indent="-285750">
              <a:lnSpc>
                <a:spcPct val="128600"/>
              </a:lnSpc>
              <a:spcBef>
                <a:spcPts val="615"/>
              </a:spcBef>
              <a:buFont typeface="Arial"/>
              <a:buChar char="•"/>
              <a:tabLst>
                <a:tab pos="755650" algn="l"/>
              </a:tabLst>
            </a:pPr>
            <a:r>
              <a:rPr lang="en-GB" sz="2200" noProof="0" dirty="0">
                <a:latin typeface="Helvetica Neue Light"/>
                <a:cs typeface="Helvetica Neue Light"/>
              </a:rPr>
              <a:t>Boxes</a:t>
            </a:r>
            <a:r>
              <a:rPr lang="en-GB" sz="2200" spc="-3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-</a:t>
            </a:r>
            <a:r>
              <a:rPr lang="en-GB" sz="2200" spc="-35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you</a:t>
            </a:r>
            <a:r>
              <a:rPr lang="en-GB" sz="2200" spc="-3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can</a:t>
            </a:r>
            <a:r>
              <a:rPr lang="en-GB" sz="2200" spc="-25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change</a:t>
            </a:r>
            <a:r>
              <a:rPr lang="en-GB" sz="2200" spc="-35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width</a:t>
            </a:r>
            <a:r>
              <a:rPr lang="en-GB" sz="2200" spc="-3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and</a:t>
            </a:r>
            <a:r>
              <a:rPr lang="en-GB" sz="2200" spc="-3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height;</a:t>
            </a:r>
            <a:r>
              <a:rPr lang="en-GB" sz="2200" spc="-3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borders</a:t>
            </a:r>
            <a:r>
              <a:rPr lang="en-GB" sz="2200" spc="-30" noProof="0" dirty="0">
                <a:latin typeface="Helvetica Neue Light"/>
                <a:cs typeface="Helvetica Neue Light"/>
              </a:rPr>
              <a:t> </a:t>
            </a:r>
            <a:r>
              <a:rPr lang="en-GB" sz="2200" spc="-10" noProof="0" dirty="0">
                <a:latin typeface="Helvetica Neue Light"/>
                <a:cs typeface="Helvetica Neue Light"/>
              </a:rPr>
              <a:t>(colour, </a:t>
            </a:r>
            <a:r>
              <a:rPr lang="en-GB" sz="2200" noProof="0" dirty="0">
                <a:latin typeface="Helvetica Neue Light"/>
                <a:cs typeface="Helvetica Neue Light"/>
              </a:rPr>
              <a:t>thickness,</a:t>
            </a:r>
            <a:r>
              <a:rPr lang="en-GB" sz="2200" spc="-6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style);</a:t>
            </a:r>
            <a:r>
              <a:rPr lang="en-GB" sz="2200" spc="-6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background</a:t>
            </a:r>
            <a:r>
              <a:rPr lang="en-GB" sz="2200" spc="-6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colour</a:t>
            </a:r>
            <a:r>
              <a:rPr lang="en-GB" sz="2200" spc="-6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and</a:t>
            </a:r>
            <a:r>
              <a:rPr lang="en-GB" sz="2200" spc="-6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images;</a:t>
            </a:r>
            <a:r>
              <a:rPr lang="en-GB" sz="2200" spc="-6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position</a:t>
            </a:r>
            <a:r>
              <a:rPr lang="en-GB" sz="2200" spc="-55" noProof="0" dirty="0">
                <a:latin typeface="Helvetica Neue Light"/>
                <a:cs typeface="Helvetica Neue Light"/>
              </a:rPr>
              <a:t> </a:t>
            </a:r>
            <a:r>
              <a:rPr lang="en-GB" sz="2200" spc="-25" noProof="0" dirty="0">
                <a:latin typeface="Helvetica Neue Light"/>
                <a:cs typeface="Helvetica Neue Light"/>
              </a:rPr>
              <a:t>in </a:t>
            </a:r>
            <a:r>
              <a:rPr lang="en-GB" sz="2200" noProof="0" dirty="0">
                <a:latin typeface="Helvetica Neue Light"/>
                <a:cs typeface="Helvetica Neue Light"/>
              </a:rPr>
              <a:t>the</a:t>
            </a:r>
            <a:r>
              <a:rPr lang="en-GB" sz="2200" spc="-65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browser</a:t>
            </a:r>
            <a:r>
              <a:rPr lang="en-GB" sz="2200" spc="-60" noProof="0" dirty="0">
                <a:latin typeface="Helvetica Neue Light"/>
                <a:cs typeface="Helvetica Neue Light"/>
              </a:rPr>
              <a:t> </a:t>
            </a:r>
            <a:r>
              <a:rPr lang="en-GB" sz="2200" spc="-10" noProof="0" dirty="0">
                <a:latin typeface="Helvetica Neue Light"/>
                <a:cs typeface="Helvetica Neue Light"/>
              </a:rPr>
              <a:t>window</a:t>
            </a:r>
            <a:endParaRPr lang="en-GB" sz="2200" noProof="0" dirty="0">
              <a:latin typeface="Helvetica Neue Light"/>
              <a:cs typeface="Helvetica Neue Light"/>
            </a:endParaRPr>
          </a:p>
          <a:p>
            <a:pPr marL="755650" marR="320040" indent="-285750">
              <a:lnSpc>
                <a:spcPct val="129099"/>
              </a:lnSpc>
              <a:spcBef>
                <a:spcPts val="600"/>
              </a:spcBef>
              <a:buFont typeface="Arial"/>
              <a:buChar char="•"/>
              <a:tabLst>
                <a:tab pos="755650" algn="l"/>
              </a:tabLst>
            </a:pPr>
            <a:r>
              <a:rPr lang="en-GB" sz="2200" spc="-45" noProof="0" dirty="0">
                <a:latin typeface="Helvetica Neue Light"/>
                <a:cs typeface="Helvetica Neue Light"/>
              </a:rPr>
              <a:t>Text</a:t>
            </a:r>
            <a:r>
              <a:rPr lang="en-GB" sz="2200" spc="-4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-</a:t>
            </a:r>
            <a:r>
              <a:rPr lang="en-GB" sz="2200" spc="-45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you</a:t>
            </a:r>
            <a:r>
              <a:rPr lang="en-GB" sz="2200" spc="-35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can</a:t>
            </a:r>
            <a:r>
              <a:rPr lang="en-GB" sz="2200" spc="-35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change</a:t>
            </a:r>
            <a:r>
              <a:rPr lang="en-GB" sz="2200" spc="-45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typeface;</a:t>
            </a:r>
            <a:r>
              <a:rPr lang="en-GB" sz="2200" spc="-4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size;</a:t>
            </a:r>
            <a:r>
              <a:rPr lang="en-GB" sz="2200" spc="-4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colour;</a:t>
            </a:r>
            <a:r>
              <a:rPr lang="en-GB" sz="2200" spc="-4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italics,</a:t>
            </a:r>
            <a:r>
              <a:rPr lang="en-GB" sz="2200" spc="-40" noProof="0" dirty="0">
                <a:latin typeface="Helvetica Neue Light"/>
                <a:cs typeface="Helvetica Neue Light"/>
              </a:rPr>
              <a:t> </a:t>
            </a:r>
            <a:r>
              <a:rPr lang="en-GB" sz="2200" spc="-10" noProof="0" dirty="0">
                <a:latin typeface="Helvetica Neue Light"/>
                <a:cs typeface="Helvetica Neue Light"/>
              </a:rPr>
              <a:t>bold, </a:t>
            </a:r>
            <a:r>
              <a:rPr lang="en-GB" sz="2200" noProof="0" dirty="0">
                <a:latin typeface="Helvetica Neue Light"/>
                <a:cs typeface="Helvetica Neue Light"/>
              </a:rPr>
              <a:t>uppercase,</a:t>
            </a:r>
            <a:r>
              <a:rPr lang="en-GB" sz="2200" spc="-10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lowercase,</a:t>
            </a:r>
            <a:r>
              <a:rPr lang="en-GB" sz="2200" spc="-95" noProof="0" dirty="0">
                <a:latin typeface="Helvetica Neue Light"/>
                <a:cs typeface="Helvetica Neue Light"/>
              </a:rPr>
              <a:t> </a:t>
            </a:r>
            <a:r>
              <a:rPr lang="en-GB" sz="2200" spc="-10" noProof="0" dirty="0">
                <a:latin typeface="Helvetica Neue Light"/>
                <a:cs typeface="Helvetica Neue Light"/>
              </a:rPr>
              <a:t>small-caps...</a:t>
            </a:r>
            <a:endParaRPr lang="en-GB" sz="2200" noProof="0" dirty="0">
              <a:latin typeface="Helvetica Neue Light"/>
              <a:cs typeface="Helvetica Neue Light"/>
            </a:endParaRPr>
          </a:p>
          <a:p>
            <a:pPr marL="755650" marR="325755" indent="-285750">
              <a:lnSpc>
                <a:spcPct val="129099"/>
              </a:lnSpc>
              <a:spcBef>
                <a:spcPts val="575"/>
              </a:spcBef>
              <a:buFont typeface="Arial"/>
              <a:buChar char="•"/>
              <a:tabLst>
                <a:tab pos="755650" algn="l"/>
              </a:tabLst>
            </a:pPr>
            <a:r>
              <a:rPr lang="en-GB" sz="2200" noProof="0" dirty="0">
                <a:latin typeface="Helvetica Neue Light"/>
                <a:cs typeface="Helvetica Neue Light"/>
              </a:rPr>
              <a:t>Specific</a:t>
            </a:r>
            <a:r>
              <a:rPr lang="en-GB" sz="2200" spc="-4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-</a:t>
            </a:r>
            <a:r>
              <a:rPr lang="en-GB" sz="2200" spc="-4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you</a:t>
            </a:r>
            <a:r>
              <a:rPr lang="en-GB" sz="2200" spc="-3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can</a:t>
            </a:r>
            <a:r>
              <a:rPr lang="en-GB" sz="2200" spc="-3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change</a:t>
            </a:r>
            <a:r>
              <a:rPr lang="en-GB" sz="2200" spc="-4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specific</a:t>
            </a:r>
            <a:r>
              <a:rPr lang="en-GB" sz="2200" spc="-4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elements</a:t>
            </a:r>
            <a:r>
              <a:rPr lang="en-GB" sz="2200" spc="-3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of</a:t>
            </a:r>
            <a:r>
              <a:rPr lang="en-GB" sz="2200" spc="-30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HTML</a:t>
            </a:r>
            <a:r>
              <a:rPr lang="en-GB" sz="2200" spc="-30" noProof="0" dirty="0">
                <a:latin typeface="Helvetica Neue Light"/>
                <a:cs typeface="Helvetica Neue Light"/>
              </a:rPr>
              <a:t> </a:t>
            </a:r>
            <a:r>
              <a:rPr lang="en-GB" sz="2200" spc="-20" noProof="0" dirty="0">
                <a:latin typeface="Helvetica Neue Light"/>
                <a:cs typeface="Helvetica Neue Light"/>
              </a:rPr>
              <a:t>like </a:t>
            </a:r>
            <a:r>
              <a:rPr lang="en-GB" sz="2200" noProof="0" dirty="0">
                <a:latin typeface="Helvetica Neue Light"/>
                <a:cs typeface="Helvetica Neue Light"/>
              </a:rPr>
              <a:t>lists,</a:t>
            </a:r>
            <a:r>
              <a:rPr lang="en-GB" sz="2200" spc="-45" noProof="0" dirty="0">
                <a:latin typeface="Helvetica Neue Light"/>
                <a:cs typeface="Helvetica Neue Light"/>
              </a:rPr>
              <a:t> </a:t>
            </a:r>
            <a:r>
              <a:rPr lang="en-GB" sz="2200" noProof="0" dirty="0">
                <a:latin typeface="Helvetica Neue Light"/>
                <a:cs typeface="Helvetica Neue Light"/>
              </a:rPr>
              <a:t>tables</a:t>
            </a:r>
            <a:r>
              <a:rPr lang="en-GB" sz="2200" spc="-40" noProof="0" dirty="0">
                <a:latin typeface="Helvetica Neue Light"/>
                <a:cs typeface="Helvetica Neue Light"/>
              </a:rPr>
              <a:t> </a:t>
            </a:r>
            <a:r>
              <a:rPr lang="en-GB" sz="2200" spc="-20" noProof="0" dirty="0">
                <a:latin typeface="Helvetica Neue Light"/>
                <a:cs typeface="Helvetica Neue Light"/>
              </a:rPr>
              <a:t>etc.</a:t>
            </a:r>
            <a:endParaRPr lang="en-GB" sz="2200" noProof="0" dirty="0">
              <a:latin typeface="Helvetica Neue Light"/>
              <a:cs typeface="Helvetica Neue Ligh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1187" y="1425402"/>
            <a:ext cx="4006849" cy="216058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066988" y="6043676"/>
            <a:ext cx="5097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800" u="sng" spc="-10" noProof="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3"/>
              </a:rPr>
              <a:t>http://www.w3schools.com/css/css_boxmodel.asp</a:t>
            </a:r>
            <a:endParaRPr lang="en-GB" sz="1800" noProof="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66638" y="1193291"/>
            <a:ext cx="3796029" cy="183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000" b="1" spc="-25" noProof="0" dirty="0">
                <a:solidFill>
                  <a:srgbClr val="595959"/>
                </a:solidFill>
                <a:latin typeface="Courier New"/>
                <a:cs typeface="Courier New"/>
              </a:rPr>
              <a:t>p{</a:t>
            </a:r>
            <a:endParaRPr lang="en-GB" sz="2000" noProof="0" dirty="0">
              <a:latin typeface="Courier New"/>
              <a:cs typeface="Courier New"/>
            </a:endParaRPr>
          </a:p>
          <a:p>
            <a:pPr marL="464820" marR="5080">
              <a:lnSpc>
                <a:spcPct val="98300"/>
              </a:lnSpc>
              <a:spcBef>
                <a:spcPts val="40"/>
              </a:spcBef>
            </a:pPr>
            <a:r>
              <a:rPr lang="en-GB" sz="2000" b="1" spc="-10" noProof="0" dirty="0">
                <a:solidFill>
                  <a:srgbClr val="595959"/>
                </a:solidFill>
                <a:latin typeface="Courier New"/>
                <a:cs typeface="Courier New"/>
              </a:rPr>
              <a:t>width:250px; padding:10px; </a:t>
            </a:r>
            <a:r>
              <a:rPr lang="en-GB" sz="2000" b="1" noProof="0" dirty="0">
                <a:solidFill>
                  <a:srgbClr val="595959"/>
                </a:solidFill>
                <a:latin typeface="Courier New"/>
                <a:cs typeface="Courier New"/>
              </a:rPr>
              <a:t>border:5px</a:t>
            </a:r>
            <a:r>
              <a:rPr lang="en-GB" sz="2000" b="1" spc="-140" noProof="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lang="en-GB" sz="2000" b="1" noProof="0" dirty="0">
                <a:solidFill>
                  <a:srgbClr val="595959"/>
                </a:solidFill>
                <a:latin typeface="Courier New"/>
                <a:cs typeface="Courier New"/>
              </a:rPr>
              <a:t>solid</a:t>
            </a:r>
            <a:r>
              <a:rPr lang="en-GB" sz="2000" b="1" spc="-125" noProof="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lang="en-GB" sz="2000" b="1" spc="-20" noProof="0" dirty="0" err="1">
                <a:solidFill>
                  <a:srgbClr val="595959"/>
                </a:solidFill>
                <a:latin typeface="Courier New"/>
                <a:cs typeface="Courier New"/>
              </a:rPr>
              <a:t>gray</a:t>
            </a:r>
            <a:r>
              <a:rPr lang="en-GB" sz="2000" b="1" spc="-20" noProof="0" dirty="0">
                <a:solidFill>
                  <a:srgbClr val="595959"/>
                </a:solidFill>
                <a:latin typeface="Courier New"/>
                <a:cs typeface="Courier New"/>
              </a:rPr>
              <a:t>; </a:t>
            </a:r>
            <a:r>
              <a:rPr lang="en-GB" sz="2000" b="1" spc="-10" noProof="0" dirty="0">
                <a:solidFill>
                  <a:srgbClr val="595959"/>
                </a:solidFill>
                <a:latin typeface="Courier New"/>
                <a:cs typeface="Courier New"/>
              </a:rPr>
              <a:t>margin:10px;</a:t>
            </a:r>
            <a:endParaRPr lang="en-GB" sz="2000" noProof="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lang="en-GB" sz="2000" b="1" spc="-50" noProof="0" dirty="0">
                <a:solidFill>
                  <a:srgbClr val="595959"/>
                </a:solidFill>
                <a:latin typeface="Courier New"/>
                <a:cs typeface="Courier New"/>
              </a:rPr>
              <a:t>}</a:t>
            </a:r>
            <a:endParaRPr lang="en-GB" sz="2000" noProof="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29579" y="355091"/>
            <a:ext cx="29368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3200" b="1" spc="-335" noProof="0" dirty="0">
                <a:solidFill>
                  <a:srgbClr val="595959"/>
                </a:solidFill>
                <a:latin typeface="Arial"/>
                <a:cs typeface="Arial"/>
              </a:rPr>
              <a:t>CSS</a:t>
            </a:r>
            <a:r>
              <a:rPr lang="en-GB" sz="3200" b="1" spc="15" noProof="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GB" sz="3200" b="1" spc="-45" noProof="0" dirty="0">
                <a:solidFill>
                  <a:srgbClr val="595959"/>
                </a:solidFill>
                <a:latin typeface="Arial"/>
                <a:cs typeface="Arial"/>
              </a:rPr>
              <a:t>Box</a:t>
            </a:r>
            <a:r>
              <a:rPr lang="en-GB" sz="3200" b="1" spc="-170" noProof="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GB" sz="3200" b="1" spc="70" noProof="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endParaRPr lang="en-GB" sz="3200" noProof="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0515" y="3542283"/>
            <a:ext cx="6698615" cy="1164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3200" spc="70" noProof="0" dirty="0">
                <a:solidFill>
                  <a:srgbClr val="595959"/>
                </a:solidFill>
                <a:latin typeface="Arial"/>
                <a:cs typeface="Arial"/>
              </a:rPr>
              <a:t>total</a:t>
            </a:r>
            <a:r>
              <a:rPr lang="en-GB" sz="3200" spc="-25" noProof="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GB" sz="3200" spc="75" noProof="0" dirty="0">
                <a:solidFill>
                  <a:srgbClr val="595959"/>
                </a:solidFill>
                <a:latin typeface="Arial"/>
                <a:cs typeface="Arial"/>
              </a:rPr>
              <a:t>width</a:t>
            </a:r>
            <a:r>
              <a:rPr lang="en-GB" sz="3200" spc="-20" noProof="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GB" sz="3200" spc="65" noProof="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lang="en-GB" sz="3200" spc="-20" noProof="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GB" sz="3200" noProof="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lang="en-GB" sz="3200" spc="-20" noProof="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GB" sz="3200" noProof="0" dirty="0">
                <a:solidFill>
                  <a:srgbClr val="595959"/>
                </a:solidFill>
                <a:latin typeface="Arial"/>
                <a:cs typeface="Arial"/>
              </a:rPr>
              <a:t>element</a:t>
            </a:r>
            <a:r>
              <a:rPr lang="en-GB" sz="3200" spc="-20" noProof="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GB" sz="3200" noProof="0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lang="en-GB" sz="4000" b="1" spc="-10" noProof="0" dirty="0">
                <a:solidFill>
                  <a:srgbClr val="595959"/>
                </a:solidFill>
                <a:latin typeface="Courier New"/>
                <a:cs typeface="Courier New"/>
              </a:rPr>
              <a:t>300px</a:t>
            </a:r>
            <a:endParaRPr lang="en-GB" sz="4000" noProof="0" dirty="0">
              <a:latin typeface="Courier New"/>
              <a:cs typeface="Courier New"/>
            </a:endParaRPr>
          </a:p>
          <a:p>
            <a:pPr marL="1076960">
              <a:lnSpc>
                <a:spcPct val="100000"/>
              </a:lnSpc>
              <a:spcBef>
                <a:spcPts val="2005"/>
              </a:spcBef>
            </a:pPr>
            <a:r>
              <a:rPr lang="en-GB" sz="1800" noProof="0" dirty="0">
                <a:solidFill>
                  <a:srgbClr val="595959"/>
                </a:solidFill>
                <a:latin typeface="Courier New"/>
                <a:cs typeface="Courier New"/>
              </a:rPr>
              <a:t>250px</a:t>
            </a:r>
            <a:r>
              <a:rPr lang="en-GB" sz="1800" spc="95" noProof="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lang="en-GB" sz="1800" spc="-10" noProof="0" dirty="0">
                <a:solidFill>
                  <a:srgbClr val="595959"/>
                </a:solidFill>
                <a:latin typeface="Courier New"/>
                <a:cs typeface="Courier New"/>
              </a:rPr>
              <a:t>(width)</a:t>
            </a:r>
            <a:endParaRPr lang="en-GB" sz="1800" noProof="0" dirty="0">
              <a:latin typeface="Courier New"/>
              <a:cs typeface="Courier New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681115"/>
              </p:ext>
            </p:extLst>
          </p:nvPr>
        </p:nvGraphicFramePr>
        <p:xfrm>
          <a:off x="2365861" y="4738301"/>
          <a:ext cx="4394199" cy="109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0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9240">
                <a:tc>
                  <a:txBody>
                    <a:bodyPr/>
                    <a:lstStyle/>
                    <a:p>
                      <a:pPr marR="31115" algn="ctr">
                        <a:lnSpc>
                          <a:spcPts val="1860"/>
                        </a:lnSpc>
                      </a:pPr>
                      <a:r>
                        <a:rPr lang="en-GB" sz="1800" spc="-50" noProof="0" dirty="0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lang="en-GB" sz="18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860"/>
                        </a:lnSpc>
                      </a:pPr>
                      <a:r>
                        <a:rPr lang="en-GB" sz="1800" spc="-20" noProof="0" dirty="0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20px</a:t>
                      </a:r>
                      <a:endParaRPr lang="en-GB" sz="18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60"/>
                        </a:lnSpc>
                      </a:pPr>
                      <a:r>
                        <a:rPr lang="en-GB" sz="1800" spc="-10" noProof="0" dirty="0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(left</a:t>
                      </a:r>
                      <a:endParaRPr lang="en-GB" sz="18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60"/>
                        </a:lnSpc>
                      </a:pPr>
                      <a:r>
                        <a:rPr lang="en-GB" sz="1800" spc="-25" noProof="0" dirty="0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and</a:t>
                      </a:r>
                      <a:endParaRPr lang="en-GB" sz="18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60"/>
                        </a:lnSpc>
                      </a:pPr>
                      <a:r>
                        <a:rPr lang="en-GB" sz="1800" spc="-10" noProof="0" dirty="0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right</a:t>
                      </a:r>
                      <a:endParaRPr lang="en-GB" sz="18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860"/>
                        </a:lnSpc>
                      </a:pPr>
                      <a:r>
                        <a:rPr lang="en-GB" sz="1800" spc="-10" noProof="0" dirty="0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padding)</a:t>
                      </a:r>
                      <a:endParaRPr lang="en-GB" sz="18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marR="31115" algn="ctr">
                        <a:lnSpc>
                          <a:spcPts val="1945"/>
                        </a:lnSpc>
                      </a:pPr>
                      <a:r>
                        <a:rPr lang="en-GB" sz="1800" spc="-50" noProof="0" dirty="0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lang="en-GB" sz="18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945"/>
                        </a:lnSpc>
                      </a:pPr>
                      <a:r>
                        <a:rPr lang="en-GB" sz="1800" spc="-20" noProof="0" dirty="0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10px</a:t>
                      </a:r>
                      <a:endParaRPr lang="en-GB" sz="18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945"/>
                        </a:lnSpc>
                      </a:pPr>
                      <a:r>
                        <a:rPr lang="en-GB" sz="1800" spc="-10" noProof="0" dirty="0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(left</a:t>
                      </a:r>
                      <a:endParaRPr lang="en-GB" sz="18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45"/>
                        </a:lnSpc>
                      </a:pPr>
                      <a:r>
                        <a:rPr lang="en-GB" sz="1800" spc="-25" noProof="0" dirty="0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and</a:t>
                      </a:r>
                      <a:endParaRPr lang="en-GB" sz="18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45"/>
                        </a:lnSpc>
                      </a:pPr>
                      <a:r>
                        <a:rPr lang="en-GB" sz="1800" spc="-10" noProof="0" dirty="0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right</a:t>
                      </a:r>
                      <a:endParaRPr lang="en-GB" sz="18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945"/>
                        </a:lnSpc>
                      </a:pPr>
                      <a:r>
                        <a:rPr lang="en-GB" sz="1800" spc="-10" noProof="0" dirty="0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border)</a:t>
                      </a:r>
                      <a:endParaRPr lang="en-GB" sz="18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marR="31115" algn="ctr">
                        <a:lnSpc>
                          <a:spcPts val="1930"/>
                        </a:lnSpc>
                      </a:pPr>
                      <a:r>
                        <a:rPr lang="en-GB" sz="1800" spc="-50" noProof="0" dirty="0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lang="en-GB" sz="18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930"/>
                        </a:lnSpc>
                      </a:pPr>
                      <a:r>
                        <a:rPr lang="en-GB" sz="1800" spc="-20" noProof="0" dirty="0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20px</a:t>
                      </a:r>
                      <a:endParaRPr lang="en-GB" sz="18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930"/>
                        </a:lnSpc>
                      </a:pPr>
                      <a:r>
                        <a:rPr lang="en-GB" sz="1800" spc="-10" noProof="0" dirty="0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(left</a:t>
                      </a:r>
                      <a:endParaRPr lang="en-GB" sz="18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30"/>
                        </a:lnSpc>
                      </a:pPr>
                      <a:r>
                        <a:rPr lang="en-GB" sz="1800" spc="-25" noProof="0" dirty="0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and</a:t>
                      </a:r>
                      <a:endParaRPr lang="en-GB" sz="18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30"/>
                        </a:lnSpc>
                      </a:pPr>
                      <a:r>
                        <a:rPr lang="en-GB" sz="1800" spc="-10" noProof="0" dirty="0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right</a:t>
                      </a:r>
                      <a:endParaRPr lang="en-GB" sz="18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930"/>
                        </a:lnSpc>
                      </a:pPr>
                      <a:r>
                        <a:rPr lang="en-GB" sz="1800" spc="-10" noProof="0" dirty="0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margin)</a:t>
                      </a:r>
                      <a:endParaRPr lang="en-GB" sz="18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marR="31115" algn="ctr">
                        <a:lnSpc>
                          <a:spcPts val="1945"/>
                        </a:lnSpc>
                      </a:pPr>
                      <a:r>
                        <a:rPr lang="en-GB" sz="1800" spc="-50" noProof="0" dirty="0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lang="en-GB" sz="18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945"/>
                        </a:lnSpc>
                      </a:pPr>
                      <a:r>
                        <a:rPr lang="en-GB" sz="1800" spc="-10" noProof="0" dirty="0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300px</a:t>
                      </a:r>
                      <a:endParaRPr lang="en-GB" sz="18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GB" sz="16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GB" sz="16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GB" sz="16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GB" sz="16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9990" y="2660395"/>
            <a:ext cx="472313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9600" noProof="0" dirty="0"/>
              <a:t>Lab</a:t>
            </a:r>
            <a:r>
              <a:rPr lang="en-GB" sz="9600" spc="-60" noProof="0" dirty="0"/>
              <a:t> </a:t>
            </a:r>
            <a:r>
              <a:rPr lang="en-GB" sz="9600" spc="-1110" noProof="0" dirty="0"/>
              <a:t>T</a:t>
            </a:r>
            <a:r>
              <a:rPr lang="en-GB" sz="9600" spc="-35" noProof="0" dirty="0"/>
              <a:t>a</a:t>
            </a:r>
            <a:r>
              <a:rPr lang="en-GB" sz="9600" spc="-40" noProof="0" dirty="0"/>
              <a:t>sk</a:t>
            </a:r>
            <a:endParaRPr lang="en-GB" sz="9600" noProof="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48831" y="486156"/>
            <a:ext cx="24466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10" noProof="0" dirty="0"/>
              <a:t>Questions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95637" y="549146"/>
            <a:ext cx="2753360" cy="612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40000" spc="-50" noProof="0" dirty="0">
                <a:solidFill>
                  <a:srgbClr val="7F7F7F"/>
                </a:solidFill>
                <a:latin typeface="Helvetica Neue Light"/>
                <a:cs typeface="Helvetica Neue Light"/>
              </a:rPr>
              <a:t>?</a:t>
            </a:r>
            <a:endParaRPr lang="en-GB" sz="40000" noProof="0" dirty="0">
              <a:latin typeface="Helvetica Neue Light"/>
              <a:cs typeface="Helvetica Neue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1231</Words>
  <Application>Microsoft Office PowerPoint</Application>
  <PresentationFormat>On-screen Show (4:3)</PresentationFormat>
  <Paragraphs>153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Courier New</vt:lpstr>
      <vt:lpstr>Georgia</vt:lpstr>
      <vt:lpstr>Helvetica Neue</vt:lpstr>
      <vt:lpstr>Helvetica Neue Light</vt:lpstr>
      <vt:lpstr>Times New Roman</vt:lpstr>
      <vt:lpstr>Office Theme</vt:lpstr>
      <vt:lpstr>CSS &amp; HTML RECAP</vt:lpstr>
      <vt:lpstr>Overview</vt:lpstr>
      <vt:lpstr>PowerPoint Presentation</vt:lpstr>
      <vt:lpstr>PowerPoint Presentation</vt:lpstr>
      <vt:lpstr>HTML</vt:lpstr>
      <vt:lpstr>Why use HTML for screen design?</vt:lpstr>
      <vt:lpstr>PowerPoint Presentation</vt:lpstr>
      <vt:lpstr>Objective-C is not the friendliest programming language in the world, as you can probably guess from this little snippet of code.</vt:lpstr>
      <vt:lpstr>HTML allows us to quickly and easily produce layouts that</vt:lpstr>
      <vt:lpstr>The DIV tag</vt:lpstr>
      <vt:lpstr>Separation of code</vt:lpstr>
      <vt:lpstr>PowerPoint Presentation</vt:lpstr>
      <vt:lpstr>PowerPoint Presentation</vt:lpstr>
      <vt:lpstr>CSS stands for Cascading Style Sheets</vt:lpstr>
      <vt:lpstr>Each elements has a default style</vt:lpstr>
      <vt:lpstr>We can override those styles and create new ones</vt:lpstr>
      <vt:lpstr>What does cascading mean?</vt:lpstr>
      <vt:lpstr>PowerPoint Presentation</vt:lpstr>
      <vt:lpstr>PowerPoint Presentation</vt:lpstr>
      <vt:lpstr>3 ways to insert CSS</vt:lpstr>
      <vt:lpstr>Why use CSS for screen design?</vt:lpstr>
      <vt:lpstr>CSS works great with HTML.</vt:lpstr>
      <vt:lpstr>View source</vt:lpstr>
      <vt:lpstr>syntax</vt:lpstr>
      <vt:lpstr>PowerPoint Presentation</vt:lpstr>
      <vt:lpstr>CSS Demonstration</vt:lpstr>
      <vt:lpstr>CSS Id and Class</vt:lpstr>
      <vt:lpstr>CSS Id and Class</vt:lpstr>
      <vt:lpstr>CSS Text</vt:lpstr>
      <vt:lpstr>Understanding CSS</vt:lpstr>
      <vt:lpstr>CSS Box Model</vt:lpstr>
      <vt:lpstr>Lab Task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&amp; HTML RECAP</dc:title>
  <cp:lastModifiedBy>Louis Kashari</cp:lastModifiedBy>
  <cp:revision>8</cp:revision>
  <dcterms:created xsi:type="dcterms:W3CDTF">2024-01-22T17:07:50Z</dcterms:created>
  <dcterms:modified xsi:type="dcterms:W3CDTF">2025-05-09T15:05:31Z</dcterms:modified>
</cp:coreProperties>
</file>