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333" r:id="rId5"/>
    <p:sldId id="260" r:id="rId6"/>
    <p:sldId id="296" r:id="rId7"/>
    <p:sldId id="297" r:id="rId8"/>
    <p:sldId id="299" r:id="rId9"/>
    <p:sldId id="300" r:id="rId10"/>
    <p:sldId id="301" r:id="rId11"/>
    <p:sldId id="302" r:id="rId12"/>
    <p:sldId id="303" r:id="rId13"/>
    <p:sldId id="304" r:id="rId14"/>
    <p:sldId id="305" r:id="rId15"/>
    <p:sldId id="306" r:id="rId16"/>
    <p:sldId id="307" r:id="rId17"/>
    <p:sldId id="308" r:id="rId18"/>
    <p:sldId id="309" r:id="rId19"/>
    <p:sldId id="310" r:id="rId20"/>
    <p:sldId id="311" r:id="rId21"/>
    <p:sldId id="324" r:id="rId22"/>
    <p:sldId id="334" r:id="rId23"/>
    <p:sldId id="326" r:id="rId24"/>
    <p:sldId id="328" r:id="rId25"/>
    <p:sldId id="327" r:id="rId26"/>
    <p:sldId id="329" r:id="rId27"/>
    <p:sldId id="330" r:id="rId28"/>
    <p:sldId id="331" r:id="rId29"/>
    <p:sldId id="332" r:id="rId30"/>
    <p:sldId id="325" r:id="rId31"/>
    <p:sldId id="320" r:id="rId32"/>
  </p:sldIdLst>
  <p:sldSz cx="13004800" cy="9753600"/>
  <p:notesSz cx="13004800" cy="975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15"/>
    <p:restoredTop sz="94658"/>
  </p:normalViewPr>
  <p:slideViewPr>
    <p:cSldViewPr>
      <p:cViewPr varScale="1">
        <p:scale>
          <a:sx n="75" d="100"/>
          <a:sy n="75" d="100"/>
        </p:scale>
        <p:origin x="1044"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2" name="Holder 2"/>
          <p:cNvSpPr>
            <a:spLocks noGrp="1"/>
          </p:cNvSpPr>
          <p:nvPr>
            <p:ph type="ctrTitle"/>
          </p:nvPr>
        </p:nvSpPr>
        <p:spPr>
          <a:xfrm>
            <a:off x="596900" y="1013936"/>
            <a:ext cx="11810998" cy="66548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950720" y="5462016"/>
            <a:ext cx="9103360" cy="24384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73229" y="637490"/>
            <a:ext cx="11658600" cy="8479155"/>
          </a:xfrm>
          <a:custGeom>
            <a:avLst/>
            <a:gdLst/>
            <a:ahLst/>
            <a:cxnLst/>
            <a:rect l="l" t="t" r="r" b="b"/>
            <a:pathLst>
              <a:path w="11658600" h="8479155">
                <a:moveTo>
                  <a:pt x="0" y="8478618"/>
                </a:moveTo>
                <a:lnTo>
                  <a:pt x="11658341" y="8478618"/>
                </a:lnTo>
                <a:lnTo>
                  <a:pt x="11658341" y="0"/>
                </a:lnTo>
                <a:lnTo>
                  <a:pt x="0" y="0"/>
                </a:lnTo>
                <a:lnTo>
                  <a:pt x="0" y="8478618"/>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250" b="1" i="0">
                <a:solidFill>
                  <a:srgbClr val="FFFC78"/>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0" i="0">
                <a:solidFill>
                  <a:srgbClr val="7F7F7F"/>
                </a:solidFill>
                <a:latin typeface="Arial Unicode MS"/>
                <a:cs typeface="Arial Unicode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250" b="1" i="0">
                <a:solidFill>
                  <a:srgbClr val="FFFC78"/>
                </a:solidFill>
                <a:latin typeface="Arial"/>
                <a:cs typeface="Arial"/>
              </a:defRPr>
            </a:lvl1pPr>
          </a:lstStyle>
          <a:p>
            <a:endParaRPr/>
          </a:p>
        </p:txBody>
      </p:sp>
      <p:sp>
        <p:nvSpPr>
          <p:cNvPr id="3" name="Holder 3"/>
          <p:cNvSpPr>
            <a:spLocks noGrp="1"/>
          </p:cNvSpPr>
          <p:nvPr>
            <p:ph sz="half" idx="2"/>
          </p:nvPr>
        </p:nvSpPr>
        <p:spPr>
          <a:xfrm>
            <a:off x="596900" y="2358820"/>
            <a:ext cx="4914900" cy="6313805"/>
          </a:xfrm>
          <a:prstGeom prst="rect">
            <a:avLst/>
          </a:prstGeom>
        </p:spPr>
        <p:txBody>
          <a:bodyPr wrap="square" lIns="0" tIns="0" rIns="0" bIns="0">
            <a:spAutoFit/>
          </a:bodyPr>
          <a:lstStyle>
            <a:lvl1pPr>
              <a:defRPr sz="2600" b="0" i="0">
                <a:solidFill>
                  <a:srgbClr val="747474"/>
                </a:solidFill>
                <a:latin typeface="Arial"/>
                <a:cs typeface="Arial"/>
              </a:defRPr>
            </a:lvl1pPr>
          </a:lstStyle>
          <a:p>
            <a:endParaRPr/>
          </a:p>
        </p:txBody>
      </p:sp>
      <p:sp>
        <p:nvSpPr>
          <p:cNvPr id="4" name="Holder 4"/>
          <p:cNvSpPr>
            <a:spLocks noGrp="1"/>
          </p:cNvSpPr>
          <p:nvPr>
            <p:ph sz="half" idx="3"/>
          </p:nvPr>
        </p:nvSpPr>
        <p:spPr>
          <a:xfrm>
            <a:off x="6697472" y="2243328"/>
            <a:ext cx="5657088"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50" b="1" i="0">
                <a:solidFill>
                  <a:srgbClr val="FFFC78"/>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34999" y="1554058"/>
            <a:ext cx="11734801" cy="1001394"/>
          </a:xfrm>
          <a:prstGeom prst="rect">
            <a:avLst/>
          </a:prstGeom>
        </p:spPr>
        <p:txBody>
          <a:bodyPr wrap="square" lIns="0" tIns="0" rIns="0" bIns="0">
            <a:spAutoFit/>
          </a:bodyPr>
          <a:lstStyle>
            <a:lvl1pPr>
              <a:defRPr sz="4250" b="1" i="0">
                <a:solidFill>
                  <a:srgbClr val="FFFC78"/>
                </a:solidFill>
                <a:latin typeface="Arial"/>
                <a:cs typeface="Arial"/>
              </a:defRPr>
            </a:lvl1pPr>
          </a:lstStyle>
          <a:p>
            <a:endParaRPr/>
          </a:p>
        </p:txBody>
      </p:sp>
      <p:sp>
        <p:nvSpPr>
          <p:cNvPr id="3" name="Holder 3"/>
          <p:cNvSpPr>
            <a:spLocks noGrp="1"/>
          </p:cNvSpPr>
          <p:nvPr>
            <p:ph type="body" idx="1"/>
          </p:nvPr>
        </p:nvSpPr>
        <p:spPr>
          <a:xfrm>
            <a:off x="591819" y="2335818"/>
            <a:ext cx="11821161" cy="6667500"/>
          </a:xfrm>
          <a:prstGeom prst="rect">
            <a:avLst/>
          </a:prstGeom>
        </p:spPr>
        <p:txBody>
          <a:bodyPr wrap="square" lIns="0" tIns="0" rIns="0" bIns="0">
            <a:spAutoFit/>
          </a:bodyPr>
          <a:lstStyle>
            <a:lvl1pPr>
              <a:defRPr sz="2800" b="0" i="0">
                <a:solidFill>
                  <a:srgbClr val="7F7F7F"/>
                </a:solidFill>
                <a:latin typeface="Arial Unicode MS"/>
                <a:cs typeface="Arial Unicode MS"/>
              </a:defRPr>
            </a:lvl1pPr>
          </a:lstStyle>
          <a:p>
            <a:endParaRPr/>
          </a:p>
        </p:txBody>
      </p:sp>
      <p:sp>
        <p:nvSpPr>
          <p:cNvPr id="4" name="Holder 4"/>
          <p:cNvSpPr>
            <a:spLocks noGrp="1"/>
          </p:cNvSpPr>
          <p:nvPr>
            <p:ph type="ftr" sz="quarter" idx="5"/>
          </p:nvPr>
        </p:nvSpPr>
        <p:spPr>
          <a:xfrm>
            <a:off x="4421632" y="9070848"/>
            <a:ext cx="4161536"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50240" y="9070848"/>
            <a:ext cx="2991104"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5/9/2025</a:t>
            </a:fld>
            <a:endParaRPr lang="en-US"/>
          </a:p>
        </p:txBody>
      </p:sp>
      <p:sp>
        <p:nvSpPr>
          <p:cNvPr id="6" name="Holder 6"/>
          <p:cNvSpPr>
            <a:spLocks noGrp="1"/>
          </p:cNvSpPr>
          <p:nvPr>
            <p:ph type="sldNum" sz="quarter" idx="7"/>
          </p:nvPr>
        </p:nvSpPr>
        <p:spPr>
          <a:xfrm>
            <a:off x="9363456" y="9070848"/>
            <a:ext cx="2991104"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hyperlink" Target="https://css-tricks.com/almanac/properties/o/overflow/"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w3schools.com/cssref/playdemo.php?filename=playcss_align-items&amp;preval=stretch"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hyperlink" Target="https://css-tricks.com/snippets/css/a-guide-to-flexbox/" TargetMode="External"/><Relationship Id="rId3" Type="http://schemas.openxmlformats.org/officeDocument/2006/relationships/hyperlink" Target="https://www.w3schools.com/css/css3_flexbox.asp#flex-grow" TargetMode="External"/><Relationship Id="rId7" Type="http://schemas.openxmlformats.org/officeDocument/2006/relationships/hyperlink" Target="https://www.w3schools.com/css/css3_flexbox.asp#align-self" TargetMode="External"/><Relationship Id="rId2" Type="http://schemas.openxmlformats.org/officeDocument/2006/relationships/hyperlink" Target="https://www.w3schools.com/css/css3_flexbox.asp#order" TargetMode="External"/><Relationship Id="rId1" Type="http://schemas.openxmlformats.org/officeDocument/2006/relationships/slideLayout" Target="../slideLayouts/slideLayout2.xml"/><Relationship Id="rId6" Type="http://schemas.openxmlformats.org/officeDocument/2006/relationships/hyperlink" Target="https://www.w3schools.com/css/css3_flexbox.asp#flex" TargetMode="External"/><Relationship Id="rId5" Type="http://schemas.openxmlformats.org/officeDocument/2006/relationships/hyperlink" Target="https://www.w3schools.com/css/css3_flexbox.asp#flex-basis" TargetMode="External"/><Relationship Id="rId4" Type="http://schemas.openxmlformats.org/officeDocument/2006/relationships/hyperlink" Target="https://www.w3schools.com/css/css3_flexbox.asp#flex-shrink"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4756150"/>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2" y="2485004"/>
            <a:ext cx="11709400" cy="1305486"/>
          </a:xfrm>
          <a:prstGeom prst="rect">
            <a:avLst/>
          </a:prstGeom>
        </p:spPr>
        <p:txBody>
          <a:bodyPr vert="horz" wrap="square" lIns="0" tIns="12700" rIns="0" bIns="0" rtlCol="0">
            <a:spAutoFit/>
          </a:bodyPr>
          <a:lstStyle/>
          <a:p>
            <a:pPr marL="12700">
              <a:lnSpc>
                <a:spcPct val="100000"/>
              </a:lnSpc>
              <a:spcBef>
                <a:spcPts val="100"/>
              </a:spcBef>
            </a:pPr>
            <a:r>
              <a:rPr lang="en-GB" sz="4200" spc="-10" dirty="0">
                <a:solidFill>
                  <a:srgbClr val="000000"/>
                </a:solidFill>
              </a:rPr>
              <a:t>Computer Systems and Internet Technologies</a:t>
            </a:r>
            <a:br>
              <a:rPr lang="en-GB" sz="4200" spc="-10" dirty="0">
                <a:solidFill>
                  <a:srgbClr val="000000"/>
                </a:solidFill>
              </a:rPr>
            </a:br>
            <a:endParaRPr lang="en-GB" sz="4200" dirty="0"/>
          </a:p>
        </p:txBody>
      </p:sp>
      <p:sp>
        <p:nvSpPr>
          <p:cNvPr id="4" name="object 4"/>
          <p:cNvSpPr txBox="1"/>
          <p:nvPr/>
        </p:nvSpPr>
        <p:spPr>
          <a:xfrm>
            <a:off x="596900" y="3782536"/>
            <a:ext cx="10325100" cy="659155"/>
          </a:xfrm>
          <a:prstGeom prst="rect">
            <a:avLst/>
          </a:prstGeom>
        </p:spPr>
        <p:txBody>
          <a:bodyPr vert="horz" wrap="square" lIns="0" tIns="12700" rIns="0" bIns="0" rtlCol="0">
            <a:spAutoFit/>
          </a:bodyPr>
          <a:lstStyle/>
          <a:p>
            <a:pPr marL="12700">
              <a:lnSpc>
                <a:spcPct val="100000"/>
              </a:lnSpc>
              <a:spcBef>
                <a:spcPts val="100"/>
              </a:spcBef>
            </a:pPr>
            <a:r>
              <a:rPr sz="4200" spc="-90" dirty="0">
                <a:latin typeface="Arial"/>
                <a:cs typeface="Arial"/>
              </a:rPr>
              <a:t>CSS</a:t>
            </a:r>
            <a:r>
              <a:rPr lang="en-GB" sz="4200" spc="-90" dirty="0">
                <a:latin typeface="Arial"/>
                <a:cs typeface="Arial"/>
              </a:rPr>
              <a:t> </a:t>
            </a:r>
            <a:r>
              <a:rPr lang="en-GB" sz="4200" spc="-70">
                <a:latin typeface="Arial"/>
                <a:cs typeface="Arial"/>
              </a:rPr>
              <a:t>– Float </a:t>
            </a:r>
            <a:r>
              <a:rPr lang="en-GB" sz="4200" spc="-70" dirty="0">
                <a:latin typeface="Arial"/>
                <a:cs typeface="Arial"/>
              </a:rPr>
              <a:t>and Flexbox</a:t>
            </a:r>
            <a:endParaRPr sz="4200" dirty="0">
              <a:latin typeface="Arial"/>
              <a:cs typeface="Arial"/>
            </a:endParaRPr>
          </a:p>
        </p:txBody>
      </p:sp>
      <p:sp>
        <p:nvSpPr>
          <p:cNvPr id="5" name="object 5"/>
          <p:cNvSpPr txBox="1"/>
          <p:nvPr/>
        </p:nvSpPr>
        <p:spPr>
          <a:xfrm>
            <a:off x="596900" y="5051221"/>
            <a:ext cx="4152899" cy="412934"/>
          </a:xfrm>
          <a:prstGeom prst="rect">
            <a:avLst/>
          </a:prstGeom>
        </p:spPr>
        <p:txBody>
          <a:bodyPr vert="horz" wrap="square" lIns="0" tIns="12700" rIns="0" bIns="0" rtlCol="0">
            <a:spAutoFit/>
          </a:bodyPr>
          <a:lstStyle/>
          <a:p>
            <a:pPr marL="12700">
              <a:lnSpc>
                <a:spcPct val="100000"/>
              </a:lnSpc>
              <a:spcBef>
                <a:spcPts val="100"/>
              </a:spcBef>
            </a:pPr>
            <a:r>
              <a:rPr lang="en-GB" sz="2600" spc="-10" dirty="0">
                <a:solidFill>
                  <a:srgbClr val="747474"/>
                </a:solidFill>
                <a:latin typeface="Arial"/>
                <a:cs typeface="Arial"/>
              </a:rPr>
              <a:t>Matt Prichard</a:t>
            </a:r>
            <a:endParaRPr sz="26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9944100" cy="659155"/>
          </a:xfrm>
          <a:prstGeom prst="rect">
            <a:avLst/>
          </a:prstGeom>
        </p:spPr>
        <p:txBody>
          <a:bodyPr vert="horz" wrap="square" lIns="0" tIns="12700" rIns="0" bIns="0" rtlCol="0">
            <a:spAutoFit/>
          </a:bodyPr>
          <a:lstStyle/>
          <a:p>
            <a:pPr marL="12700">
              <a:lnSpc>
                <a:spcPct val="100000"/>
              </a:lnSpc>
              <a:spcBef>
                <a:spcPts val="100"/>
              </a:spcBef>
            </a:pPr>
            <a:r>
              <a:rPr lang="en-GB" sz="4200" b="0" spc="-65" dirty="0">
                <a:solidFill>
                  <a:srgbClr val="000000"/>
                </a:solidFill>
                <a:latin typeface="Arial"/>
                <a:cs typeface="Arial"/>
              </a:rPr>
              <a:t>Pre CSS</a:t>
            </a:r>
            <a:endParaRPr sz="4200" dirty="0">
              <a:latin typeface="Arial"/>
              <a:cs typeface="Arial"/>
            </a:endParaRPr>
          </a:p>
        </p:txBody>
      </p:sp>
      <p:sp>
        <p:nvSpPr>
          <p:cNvPr id="4" name="object 4"/>
          <p:cNvSpPr txBox="1"/>
          <p:nvPr/>
        </p:nvSpPr>
        <p:spPr>
          <a:xfrm>
            <a:off x="596900" y="2357104"/>
            <a:ext cx="11569065" cy="6254917"/>
          </a:xfrm>
          <a:prstGeom prst="rect">
            <a:avLst/>
          </a:prstGeom>
        </p:spPr>
        <p:txBody>
          <a:bodyPr vert="horz" wrap="square" lIns="0" tIns="1905" rIns="0" bIns="0" rtlCol="0">
            <a:spAutoFit/>
          </a:bodyPr>
          <a:lstStyle/>
          <a:p>
            <a:pPr marL="12700" marR="116839">
              <a:lnSpc>
                <a:spcPct val="150000"/>
              </a:lnSpc>
              <a:spcBef>
                <a:spcPts val="15"/>
              </a:spcBef>
              <a:buClr>
                <a:srgbClr val="747474"/>
              </a:buClr>
              <a:buSzPct val="96153"/>
              <a:tabLst>
                <a:tab pos="186690" algn="l"/>
              </a:tabLst>
            </a:pPr>
            <a:r>
              <a:rPr sz="2400" dirty="0">
                <a:latin typeface="Helvetica Neue Light" panose="02000403000000020004" pitchFamily="2" charset="0"/>
                <a:ea typeface="Helvetica Neue Light" panose="02000403000000020004" pitchFamily="2" charset="0"/>
              </a:rPr>
              <a:t>Years ago, it was common for people to design work for print and web  completely separately. This was because print designers had huge control  over the layout of objects on the page, whereas web designers (by contrast)  had very little control.</a:t>
            </a:r>
          </a:p>
          <a:p>
            <a:pPr marL="12700" marR="5080">
              <a:lnSpc>
                <a:spcPct val="150000"/>
              </a:lnSpc>
              <a:buClr>
                <a:srgbClr val="747474"/>
              </a:buClr>
              <a:buSzPct val="96153"/>
              <a:tabLst>
                <a:tab pos="186690" algn="l"/>
              </a:tabLst>
            </a:pPr>
            <a:endParaRPr lang="en-GB" sz="2400" dirty="0">
              <a:latin typeface="Helvetica Neue Light" panose="02000403000000020004" pitchFamily="2" charset="0"/>
              <a:ea typeface="Helvetica Neue Light" panose="02000403000000020004" pitchFamily="2" charset="0"/>
            </a:endParaRPr>
          </a:p>
          <a:p>
            <a:pPr marL="12700" marR="5080">
              <a:lnSpc>
                <a:spcPct val="150000"/>
              </a:lnSpc>
              <a:buClr>
                <a:srgbClr val="747474"/>
              </a:buClr>
              <a:buSzPct val="96153"/>
              <a:tabLst>
                <a:tab pos="186690" algn="l"/>
              </a:tabLst>
            </a:pPr>
            <a:r>
              <a:rPr sz="2400" dirty="0">
                <a:latin typeface="Helvetica Neue Light" panose="02000403000000020004" pitchFamily="2" charset="0"/>
                <a:ea typeface="Helvetica Neue Light" panose="02000403000000020004" pitchFamily="2" charset="0"/>
              </a:rPr>
              <a:t>To control how pages looked, web designers used a complex combination of  images (usually created and “sliced” in Photoshop) and tables (which were  never designed to act as a layout tool - in HTML, tables are there to show  data and that’s it, at least in theory).</a:t>
            </a:r>
          </a:p>
          <a:p>
            <a:pPr marL="12700">
              <a:lnSpc>
                <a:spcPct val="150000"/>
              </a:lnSpc>
              <a:spcBef>
                <a:spcPts val="1800"/>
              </a:spcBef>
              <a:buClr>
                <a:srgbClr val="747474"/>
              </a:buClr>
              <a:buSzPct val="96153"/>
              <a:tabLst>
                <a:tab pos="186690" algn="l"/>
              </a:tabLst>
            </a:pPr>
            <a:r>
              <a:rPr sz="2400" dirty="0">
                <a:latin typeface="Helvetica Neue Light" panose="02000403000000020004" pitchFamily="2" charset="0"/>
                <a:ea typeface="Helvetica Neue Light" panose="02000403000000020004" pitchFamily="2" charset="0"/>
              </a:rPr>
              <a:t>This led to overly complicated designs and huge amounts of redundant</a:t>
            </a:r>
            <a:r>
              <a:rPr lang="en-GB" sz="2400" dirty="0">
                <a:latin typeface="Helvetica Neue Light" panose="02000403000000020004" pitchFamily="2" charset="0"/>
                <a:ea typeface="Helvetica Neue Light" panose="02000403000000020004" pitchFamily="2" charset="0"/>
              </a:rPr>
              <a:t> </a:t>
            </a:r>
            <a:r>
              <a:rPr sz="2400" dirty="0">
                <a:latin typeface="Helvetica Neue Light" panose="02000403000000020004" pitchFamily="2" charset="0"/>
                <a:ea typeface="Helvetica Neue Light" panose="02000403000000020004" pitchFamily="2" charset="0"/>
              </a:rPr>
              <a:t>“layout” code in the HTML, which made sites hard to update and difficult to  create. It was, however, precise.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1574800" y="952501"/>
            <a:ext cx="9848606" cy="7835898"/>
          </a:xfrm>
          <a:prstGeom prst="rect">
            <a:avLst/>
          </a:prstGeom>
          <a:blipFill>
            <a:blip r:embed="rId2" cstate="print"/>
            <a:stretch>
              <a:fillRect/>
            </a:stretch>
          </a:blipFill>
        </p:spPr>
        <p:txBody>
          <a:bodyPr wrap="square" lIns="0" tIns="0" rIns="0" bIns="0" rtlCol="0"/>
          <a:lstStyle/>
          <a:p>
            <a:endParaRPr/>
          </a:p>
        </p:txBody>
      </p:sp>
      <p:sp>
        <p:nvSpPr>
          <p:cNvPr id="3" name="object 3">
            <a:extLst>
              <a:ext uri="{C183D7F6-B498-43B3-948B-1728B52AA6E4}">
                <adec:decorative xmlns:adec="http://schemas.microsoft.com/office/drawing/2017/decorative" val="1"/>
              </a:ext>
            </a:extLst>
          </p:cNvPr>
          <p:cNvSpPr/>
          <p:nvPr/>
        </p:nvSpPr>
        <p:spPr>
          <a:xfrm>
            <a:off x="1358900" y="812819"/>
            <a:ext cx="10280406" cy="8394698"/>
          </a:xfrm>
          <a:prstGeom prst="rect">
            <a:avLst/>
          </a:prstGeom>
          <a:blipFill>
            <a:blip r:embed="rId3" cstate="print"/>
            <a:stretch>
              <a:fillRect/>
            </a:stretch>
          </a:blip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7163884" y="1247683"/>
            <a:ext cx="5564614" cy="8420098"/>
          </a:xfrm>
          <a:prstGeom prst="rect">
            <a:avLst/>
          </a:prstGeom>
          <a:blipFill>
            <a:blip r:embed="rId4" cstate="print"/>
            <a:stretch>
              <a:fillRect/>
            </a:stretch>
          </a:blip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7267592" y="1333501"/>
            <a:ext cx="5267325" cy="8140700"/>
          </a:xfrm>
          <a:custGeom>
            <a:avLst/>
            <a:gdLst/>
            <a:ahLst/>
            <a:cxnLst/>
            <a:rect l="l" t="t" r="r" b="b"/>
            <a:pathLst>
              <a:path w="5267325" h="8140700">
                <a:moveTo>
                  <a:pt x="5013323" y="0"/>
                </a:moveTo>
                <a:lnTo>
                  <a:pt x="835025" y="0"/>
                </a:lnTo>
                <a:lnTo>
                  <a:pt x="789365" y="4091"/>
                </a:lnTo>
                <a:lnTo>
                  <a:pt x="746394" y="15888"/>
                </a:lnTo>
                <a:lnTo>
                  <a:pt x="706823" y="34676"/>
                </a:lnTo>
                <a:lnTo>
                  <a:pt x="671374" y="59735"/>
                </a:lnTo>
                <a:lnTo>
                  <a:pt x="640760" y="90347"/>
                </a:lnTo>
                <a:lnTo>
                  <a:pt x="615702" y="125798"/>
                </a:lnTo>
                <a:lnTo>
                  <a:pt x="596915" y="165367"/>
                </a:lnTo>
                <a:lnTo>
                  <a:pt x="585116" y="208342"/>
                </a:lnTo>
                <a:lnTo>
                  <a:pt x="581025" y="254000"/>
                </a:lnTo>
                <a:lnTo>
                  <a:pt x="581025" y="755650"/>
                </a:lnTo>
                <a:lnTo>
                  <a:pt x="0" y="1020761"/>
                </a:lnTo>
                <a:lnTo>
                  <a:pt x="581025" y="1285875"/>
                </a:lnTo>
                <a:lnTo>
                  <a:pt x="581025" y="7886698"/>
                </a:lnTo>
                <a:lnTo>
                  <a:pt x="585116" y="7932354"/>
                </a:lnTo>
                <a:lnTo>
                  <a:pt x="596915" y="7975326"/>
                </a:lnTo>
                <a:lnTo>
                  <a:pt x="615702" y="8014896"/>
                </a:lnTo>
                <a:lnTo>
                  <a:pt x="640760" y="8050346"/>
                </a:lnTo>
                <a:lnTo>
                  <a:pt x="671374" y="8080960"/>
                </a:lnTo>
                <a:lnTo>
                  <a:pt x="706823" y="8106019"/>
                </a:lnTo>
                <a:lnTo>
                  <a:pt x="746394" y="8124807"/>
                </a:lnTo>
                <a:lnTo>
                  <a:pt x="789365" y="8136605"/>
                </a:lnTo>
                <a:lnTo>
                  <a:pt x="835025" y="8140698"/>
                </a:lnTo>
                <a:lnTo>
                  <a:pt x="5013323" y="8140698"/>
                </a:lnTo>
                <a:lnTo>
                  <a:pt x="5058981" y="8136605"/>
                </a:lnTo>
                <a:lnTo>
                  <a:pt x="5101954" y="8124807"/>
                </a:lnTo>
                <a:lnTo>
                  <a:pt x="5141523" y="8106019"/>
                </a:lnTo>
                <a:lnTo>
                  <a:pt x="5176973" y="8080960"/>
                </a:lnTo>
                <a:lnTo>
                  <a:pt x="5207586" y="8050346"/>
                </a:lnTo>
                <a:lnTo>
                  <a:pt x="5232646" y="8014896"/>
                </a:lnTo>
                <a:lnTo>
                  <a:pt x="5251433" y="7975326"/>
                </a:lnTo>
                <a:lnTo>
                  <a:pt x="5263231" y="7932354"/>
                </a:lnTo>
                <a:lnTo>
                  <a:pt x="5267323" y="7886698"/>
                </a:lnTo>
                <a:lnTo>
                  <a:pt x="5267323" y="254000"/>
                </a:lnTo>
                <a:lnTo>
                  <a:pt x="5263231" y="208342"/>
                </a:lnTo>
                <a:lnTo>
                  <a:pt x="5251433" y="165367"/>
                </a:lnTo>
                <a:lnTo>
                  <a:pt x="5232646" y="125798"/>
                </a:lnTo>
                <a:lnTo>
                  <a:pt x="5207586" y="90347"/>
                </a:lnTo>
                <a:lnTo>
                  <a:pt x="5176973" y="59735"/>
                </a:lnTo>
                <a:lnTo>
                  <a:pt x="5141523" y="34676"/>
                </a:lnTo>
                <a:lnTo>
                  <a:pt x="5101954" y="15888"/>
                </a:lnTo>
                <a:lnTo>
                  <a:pt x="5058981" y="4091"/>
                </a:lnTo>
                <a:lnTo>
                  <a:pt x="5013323" y="0"/>
                </a:lnTo>
                <a:close/>
              </a:path>
            </a:pathLst>
          </a:custGeom>
          <a:solidFill>
            <a:srgbClr val="000621"/>
          </a:solidFill>
        </p:spPr>
        <p:txBody>
          <a:bodyPr wrap="square" lIns="0" tIns="0" rIns="0" bIns="0" rtlCol="0"/>
          <a:lstStyle/>
          <a:p>
            <a:endParaRPr/>
          </a:p>
        </p:txBody>
      </p:sp>
      <p:sp>
        <p:nvSpPr>
          <p:cNvPr id="6" name="object 6">
            <a:extLst>
              <a:ext uri="{C183D7F6-B498-43B3-948B-1728B52AA6E4}">
                <adec:decorative xmlns:adec="http://schemas.microsoft.com/office/drawing/2017/decorative" val="1"/>
              </a:ext>
            </a:extLst>
          </p:cNvPr>
          <p:cNvSpPr/>
          <p:nvPr/>
        </p:nvSpPr>
        <p:spPr>
          <a:xfrm>
            <a:off x="7267592" y="1333501"/>
            <a:ext cx="5267325" cy="8140700"/>
          </a:xfrm>
          <a:custGeom>
            <a:avLst/>
            <a:gdLst/>
            <a:ahLst/>
            <a:cxnLst/>
            <a:rect l="l" t="t" r="r" b="b"/>
            <a:pathLst>
              <a:path w="5267325" h="8140700">
                <a:moveTo>
                  <a:pt x="835024" y="0"/>
                </a:moveTo>
                <a:lnTo>
                  <a:pt x="789368" y="4091"/>
                </a:lnTo>
                <a:lnTo>
                  <a:pt x="746395" y="15889"/>
                </a:lnTo>
                <a:lnTo>
                  <a:pt x="706825" y="34677"/>
                </a:lnTo>
                <a:lnTo>
                  <a:pt x="671375" y="59736"/>
                </a:lnTo>
                <a:lnTo>
                  <a:pt x="640761" y="90351"/>
                </a:lnTo>
                <a:lnTo>
                  <a:pt x="615702" y="125800"/>
                </a:lnTo>
                <a:lnTo>
                  <a:pt x="596914" y="165371"/>
                </a:lnTo>
                <a:lnTo>
                  <a:pt x="585117" y="208343"/>
                </a:lnTo>
                <a:lnTo>
                  <a:pt x="581025" y="253999"/>
                </a:lnTo>
                <a:lnTo>
                  <a:pt x="581025" y="755649"/>
                </a:lnTo>
                <a:lnTo>
                  <a:pt x="0" y="1020761"/>
                </a:lnTo>
                <a:lnTo>
                  <a:pt x="581025" y="1285875"/>
                </a:lnTo>
                <a:lnTo>
                  <a:pt x="581025" y="7886697"/>
                </a:lnTo>
                <a:lnTo>
                  <a:pt x="585117" y="7932355"/>
                </a:lnTo>
                <a:lnTo>
                  <a:pt x="596914" y="7975327"/>
                </a:lnTo>
                <a:lnTo>
                  <a:pt x="615702" y="8014897"/>
                </a:lnTo>
                <a:lnTo>
                  <a:pt x="640761" y="8050347"/>
                </a:lnTo>
                <a:lnTo>
                  <a:pt x="671375" y="8080961"/>
                </a:lnTo>
                <a:lnTo>
                  <a:pt x="706825" y="8106019"/>
                </a:lnTo>
                <a:lnTo>
                  <a:pt x="746395" y="8124807"/>
                </a:lnTo>
                <a:lnTo>
                  <a:pt x="789368" y="8136605"/>
                </a:lnTo>
                <a:lnTo>
                  <a:pt x="835024" y="8140697"/>
                </a:lnTo>
                <a:lnTo>
                  <a:pt x="5013323" y="8140697"/>
                </a:lnTo>
                <a:lnTo>
                  <a:pt x="5058980" y="8136605"/>
                </a:lnTo>
                <a:lnTo>
                  <a:pt x="5101953" y="8124807"/>
                </a:lnTo>
                <a:lnTo>
                  <a:pt x="5141523" y="8106019"/>
                </a:lnTo>
                <a:lnTo>
                  <a:pt x="5176972" y="8080961"/>
                </a:lnTo>
                <a:lnTo>
                  <a:pt x="5207586" y="8050347"/>
                </a:lnTo>
                <a:lnTo>
                  <a:pt x="5232645" y="8014897"/>
                </a:lnTo>
                <a:lnTo>
                  <a:pt x="5251432" y="7975327"/>
                </a:lnTo>
                <a:lnTo>
                  <a:pt x="5263230" y="7932355"/>
                </a:lnTo>
                <a:lnTo>
                  <a:pt x="5267323" y="7886697"/>
                </a:lnTo>
                <a:lnTo>
                  <a:pt x="5267323" y="253999"/>
                </a:lnTo>
                <a:lnTo>
                  <a:pt x="5263230" y="208343"/>
                </a:lnTo>
                <a:lnTo>
                  <a:pt x="5251432" y="165371"/>
                </a:lnTo>
                <a:lnTo>
                  <a:pt x="5232645" y="125800"/>
                </a:lnTo>
                <a:lnTo>
                  <a:pt x="5207586" y="90351"/>
                </a:lnTo>
                <a:lnTo>
                  <a:pt x="5176972" y="59736"/>
                </a:lnTo>
                <a:lnTo>
                  <a:pt x="5141523" y="34677"/>
                </a:lnTo>
                <a:lnTo>
                  <a:pt x="5101953" y="15889"/>
                </a:lnTo>
                <a:lnTo>
                  <a:pt x="5058980" y="4091"/>
                </a:lnTo>
                <a:lnTo>
                  <a:pt x="5013323" y="0"/>
                </a:lnTo>
                <a:lnTo>
                  <a:pt x="835024" y="0"/>
                </a:lnTo>
                <a:close/>
              </a:path>
            </a:pathLst>
          </a:custGeom>
          <a:ln w="25399">
            <a:solidFill>
              <a:srgbClr val="FFFFFF"/>
            </a:solidFill>
          </a:ln>
        </p:spPr>
        <p:txBody>
          <a:bodyPr wrap="square" lIns="0" tIns="0" rIns="0" bIns="0" rtlCol="0"/>
          <a:lstStyle/>
          <a:p>
            <a:endParaRPr/>
          </a:p>
        </p:txBody>
      </p:sp>
      <p:sp>
        <p:nvSpPr>
          <p:cNvPr id="7" name="object 7"/>
          <p:cNvSpPr txBox="1">
            <a:spLocks noGrp="1"/>
          </p:cNvSpPr>
          <p:nvPr>
            <p:ph type="title" idx="4294967295"/>
          </p:nvPr>
        </p:nvSpPr>
        <p:spPr>
          <a:xfrm>
            <a:off x="8084708" y="1987598"/>
            <a:ext cx="4203065" cy="6830059"/>
          </a:xfrm>
          <a:prstGeom prst="rect">
            <a:avLst/>
          </a:prstGeom>
          <a:noFill/>
          <a:ln>
            <a:noFill/>
            <a:prstDash/>
          </a:ln>
          <a:effectLst/>
        </p:spPr>
        <p:txBody>
          <a:bodyPr rot="0" spcFirstLastPara="0" vertOverflow="overflow" horzOverflow="overflow" vert="horz" wrap="square" lIns="0" tIns="48260" rIns="0" bIns="0" numCol="1" spcCol="0" rtlCol="0" fromWordArt="0" anchor="t" anchorCtr="0" forceAA="0" compatLnSpc="1">
            <a:prstTxWarp prst="textNoShape">
              <a:avLst/>
            </a:prstTxWarp>
            <a:spAutoFit/>
          </a:bodyPr>
          <a:lstStyle/>
          <a:p>
            <a:pPr marL="12700" marR="5080" lvl="0" indent="0" algn="ctr" defTabSz="914400" rtl="0" eaLnBrk="1" fontAlgn="auto" latinLnBrk="0" hangingPunct="1">
              <a:lnSpc>
                <a:spcPct val="93100"/>
              </a:lnSpc>
              <a:spcBef>
                <a:spcPts val="380"/>
              </a:spcBef>
              <a:spcAft>
                <a:spcPts val="0"/>
              </a:spcAft>
              <a:buClrTx/>
              <a:buSzTx/>
              <a:buFontTx/>
              <a:buNone/>
              <a:tabLst/>
              <a:defRPr/>
            </a:pPr>
            <a:r>
              <a:rPr kumimoji="0" lang="en-GB" sz="3400" b="0" i="1" u="none" strike="noStrike" kern="1200" cap="none" spc="0" normalizeH="0" baseline="0" noProof="0" dirty="0">
                <a:ln>
                  <a:noFill/>
                </a:ln>
                <a:solidFill>
                  <a:srgbClr val="FFFFFF"/>
                </a:solidFill>
                <a:effectLst/>
                <a:uLnTx/>
                <a:uFillTx/>
                <a:latin typeface="Georgia"/>
                <a:ea typeface="+mn-ea"/>
                <a:cs typeface="Georgia"/>
              </a:rPr>
              <a:t>An </a:t>
            </a:r>
            <a:r>
              <a:rPr kumimoji="0" lang="en-GB" sz="3400" b="0" i="1" u="none" strike="noStrike" kern="1200" cap="none" spc="-5" normalizeH="0" baseline="0" noProof="0" dirty="0">
                <a:ln>
                  <a:noFill/>
                </a:ln>
                <a:solidFill>
                  <a:srgbClr val="FFFFFF"/>
                </a:solidFill>
                <a:effectLst/>
                <a:uLnTx/>
                <a:uFillTx/>
                <a:latin typeface="Georgia"/>
                <a:ea typeface="+mn-ea"/>
                <a:cs typeface="Georgia"/>
              </a:rPr>
              <a:t>example of </a:t>
            </a:r>
            <a:r>
              <a:rPr kumimoji="0" lang="en-GB" sz="3400" b="0" i="1" u="none" strike="noStrike" kern="1200" cap="none" spc="0" normalizeH="0" baseline="0" noProof="0" dirty="0">
                <a:ln>
                  <a:noFill/>
                </a:ln>
                <a:solidFill>
                  <a:srgbClr val="FFFFFF"/>
                </a:solidFill>
                <a:effectLst/>
                <a:uLnTx/>
                <a:uFillTx/>
                <a:latin typeface="Georgia"/>
                <a:ea typeface="+mn-ea"/>
                <a:cs typeface="Georgia"/>
              </a:rPr>
              <a:t>a  </a:t>
            </a:r>
            <a:r>
              <a:rPr kumimoji="0" lang="en-GB" sz="3400" b="0" i="1" u="none" strike="noStrike" kern="1200" cap="none" spc="-5" normalizeH="0" baseline="0" noProof="0" dirty="0">
                <a:ln>
                  <a:noFill/>
                </a:ln>
                <a:solidFill>
                  <a:srgbClr val="FFFFFF"/>
                </a:solidFill>
                <a:effectLst/>
                <a:uLnTx/>
                <a:uFillTx/>
                <a:latin typeface="Georgia"/>
                <a:ea typeface="+mn-ea"/>
                <a:cs typeface="Georgia"/>
              </a:rPr>
              <a:t>“sliced” website in  </a:t>
            </a:r>
            <a:r>
              <a:rPr kumimoji="0" lang="en-GB" sz="3400" b="0" i="1" u="none" strike="noStrike" kern="1200" cap="none" spc="0" normalizeH="0" baseline="0" noProof="0" dirty="0">
                <a:ln>
                  <a:noFill/>
                </a:ln>
                <a:solidFill>
                  <a:srgbClr val="FFFFFF"/>
                </a:solidFill>
                <a:effectLst/>
                <a:uLnTx/>
                <a:uFillTx/>
                <a:latin typeface="Georgia"/>
                <a:ea typeface="+mn-ea"/>
                <a:cs typeface="Georgia"/>
              </a:rPr>
              <a:t>Photoshop. </a:t>
            </a:r>
            <a:r>
              <a:rPr kumimoji="0" lang="en-GB" sz="3400" b="0" i="1" u="none" strike="noStrike" kern="1200" cap="none" spc="-10" normalizeH="0" baseline="0" noProof="0" dirty="0">
                <a:ln>
                  <a:noFill/>
                </a:ln>
                <a:solidFill>
                  <a:srgbClr val="FFFFFF"/>
                </a:solidFill>
                <a:effectLst/>
                <a:uLnTx/>
                <a:uFillTx/>
                <a:latin typeface="Georgia"/>
                <a:ea typeface="+mn-ea"/>
                <a:cs typeface="Georgia"/>
              </a:rPr>
              <a:t>Each </a:t>
            </a:r>
            <a:r>
              <a:rPr kumimoji="0" lang="en-GB" sz="3400" b="0" i="1" u="none" strike="noStrike" kern="1200" cap="none" spc="-5" normalizeH="0" baseline="0" noProof="0" dirty="0">
                <a:ln>
                  <a:noFill/>
                </a:ln>
                <a:solidFill>
                  <a:srgbClr val="FFFFFF"/>
                </a:solidFill>
                <a:effectLst/>
                <a:uLnTx/>
                <a:uFillTx/>
                <a:latin typeface="Georgia"/>
                <a:ea typeface="+mn-ea"/>
                <a:cs typeface="Georgia"/>
              </a:rPr>
              <a:t>of  the blue </a:t>
            </a:r>
            <a:r>
              <a:rPr kumimoji="0" lang="en-GB" sz="3400" b="0" i="1" u="none" strike="noStrike" kern="1200" cap="none" spc="0" normalizeH="0" baseline="0" noProof="0" dirty="0">
                <a:ln>
                  <a:noFill/>
                </a:ln>
                <a:solidFill>
                  <a:srgbClr val="FFFFFF"/>
                </a:solidFill>
                <a:effectLst/>
                <a:uLnTx/>
                <a:uFillTx/>
                <a:latin typeface="Georgia"/>
                <a:ea typeface="+mn-ea"/>
                <a:cs typeface="Georgia"/>
              </a:rPr>
              <a:t>and </a:t>
            </a:r>
            <a:r>
              <a:rPr kumimoji="0" lang="en-GB" sz="3400" b="0" i="1" u="none" strike="noStrike" kern="1200" cap="none" spc="-5" normalizeH="0" baseline="0" noProof="0" dirty="0">
                <a:ln>
                  <a:noFill/>
                </a:ln>
                <a:solidFill>
                  <a:srgbClr val="FFFFFF"/>
                </a:solidFill>
                <a:effectLst/>
                <a:uLnTx/>
                <a:uFillTx/>
                <a:latin typeface="Georgia"/>
                <a:ea typeface="+mn-ea"/>
                <a:cs typeface="Georgia"/>
              </a:rPr>
              <a:t>grey  numbers </a:t>
            </a:r>
            <a:r>
              <a:rPr kumimoji="0" lang="en-GB" sz="3400" b="0" i="1" u="none" strike="noStrike" kern="1200" cap="none" spc="0" normalizeH="0" baseline="0" noProof="0" dirty="0">
                <a:ln>
                  <a:noFill/>
                </a:ln>
                <a:solidFill>
                  <a:srgbClr val="FFFFFF"/>
                </a:solidFill>
                <a:effectLst/>
                <a:uLnTx/>
                <a:uFillTx/>
                <a:latin typeface="Georgia"/>
                <a:ea typeface="+mn-ea"/>
                <a:cs typeface="Georgia"/>
              </a:rPr>
              <a:t>are  </a:t>
            </a:r>
            <a:r>
              <a:rPr kumimoji="0" lang="en-GB" sz="3400" b="0" i="1" u="none" strike="noStrike" kern="1200" cap="none" spc="-5" normalizeH="0" baseline="0" noProof="0" dirty="0">
                <a:ln>
                  <a:noFill/>
                </a:ln>
                <a:solidFill>
                  <a:srgbClr val="FFFFFF"/>
                </a:solidFill>
                <a:effectLst/>
                <a:uLnTx/>
                <a:uFillTx/>
                <a:latin typeface="Georgia"/>
                <a:ea typeface="+mn-ea"/>
                <a:cs typeface="Georgia"/>
              </a:rPr>
              <a:t>separate </a:t>
            </a:r>
            <a:r>
              <a:rPr kumimoji="0" lang="en-GB" sz="3400" b="0" i="1" u="none" strike="noStrike" kern="1200" cap="none" spc="-10" normalizeH="0" baseline="0" noProof="0" dirty="0">
                <a:ln>
                  <a:noFill/>
                </a:ln>
                <a:solidFill>
                  <a:srgbClr val="FFFFFF"/>
                </a:solidFill>
                <a:effectLst/>
                <a:uLnTx/>
                <a:uFillTx/>
                <a:latin typeface="Georgia"/>
                <a:ea typeface="+mn-ea"/>
                <a:cs typeface="Georgia"/>
              </a:rPr>
              <a:t>images</a:t>
            </a:r>
            <a:r>
              <a:rPr kumimoji="0" lang="en-GB" sz="3400" b="0" i="1" u="none" strike="noStrike" kern="1200" cap="none" spc="-110" normalizeH="0" baseline="0" noProof="0" dirty="0">
                <a:ln>
                  <a:noFill/>
                </a:ln>
                <a:solidFill>
                  <a:srgbClr val="FFFFFF"/>
                </a:solidFill>
                <a:effectLst/>
                <a:uLnTx/>
                <a:uFillTx/>
                <a:latin typeface="Georgia"/>
                <a:ea typeface="+mn-ea"/>
                <a:cs typeface="Georgia"/>
              </a:rPr>
              <a:t> </a:t>
            </a:r>
            <a:r>
              <a:rPr kumimoji="0" lang="en-GB" sz="3400" b="0" i="1" u="none" strike="noStrike" kern="1200" cap="none" spc="-10" normalizeH="0" baseline="0" noProof="0" dirty="0">
                <a:ln>
                  <a:noFill/>
                </a:ln>
                <a:solidFill>
                  <a:srgbClr val="FFFFFF"/>
                </a:solidFill>
                <a:effectLst/>
                <a:uLnTx/>
                <a:uFillTx/>
                <a:latin typeface="Georgia"/>
                <a:ea typeface="+mn-ea"/>
                <a:cs typeface="Georgia"/>
              </a:rPr>
              <a:t>that,  once </a:t>
            </a:r>
            <a:r>
              <a:rPr kumimoji="0" lang="en-GB" sz="3400" b="0" i="1" u="none" strike="noStrike" kern="1200" cap="none" spc="-5" normalizeH="0" baseline="0" noProof="0" dirty="0">
                <a:ln>
                  <a:noFill/>
                </a:ln>
                <a:solidFill>
                  <a:srgbClr val="FFFFFF"/>
                </a:solidFill>
                <a:effectLst/>
                <a:uLnTx/>
                <a:uFillTx/>
                <a:latin typeface="Georgia"/>
                <a:ea typeface="+mn-ea"/>
                <a:cs typeface="Georgia"/>
              </a:rPr>
              <a:t>exported from  </a:t>
            </a:r>
            <a:r>
              <a:rPr kumimoji="0" lang="en-GB" sz="3400" b="0" i="1" u="none" strike="noStrike" kern="1200" cap="none" spc="0" normalizeH="0" baseline="0" noProof="0" dirty="0">
                <a:ln>
                  <a:noFill/>
                </a:ln>
                <a:solidFill>
                  <a:srgbClr val="FFFFFF"/>
                </a:solidFill>
                <a:effectLst/>
                <a:uLnTx/>
                <a:uFillTx/>
                <a:latin typeface="Georgia"/>
                <a:ea typeface="+mn-ea"/>
                <a:cs typeface="Georgia"/>
              </a:rPr>
              <a:t>Photoshop, </a:t>
            </a:r>
            <a:r>
              <a:rPr kumimoji="0" lang="en-GB" sz="3400" b="0" i="1" u="none" strike="noStrike" kern="1200" cap="none" spc="-10" normalizeH="0" baseline="0" noProof="0" dirty="0">
                <a:ln>
                  <a:noFill/>
                </a:ln>
                <a:solidFill>
                  <a:srgbClr val="FFFFFF"/>
                </a:solidFill>
                <a:effectLst/>
                <a:uLnTx/>
                <a:uFillTx/>
                <a:latin typeface="Georgia"/>
                <a:ea typeface="+mn-ea"/>
                <a:cs typeface="Georgia"/>
              </a:rPr>
              <a:t>would  </a:t>
            </a:r>
            <a:r>
              <a:rPr kumimoji="0" lang="en-GB" sz="3400" b="0" i="1" u="none" strike="noStrike" kern="1200" cap="none" spc="0" normalizeH="0" baseline="0" noProof="0" dirty="0">
                <a:ln>
                  <a:noFill/>
                </a:ln>
                <a:solidFill>
                  <a:srgbClr val="FFFFFF"/>
                </a:solidFill>
                <a:effectLst/>
                <a:uLnTx/>
                <a:uFillTx/>
                <a:latin typeface="Georgia"/>
                <a:ea typeface="+mn-ea"/>
                <a:cs typeface="Georgia"/>
              </a:rPr>
              <a:t>have to be </a:t>
            </a:r>
            <a:r>
              <a:rPr kumimoji="0" lang="en-GB" sz="3400" b="0" i="1" u="none" strike="noStrike" kern="1200" cap="none" spc="-5" normalizeH="0" baseline="0" noProof="0" dirty="0">
                <a:ln>
                  <a:noFill/>
                </a:ln>
                <a:solidFill>
                  <a:srgbClr val="FFFFFF"/>
                </a:solidFill>
                <a:effectLst/>
                <a:uLnTx/>
                <a:uFillTx/>
                <a:latin typeface="Georgia"/>
                <a:ea typeface="+mn-ea"/>
                <a:cs typeface="Georgia"/>
              </a:rPr>
              <a:t>arranged  into the </a:t>
            </a:r>
            <a:r>
              <a:rPr kumimoji="0" lang="en-GB" sz="3400" b="0" i="1" u="none" strike="noStrike" kern="1200" cap="none" spc="-10" normalizeH="0" baseline="0" noProof="0" dirty="0">
                <a:ln>
                  <a:noFill/>
                </a:ln>
                <a:solidFill>
                  <a:srgbClr val="FFFFFF"/>
                </a:solidFill>
                <a:effectLst/>
                <a:uLnTx/>
                <a:uFillTx/>
                <a:latin typeface="Georgia"/>
                <a:ea typeface="+mn-ea"/>
                <a:cs typeface="Georgia"/>
              </a:rPr>
              <a:t>same layout  using HTML</a:t>
            </a:r>
            <a:r>
              <a:rPr kumimoji="0" lang="en-GB" sz="3400" b="0" i="1" u="none" strike="noStrike" kern="1200" cap="none" spc="-90" normalizeH="0" baseline="0" noProof="0" dirty="0">
                <a:ln>
                  <a:noFill/>
                </a:ln>
                <a:solidFill>
                  <a:srgbClr val="FFFFFF"/>
                </a:solidFill>
                <a:effectLst/>
                <a:uLnTx/>
                <a:uFillTx/>
                <a:latin typeface="Georgia"/>
                <a:ea typeface="+mn-ea"/>
                <a:cs typeface="Georgia"/>
              </a:rPr>
              <a:t> </a:t>
            </a:r>
            <a:r>
              <a:rPr kumimoji="0" lang="en-GB" sz="3400" b="0" i="1" u="none" strike="noStrike" kern="1200" cap="none" spc="-10" normalizeH="0" baseline="0" noProof="0" dirty="0">
                <a:ln>
                  <a:noFill/>
                </a:ln>
                <a:solidFill>
                  <a:srgbClr val="FFFFFF"/>
                </a:solidFill>
                <a:effectLst/>
                <a:uLnTx/>
                <a:uFillTx/>
                <a:latin typeface="Georgia"/>
                <a:ea typeface="+mn-ea"/>
                <a:cs typeface="Georgia"/>
              </a:rPr>
              <a:t>tables.</a:t>
            </a:r>
            <a:endParaRPr kumimoji="0" lang="en-GB" sz="3400" b="0" i="0" u="none" strike="noStrike" kern="1200" cap="none" spc="0" normalizeH="0" baseline="0" noProof="0" dirty="0">
              <a:ln>
                <a:noFill/>
              </a:ln>
              <a:solidFill>
                <a:schemeClr val="tx1"/>
              </a:solidFill>
              <a:effectLst/>
              <a:uLnTx/>
              <a:uFillTx/>
              <a:latin typeface="Georgia"/>
              <a:ea typeface="+mn-ea"/>
              <a:cs typeface="Georgia"/>
            </a:endParaRPr>
          </a:p>
          <a:p>
            <a:pPr marL="0" marR="0" lvl="0" indent="0" algn="l" defTabSz="914400" rtl="0" eaLnBrk="1" fontAlgn="auto" latinLnBrk="0" hangingPunct="1">
              <a:lnSpc>
                <a:spcPct val="100000"/>
              </a:lnSpc>
              <a:spcBef>
                <a:spcPts val="10"/>
              </a:spcBef>
              <a:spcAft>
                <a:spcPts val="0"/>
              </a:spcAft>
              <a:buClrTx/>
              <a:buSzTx/>
              <a:buFontTx/>
              <a:buNone/>
              <a:tabLst/>
              <a:defRPr/>
            </a:pPr>
            <a:endParaRPr kumimoji="0" lang="en-GB" sz="3450" b="0" i="0" u="none" strike="noStrike" kern="1200" cap="none" spc="0" normalizeH="0" baseline="0" noProof="0" dirty="0">
              <a:ln>
                <a:noFill/>
              </a:ln>
              <a:solidFill>
                <a:schemeClr val="tx1"/>
              </a:solidFill>
              <a:effectLst/>
              <a:uLnTx/>
              <a:uFillTx/>
              <a:latin typeface="Times New Roman"/>
              <a:ea typeface="+mn-ea"/>
              <a:cs typeface="Times New Roman"/>
            </a:endParaRPr>
          </a:p>
          <a:p>
            <a:pPr marL="178435" marR="147955" lvl="0" indent="0" algn="ctr" defTabSz="914400" rtl="0" eaLnBrk="1" fontAlgn="auto" latinLnBrk="0" hangingPunct="1">
              <a:lnSpc>
                <a:spcPts val="3800"/>
              </a:lnSpc>
              <a:spcBef>
                <a:spcPts val="5"/>
              </a:spcBef>
              <a:spcAft>
                <a:spcPts val="0"/>
              </a:spcAft>
              <a:buClrTx/>
              <a:buSzTx/>
              <a:buFontTx/>
              <a:buNone/>
              <a:tabLst/>
              <a:defRPr/>
            </a:pPr>
            <a:r>
              <a:rPr kumimoji="0" lang="en-GB" sz="3400" b="0" i="1" u="none" strike="noStrike" kern="1200" cap="none" spc="0" normalizeH="0" baseline="0" noProof="0" dirty="0">
                <a:ln>
                  <a:noFill/>
                </a:ln>
                <a:solidFill>
                  <a:srgbClr val="FFFFFF"/>
                </a:solidFill>
                <a:effectLst/>
                <a:uLnTx/>
                <a:uFillTx/>
                <a:latin typeface="Georgia"/>
                <a:ea typeface="+mn-ea"/>
                <a:cs typeface="Georgia"/>
              </a:rPr>
              <a:t>This </a:t>
            </a:r>
            <a:r>
              <a:rPr kumimoji="0" lang="en-GB" sz="3400" b="0" i="1" u="none" strike="noStrike" kern="1200" cap="none" spc="-5" normalizeH="0" baseline="0" noProof="0" dirty="0">
                <a:ln>
                  <a:noFill/>
                </a:ln>
                <a:solidFill>
                  <a:srgbClr val="FFFFFF"/>
                </a:solidFill>
                <a:effectLst/>
                <a:uLnTx/>
                <a:uFillTx/>
                <a:latin typeface="Georgia"/>
                <a:ea typeface="+mn-ea"/>
                <a:cs typeface="Georgia"/>
              </a:rPr>
              <a:t>was </a:t>
            </a:r>
            <a:r>
              <a:rPr kumimoji="0" lang="en-GB" sz="3400" b="0" i="1" u="none" strike="noStrike" kern="1200" cap="none" spc="0" normalizeH="0" baseline="0" noProof="0" dirty="0">
                <a:ln>
                  <a:noFill/>
                </a:ln>
                <a:solidFill>
                  <a:srgbClr val="FFFFFF"/>
                </a:solidFill>
                <a:effectLst/>
                <a:uLnTx/>
                <a:uFillTx/>
                <a:latin typeface="Georgia"/>
                <a:ea typeface="+mn-ea"/>
                <a:cs typeface="Georgia"/>
              </a:rPr>
              <a:t>a </a:t>
            </a:r>
            <a:r>
              <a:rPr kumimoji="0" lang="en-GB" sz="3400" b="0" i="1" u="none" strike="noStrike" kern="1200" cap="none" spc="-5" normalizeH="0" baseline="0" noProof="0" dirty="0">
                <a:ln>
                  <a:noFill/>
                </a:ln>
                <a:solidFill>
                  <a:srgbClr val="FFFFFF"/>
                </a:solidFill>
                <a:effectLst/>
                <a:uLnTx/>
                <a:uFillTx/>
                <a:latin typeface="Georgia"/>
                <a:ea typeface="+mn-ea"/>
                <a:cs typeface="Georgia"/>
              </a:rPr>
              <a:t>long</a:t>
            </a:r>
            <a:r>
              <a:rPr kumimoji="0" lang="en-GB" sz="3400" b="0" i="1" u="none" strike="noStrike" kern="1200" cap="none" spc="-190" normalizeH="0" baseline="0" noProof="0" dirty="0">
                <a:ln>
                  <a:noFill/>
                </a:ln>
                <a:solidFill>
                  <a:srgbClr val="FFFFFF"/>
                </a:solidFill>
                <a:effectLst/>
                <a:uLnTx/>
                <a:uFillTx/>
                <a:latin typeface="Georgia"/>
                <a:ea typeface="+mn-ea"/>
                <a:cs typeface="Georgia"/>
              </a:rPr>
              <a:t> </a:t>
            </a:r>
            <a:r>
              <a:rPr kumimoji="0" lang="en-GB" sz="3400" b="0" i="1" u="none" strike="noStrike" kern="1200" cap="none" spc="-5" normalizeH="0" baseline="0" noProof="0" dirty="0">
                <a:ln>
                  <a:noFill/>
                </a:ln>
                <a:solidFill>
                  <a:srgbClr val="FFFFFF"/>
                </a:solidFill>
                <a:effectLst/>
                <a:uLnTx/>
                <a:uFillTx/>
                <a:latin typeface="Georgia"/>
                <a:ea typeface="+mn-ea"/>
                <a:cs typeface="Georgia"/>
              </a:rPr>
              <a:t>and  </a:t>
            </a:r>
            <a:r>
              <a:rPr kumimoji="0" lang="en-GB" sz="3400" b="0" i="1" u="none" strike="noStrike" kern="1200" cap="none" spc="-10" normalizeH="0" baseline="0" noProof="0" dirty="0">
                <a:ln>
                  <a:noFill/>
                </a:ln>
                <a:solidFill>
                  <a:srgbClr val="FFFFFF"/>
                </a:solidFill>
                <a:effectLst/>
                <a:uLnTx/>
                <a:uFillTx/>
                <a:latin typeface="Georgia"/>
                <a:ea typeface="+mn-ea"/>
                <a:cs typeface="Georgia"/>
              </a:rPr>
              <a:t>boring</a:t>
            </a:r>
            <a:r>
              <a:rPr kumimoji="0" lang="en-GB" sz="3400" b="0" i="1" u="none" strike="noStrike" kern="1200" cap="none" spc="-70" normalizeH="0" baseline="0" noProof="0" dirty="0">
                <a:ln>
                  <a:noFill/>
                </a:ln>
                <a:solidFill>
                  <a:srgbClr val="FFFFFF"/>
                </a:solidFill>
                <a:effectLst/>
                <a:uLnTx/>
                <a:uFillTx/>
                <a:latin typeface="Georgia"/>
                <a:ea typeface="+mn-ea"/>
                <a:cs typeface="Georgia"/>
              </a:rPr>
              <a:t> </a:t>
            </a:r>
            <a:r>
              <a:rPr kumimoji="0" lang="en-GB" sz="3400" b="0" i="1" u="none" strike="noStrike" kern="1200" cap="none" spc="-10" normalizeH="0" baseline="0" noProof="0" dirty="0">
                <a:ln>
                  <a:noFill/>
                </a:ln>
                <a:solidFill>
                  <a:srgbClr val="FFFFFF"/>
                </a:solidFill>
                <a:effectLst/>
                <a:uLnTx/>
                <a:uFillTx/>
                <a:latin typeface="Georgia"/>
                <a:ea typeface="+mn-ea"/>
                <a:cs typeface="Georgia"/>
              </a:rPr>
              <a:t>process.</a:t>
            </a:r>
            <a:endParaRPr kumimoji="0" lang="en-GB" sz="3400" b="0" i="0" u="none" strike="noStrike" kern="1200" cap="none" spc="0" normalizeH="0" baseline="0" noProof="0" dirty="0">
              <a:ln>
                <a:noFill/>
              </a:ln>
              <a:solidFill>
                <a:schemeClr val="tx1"/>
              </a:solidFill>
              <a:effectLst/>
              <a:uLnTx/>
              <a:uFillTx/>
              <a:latin typeface="Georgia"/>
              <a:ea typeface="+mn-ea"/>
              <a:cs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3658235" cy="665480"/>
          </a:xfrm>
          <a:prstGeom prst="rect">
            <a:avLst/>
          </a:prstGeom>
        </p:spPr>
        <p:txBody>
          <a:bodyPr vert="horz" wrap="square" lIns="0" tIns="12700" rIns="0" bIns="0" rtlCol="0">
            <a:spAutoFit/>
          </a:bodyPr>
          <a:lstStyle/>
          <a:p>
            <a:pPr marL="12700">
              <a:lnSpc>
                <a:spcPct val="100000"/>
              </a:lnSpc>
              <a:spcBef>
                <a:spcPts val="100"/>
              </a:spcBef>
            </a:pPr>
            <a:r>
              <a:rPr sz="4200" b="0" spc="-90" dirty="0">
                <a:solidFill>
                  <a:srgbClr val="000000"/>
                </a:solidFill>
                <a:latin typeface="Arial"/>
                <a:cs typeface="Arial"/>
              </a:rPr>
              <a:t>CSS </a:t>
            </a:r>
            <a:r>
              <a:rPr sz="4200" b="0" spc="-40" dirty="0">
                <a:solidFill>
                  <a:srgbClr val="000000"/>
                </a:solidFill>
                <a:latin typeface="Arial"/>
                <a:cs typeface="Arial"/>
              </a:rPr>
              <a:t>for</a:t>
            </a:r>
            <a:r>
              <a:rPr sz="4200" b="0" spc="-254" dirty="0">
                <a:solidFill>
                  <a:srgbClr val="000000"/>
                </a:solidFill>
                <a:latin typeface="Arial"/>
                <a:cs typeface="Arial"/>
              </a:rPr>
              <a:t> </a:t>
            </a:r>
            <a:r>
              <a:rPr sz="4200" b="0" spc="-65" dirty="0">
                <a:solidFill>
                  <a:srgbClr val="000000"/>
                </a:solidFill>
                <a:latin typeface="Arial"/>
                <a:cs typeface="Arial"/>
              </a:rPr>
              <a:t>Layout.</a:t>
            </a:r>
            <a:endParaRPr sz="4200" dirty="0">
              <a:latin typeface="Arial"/>
              <a:cs typeface="Arial"/>
            </a:endParaRPr>
          </a:p>
        </p:txBody>
      </p:sp>
      <p:sp>
        <p:nvSpPr>
          <p:cNvPr id="4" name="object 4"/>
          <p:cNvSpPr txBox="1"/>
          <p:nvPr/>
        </p:nvSpPr>
        <p:spPr>
          <a:xfrm>
            <a:off x="596918" y="2260602"/>
            <a:ext cx="11722100" cy="4789259"/>
          </a:xfrm>
          <a:prstGeom prst="rect">
            <a:avLst/>
          </a:prstGeom>
        </p:spPr>
        <p:txBody>
          <a:bodyPr vert="horz" wrap="square" lIns="0" tIns="116839" rIns="0" bIns="0" rtlCol="0">
            <a:spAutoFit/>
          </a:bodyPr>
          <a:lstStyle/>
          <a:p>
            <a:pPr marL="12700">
              <a:lnSpc>
                <a:spcPct val="150000"/>
              </a:lnSpc>
              <a:spcBef>
                <a:spcPts val="919"/>
              </a:spcBef>
              <a:tabLst>
                <a:tab pos="10687050" algn="l"/>
              </a:tabLst>
            </a:pPr>
            <a:r>
              <a:rPr sz="2800" dirty="0">
                <a:latin typeface="Helvetica Neue Light" panose="02000403000000020004" pitchFamily="2" charset="0"/>
                <a:ea typeface="Helvetica Neue Light" panose="02000403000000020004" pitchFamily="2" charset="0"/>
              </a:rPr>
              <a:t>CSS proposed a number of (at the time) radical changes.</a:t>
            </a:r>
            <a:endParaRPr lang="en-GB" sz="2800" dirty="0">
              <a:latin typeface="Helvetica Neue Light" panose="02000403000000020004" pitchFamily="2" charset="0"/>
              <a:ea typeface="Helvetica Neue Light" panose="02000403000000020004" pitchFamily="2" charset="0"/>
            </a:endParaRPr>
          </a:p>
          <a:p>
            <a:pPr marL="469900" indent="-457200">
              <a:lnSpc>
                <a:spcPct val="150000"/>
              </a:lnSpc>
              <a:spcBef>
                <a:spcPts val="919"/>
              </a:spcBef>
              <a:buFont typeface="Arial" panose="020B0604020202020204" pitchFamily="34" charset="0"/>
              <a:buChar char="•"/>
              <a:tabLst>
                <a:tab pos="10687050" algn="l"/>
              </a:tabLst>
            </a:pPr>
            <a:r>
              <a:rPr sz="2800" dirty="0">
                <a:latin typeface="Helvetica Neue Light" panose="02000403000000020004" pitchFamily="2" charset="0"/>
                <a:ea typeface="Helvetica Neue Light" panose="02000403000000020004" pitchFamily="2" charset="0"/>
              </a:rPr>
              <a:t>Firstly, formatting of</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text</a:t>
            </a:r>
            <a:r>
              <a:rPr lang="en-GB" sz="2800" dirty="0">
                <a:latin typeface="Helvetica Neue Light" panose="02000403000000020004" pitchFamily="2" charset="0"/>
                <a:ea typeface="Helvetica Neue Light" panose="02000403000000020004" pitchFamily="2" charset="0"/>
              </a:rPr>
              <a:t> w</a:t>
            </a:r>
            <a:r>
              <a:rPr sz="2800" dirty="0" err="1">
                <a:latin typeface="Helvetica Neue Light" panose="02000403000000020004" pitchFamily="2" charset="0"/>
                <a:ea typeface="Helvetica Neue Light" panose="02000403000000020004" pitchFamily="2" charset="0"/>
              </a:rPr>
              <a:t>ould</a:t>
            </a:r>
            <a:r>
              <a:rPr sz="2800" dirty="0">
                <a:latin typeface="Helvetica Neue Light" panose="02000403000000020004" pitchFamily="2" charset="0"/>
                <a:ea typeface="Helvetica Neue Light" panose="02000403000000020004" pitchFamily="2" charset="0"/>
              </a:rPr>
              <a:t> be removed from the HTML and placed in it’s own area.</a:t>
            </a:r>
            <a:endParaRPr lang="en-GB" sz="2800" dirty="0">
              <a:latin typeface="Helvetica Neue Light" panose="02000403000000020004" pitchFamily="2" charset="0"/>
              <a:ea typeface="Helvetica Neue Light" panose="02000403000000020004" pitchFamily="2" charset="0"/>
            </a:endParaRPr>
          </a:p>
          <a:p>
            <a:pPr marL="469900" indent="-457200">
              <a:lnSpc>
                <a:spcPct val="150000"/>
              </a:lnSpc>
              <a:spcBef>
                <a:spcPts val="919"/>
              </a:spcBef>
              <a:buFont typeface="Arial" panose="020B0604020202020204" pitchFamily="34" charset="0"/>
              <a:buChar char="•"/>
              <a:tabLst>
                <a:tab pos="10687050" algn="l"/>
              </a:tabLst>
            </a:pPr>
            <a:r>
              <a:rPr sz="2800" dirty="0">
                <a:latin typeface="Helvetica Neue Light" panose="02000403000000020004" pitchFamily="2" charset="0"/>
                <a:ea typeface="Helvetica Neue Light" panose="02000403000000020004" pitchFamily="2" charset="0"/>
              </a:rPr>
              <a:t>Secondly,</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there was to  be a new way of laying out objects on the page -  a combination</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of creating a new</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“box” model to hold page content and encouraging</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developers to move away from the table model they had been using for years.</a:t>
            </a:r>
          </a:p>
        </p:txBody>
      </p:sp>
    </p:spTree>
    <p:extLst>
      <p:ext uri="{BB962C8B-B14F-4D97-AF65-F5344CB8AC3E}">
        <p14:creationId xmlns:p14="http://schemas.microsoft.com/office/powerpoint/2010/main" val="3541345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3658235" cy="665480"/>
          </a:xfrm>
          <a:prstGeom prst="rect">
            <a:avLst/>
          </a:prstGeom>
        </p:spPr>
        <p:txBody>
          <a:bodyPr vert="horz" wrap="square" lIns="0" tIns="12700" rIns="0" bIns="0" rtlCol="0">
            <a:spAutoFit/>
          </a:bodyPr>
          <a:lstStyle/>
          <a:p>
            <a:pPr marL="12700">
              <a:lnSpc>
                <a:spcPct val="100000"/>
              </a:lnSpc>
              <a:spcBef>
                <a:spcPts val="100"/>
              </a:spcBef>
            </a:pPr>
            <a:r>
              <a:rPr sz="4200" b="0" spc="-90" dirty="0">
                <a:solidFill>
                  <a:srgbClr val="000000"/>
                </a:solidFill>
                <a:latin typeface="Arial"/>
                <a:cs typeface="Arial"/>
              </a:rPr>
              <a:t>CSS </a:t>
            </a:r>
            <a:r>
              <a:rPr sz="4200" b="0" spc="-40" dirty="0">
                <a:solidFill>
                  <a:srgbClr val="000000"/>
                </a:solidFill>
                <a:latin typeface="Arial"/>
                <a:cs typeface="Arial"/>
              </a:rPr>
              <a:t>for</a:t>
            </a:r>
            <a:r>
              <a:rPr sz="4200" b="0" spc="-254" dirty="0">
                <a:solidFill>
                  <a:srgbClr val="000000"/>
                </a:solidFill>
                <a:latin typeface="Arial"/>
                <a:cs typeface="Arial"/>
              </a:rPr>
              <a:t> </a:t>
            </a:r>
            <a:r>
              <a:rPr sz="4200" b="0" spc="-65" dirty="0">
                <a:solidFill>
                  <a:srgbClr val="000000"/>
                </a:solidFill>
                <a:latin typeface="Arial"/>
                <a:cs typeface="Arial"/>
              </a:rPr>
              <a:t>Layout.</a:t>
            </a:r>
            <a:endParaRPr sz="4200" dirty="0">
              <a:latin typeface="Arial"/>
              <a:cs typeface="Arial"/>
            </a:endParaRPr>
          </a:p>
        </p:txBody>
      </p:sp>
      <p:sp>
        <p:nvSpPr>
          <p:cNvPr id="4" name="object 4"/>
          <p:cNvSpPr txBox="1"/>
          <p:nvPr/>
        </p:nvSpPr>
        <p:spPr>
          <a:xfrm>
            <a:off x="596918" y="2260602"/>
            <a:ext cx="11722100" cy="4558426"/>
          </a:xfrm>
          <a:prstGeom prst="rect">
            <a:avLst/>
          </a:prstGeom>
        </p:spPr>
        <p:txBody>
          <a:bodyPr vert="horz" wrap="square" lIns="0" tIns="116839" rIns="0" bIns="0" rtlCol="0">
            <a:spAutoFit/>
          </a:bodyPr>
          <a:lstStyle/>
          <a:p>
            <a:pPr marL="469900" marR="23495" indent="-457200">
              <a:lnSpc>
                <a:spcPct val="150000"/>
              </a:lnSpc>
              <a:buFont typeface="Arial" panose="020B0604020202020204" pitchFamily="34" charset="0"/>
              <a:buChar char="•"/>
              <a:tabLst>
                <a:tab pos="5272405" algn="l"/>
                <a:tab pos="5992495" algn="l"/>
                <a:tab pos="6988809" algn="l"/>
                <a:tab pos="9464675" algn="l"/>
              </a:tabLst>
            </a:pPr>
            <a:r>
              <a:rPr sz="2800" dirty="0">
                <a:latin typeface="Helvetica Neue Light" panose="02000403000000020004" pitchFamily="2" charset="0"/>
                <a:ea typeface="Helvetica Neue Light" panose="02000403000000020004" pitchFamily="2" charset="0"/>
              </a:rPr>
              <a:t>Whilst a difficult transition for some, it was widely embraced by web</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developers.</a:t>
            </a:r>
            <a:endParaRPr lang="en-GB" sz="2800" dirty="0">
              <a:latin typeface="Helvetica Neue Light" panose="02000403000000020004" pitchFamily="2" charset="0"/>
              <a:ea typeface="Helvetica Neue Light" panose="02000403000000020004" pitchFamily="2" charset="0"/>
            </a:endParaRPr>
          </a:p>
          <a:p>
            <a:pPr marL="469900" marR="23495" indent="-457200">
              <a:lnSpc>
                <a:spcPct val="150000"/>
              </a:lnSpc>
              <a:buFont typeface="Arial" panose="020B0604020202020204" pitchFamily="34" charset="0"/>
              <a:buChar char="•"/>
              <a:tabLst>
                <a:tab pos="5272405" algn="l"/>
                <a:tab pos="5992495" algn="l"/>
                <a:tab pos="6988809" algn="l"/>
                <a:tab pos="9464675" algn="l"/>
              </a:tabLst>
            </a:pPr>
            <a:r>
              <a:rPr sz="2800" dirty="0">
                <a:latin typeface="Helvetica Neue Light" panose="02000403000000020004" pitchFamily="2" charset="0"/>
                <a:ea typeface="Helvetica Neue Light" panose="02000403000000020004" pitchFamily="2" charset="0"/>
              </a:rPr>
              <a:t>This  became especially true with the rise of “standards</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compliant” web browsers such as  Opera, Firefox, Safari and Chrome but also</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because it started to offer features that developers would not have been able</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to do previously (using the table method of layout).</a:t>
            </a:r>
          </a:p>
          <a:p>
            <a:pPr marL="469900" indent="-457200">
              <a:lnSpc>
                <a:spcPct val="150000"/>
              </a:lnSpc>
              <a:spcBef>
                <a:spcPts val="5"/>
              </a:spcBef>
              <a:buFont typeface="Arial" panose="020B0604020202020204" pitchFamily="34" charset="0"/>
              <a:buChar char="•"/>
            </a:pPr>
            <a:r>
              <a:rPr sz="2800" dirty="0">
                <a:latin typeface="Helvetica Neue Light" panose="02000403000000020004" pitchFamily="2" charset="0"/>
                <a:ea typeface="Helvetica Neue Light" panose="02000403000000020004" pitchFamily="2" charset="0"/>
              </a:rPr>
              <a:t>One especially important area was that of grid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3829050" cy="665480"/>
          </a:xfrm>
          <a:prstGeom prst="rect">
            <a:avLst/>
          </a:prstGeom>
        </p:spPr>
        <p:txBody>
          <a:bodyPr vert="horz" wrap="square" lIns="0" tIns="12700" rIns="0" bIns="0" rtlCol="0">
            <a:spAutoFit/>
          </a:bodyPr>
          <a:lstStyle/>
          <a:p>
            <a:pPr marL="12700">
              <a:lnSpc>
                <a:spcPct val="100000"/>
              </a:lnSpc>
              <a:spcBef>
                <a:spcPts val="100"/>
              </a:spcBef>
            </a:pPr>
            <a:r>
              <a:rPr sz="4200" b="0" spc="-90" dirty="0">
                <a:solidFill>
                  <a:srgbClr val="000000"/>
                </a:solidFill>
                <a:latin typeface="Arial"/>
                <a:cs typeface="Arial"/>
              </a:rPr>
              <a:t>CSS </a:t>
            </a:r>
            <a:r>
              <a:rPr sz="4200" b="0" spc="-25" dirty="0">
                <a:solidFill>
                  <a:srgbClr val="000000"/>
                </a:solidFill>
                <a:latin typeface="Arial"/>
                <a:cs typeface="Arial"/>
              </a:rPr>
              <a:t>Box</a:t>
            </a:r>
            <a:r>
              <a:rPr sz="4200" b="0" spc="-245" dirty="0">
                <a:solidFill>
                  <a:srgbClr val="000000"/>
                </a:solidFill>
                <a:latin typeface="Arial"/>
                <a:cs typeface="Arial"/>
              </a:rPr>
              <a:t> </a:t>
            </a:r>
            <a:r>
              <a:rPr sz="4200" b="0" spc="-55" dirty="0">
                <a:solidFill>
                  <a:srgbClr val="000000"/>
                </a:solidFill>
                <a:latin typeface="Arial"/>
                <a:cs typeface="Arial"/>
              </a:rPr>
              <a:t>Model.</a:t>
            </a:r>
            <a:endParaRPr sz="4200" dirty="0">
              <a:latin typeface="Arial"/>
              <a:cs typeface="Arial"/>
            </a:endParaRPr>
          </a:p>
        </p:txBody>
      </p:sp>
      <p:sp>
        <p:nvSpPr>
          <p:cNvPr id="4" name="object 4"/>
          <p:cNvSpPr txBox="1"/>
          <p:nvPr/>
        </p:nvSpPr>
        <p:spPr>
          <a:xfrm>
            <a:off x="596900" y="2357105"/>
            <a:ext cx="11242675" cy="3796039"/>
          </a:xfrm>
          <a:prstGeom prst="rect">
            <a:avLst/>
          </a:prstGeom>
        </p:spPr>
        <p:txBody>
          <a:bodyPr vert="horz" wrap="square" lIns="0" tIns="1905" rIns="0" bIns="0" rtlCol="0">
            <a:spAutoFit/>
          </a:bodyPr>
          <a:lstStyle/>
          <a:p>
            <a:pPr marL="469900" marR="5080" indent="-457200">
              <a:lnSpc>
                <a:spcPct val="150000"/>
              </a:lnSpc>
              <a:spcBef>
                <a:spcPts val="15"/>
              </a:spcBef>
              <a:buFont typeface="Arial" panose="020B0604020202020204" pitchFamily="34" charset="0"/>
              <a:buChar char="•"/>
            </a:pPr>
            <a:r>
              <a:rPr sz="2800" dirty="0">
                <a:latin typeface="Helvetica Neue Light" panose="02000403000000020004" pitchFamily="2" charset="0"/>
                <a:ea typeface="Helvetica Neue Light" panose="02000403000000020004" pitchFamily="2" charset="0"/>
              </a:rPr>
              <a:t>As you probably know, the CSS box model has a number of parameters that  we need to be able to change to give us the look and feel we want for our  site.</a:t>
            </a:r>
          </a:p>
          <a:p>
            <a:pPr marL="469900" marR="4224655" indent="-457200">
              <a:lnSpc>
                <a:spcPct val="150000"/>
              </a:lnSpc>
              <a:spcBef>
                <a:spcPts val="25"/>
              </a:spcBef>
              <a:buFont typeface="Arial" panose="020B0604020202020204" pitchFamily="34" charset="0"/>
              <a:buChar char="•"/>
            </a:pPr>
            <a:r>
              <a:rPr sz="2800" dirty="0">
                <a:latin typeface="Helvetica Neue Light" panose="02000403000000020004" pitchFamily="2" charset="0"/>
                <a:ea typeface="Helvetica Neue Light" panose="02000403000000020004" pitchFamily="2" charset="0"/>
              </a:rPr>
              <a:t>The main ones are padding, border an</a:t>
            </a:r>
            <a:r>
              <a:rPr lang="en-GB" sz="2800" dirty="0">
                <a:latin typeface="Helvetica Neue Light" panose="02000403000000020004" pitchFamily="2" charset="0"/>
                <a:ea typeface="Helvetica Neue Light" panose="02000403000000020004" pitchFamily="2" charset="0"/>
              </a:rPr>
              <a:t>d    </a:t>
            </a:r>
            <a:r>
              <a:rPr sz="2800" dirty="0">
                <a:latin typeface="Helvetica Neue Light" panose="02000403000000020004" pitchFamily="2" charset="0"/>
                <a:ea typeface="Helvetica Neue Light" panose="02000403000000020004" pitchFamily="2" charset="0"/>
              </a:rPr>
              <a:t>margin. It’s easier to explain</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this with</a:t>
            </a:r>
            <a:r>
              <a:rPr lang="en-GB" sz="2800" dirty="0">
                <a:latin typeface="Helvetica Neue Light" panose="02000403000000020004" pitchFamily="2" charset="0"/>
                <a:ea typeface="Helvetica Neue Light" panose="02000403000000020004" pitchFamily="2" charset="0"/>
              </a:rPr>
              <a:t> a diagram</a:t>
            </a:r>
            <a:endParaRPr sz="2800" dirty="0">
              <a:latin typeface="Helvetica Neue Light" panose="02000403000000020004" pitchFamily="2" charset="0"/>
              <a:ea typeface="Helvetica Neue Light" panose="02000403000000020004"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1422401" y="1066802"/>
            <a:ext cx="10160000" cy="7620000"/>
          </a:xfrm>
          <a:custGeom>
            <a:avLst/>
            <a:gdLst/>
            <a:ahLst/>
            <a:cxnLst/>
            <a:rect l="l" t="t" r="r" b="b"/>
            <a:pathLst>
              <a:path w="10160000" h="7620000">
                <a:moveTo>
                  <a:pt x="0" y="0"/>
                </a:moveTo>
                <a:lnTo>
                  <a:pt x="10159997" y="0"/>
                </a:lnTo>
                <a:lnTo>
                  <a:pt x="10159997" y="7619999"/>
                </a:lnTo>
                <a:lnTo>
                  <a:pt x="0" y="7619999"/>
                </a:lnTo>
                <a:lnTo>
                  <a:pt x="0" y="0"/>
                </a:lnTo>
                <a:close/>
              </a:path>
            </a:pathLst>
          </a:custGeom>
          <a:ln w="25399">
            <a:solidFill>
              <a:srgbClr val="0047BD"/>
            </a:solidFill>
          </a:ln>
        </p:spPr>
        <p:txBody>
          <a:bodyPr wrap="square" lIns="0" tIns="0" rIns="0" bIns="0" rtlCol="0"/>
          <a:lstStyle/>
          <a:p>
            <a:endParaRPr/>
          </a:p>
        </p:txBody>
      </p:sp>
      <p:sp>
        <p:nvSpPr>
          <p:cNvPr id="3" name="object 3">
            <a:extLst>
              <a:ext uri="{C183D7F6-B498-43B3-948B-1728B52AA6E4}">
                <adec:decorative xmlns:adec="http://schemas.microsoft.com/office/drawing/2017/decorative" val="1"/>
              </a:ext>
            </a:extLst>
          </p:cNvPr>
          <p:cNvSpPr/>
          <p:nvPr/>
        </p:nvSpPr>
        <p:spPr>
          <a:xfrm>
            <a:off x="2692400" y="2336801"/>
            <a:ext cx="7620000" cy="5080000"/>
          </a:xfrm>
          <a:custGeom>
            <a:avLst/>
            <a:gdLst/>
            <a:ahLst/>
            <a:cxnLst/>
            <a:rect l="l" t="t" r="r" b="b"/>
            <a:pathLst>
              <a:path w="7620000" h="5080000">
                <a:moveTo>
                  <a:pt x="0" y="0"/>
                </a:moveTo>
                <a:lnTo>
                  <a:pt x="7619998" y="0"/>
                </a:lnTo>
                <a:lnTo>
                  <a:pt x="7619998" y="5080000"/>
                </a:lnTo>
                <a:lnTo>
                  <a:pt x="0" y="5080000"/>
                </a:lnTo>
                <a:lnTo>
                  <a:pt x="0" y="0"/>
                </a:lnTo>
                <a:close/>
              </a:path>
            </a:pathLst>
          </a:custGeom>
          <a:solidFill>
            <a:srgbClr val="D5D5D5"/>
          </a:solid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2692400" y="2336801"/>
            <a:ext cx="7620000" cy="5080000"/>
          </a:xfrm>
          <a:custGeom>
            <a:avLst/>
            <a:gdLst/>
            <a:ahLst/>
            <a:cxnLst/>
            <a:rect l="l" t="t" r="r" b="b"/>
            <a:pathLst>
              <a:path w="7620000" h="5080000">
                <a:moveTo>
                  <a:pt x="0" y="0"/>
                </a:moveTo>
                <a:lnTo>
                  <a:pt x="7619997" y="0"/>
                </a:lnTo>
                <a:lnTo>
                  <a:pt x="7619997" y="5079998"/>
                </a:lnTo>
                <a:lnTo>
                  <a:pt x="0" y="5079998"/>
                </a:lnTo>
                <a:lnTo>
                  <a:pt x="0" y="0"/>
                </a:lnTo>
                <a:close/>
              </a:path>
            </a:pathLst>
          </a:custGeom>
          <a:ln w="507999">
            <a:solidFill>
              <a:srgbClr val="000000"/>
            </a:solidFill>
          </a:ln>
        </p:spPr>
        <p:txBody>
          <a:bodyPr wrap="square" lIns="0" tIns="0" rIns="0" bIns="0" rtlCol="0"/>
          <a:lstStyle/>
          <a:p>
            <a:endParaRPr/>
          </a:p>
        </p:txBody>
      </p:sp>
      <p:sp>
        <p:nvSpPr>
          <p:cNvPr id="5" name="object 5"/>
          <p:cNvSpPr txBox="1"/>
          <p:nvPr/>
        </p:nvSpPr>
        <p:spPr>
          <a:xfrm>
            <a:off x="3962418" y="3606802"/>
            <a:ext cx="5080000" cy="1628775"/>
          </a:xfrm>
          <a:prstGeom prst="rect">
            <a:avLst/>
          </a:prstGeom>
          <a:solidFill>
            <a:srgbClr val="F1F1F1"/>
          </a:solidFill>
          <a:ln w="25399">
            <a:solidFill>
              <a:srgbClr val="000000"/>
            </a:solidFill>
          </a:ln>
        </p:spPr>
        <p:txBody>
          <a:bodyPr vert="horz" wrap="square" lIns="0" tIns="0" rIns="0" bIns="0" rtlCol="0">
            <a:spAutoFit/>
          </a:bodyPr>
          <a:lstStyle/>
          <a:p>
            <a:pPr>
              <a:lnSpc>
                <a:spcPct val="100000"/>
              </a:lnSpc>
            </a:pPr>
            <a:endParaRPr sz="2700">
              <a:latin typeface="Times New Roman"/>
              <a:cs typeface="Times New Roman"/>
            </a:endParaRPr>
          </a:p>
          <a:p>
            <a:pPr>
              <a:lnSpc>
                <a:spcPct val="100000"/>
              </a:lnSpc>
            </a:pPr>
            <a:endParaRPr sz="2700">
              <a:latin typeface="Times New Roman"/>
              <a:cs typeface="Times New Roman"/>
            </a:endParaRPr>
          </a:p>
          <a:p>
            <a:pPr>
              <a:lnSpc>
                <a:spcPct val="100000"/>
              </a:lnSpc>
              <a:spcBef>
                <a:spcPts val="25"/>
              </a:spcBef>
            </a:pPr>
            <a:endParaRPr sz="3100">
              <a:latin typeface="Times New Roman"/>
              <a:cs typeface="Times New Roman"/>
            </a:endParaRPr>
          </a:p>
          <a:p>
            <a:pPr marL="5715" algn="ctr">
              <a:lnSpc>
                <a:spcPct val="100000"/>
              </a:lnSpc>
            </a:pPr>
            <a:r>
              <a:rPr sz="2400" b="1" dirty="0">
                <a:latin typeface="Arial"/>
                <a:cs typeface="Arial"/>
              </a:rPr>
              <a:t>Content</a:t>
            </a:r>
            <a:endParaRPr sz="2400">
              <a:latin typeface="Arial"/>
              <a:cs typeface="Arial"/>
            </a:endParaRPr>
          </a:p>
        </p:txBody>
      </p:sp>
      <p:sp>
        <p:nvSpPr>
          <p:cNvPr id="6" name="object 6"/>
          <p:cNvSpPr txBox="1"/>
          <p:nvPr/>
        </p:nvSpPr>
        <p:spPr>
          <a:xfrm>
            <a:off x="1633390" y="619658"/>
            <a:ext cx="546100" cy="391160"/>
          </a:xfrm>
          <a:prstGeom prst="rect">
            <a:avLst/>
          </a:prstGeom>
        </p:spPr>
        <p:txBody>
          <a:bodyPr vert="horz" wrap="square" lIns="0" tIns="12700" rIns="0" bIns="0" rtlCol="0">
            <a:spAutoFit/>
          </a:bodyPr>
          <a:lstStyle/>
          <a:p>
            <a:pPr marL="12700">
              <a:lnSpc>
                <a:spcPct val="100000"/>
              </a:lnSpc>
              <a:spcBef>
                <a:spcPts val="100"/>
              </a:spcBef>
            </a:pPr>
            <a:r>
              <a:rPr sz="2400" b="1" i="1" spc="-195" dirty="0">
                <a:solidFill>
                  <a:srgbClr val="B51A00"/>
                </a:solidFill>
                <a:latin typeface="Arial-BoldItalicMT"/>
                <a:cs typeface="Arial-BoldItalicMT"/>
              </a:rPr>
              <a:t>T</a:t>
            </a:r>
            <a:r>
              <a:rPr sz="2400" b="1" i="1" spc="-110" dirty="0">
                <a:solidFill>
                  <a:srgbClr val="B51A00"/>
                </a:solidFill>
                <a:latin typeface="Arial-BoldItalicMT"/>
                <a:cs typeface="Arial-BoldItalicMT"/>
              </a:rPr>
              <a:t>o</a:t>
            </a:r>
            <a:r>
              <a:rPr sz="2400" b="1" i="1" dirty="0">
                <a:solidFill>
                  <a:srgbClr val="B51A00"/>
                </a:solidFill>
                <a:latin typeface="Arial-BoldItalicMT"/>
                <a:cs typeface="Arial-BoldItalicMT"/>
              </a:rPr>
              <a:t>p</a:t>
            </a:r>
            <a:endParaRPr sz="2400">
              <a:latin typeface="Arial-BoldItalicMT"/>
              <a:cs typeface="Arial-BoldItalicMT"/>
            </a:endParaRPr>
          </a:p>
        </p:txBody>
      </p:sp>
      <p:sp>
        <p:nvSpPr>
          <p:cNvPr id="7" name="object 7"/>
          <p:cNvSpPr txBox="1"/>
          <p:nvPr/>
        </p:nvSpPr>
        <p:spPr>
          <a:xfrm>
            <a:off x="5875190" y="1334995"/>
            <a:ext cx="1289685" cy="1864995"/>
          </a:xfrm>
          <a:prstGeom prst="rect">
            <a:avLst/>
          </a:prstGeom>
        </p:spPr>
        <p:txBody>
          <a:bodyPr vert="horz" wrap="square" lIns="0" tIns="12700" rIns="0" bIns="0" rtlCol="0">
            <a:spAutoFit/>
          </a:bodyPr>
          <a:lstStyle/>
          <a:p>
            <a:pPr marL="101600">
              <a:lnSpc>
                <a:spcPct val="100000"/>
              </a:lnSpc>
              <a:spcBef>
                <a:spcPts val="100"/>
              </a:spcBef>
            </a:pPr>
            <a:r>
              <a:rPr sz="2400" b="1" spc="200" dirty="0">
                <a:latin typeface="Arial"/>
                <a:cs typeface="Arial"/>
              </a:rPr>
              <a:t>Margin</a:t>
            </a:r>
            <a:endParaRPr sz="2400" dirty="0">
              <a:latin typeface="Arial"/>
              <a:cs typeface="Arial"/>
            </a:endParaRPr>
          </a:p>
          <a:p>
            <a:pPr marL="12700" marR="5080" algn="ctr">
              <a:lnSpc>
                <a:spcPct val="201399"/>
              </a:lnSpc>
            </a:pPr>
            <a:r>
              <a:rPr sz="2400" b="1" spc="275" dirty="0">
                <a:solidFill>
                  <a:srgbClr val="FFFFFF"/>
                </a:solidFill>
                <a:latin typeface="Arial"/>
                <a:cs typeface="Arial"/>
              </a:rPr>
              <a:t>Border  </a:t>
            </a:r>
            <a:r>
              <a:rPr sz="2400" b="1" spc="-15" dirty="0">
                <a:latin typeface="Arial"/>
                <a:cs typeface="Arial"/>
              </a:rPr>
              <a:t>Padding</a:t>
            </a:r>
            <a:endParaRPr sz="2400" dirty="0">
              <a:latin typeface="Arial"/>
              <a:cs typeface="Arial"/>
            </a:endParaRPr>
          </a:p>
        </p:txBody>
      </p:sp>
      <p:sp>
        <p:nvSpPr>
          <p:cNvPr id="8" name="object 8"/>
          <p:cNvSpPr txBox="1"/>
          <p:nvPr/>
        </p:nvSpPr>
        <p:spPr>
          <a:xfrm>
            <a:off x="1349875" y="8760376"/>
            <a:ext cx="1107440" cy="391160"/>
          </a:xfrm>
          <a:prstGeom prst="rect">
            <a:avLst/>
          </a:prstGeom>
        </p:spPr>
        <p:txBody>
          <a:bodyPr vert="horz" wrap="square" lIns="0" tIns="12700" rIns="0" bIns="0" rtlCol="0">
            <a:spAutoFit/>
          </a:bodyPr>
          <a:lstStyle/>
          <a:p>
            <a:pPr marL="12700">
              <a:lnSpc>
                <a:spcPct val="100000"/>
              </a:lnSpc>
              <a:spcBef>
                <a:spcPts val="100"/>
              </a:spcBef>
            </a:pPr>
            <a:r>
              <a:rPr sz="2400" b="1" i="1" spc="15" dirty="0">
                <a:solidFill>
                  <a:srgbClr val="B51A00"/>
                </a:solidFill>
                <a:latin typeface="Arial-BoldItalicMT"/>
                <a:cs typeface="Arial-BoldItalicMT"/>
              </a:rPr>
              <a:t>Bottom</a:t>
            </a:r>
            <a:endParaRPr sz="2400">
              <a:latin typeface="Arial-BoldItalicMT"/>
              <a:cs typeface="Arial-BoldItalicMT"/>
            </a:endParaRPr>
          </a:p>
        </p:txBody>
      </p:sp>
      <p:sp>
        <p:nvSpPr>
          <p:cNvPr id="9" name="object 9"/>
          <p:cNvSpPr txBox="1"/>
          <p:nvPr/>
        </p:nvSpPr>
        <p:spPr>
          <a:xfrm>
            <a:off x="11697632" y="4810659"/>
            <a:ext cx="807720" cy="391160"/>
          </a:xfrm>
          <a:prstGeom prst="rect">
            <a:avLst/>
          </a:prstGeom>
        </p:spPr>
        <p:txBody>
          <a:bodyPr vert="horz" wrap="square" lIns="0" tIns="12700" rIns="0" bIns="0" rtlCol="0">
            <a:spAutoFit/>
          </a:bodyPr>
          <a:lstStyle/>
          <a:p>
            <a:pPr marL="12700">
              <a:lnSpc>
                <a:spcPct val="100000"/>
              </a:lnSpc>
              <a:spcBef>
                <a:spcPts val="100"/>
              </a:spcBef>
            </a:pPr>
            <a:r>
              <a:rPr sz="2400" b="1" i="1" spc="0" dirty="0">
                <a:solidFill>
                  <a:srgbClr val="B51A00"/>
                </a:solidFill>
                <a:latin typeface="Arial-BoldItalicMT"/>
                <a:cs typeface="Arial-BoldItalicMT"/>
              </a:rPr>
              <a:t>Right</a:t>
            </a:r>
            <a:endParaRPr sz="2400">
              <a:latin typeface="Arial-BoldItalicMT"/>
              <a:cs typeface="Arial-BoldItalicMT"/>
            </a:endParaRPr>
          </a:p>
        </p:txBody>
      </p:sp>
      <p:sp>
        <p:nvSpPr>
          <p:cNvPr id="10" name="object 10"/>
          <p:cNvSpPr txBox="1"/>
          <p:nvPr/>
        </p:nvSpPr>
        <p:spPr>
          <a:xfrm>
            <a:off x="570696" y="4810659"/>
            <a:ext cx="594360" cy="391160"/>
          </a:xfrm>
          <a:prstGeom prst="rect">
            <a:avLst/>
          </a:prstGeom>
        </p:spPr>
        <p:txBody>
          <a:bodyPr vert="horz" wrap="square" lIns="0" tIns="12700" rIns="0" bIns="0" rtlCol="0">
            <a:spAutoFit/>
          </a:bodyPr>
          <a:lstStyle/>
          <a:p>
            <a:pPr marL="12700">
              <a:lnSpc>
                <a:spcPct val="100000"/>
              </a:lnSpc>
              <a:spcBef>
                <a:spcPts val="100"/>
              </a:spcBef>
            </a:pPr>
            <a:r>
              <a:rPr sz="2400" b="1" i="1" spc="15" dirty="0">
                <a:solidFill>
                  <a:srgbClr val="B51A00"/>
                </a:solidFill>
                <a:latin typeface="Arial-BoldItalicMT"/>
                <a:cs typeface="Arial-BoldItalicMT"/>
              </a:rPr>
              <a:t>Left</a:t>
            </a:r>
            <a:endParaRPr sz="2400">
              <a:latin typeface="Arial-BoldItalicMT"/>
              <a:cs typeface="Arial-BoldItalic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1118210"/>
            <a:ext cx="13004800" cy="6812037"/>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371686" y="202520"/>
            <a:ext cx="8223884" cy="665480"/>
          </a:xfrm>
          <a:prstGeom prst="rect">
            <a:avLst/>
          </a:prstGeom>
        </p:spPr>
        <p:txBody>
          <a:bodyPr vert="horz" wrap="square" lIns="0" tIns="12700" rIns="0" bIns="0" rtlCol="0">
            <a:spAutoFit/>
          </a:bodyPr>
          <a:lstStyle/>
          <a:p>
            <a:pPr marL="12700">
              <a:lnSpc>
                <a:spcPct val="100000"/>
              </a:lnSpc>
              <a:spcBef>
                <a:spcPts val="100"/>
              </a:spcBef>
            </a:pPr>
            <a:r>
              <a:rPr sz="4200" b="0" spc="-75" dirty="0">
                <a:solidFill>
                  <a:srgbClr val="000000"/>
                </a:solidFill>
                <a:latin typeface="Arial"/>
                <a:cs typeface="Arial"/>
              </a:rPr>
              <a:t>Chrome </a:t>
            </a:r>
            <a:r>
              <a:rPr sz="4200" b="0" spc="-60" dirty="0">
                <a:solidFill>
                  <a:srgbClr val="000000"/>
                </a:solidFill>
                <a:latin typeface="Arial"/>
                <a:cs typeface="Arial"/>
              </a:rPr>
              <a:t>dev </a:t>
            </a:r>
            <a:r>
              <a:rPr sz="4200" b="0" spc="-30" dirty="0">
                <a:solidFill>
                  <a:srgbClr val="000000"/>
                </a:solidFill>
                <a:latin typeface="Arial"/>
                <a:cs typeface="Arial"/>
              </a:rPr>
              <a:t>tools </a:t>
            </a:r>
            <a:r>
              <a:rPr sz="4200" b="0" spc="-10" dirty="0">
                <a:solidFill>
                  <a:srgbClr val="000000"/>
                </a:solidFill>
                <a:latin typeface="Arial"/>
                <a:cs typeface="Arial"/>
              </a:rPr>
              <a:t>box </a:t>
            </a:r>
            <a:r>
              <a:rPr sz="4200" b="0" spc="-45" dirty="0">
                <a:solidFill>
                  <a:srgbClr val="000000"/>
                </a:solidFill>
                <a:latin typeface="Arial"/>
                <a:cs typeface="Arial"/>
              </a:rPr>
              <a:t>model</a:t>
            </a:r>
            <a:r>
              <a:rPr sz="4200" b="0" spc="-150" dirty="0">
                <a:solidFill>
                  <a:srgbClr val="000000"/>
                </a:solidFill>
                <a:latin typeface="Arial"/>
                <a:cs typeface="Arial"/>
              </a:rPr>
              <a:t> </a:t>
            </a:r>
            <a:r>
              <a:rPr sz="4200" b="0" spc="-95" dirty="0">
                <a:solidFill>
                  <a:srgbClr val="000000"/>
                </a:solidFill>
                <a:latin typeface="Arial"/>
                <a:cs typeface="Arial"/>
              </a:rPr>
              <a:t>helper</a:t>
            </a:r>
            <a:endParaRPr sz="4200">
              <a:latin typeface="Arial"/>
              <a:cs typeface="Arial"/>
            </a:endParaRPr>
          </a:p>
        </p:txBody>
      </p:sp>
      <p:sp>
        <p:nvSpPr>
          <p:cNvPr id="4" name="object 4">
            <a:extLst>
              <a:ext uri="{C183D7F6-B498-43B3-948B-1728B52AA6E4}">
                <adec:decorative xmlns:adec="http://schemas.microsoft.com/office/drawing/2017/decorative" val="1"/>
              </a:ext>
            </a:extLst>
          </p:cNvPr>
          <p:cNvSpPr/>
          <p:nvPr/>
        </p:nvSpPr>
        <p:spPr>
          <a:xfrm>
            <a:off x="462563" y="3271113"/>
            <a:ext cx="9093147" cy="6225779"/>
          </a:xfrm>
          <a:prstGeom prst="rect">
            <a:avLst/>
          </a:prstGeom>
          <a:blipFill>
            <a:blip r:embed="rId3" cstate="print"/>
            <a:stretch>
              <a:fillRect/>
            </a:stretch>
          </a:blip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546119" y="3352817"/>
            <a:ext cx="8808085" cy="5956300"/>
          </a:xfrm>
          <a:custGeom>
            <a:avLst/>
            <a:gdLst/>
            <a:ahLst/>
            <a:cxnLst/>
            <a:rect l="l" t="t" r="r" b="b"/>
            <a:pathLst>
              <a:path w="8808085" h="5956300">
                <a:moveTo>
                  <a:pt x="8205683" y="0"/>
                </a:moveTo>
                <a:lnTo>
                  <a:pt x="256281" y="0"/>
                </a:lnTo>
                <a:lnTo>
                  <a:pt x="210546" y="5316"/>
                </a:lnTo>
                <a:lnTo>
                  <a:pt x="167365" y="18069"/>
                </a:lnTo>
                <a:lnTo>
                  <a:pt x="127490" y="37575"/>
                </a:lnTo>
                <a:lnTo>
                  <a:pt x="91681" y="63148"/>
                </a:lnTo>
                <a:lnTo>
                  <a:pt x="60688" y="94107"/>
                </a:lnTo>
                <a:lnTo>
                  <a:pt x="35270" y="129766"/>
                </a:lnTo>
                <a:lnTo>
                  <a:pt x="16178" y="169443"/>
                </a:lnTo>
                <a:lnTo>
                  <a:pt x="4170" y="212453"/>
                </a:lnTo>
                <a:lnTo>
                  <a:pt x="0" y="258113"/>
                </a:lnTo>
                <a:lnTo>
                  <a:pt x="0" y="5696495"/>
                </a:lnTo>
                <a:lnTo>
                  <a:pt x="4170" y="5742350"/>
                </a:lnTo>
                <a:lnTo>
                  <a:pt x="16178" y="5785856"/>
                </a:lnTo>
                <a:lnTo>
                  <a:pt x="35270" y="5826198"/>
                </a:lnTo>
                <a:lnTo>
                  <a:pt x="60688" y="5862564"/>
                </a:lnTo>
                <a:lnTo>
                  <a:pt x="91681" y="5894141"/>
                </a:lnTo>
                <a:lnTo>
                  <a:pt x="127490" y="5920115"/>
                </a:lnTo>
                <a:lnTo>
                  <a:pt x="167365" y="5939675"/>
                </a:lnTo>
                <a:lnTo>
                  <a:pt x="210546" y="5952007"/>
                </a:lnTo>
                <a:lnTo>
                  <a:pt x="256281" y="5956299"/>
                </a:lnTo>
                <a:lnTo>
                  <a:pt x="8205683" y="5956299"/>
                </a:lnTo>
                <a:lnTo>
                  <a:pt x="8251290" y="5952007"/>
                </a:lnTo>
                <a:lnTo>
                  <a:pt x="8294126" y="5939675"/>
                </a:lnTo>
                <a:lnTo>
                  <a:pt x="8333499" y="5920115"/>
                </a:lnTo>
                <a:lnTo>
                  <a:pt x="8368714" y="5894141"/>
                </a:lnTo>
                <a:lnTo>
                  <a:pt x="8399081" y="5862564"/>
                </a:lnTo>
                <a:lnTo>
                  <a:pt x="8423905" y="5826198"/>
                </a:lnTo>
                <a:lnTo>
                  <a:pt x="8442495" y="5785856"/>
                </a:lnTo>
                <a:lnTo>
                  <a:pt x="8454156" y="5742350"/>
                </a:lnTo>
                <a:lnTo>
                  <a:pt x="8458199" y="5696495"/>
                </a:lnTo>
                <a:lnTo>
                  <a:pt x="8458199" y="4027638"/>
                </a:lnTo>
                <a:lnTo>
                  <a:pt x="8807741" y="3762921"/>
                </a:lnTo>
                <a:lnTo>
                  <a:pt x="8458199" y="3498201"/>
                </a:lnTo>
                <a:lnTo>
                  <a:pt x="8458199" y="258113"/>
                </a:lnTo>
                <a:lnTo>
                  <a:pt x="8454156" y="212318"/>
                </a:lnTo>
                <a:lnTo>
                  <a:pt x="8442495" y="168969"/>
                </a:lnTo>
                <a:lnTo>
                  <a:pt x="8423905" y="128852"/>
                </a:lnTo>
                <a:lnTo>
                  <a:pt x="8399081" y="92751"/>
                </a:lnTo>
                <a:lnTo>
                  <a:pt x="8368714" y="61455"/>
                </a:lnTo>
                <a:lnTo>
                  <a:pt x="8333499" y="35746"/>
                </a:lnTo>
                <a:lnTo>
                  <a:pt x="8294126" y="16410"/>
                </a:lnTo>
                <a:lnTo>
                  <a:pt x="8251290" y="4232"/>
                </a:lnTo>
                <a:lnTo>
                  <a:pt x="8205683" y="0"/>
                </a:lnTo>
                <a:close/>
              </a:path>
            </a:pathLst>
          </a:custGeom>
          <a:solidFill>
            <a:srgbClr val="000621"/>
          </a:solidFill>
        </p:spPr>
        <p:txBody>
          <a:bodyPr wrap="square" lIns="0" tIns="0" rIns="0" bIns="0" rtlCol="0"/>
          <a:lstStyle/>
          <a:p>
            <a:endParaRPr/>
          </a:p>
        </p:txBody>
      </p:sp>
      <p:sp>
        <p:nvSpPr>
          <p:cNvPr id="6" name="object 6">
            <a:extLst>
              <a:ext uri="{C183D7F6-B498-43B3-948B-1728B52AA6E4}">
                <adec:decorative xmlns:adec="http://schemas.microsoft.com/office/drawing/2017/decorative" val="1"/>
              </a:ext>
            </a:extLst>
          </p:cNvPr>
          <p:cNvSpPr/>
          <p:nvPr/>
        </p:nvSpPr>
        <p:spPr>
          <a:xfrm>
            <a:off x="546119" y="3352815"/>
            <a:ext cx="8808085" cy="5956300"/>
          </a:xfrm>
          <a:custGeom>
            <a:avLst/>
            <a:gdLst/>
            <a:ahLst/>
            <a:cxnLst/>
            <a:rect l="l" t="t" r="r" b="b"/>
            <a:pathLst>
              <a:path w="8808085" h="5956300">
                <a:moveTo>
                  <a:pt x="256281" y="0"/>
                </a:moveTo>
                <a:lnTo>
                  <a:pt x="210545" y="5317"/>
                </a:lnTo>
                <a:lnTo>
                  <a:pt x="167364" y="18070"/>
                </a:lnTo>
                <a:lnTo>
                  <a:pt x="127490" y="37574"/>
                </a:lnTo>
                <a:lnTo>
                  <a:pt x="91680" y="63148"/>
                </a:lnTo>
                <a:lnTo>
                  <a:pt x="60688" y="94107"/>
                </a:lnTo>
                <a:lnTo>
                  <a:pt x="35269" y="129766"/>
                </a:lnTo>
                <a:lnTo>
                  <a:pt x="16177" y="169443"/>
                </a:lnTo>
                <a:lnTo>
                  <a:pt x="4169" y="212454"/>
                </a:lnTo>
                <a:lnTo>
                  <a:pt x="0" y="258116"/>
                </a:lnTo>
                <a:lnTo>
                  <a:pt x="0" y="5696496"/>
                </a:lnTo>
                <a:lnTo>
                  <a:pt x="4169" y="5742350"/>
                </a:lnTo>
                <a:lnTo>
                  <a:pt x="16177" y="5785854"/>
                </a:lnTo>
                <a:lnTo>
                  <a:pt x="35269" y="5826196"/>
                </a:lnTo>
                <a:lnTo>
                  <a:pt x="60688" y="5862562"/>
                </a:lnTo>
                <a:lnTo>
                  <a:pt x="91680" y="5894140"/>
                </a:lnTo>
                <a:lnTo>
                  <a:pt x="127490" y="5920116"/>
                </a:lnTo>
                <a:lnTo>
                  <a:pt x="167364" y="5939676"/>
                </a:lnTo>
                <a:lnTo>
                  <a:pt x="210545" y="5952010"/>
                </a:lnTo>
                <a:lnTo>
                  <a:pt x="256281" y="5956300"/>
                </a:lnTo>
                <a:lnTo>
                  <a:pt x="8205678" y="5956300"/>
                </a:lnTo>
                <a:lnTo>
                  <a:pt x="8251285" y="5952010"/>
                </a:lnTo>
                <a:lnTo>
                  <a:pt x="8294121" y="5939676"/>
                </a:lnTo>
                <a:lnTo>
                  <a:pt x="8333493" y="5920116"/>
                </a:lnTo>
                <a:lnTo>
                  <a:pt x="8368709" y="5894140"/>
                </a:lnTo>
                <a:lnTo>
                  <a:pt x="8399076" y="5862562"/>
                </a:lnTo>
                <a:lnTo>
                  <a:pt x="8423900" y="5826196"/>
                </a:lnTo>
                <a:lnTo>
                  <a:pt x="8442490" y="5785854"/>
                </a:lnTo>
                <a:lnTo>
                  <a:pt x="8454151" y="5742350"/>
                </a:lnTo>
                <a:lnTo>
                  <a:pt x="8458193" y="5696496"/>
                </a:lnTo>
                <a:lnTo>
                  <a:pt x="8458193" y="4027628"/>
                </a:lnTo>
                <a:lnTo>
                  <a:pt x="8807747" y="3762922"/>
                </a:lnTo>
                <a:lnTo>
                  <a:pt x="8458193" y="3498205"/>
                </a:lnTo>
                <a:lnTo>
                  <a:pt x="8458193" y="258116"/>
                </a:lnTo>
                <a:lnTo>
                  <a:pt x="8454151" y="212318"/>
                </a:lnTo>
                <a:lnTo>
                  <a:pt x="8442490" y="168969"/>
                </a:lnTo>
                <a:lnTo>
                  <a:pt x="8423900" y="128851"/>
                </a:lnTo>
                <a:lnTo>
                  <a:pt x="8399076" y="92750"/>
                </a:lnTo>
                <a:lnTo>
                  <a:pt x="8368709" y="61453"/>
                </a:lnTo>
                <a:lnTo>
                  <a:pt x="8333493" y="35745"/>
                </a:lnTo>
                <a:lnTo>
                  <a:pt x="8294121" y="16409"/>
                </a:lnTo>
                <a:lnTo>
                  <a:pt x="8251285" y="4233"/>
                </a:lnTo>
                <a:lnTo>
                  <a:pt x="8205678" y="0"/>
                </a:lnTo>
                <a:lnTo>
                  <a:pt x="256281" y="0"/>
                </a:lnTo>
                <a:close/>
              </a:path>
            </a:pathLst>
          </a:custGeom>
          <a:ln w="25399">
            <a:solidFill>
              <a:srgbClr val="FFFFFF"/>
            </a:solidFill>
          </a:ln>
        </p:spPr>
        <p:txBody>
          <a:bodyPr wrap="square" lIns="0" tIns="0" rIns="0" bIns="0" rtlCol="0"/>
          <a:lstStyle/>
          <a:p>
            <a:endParaRPr/>
          </a:p>
        </p:txBody>
      </p:sp>
      <p:sp>
        <p:nvSpPr>
          <p:cNvPr id="7" name="object 7"/>
          <p:cNvSpPr txBox="1"/>
          <p:nvPr/>
        </p:nvSpPr>
        <p:spPr>
          <a:xfrm>
            <a:off x="751600" y="4075604"/>
            <a:ext cx="7332345" cy="4493260"/>
          </a:xfrm>
          <a:prstGeom prst="rect">
            <a:avLst/>
          </a:prstGeom>
        </p:spPr>
        <p:txBody>
          <a:bodyPr vert="horz" wrap="square" lIns="0" tIns="60960" rIns="0" bIns="0" rtlCol="0">
            <a:spAutoFit/>
          </a:bodyPr>
          <a:lstStyle/>
          <a:p>
            <a:pPr marL="12700" marR="5080">
              <a:lnSpc>
                <a:spcPts val="4900"/>
              </a:lnSpc>
              <a:spcBef>
                <a:spcPts val="480"/>
              </a:spcBef>
              <a:tabLst>
                <a:tab pos="5282565" algn="l"/>
              </a:tabLst>
            </a:pPr>
            <a:r>
              <a:rPr sz="4300" i="1" spc="-5" dirty="0">
                <a:solidFill>
                  <a:srgbClr val="FFFFFF"/>
                </a:solidFill>
                <a:latin typeface="Georgia"/>
                <a:cs typeface="Georgia"/>
              </a:rPr>
              <a:t>S</a:t>
            </a:r>
            <a:r>
              <a:rPr sz="4300" i="1" dirty="0">
                <a:solidFill>
                  <a:srgbClr val="FFFFFF"/>
                </a:solidFill>
                <a:latin typeface="Georgia"/>
                <a:cs typeface="Georgia"/>
              </a:rPr>
              <a:t>elect</a:t>
            </a:r>
            <a:r>
              <a:rPr sz="4300" i="1" spc="-10" dirty="0">
                <a:solidFill>
                  <a:srgbClr val="FFFFFF"/>
                </a:solidFill>
                <a:latin typeface="Georgia"/>
                <a:cs typeface="Georgia"/>
              </a:rPr>
              <a:t>i</a:t>
            </a:r>
            <a:r>
              <a:rPr sz="4300" i="1" spc="-5" dirty="0">
                <a:solidFill>
                  <a:srgbClr val="FFFFFF"/>
                </a:solidFill>
                <a:latin typeface="Georgia"/>
                <a:cs typeface="Georgia"/>
              </a:rPr>
              <a:t>n</a:t>
            </a:r>
            <a:r>
              <a:rPr sz="4300" i="1" dirty="0">
                <a:solidFill>
                  <a:srgbClr val="FFFFFF"/>
                </a:solidFill>
                <a:latin typeface="Georgia"/>
                <a:cs typeface="Georgia"/>
              </a:rPr>
              <a:t>g</a:t>
            </a:r>
            <a:r>
              <a:rPr sz="4300" i="1" spc="-5" dirty="0">
                <a:solidFill>
                  <a:srgbClr val="FFFFFF"/>
                </a:solidFill>
                <a:latin typeface="Georgia"/>
                <a:cs typeface="Georgia"/>
              </a:rPr>
              <a:t> </a:t>
            </a:r>
            <a:r>
              <a:rPr sz="4300" i="1" dirty="0">
                <a:solidFill>
                  <a:srgbClr val="FFFFFF"/>
                </a:solidFill>
                <a:latin typeface="Georgia"/>
                <a:cs typeface="Georgia"/>
              </a:rPr>
              <a:t>an</a:t>
            </a:r>
            <a:r>
              <a:rPr sz="4300" i="1" spc="-5" dirty="0">
                <a:solidFill>
                  <a:srgbClr val="FFFFFF"/>
                </a:solidFill>
                <a:latin typeface="Georgia"/>
                <a:cs typeface="Georgia"/>
              </a:rPr>
              <a:t> </a:t>
            </a:r>
            <a:r>
              <a:rPr sz="4300" i="1" dirty="0">
                <a:solidFill>
                  <a:srgbClr val="FFFFFF"/>
                </a:solidFill>
                <a:latin typeface="Georgia"/>
                <a:cs typeface="Georgia"/>
              </a:rPr>
              <a:t>elem</a:t>
            </a:r>
            <a:r>
              <a:rPr sz="4300" i="1" spc="-10" dirty="0">
                <a:solidFill>
                  <a:srgbClr val="FFFFFF"/>
                </a:solidFill>
                <a:latin typeface="Georgia"/>
                <a:cs typeface="Georgia"/>
              </a:rPr>
              <a:t>e</a:t>
            </a:r>
            <a:r>
              <a:rPr sz="4300" i="1" spc="-5" dirty="0">
                <a:solidFill>
                  <a:srgbClr val="FFFFFF"/>
                </a:solidFill>
                <a:latin typeface="Georgia"/>
                <a:cs typeface="Georgia"/>
              </a:rPr>
              <a:t>n</a:t>
            </a:r>
            <a:r>
              <a:rPr sz="4300" i="1" dirty="0">
                <a:solidFill>
                  <a:srgbClr val="FFFFFF"/>
                </a:solidFill>
                <a:latin typeface="Georgia"/>
                <a:cs typeface="Georgia"/>
              </a:rPr>
              <a:t>t	di</a:t>
            </a:r>
            <a:r>
              <a:rPr sz="4300" i="1" spc="-5" dirty="0">
                <a:solidFill>
                  <a:srgbClr val="FFFFFF"/>
                </a:solidFill>
                <a:latin typeface="Georgia"/>
                <a:cs typeface="Georgia"/>
              </a:rPr>
              <a:t>sp</a:t>
            </a:r>
            <a:r>
              <a:rPr sz="4300" i="1" dirty="0">
                <a:solidFill>
                  <a:srgbClr val="FFFFFF"/>
                </a:solidFill>
                <a:latin typeface="Georgia"/>
                <a:cs typeface="Georgia"/>
              </a:rPr>
              <a:t>la</a:t>
            </a:r>
            <a:r>
              <a:rPr sz="4300" i="1" spc="-5" dirty="0">
                <a:solidFill>
                  <a:srgbClr val="FFFFFF"/>
                </a:solidFill>
                <a:latin typeface="Georgia"/>
                <a:cs typeface="Georgia"/>
              </a:rPr>
              <a:t>y</a:t>
            </a:r>
            <a:r>
              <a:rPr sz="4300" i="1" dirty="0">
                <a:solidFill>
                  <a:srgbClr val="FFFFFF"/>
                </a:solidFill>
                <a:latin typeface="Georgia"/>
                <a:cs typeface="Georgia"/>
              </a:rPr>
              <a:t>s  </a:t>
            </a:r>
            <a:r>
              <a:rPr sz="4300" i="1" spc="-5" dirty="0">
                <a:solidFill>
                  <a:srgbClr val="FFFFFF"/>
                </a:solidFill>
                <a:latin typeface="Georgia"/>
                <a:cs typeface="Georgia"/>
              </a:rPr>
              <a:t>the box model</a:t>
            </a:r>
            <a:r>
              <a:rPr sz="4300" i="1" spc="225" dirty="0">
                <a:solidFill>
                  <a:srgbClr val="FFFFFF"/>
                </a:solidFill>
                <a:latin typeface="Georgia"/>
                <a:cs typeface="Georgia"/>
              </a:rPr>
              <a:t> </a:t>
            </a:r>
            <a:r>
              <a:rPr sz="4300" i="1" spc="-10" dirty="0">
                <a:solidFill>
                  <a:srgbClr val="FFFFFF"/>
                </a:solidFill>
                <a:latin typeface="Georgia"/>
                <a:cs typeface="Georgia"/>
              </a:rPr>
              <a:t>info:</a:t>
            </a:r>
            <a:endParaRPr sz="4300">
              <a:latin typeface="Georgia"/>
              <a:cs typeface="Georgia"/>
            </a:endParaRPr>
          </a:p>
          <a:p>
            <a:pPr>
              <a:lnSpc>
                <a:spcPct val="100000"/>
              </a:lnSpc>
              <a:spcBef>
                <a:spcPts val="35"/>
              </a:spcBef>
            </a:pPr>
            <a:endParaRPr sz="4000">
              <a:latin typeface="Times New Roman"/>
              <a:cs typeface="Times New Roman"/>
            </a:endParaRPr>
          </a:p>
          <a:p>
            <a:pPr marL="227329" indent="-214629">
              <a:lnSpc>
                <a:spcPts val="5120"/>
              </a:lnSpc>
              <a:spcBef>
                <a:spcPts val="5"/>
              </a:spcBef>
              <a:buSzPct val="97674"/>
              <a:buFont typeface="Georgia"/>
              <a:buChar char="•"/>
              <a:tabLst>
                <a:tab pos="227965" algn="l"/>
              </a:tabLst>
            </a:pPr>
            <a:r>
              <a:rPr sz="4300" spc="65" dirty="0">
                <a:solidFill>
                  <a:srgbClr val="FFFFFF"/>
                </a:solidFill>
                <a:latin typeface="Helvetica"/>
                <a:cs typeface="Helvetica"/>
              </a:rPr>
              <a:t> </a:t>
            </a:r>
            <a:r>
              <a:rPr sz="4300" i="1" spc="65" dirty="0">
                <a:solidFill>
                  <a:srgbClr val="FFFFFF"/>
                </a:solidFill>
                <a:latin typeface="Georgia"/>
                <a:cs typeface="Georgia"/>
              </a:rPr>
              <a:t>Blue </a:t>
            </a:r>
            <a:r>
              <a:rPr sz="4300" i="1" dirty="0">
                <a:solidFill>
                  <a:srgbClr val="FFFFFF"/>
                </a:solidFill>
                <a:latin typeface="Georgia"/>
                <a:cs typeface="Georgia"/>
              </a:rPr>
              <a:t>for </a:t>
            </a:r>
            <a:r>
              <a:rPr sz="4300" i="1" spc="-10" dirty="0">
                <a:solidFill>
                  <a:srgbClr val="FFFFFF"/>
                </a:solidFill>
                <a:latin typeface="Georgia"/>
                <a:cs typeface="Georgia"/>
              </a:rPr>
              <a:t>element</a:t>
            </a:r>
            <a:r>
              <a:rPr sz="4300" i="1" spc="-204" dirty="0">
                <a:solidFill>
                  <a:srgbClr val="FFFFFF"/>
                </a:solidFill>
                <a:latin typeface="Georgia"/>
                <a:cs typeface="Georgia"/>
              </a:rPr>
              <a:t> </a:t>
            </a:r>
            <a:r>
              <a:rPr sz="4300" i="1" spc="-10" dirty="0">
                <a:solidFill>
                  <a:srgbClr val="FFFFFF"/>
                </a:solidFill>
                <a:latin typeface="Georgia"/>
                <a:cs typeface="Georgia"/>
              </a:rPr>
              <a:t>dimensions</a:t>
            </a:r>
            <a:endParaRPr sz="4300">
              <a:latin typeface="Georgia"/>
              <a:cs typeface="Georgia"/>
            </a:endParaRPr>
          </a:p>
          <a:p>
            <a:pPr marL="227329" indent="-214629">
              <a:lnSpc>
                <a:spcPts val="5040"/>
              </a:lnSpc>
              <a:buSzPct val="97674"/>
              <a:buFont typeface="Georgia"/>
              <a:buChar char="•"/>
              <a:tabLst>
                <a:tab pos="227965" algn="l"/>
              </a:tabLst>
            </a:pPr>
            <a:r>
              <a:rPr sz="4300" spc="50" dirty="0">
                <a:solidFill>
                  <a:srgbClr val="FFFFFF"/>
                </a:solidFill>
                <a:latin typeface="Helvetica"/>
                <a:cs typeface="Helvetica"/>
              </a:rPr>
              <a:t> </a:t>
            </a:r>
            <a:r>
              <a:rPr sz="4300" i="1" spc="50" dirty="0">
                <a:solidFill>
                  <a:srgbClr val="FFFFFF"/>
                </a:solidFill>
                <a:latin typeface="Georgia"/>
                <a:cs typeface="Georgia"/>
              </a:rPr>
              <a:t>Green </a:t>
            </a:r>
            <a:r>
              <a:rPr sz="4300" i="1" spc="-5" dirty="0">
                <a:solidFill>
                  <a:srgbClr val="FFFFFF"/>
                </a:solidFill>
                <a:latin typeface="Georgia"/>
                <a:cs typeface="Georgia"/>
              </a:rPr>
              <a:t>for </a:t>
            </a:r>
            <a:r>
              <a:rPr sz="4300" i="1" dirty="0">
                <a:solidFill>
                  <a:srgbClr val="FFFFFF"/>
                </a:solidFill>
                <a:latin typeface="Georgia"/>
                <a:cs typeface="Georgia"/>
              </a:rPr>
              <a:t>element</a:t>
            </a:r>
            <a:r>
              <a:rPr sz="4300" i="1" spc="-229" dirty="0">
                <a:solidFill>
                  <a:srgbClr val="FFFFFF"/>
                </a:solidFill>
                <a:latin typeface="Georgia"/>
                <a:cs typeface="Georgia"/>
              </a:rPr>
              <a:t> </a:t>
            </a:r>
            <a:r>
              <a:rPr sz="4300" i="1" spc="-5" dirty="0">
                <a:solidFill>
                  <a:srgbClr val="FFFFFF"/>
                </a:solidFill>
                <a:latin typeface="Georgia"/>
                <a:cs typeface="Georgia"/>
              </a:rPr>
              <a:t>padding</a:t>
            </a:r>
            <a:endParaRPr sz="4300">
              <a:latin typeface="Georgia"/>
              <a:cs typeface="Georgia"/>
            </a:endParaRPr>
          </a:p>
          <a:p>
            <a:pPr marL="227329" indent="-214629">
              <a:lnSpc>
                <a:spcPts val="5060"/>
              </a:lnSpc>
              <a:buSzPct val="97674"/>
              <a:buFont typeface="Georgia"/>
              <a:buChar char="•"/>
              <a:tabLst>
                <a:tab pos="227965" algn="l"/>
              </a:tabLst>
            </a:pPr>
            <a:r>
              <a:rPr sz="4300" spc="35" dirty="0">
                <a:solidFill>
                  <a:srgbClr val="FFFFFF"/>
                </a:solidFill>
                <a:latin typeface="Helvetica"/>
                <a:cs typeface="Helvetica"/>
              </a:rPr>
              <a:t> </a:t>
            </a:r>
            <a:r>
              <a:rPr sz="4300" i="1" spc="35" dirty="0">
                <a:solidFill>
                  <a:srgbClr val="FFFFFF"/>
                </a:solidFill>
                <a:latin typeface="Georgia"/>
                <a:cs typeface="Georgia"/>
              </a:rPr>
              <a:t>Yellow </a:t>
            </a:r>
            <a:r>
              <a:rPr sz="4300" i="1" spc="-5" dirty="0">
                <a:solidFill>
                  <a:srgbClr val="FFFFFF"/>
                </a:solidFill>
                <a:latin typeface="Georgia"/>
                <a:cs typeface="Georgia"/>
              </a:rPr>
              <a:t>for the</a:t>
            </a:r>
            <a:r>
              <a:rPr sz="4300" i="1" spc="-125" dirty="0">
                <a:solidFill>
                  <a:srgbClr val="FFFFFF"/>
                </a:solidFill>
                <a:latin typeface="Georgia"/>
                <a:cs typeface="Georgia"/>
              </a:rPr>
              <a:t> </a:t>
            </a:r>
            <a:r>
              <a:rPr sz="4300" i="1" spc="-10" dirty="0">
                <a:solidFill>
                  <a:srgbClr val="FFFFFF"/>
                </a:solidFill>
                <a:latin typeface="Georgia"/>
                <a:cs typeface="Georgia"/>
              </a:rPr>
              <a:t>border</a:t>
            </a:r>
            <a:endParaRPr sz="4300">
              <a:latin typeface="Georgia"/>
              <a:cs typeface="Georgia"/>
            </a:endParaRPr>
          </a:p>
          <a:p>
            <a:pPr marL="227329" indent="-214629">
              <a:lnSpc>
                <a:spcPts val="5140"/>
              </a:lnSpc>
              <a:buSzPct val="97674"/>
              <a:buFont typeface="Georgia"/>
              <a:buChar char="•"/>
              <a:tabLst>
                <a:tab pos="227965" algn="l"/>
              </a:tabLst>
            </a:pPr>
            <a:r>
              <a:rPr sz="4300" spc="35" dirty="0">
                <a:solidFill>
                  <a:srgbClr val="FFFFFF"/>
                </a:solidFill>
                <a:latin typeface="Helvetica"/>
                <a:cs typeface="Helvetica"/>
              </a:rPr>
              <a:t> </a:t>
            </a:r>
            <a:r>
              <a:rPr sz="4300" i="1" spc="35" dirty="0">
                <a:solidFill>
                  <a:srgbClr val="FFFFFF"/>
                </a:solidFill>
                <a:latin typeface="Georgia"/>
                <a:cs typeface="Georgia"/>
              </a:rPr>
              <a:t>Orange </a:t>
            </a:r>
            <a:r>
              <a:rPr sz="4300" i="1" spc="-5" dirty="0">
                <a:solidFill>
                  <a:srgbClr val="FFFFFF"/>
                </a:solidFill>
                <a:latin typeface="Georgia"/>
                <a:cs typeface="Georgia"/>
              </a:rPr>
              <a:t>for</a:t>
            </a:r>
            <a:r>
              <a:rPr sz="4300" i="1" spc="-110" dirty="0">
                <a:solidFill>
                  <a:srgbClr val="FFFFFF"/>
                </a:solidFill>
                <a:latin typeface="Georgia"/>
                <a:cs typeface="Georgia"/>
              </a:rPr>
              <a:t> </a:t>
            </a:r>
            <a:r>
              <a:rPr sz="4300" i="1" spc="-10" dirty="0">
                <a:solidFill>
                  <a:srgbClr val="FFFFFF"/>
                </a:solidFill>
                <a:latin typeface="Georgia"/>
                <a:cs typeface="Georgia"/>
              </a:rPr>
              <a:t>margins</a:t>
            </a:r>
            <a:endParaRPr sz="4300">
              <a:latin typeface="Georgia"/>
              <a:cs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9575165" cy="665480"/>
          </a:xfrm>
          <a:prstGeom prst="rect">
            <a:avLst/>
          </a:prstGeom>
        </p:spPr>
        <p:txBody>
          <a:bodyPr vert="horz" wrap="square" lIns="0" tIns="12700" rIns="0" bIns="0" rtlCol="0">
            <a:spAutoFit/>
          </a:bodyPr>
          <a:lstStyle/>
          <a:p>
            <a:pPr marL="12700">
              <a:lnSpc>
                <a:spcPct val="100000"/>
              </a:lnSpc>
              <a:spcBef>
                <a:spcPts val="100"/>
              </a:spcBef>
              <a:tabLst>
                <a:tab pos="2028825" algn="l"/>
                <a:tab pos="4757420" algn="l"/>
                <a:tab pos="5973445" algn="l"/>
                <a:tab pos="7011670" algn="l"/>
                <a:tab pos="8227695" algn="l"/>
              </a:tabLst>
            </a:pPr>
            <a:r>
              <a:rPr sz="4200" b="0" dirty="0">
                <a:solidFill>
                  <a:srgbClr val="000000"/>
                </a:solidFill>
                <a:latin typeface="Arial"/>
                <a:cs typeface="Arial"/>
              </a:rPr>
              <a:t>Change	values</a:t>
            </a:r>
            <a:r>
              <a:rPr sz="4200" b="0" spc="-5" dirty="0">
                <a:solidFill>
                  <a:srgbClr val="000000"/>
                </a:solidFill>
                <a:latin typeface="Arial"/>
                <a:cs typeface="Arial"/>
              </a:rPr>
              <a:t> </a:t>
            </a:r>
            <a:r>
              <a:rPr sz="4200" b="0" dirty="0">
                <a:solidFill>
                  <a:srgbClr val="000000"/>
                </a:solidFill>
                <a:latin typeface="Arial"/>
                <a:cs typeface="Arial"/>
              </a:rPr>
              <a:t>and	d</a:t>
            </a:r>
            <a:r>
              <a:rPr sz="4200" b="0" spc="-5" dirty="0">
                <a:solidFill>
                  <a:srgbClr val="000000"/>
                </a:solidFill>
                <a:latin typeface="Arial"/>
                <a:cs typeface="Arial"/>
              </a:rPr>
              <a:t>r</a:t>
            </a:r>
            <a:r>
              <a:rPr sz="4200" b="0" dirty="0">
                <a:solidFill>
                  <a:srgbClr val="000000"/>
                </a:solidFill>
                <a:latin typeface="Arial"/>
                <a:cs typeface="Arial"/>
              </a:rPr>
              <a:t>ag	and	d</a:t>
            </a:r>
            <a:r>
              <a:rPr sz="4200" b="0" spc="-5" dirty="0">
                <a:solidFill>
                  <a:srgbClr val="000000"/>
                </a:solidFill>
                <a:latin typeface="Arial"/>
                <a:cs typeface="Arial"/>
              </a:rPr>
              <a:t>r</a:t>
            </a:r>
            <a:r>
              <a:rPr sz="4200" b="0" dirty="0">
                <a:solidFill>
                  <a:srgbClr val="000000"/>
                </a:solidFill>
                <a:latin typeface="Arial"/>
                <a:cs typeface="Arial"/>
              </a:rPr>
              <a:t>op	de</a:t>
            </a:r>
            <a:r>
              <a:rPr sz="4200" b="0" spc="-5" dirty="0">
                <a:solidFill>
                  <a:srgbClr val="000000"/>
                </a:solidFill>
                <a:latin typeface="Arial"/>
                <a:cs typeface="Arial"/>
              </a:rPr>
              <a:t>mo</a:t>
            </a:r>
            <a:endParaRPr sz="4200" dirty="0">
              <a:latin typeface="Arial"/>
              <a:cs typeface="Arial"/>
            </a:endParaRPr>
          </a:p>
        </p:txBody>
      </p:sp>
      <p:sp>
        <p:nvSpPr>
          <p:cNvPr id="4" name="object 4"/>
          <p:cNvSpPr txBox="1"/>
          <p:nvPr/>
        </p:nvSpPr>
        <p:spPr>
          <a:xfrm>
            <a:off x="6337298" y="2349500"/>
            <a:ext cx="619379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7F7F7F"/>
                </a:solidFill>
                <a:latin typeface="Arial"/>
                <a:cs typeface="Arial"/>
              </a:rPr>
              <a:t>Highlight a value and change it in </a:t>
            </a:r>
            <a:r>
              <a:rPr sz="2400" spc="-5" dirty="0">
                <a:solidFill>
                  <a:srgbClr val="7F7F7F"/>
                </a:solidFill>
                <a:latin typeface="Arial"/>
                <a:cs typeface="Arial"/>
              </a:rPr>
              <a:t>the</a:t>
            </a:r>
            <a:r>
              <a:rPr sz="2400" spc="-70" dirty="0">
                <a:solidFill>
                  <a:srgbClr val="7F7F7F"/>
                </a:solidFill>
                <a:latin typeface="Arial"/>
                <a:cs typeface="Arial"/>
              </a:rPr>
              <a:t> </a:t>
            </a:r>
            <a:r>
              <a:rPr sz="2400" spc="-5" dirty="0">
                <a:solidFill>
                  <a:srgbClr val="7F7F7F"/>
                </a:solidFill>
                <a:latin typeface="Arial"/>
                <a:cs typeface="Arial"/>
              </a:rPr>
              <a:t>browser</a:t>
            </a:r>
            <a:endParaRPr sz="2400">
              <a:latin typeface="Arial"/>
              <a:cs typeface="Arial"/>
            </a:endParaRPr>
          </a:p>
        </p:txBody>
      </p:sp>
      <p:sp>
        <p:nvSpPr>
          <p:cNvPr id="5" name="object 5">
            <a:extLst>
              <a:ext uri="{C183D7F6-B498-43B3-948B-1728B52AA6E4}">
                <adec:decorative xmlns:adec="http://schemas.microsoft.com/office/drawing/2017/decorative" val="1"/>
              </a:ext>
            </a:extLst>
          </p:cNvPr>
          <p:cNvSpPr/>
          <p:nvPr/>
        </p:nvSpPr>
        <p:spPr>
          <a:xfrm>
            <a:off x="406400" y="2362200"/>
            <a:ext cx="4991098" cy="2717800"/>
          </a:xfrm>
          <a:prstGeom prst="rect">
            <a:avLst/>
          </a:prstGeom>
          <a:blipFill>
            <a:blip r:embed="rId2" cstate="print"/>
            <a:stretch>
              <a:fillRect/>
            </a:stretch>
          </a:blipFill>
        </p:spPr>
        <p:txBody>
          <a:bodyPr wrap="square" lIns="0" tIns="0" rIns="0" bIns="0" rtlCol="0"/>
          <a:lstStyle/>
          <a:p>
            <a:endParaRPr/>
          </a:p>
        </p:txBody>
      </p:sp>
      <p:sp>
        <p:nvSpPr>
          <p:cNvPr id="6" name="object 6">
            <a:extLst>
              <a:ext uri="{C183D7F6-B498-43B3-948B-1728B52AA6E4}">
                <adec:decorative xmlns:adec="http://schemas.microsoft.com/office/drawing/2017/decorative" val="1"/>
              </a:ext>
            </a:extLst>
          </p:cNvPr>
          <p:cNvSpPr/>
          <p:nvPr/>
        </p:nvSpPr>
        <p:spPr>
          <a:xfrm>
            <a:off x="635000" y="6172200"/>
            <a:ext cx="5822810" cy="3124199"/>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6489698" y="5702300"/>
            <a:ext cx="5634990" cy="746760"/>
          </a:xfrm>
          <a:prstGeom prst="rect">
            <a:avLst/>
          </a:prstGeom>
        </p:spPr>
        <p:txBody>
          <a:bodyPr vert="horz" wrap="square" lIns="0" tIns="33020" rIns="0" bIns="0" rtlCol="0">
            <a:spAutoFit/>
          </a:bodyPr>
          <a:lstStyle/>
          <a:p>
            <a:pPr marL="12700" marR="5080">
              <a:lnSpc>
                <a:spcPts val="2800"/>
              </a:lnSpc>
              <a:spcBef>
                <a:spcPts val="260"/>
              </a:spcBef>
            </a:pPr>
            <a:r>
              <a:rPr sz="2400" spc="-5" dirty="0">
                <a:solidFill>
                  <a:srgbClr val="7F7F7F"/>
                </a:solidFill>
                <a:latin typeface="Arial"/>
                <a:cs typeface="Arial"/>
              </a:rPr>
              <a:t>Elements </a:t>
            </a:r>
            <a:r>
              <a:rPr sz="2400" dirty="0">
                <a:solidFill>
                  <a:srgbClr val="7F7F7F"/>
                </a:solidFill>
                <a:latin typeface="Arial"/>
                <a:cs typeface="Arial"/>
              </a:rPr>
              <a:t>can be </a:t>
            </a:r>
            <a:r>
              <a:rPr sz="2400" spc="-5" dirty="0">
                <a:solidFill>
                  <a:srgbClr val="7F7F7F"/>
                </a:solidFill>
                <a:latin typeface="Arial"/>
                <a:cs typeface="Arial"/>
              </a:rPr>
              <a:t>dragged </a:t>
            </a:r>
            <a:r>
              <a:rPr sz="2400" dirty="0">
                <a:solidFill>
                  <a:srgbClr val="7F7F7F"/>
                </a:solidFill>
                <a:latin typeface="Arial"/>
                <a:cs typeface="Arial"/>
              </a:rPr>
              <a:t>and </a:t>
            </a:r>
            <a:r>
              <a:rPr sz="2400" spc="-5" dirty="0">
                <a:solidFill>
                  <a:srgbClr val="7F7F7F"/>
                </a:solidFill>
                <a:latin typeface="Arial"/>
                <a:cs typeface="Arial"/>
              </a:rPr>
              <a:t>dropped to  rearrange them too.</a:t>
            </a:r>
            <a:endParaRPr sz="24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7658100" cy="659155"/>
          </a:xfrm>
          <a:prstGeom prst="rect">
            <a:avLst/>
          </a:prstGeom>
        </p:spPr>
        <p:txBody>
          <a:bodyPr vert="horz" wrap="square" lIns="0" tIns="12700" rIns="0" bIns="0" rtlCol="0">
            <a:spAutoFit/>
          </a:bodyPr>
          <a:lstStyle/>
          <a:p>
            <a:pPr marL="12700">
              <a:lnSpc>
                <a:spcPct val="100000"/>
              </a:lnSpc>
              <a:spcBef>
                <a:spcPts val="100"/>
              </a:spcBef>
            </a:pPr>
            <a:r>
              <a:rPr sz="4200" b="0" spc="-40" dirty="0">
                <a:solidFill>
                  <a:srgbClr val="000000"/>
                </a:solidFill>
                <a:latin typeface="Arial"/>
                <a:cs typeface="Arial"/>
              </a:rPr>
              <a:t>Document</a:t>
            </a:r>
            <a:r>
              <a:rPr sz="4200" b="0" spc="-220" dirty="0">
                <a:solidFill>
                  <a:srgbClr val="000000"/>
                </a:solidFill>
                <a:latin typeface="Arial"/>
                <a:cs typeface="Arial"/>
              </a:rPr>
              <a:t> </a:t>
            </a:r>
            <a:r>
              <a:rPr sz="4200" b="0" spc="-125" dirty="0">
                <a:solidFill>
                  <a:srgbClr val="000000"/>
                </a:solidFill>
                <a:latin typeface="Arial"/>
                <a:cs typeface="Arial"/>
              </a:rPr>
              <a:t>Flow</a:t>
            </a:r>
            <a:r>
              <a:rPr lang="en-GB" sz="4200" b="0" spc="-125" dirty="0">
                <a:solidFill>
                  <a:srgbClr val="000000"/>
                </a:solidFill>
                <a:latin typeface="Arial"/>
                <a:cs typeface="Arial"/>
              </a:rPr>
              <a:t> and using Float.</a:t>
            </a:r>
            <a:endParaRPr sz="4200" dirty="0">
              <a:latin typeface="Arial"/>
              <a:cs typeface="Arial"/>
            </a:endParaRPr>
          </a:p>
        </p:txBody>
      </p:sp>
      <p:sp>
        <p:nvSpPr>
          <p:cNvPr id="4" name="object 4"/>
          <p:cNvSpPr txBox="1"/>
          <p:nvPr/>
        </p:nvSpPr>
        <p:spPr>
          <a:xfrm>
            <a:off x="596901" y="2357104"/>
            <a:ext cx="11737340" cy="5735032"/>
          </a:xfrm>
          <a:prstGeom prst="rect">
            <a:avLst/>
          </a:prstGeom>
        </p:spPr>
        <p:txBody>
          <a:bodyPr vert="horz" wrap="square" lIns="0" tIns="1905" rIns="0" bIns="0" rtlCol="0">
            <a:spAutoFit/>
          </a:bodyPr>
          <a:lstStyle/>
          <a:p>
            <a:pPr marL="355600" marR="364490" indent="-342900">
              <a:lnSpc>
                <a:spcPct val="150000"/>
              </a:lnSpc>
              <a:spcBef>
                <a:spcPts val="15"/>
              </a:spcBef>
              <a:buClr>
                <a:srgbClr val="747474"/>
              </a:buClr>
              <a:buSzPct val="96153"/>
              <a:buFont typeface="Arial" panose="020B0604020202020204" pitchFamily="34" charset="0"/>
              <a:buChar char="•"/>
              <a:tabLst>
                <a:tab pos="186690" algn="l"/>
              </a:tabLst>
            </a:pPr>
            <a:r>
              <a:rPr sz="2800" dirty="0">
                <a:latin typeface="Helvetica Neue Light" panose="02000403000000020004" pitchFamily="2" charset="0"/>
                <a:ea typeface="Helvetica Neue Light" panose="02000403000000020004" pitchFamily="2" charset="0"/>
              </a:rPr>
              <a:t>One of the related areas that makes CSS layout work is the concept of how browsers render the document flow.</a:t>
            </a:r>
            <a:endParaRPr lang="en-GB" sz="2800" dirty="0">
              <a:latin typeface="Helvetica Neue Light" panose="02000403000000020004" pitchFamily="2" charset="0"/>
              <a:ea typeface="Helvetica Neue Light" panose="02000403000000020004" pitchFamily="2" charset="0"/>
            </a:endParaRPr>
          </a:p>
          <a:p>
            <a:pPr marL="355600" marR="364490" indent="-342900">
              <a:lnSpc>
                <a:spcPct val="150000"/>
              </a:lnSpc>
              <a:spcBef>
                <a:spcPts val="15"/>
              </a:spcBef>
              <a:buClr>
                <a:srgbClr val="747474"/>
              </a:buClr>
              <a:buSzPct val="96153"/>
              <a:buFont typeface="Arial" panose="020B0604020202020204" pitchFamily="34" charset="0"/>
              <a:buChar char="•"/>
              <a:tabLst>
                <a:tab pos="186690" algn="l"/>
              </a:tabLst>
            </a:pPr>
            <a:r>
              <a:rPr sz="2800" dirty="0">
                <a:latin typeface="Helvetica Neue Light" panose="02000403000000020004" pitchFamily="2" charset="0"/>
                <a:ea typeface="Helvetica Neue Light" panose="02000403000000020004" pitchFamily="2" charset="0"/>
              </a:rPr>
              <a:t>This tells the browser how to arrange the elements on the page - for instance, where text goes in relation to images and so on.</a:t>
            </a:r>
            <a:endParaRPr lang="en-GB" sz="2800" dirty="0">
              <a:latin typeface="Helvetica Neue Light" panose="02000403000000020004" pitchFamily="2" charset="0"/>
              <a:ea typeface="Helvetica Neue Light" panose="02000403000000020004" pitchFamily="2" charset="0"/>
            </a:endParaRPr>
          </a:p>
          <a:p>
            <a:pPr marL="355600" marR="364490" indent="-342900">
              <a:lnSpc>
                <a:spcPct val="150000"/>
              </a:lnSpc>
              <a:spcBef>
                <a:spcPts val="15"/>
              </a:spcBef>
              <a:buClr>
                <a:srgbClr val="747474"/>
              </a:buClr>
              <a:buSzPct val="96153"/>
              <a:buFont typeface="Arial" panose="020B0604020202020204" pitchFamily="34" charset="0"/>
              <a:buChar char="•"/>
              <a:tabLst>
                <a:tab pos="186690" algn="l"/>
              </a:tabLst>
            </a:pPr>
            <a:r>
              <a:rPr sz="2800" dirty="0">
                <a:latin typeface="Helvetica Neue Light" panose="02000403000000020004" pitchFamily="2" charset="0"/>
                <a:ea typeface="Helvetica Neue Light" panose="02000403000000020004" pitchFamily="2" charset="0"/>
              </a:rPr>
              <a:t>The usual document flow works like a word processor - elements are simply displayed one “under” the other, from the top of the page to the bottom.</a:t>
            </a:r>
            <a:endParaRPr lang="en-GB" sz="2800" dirty="0">
              <a:latin typeface="Helvetica Neue Light" panose="02000403000000020004" pitchFamily="2" charset="0"/>
              <a:ea typeface="Helvetica Neue Light" panose="02000403000000020004" pitchFamily="2" charset="0"/>
            </a:endParaRPr>
          </a:p>
          <a:p>
            <a:pPr marL="355600" marR="364490" indent="-342900">
              <a:lnSpc>
                <a:spcPct val="150000"/>
              </a:lnSpc>
              <a:spcBef>
                <a:spcPts val="15"/>
              </a:spcBef>
              <a:buClr>
                <a:srgbClr val="747474"/>
              </a:buClr>
              <a:buSzPct val="96153"/>
              <a:buFont typeface="Arial" panose="020B0604020202020204" pitchFamily="34" charset="0"/>
              <a:buChar char="•"/>
              <a:tabLst>
                <a:tab pos="186690" algn="l"/>
              </a:tabLst>
            </a:pPr>
            <a:r>
              <a:rPr sz="2800" dirty="0">
                <a:latin typeface="Helvetica Neue Light" panose="02000403000000020004" pitchFamily="2" charset="0"/>
                <a:ea typeface="Helvetica Neue Light" panose="02000403000000020004" pitchFamily="2" charset="0"/>
              </a:rPr>
              <a:t>For instance, let’s say I have an image followed by some text. The</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default flow would render the content something like this: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1"/>
            <a:ext cx="13004800" cy="9753597"/>
          </a:xfrm>
          <a:prstGeom prst="rect">
            <a:avLst/>
          </a:prstGeom>
          <a:blipFill>
            <a:blip r:embed="rId2" cstate="print"/>
            <a:stretch>
              <a:fillRect/>
            </a:stretch>
          </a:blipFill>
        </p:spPr>
        <p:txBody>
          <a:bodyPr wrap="square" lIns="0" tIns="0" rIns="0" bIns="0" rtlCol="0"/>
          <a:lstStyle/>
          <a:p>
            <a:endParaRPr/>
          </a:p>
        </p:txBody>
      </p:sp>
      <p:sp>
        <p:nvSpPr>
          <p:cNvPr id="3" name="object 3">
            <a:extLst>
              <a:ext uri="{C183D7F6-B498-43B3-948B-1728B52AA6E4}">
                <adec:decorative xmlns:adec="http://schemas.microsoft.com/office/drawing/2017/decorative" val="1"/>
              </a:ext>
            </a:extLst>
          </p:cNvPr>
          <p:cNvSpPr/>
          <p:nvPr/>
        </p:nvSpPr>
        <p:spPr>
          <a:xfrm>
            <a:off x="1969568" y="1692187"/>
            <a:ext cx="9654016" cy="2717798"/>
          </a:xfrm>
          <a:prstGeom prst="rect">
            <a:avLst/>
          </a:prstGeom>
          <a:blipFill>
            <a:blip r:embed="rId3" cstate="print"/>
            <a:stretch>
              <a:fillRect/>
            </a:stretch>
          </a:blip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2073275" y="1778001"/>
            <a:ext cx="9356725" cy="2438400"/>
          </a:xfrm>
          <a:custGeom>
            <a:avLst/>
            <a:gdLst/>
            <a:ahLst/>
            <a:cxnLst/>
            <a:rect l="l" t="t" r="r" b="b"/>
            <a:pathLst>
              <a:path w="9356725" h="2438400">
                <a:moveTo>
                  <a:pt x="9102723" y="0"/>
                </a:moveTo>
                <a:lnTo>
                  <a:pt x="835025" y="0"/>
                </a:lnTo>
                <a:lnTo>
                  <a:pt x="789367" y="4091"/>
                </a:lnTo>
                <a:lnTo>
                  <a:pt x="746392" y="15888"/>
                </a:lnTo>
                <a:lnTo>
                  <a:pt x="706823" y="34676"/>
                </a:lnTo>
                <a:lnTo>
                  <a:pt x="671374" y="59735"/>
                </a:lnTo>
                <a:lnTo>
                  <a:pt x="640760" y="90347"/>
                </a:lnTo>
                <a:lnTo>
                  <a:pt x="615702" y="125798"/>
                </a:lnTo>
                <a:lnTo>
                  <a:pt x="596915" y="165367"/>
                </a:lnTo>
                <a:lnTo>
                  <a:pt x="585116" y="208342"/>
                </a:lnTo>
                <a:lnTo>
                  <a:pt x="581025" y="254000"/>
                </a:lnTo>
                <a:lnTo>
                  <a:pt x="581025" y="755650"/>
                </a:lnTo>
                <a:lnTo>
                  <a:pt x="0" y="1020761"/>
                </a:lnTo>
                <a:lnTo>
                  <a:pt x="581025" y="1285875"/>
                </a:lnTo>
                <a:lnTo>
                  <a:pt x="581025" y="2184398"/>
                </a:lnTo>
                <a:lnTo>
                  <a:pt x="585116" y="2230056"/>
                </a:lnTo>
                <a:lnTo>
                  <a:pt x="596915" y="2273029"/>
                </a:lnTo>
                <a:lnTo>
                  <a:pt x="615702" y="2312598"/>
                </a:lnTo>
                <a:lnTo>
                  <a:pt x="640760" y="2348049"/>
                </a:lnTo>
                <a:lnTo>
                  <a:pt x="671374" y="2378661"/>
                </a:lnTo>
                <a:lnTo>
                  <a:pt x="706823" y="2403721"/>
                </a:lnTo>
                <a:lnTo>
                  <a:pt x="746392" y="2422508"/>
                </a:lnTo>
                <a:lnTo>
                  <a:pt x="789367" y="2434305"/>
                </a:lnTo>
                <a:lnTo>
                  <a:pt x="835025" y="2438398"/>
                </a:lnTo>
                <a:lnTo>
                  <a:pt x="9102723" y="2438398"/>
                </a:lnTo>
                <a:lnTo>
                  <a:pt x="9148380" y="2434305"/>
                </a:lnTo>
                <a:lnTo>
                  <a:pt x="9191353" y="2422508"/>
                </a:lnTo>
                <a:lnTo>
                  <a:pt x="9230923" y="2403721"/>
                </a:lnTo>
                <a:lnTo>
                  <a:pt x="9266373" y="2378661"/>
                </a:lnTo>
                <a:lnTo>
                  <a:pt x="9296985" y="2348049"/>
                </a:lnTo>
                <a:lnTo>
                  <a:pt x="9322045" y="2312598"/>
                </a:lnTo>
                <a:lnTo>
                  <a:pt x="9340832" y="2273029"/>
                </a:lnTo>
                <a:lnTo>
                  <a:pt x="9352630" y="2230056"/>
                </a:lnTo>
                <a:lnTo>
                  <a:pt x="9356723" y="2184398"/>
                </a:lnTo>
                <a:lnTo>
                  <a:pt x="9356723" y="254000"/>
                </a:lnTo>
                <a:lnTo>
                  <a:pt x="9352630" y="208342"/>
                </a:lnTo>
                <a:lnTo>
                  <a:pt x="9340832" y="165367"/>
                </a:lnTo>
                <a:lnTo>
                  <a:pt x="9322045" y="125798"/>
                </a:lnTo>
                <a:lnTo>
                  <a:pt x="9296985" y="90347"/>
                </a:lnTo>
                <a:lnTo>
                  <a:pt x="9266373" y="59735"/>
                </a:lnTo>
                <a:lnTo>
                  <a:pt x="9230923" y="34676"/>
                </a:lnTo>
                <a:lnTo>
                  <a:pt x="9191353" y="15888"/>
                </a:lnTo>
                <a:lnTo>
                  <a:pt x="9148380" y="4091"/>
                </a:lnTo>
                <a:lnTo>
                  <a:pt x="9102723" y="0"/>
                </a:lnTo>
                <a:close/>
              </a:path>
            </a:pathLst>
          </a:custGeom>
          <a:solidFill>
            <a:srgbClr val="000621"/>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2073275" y="1778001"/>
            <a:ext cx="9356725" cy="2438400"/>
          </a:xfrm>
          <a:custGeom>
            <a:avLst/>
            <a:gdLst/>
            <a:ahLst/>
            <a:cxnLst/>
            <a:rect l="l" t="t" r="r" b="b"/>
            <a:pathLst>
              <a:path w="9356725" h="2438400">
                <a:moveTo>
                  <a:pt x="835024" y="0"/>
                </a:moveTo>
                <a:lnTo>
                  <a:pt x="789367" y="4091"/>
                </a:lnTo>
                <a:lnTo>
                  <a:pt x="746395" y="15889"/>
                </a:lnTo>
                <a:lnTo>
                  <a:pt x="706825" y="34677"/>
                </a:lnTo>
                <a:lnTo>
                  <a:pt x="671375" y="59736"/>
                </a:lnTo>
                <a:lnTo>
                  <a:pt x="640761" y="90351"/>
                </a:lnTo>
                <a:lnTo>
                  <a:pt x="615702" y="125800"/>
                </a:lnTo>
                <a:lnTo>
                  <a:pt x="596914" y="165371"/>
                </a:lnTo>
                <a:lnTo>
                  <a:pt x="585116" y="208343"/>
                </a:lnTo>
                <a:lnTo>
                  <a:pt x="581024" y="253999"/>
                </a:lnTo>
                <a:lnTo>
                  <a:pt x="581024" y="755649"/>
                </a:lnTo>
                <a:lnTo>
                  <a:pt x="0" y="1020761"/>
                </a:lnTo>
                <a:lnTo>
                  <a:pt x="581024" y="1285874"/>
                </a:lnTo>
                <a:lnTo>
                  <a:pt x="581024" y="2184399"/>
                </a:lnTo>
                <a:lnTo>
                  <a:pt x="585116" y="2230056"/>
                </a:lnTo>
                <a:lnTo>
                  <a:pt x="596914" y="2273029"/>
                </a:lnTo>
                <a:lnTo>
                  <a:pt x="615702" y="2312599"/>
                </a:lnTo>
                <a:lnTo>
                  <a:pt x="640761" y="2348049"/>
                </a:lnTo>
                <a:lnTo>
                  <a:pt x="671375" y="2378662"/>
                </a:lnTo>
                <a:lnTo>
                  <a:pt x="706825" y="2403721"/>
                </a:lnTo>
                <a:lnTo>
                  <a:pt x="746395" y="2422508"/>
                </a:lnTo>
                <a:lnTo>
                  <a:pt x="789367" y="2434306"/>
                </a:lnTo>
                <a:lnTo>
                  <a:pt x="835024" y="2438399"/>
                </a:lnTo>
                <a:lnTo>
                  <a:pt x="9102722" y="2438399"/>
                </a:lnTo>
                <a:lnTo>
                  <a:pt x="9148379" y="2434306"/>
                </a:lnTo>
                <a:lnTo>
                  <a:pt x="9191352" y="2422508"/>
                </a:lnTo>
                <a:lnTo>
                  <a:pt x="9230922" y="2403721"/>
                </a:lnTo>
                <a:lnTo>
                  <a:pt x="9266372" y="2378662"/>
                </a:lnTo>
                <a:lnTo>
                  <a:pt x="9296985" y="2348049"/>
                </a:lnTo>
                <a:lnTo>
                  <a:pt x="9322044" y="2312599"/>
                </a:lnTo>
                <a:lnTo>
                  <a:pt x="9340831" y="2273029"/>
                </a:lnTo>
                <a:lnTo>
                  <a:pt x="9352629" y="2230056"/>
                </a:lnTo>
                <a:lnTo>
                  <a:pt x="9356722" y="2184399"/>
                </a:lnTo>
                <a:lnTo>
                  <a:pt x="9356722" y="253999"/>
                </a:lnTo>
                <a:lnTo>
                  <a:pt x="9352629" y="208343"/>
                </a:lnTo>
                <a:lnTo>
                  <a:pt x="9340831" y="165371"/>
                </a:lnTo>
                <a:lnTo>
                  <a:pt x="9322044" y="125800"/>
                </a:lnTo>
                <a:lnTo>
                  <a:pt x="9296985" y="90351"/>
                </a:lnTo>
                <a:lnTo>
                  <a:pt x="9266372" y="59736"/>
                </a:lnTo>
                <a:lnTo>
                  <a:pt x="9230922" y="34677"/>
                </a:lnTo>
                <a:lnTo>
                  <a:pt x="9191352" y="15889"/>
                </a:lnTo>
                <a:lnTo>
                  <a:pt x="9148379" y="4091"/>
                </a:lnTo>
                <a:lnTo>
                  <a:pt x="9102722" y="0"/>
                </a:lnTo>
                <a:lnTo>
                  <a:pt x="835024" y="0"/>
                </a:lnTo>
                <a:close/>
              </a:path>
            </a:pathLst>
          </a:custGeom>
          <a:ln w="25399">
            <a:solidFill>
              <a:srgbClr val="FFFFFF"/>
            </a:solidFill>
          </a:ln>
        </p:spPr>
        <p:txBody>
          <a:bodyPr wrap="square" lIns="0" tIns="0" rIns="0" bIns="0" rtlCol="0"/>
          <a:lstStyle/>
          <a:p>
            <a:endParaRPr/>
          </a:p>
        </p:txBody>
      </p:sp>
      <p:sp>
        <p:nvSpPr>
          <p:cNvPr id="6" name="object 6"/>
          <p:cNvSpPr txBox="1">
            <a:spLocks noGrp="1"/>
          </p:cNvSpPr>
          <p:nvPr>
            <p:ph type="title"/>
          </p:nvPr>
        </p:nvSpPr>
        <p:spPr>
          <a:xfrm>
            <a:off x="3090715" y="2480179"/>
            <a:ext cx="7856220" cy="1026160"/>
          </a:xfrm>
          <a:prstGeom prst="rect">
            <a:avLst/>
          </a:prstGeom>
        </p:spPr>
        <p:txBody>
          <a:bodyPr vert="horz" wrap="square" lIns="0" tIns="58419" rIns="0" bIns="0" rtlCol="0">
            <a:spAutoFit/>
          </a:bodyPr>
          <a:lstStyle/>
          <a:p>
            <a:pPr marL="647065" marR="5080" indent="-635000">
              <a:lnSpc>
                <a:spcPts val="3800"/>
              </a:lnSpc>
              <a:spcBef>
                <a:spcPts val="459"/>
              </a:spcBef>
            </a:pPr>
            <a:r>
              <a:rPr sz="3400" b="0" i="1" spc="-5" dirty="0">
                <a:solidFill>
                  <a:srgbClr val="FFFFFF"/>
                </a:solidFill>
                <a:latin typeface="Georgia"/>
                <a:cs typeface="Georgia"/>
              </a:rPr>
              <a:t>Image, </a:t>
            </a:r>
            <a:r>
              <a:rPr sz="3400" b="0" i="1" spc="-10" dirty="0">
                <a:solidFill>
                  <a:srgbClr val="FFFFFF"/>
                </a:solidFill>
                <a:latin typeface="Georgia"/>
                <a:cs typeface="Georgia"/>
              </a:rPr>
              <a:t>followed </a:t>
            </a:r>
            <a:r>
              <a:rPr sz="3400" b="0" i="1" dirty="0">
                <a:solidFill>
                  <a:srgbClr val="FFFFFF"/>
                </a:solidFill>
                <a:latin typeface="Georgia"/>
                <a:cs typeface="Georgia"/>
              </a:rPr>
              <a:t>by </a:t>
            </a:r>
            <a:r>
              <a:rPr sz="3400" b="0" i="1" spc="-10" dirty="0">
                <a:solidFill>
                  <a:srgbClr val="FFFFFF"/>
                </a:solidFill>
                <a:latin typeface="Georgia"/>
                <a:cs typeface="Georgia"/>
              </a:rPr>
              <a:t>heading, followed </a:t>
            </a:r>
            <a:r>
              <a:rPr sz="3400" b="0" i="1" dirty="0">
                <a:solidFill>
                  <a:srgbClr val="FFFFFF"/>
                </a:solidFill>
                <a:latin typeface="Georgia"/>
                <a:cs typeface="Georgia"/>
              </a:rPr>
              <a:t>by  text. </a:t>
            </a:r>
            <a:r>
              <a:rPr sz="3400" b="0" i="1" spc="-5" dirty="0">
                <a:solidFill>
                  <a:srgbClr val="FFFFFF"/>
                </a:solidFill>
                <a:latin typeface="Georgia"/>
                <a:cs typeface="Georgia"/>
              </a:rPr>
              <a:t>Each new item </a:t>
            </a:r>
            <a:r>
              <a:rPr sz="3400" b="0" i="1" dirty="0">
                <a:solidFill>
                  <a:srgbClr val="FFFFFF"/>
                </a:solidFill>
                <a:latin typeface="Georgia"/>
                <a:cs typeface="Georgia"/>
              </a:rPr>
              <a:t>on a </a:t>
            </a:r>
            <a:r>
              <a:rPr sz="3400" b="0" i="1" spc="-5" dirty="0">
                <a:solidFill>
                  <a:srgbClr val="FFFFFF"/>
                </a:solidFill>
                <a:latin typeface="Georgia"/>
                <a:cs typeface="Georgia"/>
              </a:rPr>
              <a:t>new</a:t>
            </a:r>
            <a:r>
              <a:rPr sz="3400" b="0" i="1" spc="-130" dirty="0">
                <a:solidFill>
                  <a:srgbClr val="FFFFFF"/>
                </a:solidFill>
                <a:latin typeface="Georgia"/>
                <a:cs typeface="Georgia"/>
              </a:rPr>
              <a:t> </a:t>
            </a:r>
            <a:r>
              <a:rPr sz="3400" b="0" i="1" spc="-5" dirty="0">
                <a:solidFill>
                  <a:srgbClr val="FFFFFF"/>
                </a:solidFill>
                <a:latin typeface="Georgia"/>
                <a:cs typeface="Georgia"/>
              </a:rPr>
              <a:t>line.</a:t>
            </a:r>
            <a:endParaRPr sz="3400" dirty="0">
              <a:latin typeface="Georgia"/>
              <a:cs typeface="Georg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6101715" cy="665480"/>
          </a:xfrm>
          <a:prstGeom prst="rect">
            <a:avLst/>
          </a:prstGeom>
        </p:spPr>
        <p:txBody>
          <a:bodyPr vert="horz" wrap="square" lIns="0" tIns="12700" rIns="0" bIns="0" rtlCol="0">
            <a:spAutoFit/>
          </a:bodyPr>
          <a:lstStyle/>
          <a:p>
            <a:pPr marL="12700">
              <a:lnSpc>
                <a:spcPct val="100000"/>
              </a:lnSpc>
              <a:spcBef>
                <a:spcPts val="100"/>
              </a:spcBef>
            </a:pPr>
            <a:r>
              <a:rPr sz="4200" b="0" spc="-75" dirty="0">
                <a:solidFill>
                  <a:srgbClr val="000000"/>
                </a:solidFill>
                <a:latin typeface="Arial"/>
                <a:cs typeface="Arial"/>
              </a:rPr>
              <a:t>Changing </a:t>
            </a:r>
            <a:r>
              <a:rPr sz="4200" b="0" spc="-40" dirty="0">
                <a:solidFill>
                  <a:srgbClr val="000000"/>
                </a:solidFill>
                <a:latin typeface="Arial"/>
                <a:cs typeface="Arial"/>
              </a:rPr>
              <a:t>Document</a:t>
            </a:r>
            <a:r>
              <a:rPr sz="4200" b="0" spc="-215" dirty="0">
                <a:solidFill>
                  <a:srgbClr val="000000"/>
                </a:solidFill>
                <a:latin typeface="Arial"/>
                <a:cs typeface="Arial"/>
              </a:rPr>
              <a:t> </a:t>
            </a:r>
            <a:r>
              <a:rPr sz="4200" b="0" spc="-125" dirty="0">
                <a:solidFill>
                  <a:srgbClr val="000000"/>
                </a:solidFill>
                <a:latin typeface="Arial"/>
                <a:cs typeface="Arial"/>
              </a:rPr>
              <a:t>Flow.</a:t>
            </a:r>
            <a:endParaRPr sz="4200" dirty="0">
              <a:latin typeface="Arial"/>
              <a:cs typeface="Arial"/>
            </a:endParaRPr>
          </a:p>
        </p:txBody>
      </p:sp>
      <p:sp>
        <p:nvSpPr>
          <p:cNvPr id="4" name="object 4"/>
          <p:cNvSpPr txBox="1"/>
          <p:nvPr/>
        </p:nvSpPr>
        <p:spPr>
          <a:xfrm>
            <a:off x="596901" y="2357104"/>
            <a:ext cx="11732895" cy="4916089"/>
          </a:xfrm>
          <a:prstGeom prst="rect">
            <a:avLst/>
          </a:prstGeom>
        </p:spPr>
        <p:txBody>
          <a:bodyPr vert="horz" wrap="square" lIns="0" tIns="1905" rIns="0" bIns="0" rtlCol="0">
            <a:spAutoFit/>
          </a:bodyPr>
          <a:lstStyle/>
          <a:p>
            <a:pPr marL="355600" marR="5080" indent="-342900">
              <a:lnSpc>
                <a:spcPct val="150000"/>
              </a:lnSpc>
              <a:spcBef>
                <a:spcPts val="15"/>
              </a:spcBef>
              <a:buClr>
                <a:srgbClr val="747474"/>
              </a:buClr>
              <a:buSzPct val="96153"/>
              <a:buFont typeface="Arial" panose="020B0604020202020204" pitchFamily="34" charset="0"/>
              <a:buChar char="•"/>
              <a:tabLst>
                <a:tab pos="186690" algn="l"/>
              </a:tabLst>
            </a:pPr>
            <a:r>
              <a:rPr sz="2400" dirty="0">
                <a:solidFill>
                  <a:srgbClr val="878787"/>
                </a:solidFill>
                <a:latin typeface="Helvetica Neue Light" panose="02000403000000020004" pitchFamily="2" charset="0"/>
                <a:ea typeface="Helvetica Neue Light" panose="02000403000000020004" pitchFamily="2" charset="0"/>
                <a:cs typeface="Helvetica"/>
              </a:rPr>
              <a:t> </a:t>
            </a:r>
            <a:r>
              <a:rPr sz="2400" dirty="0">
                <a:latin typeface="Helvetica Neue Light" panose="02000403000000020004" pitchFamily="2" charset="0"/>
                <a:ea typeface="Helvetica Neue Light" panose="02000403000000020004" pitchFamily="2" charset="0"/>
              </a:rPr>
              <a:t>Of course, we would not want all webpages to look like this - a better  approach would be to tell the browser how to display the image alongside the  text.</a:t>
            </a:r>
            <a:endParaRPr lang="en-GB" sz="2400" dirty="0">
              <a:latin typeface="Helvetica Neue Light" panose="02000403000000020004" pitchFamily="2" charset="0"/>
              <a:ea typeface="Helvetica Neue Light" panose="02000403000000020004" pitchFamily="2" charset="0"/>
            </a:endParaRPr>
          </a:p>
          <a:p>
            <a:pPr marL="355600" marR="5080" indent="-342900">
              <a:lnSpc>
                <a:spcPct val="150000"/>
              </a:lnSpc>
              <a:spcBef>
                <a:spcPts val="15"/>
              </a:spcBef>
              <a:buClr>
                <a:srgbClr val="747474"/>
              </a:buClr>
              <a:buSzPct val="96153"/>
              <a:buFont typeface="Arial" panose="020B0604020202020204" pitchFamily="34" charset="0"/>
              <a:buChar char="•"/>
              <a:tabLst>
                <a:tab pos="186690" algn="l"/>
              </a:tabLst>
            </a:pPr>
            <a:r>
              <a:rPr sz="2400" dirty="0">
                <a:latin typeface="Helvetica Neue Light" panose="02000403000000020004" pitchFamily="2" charset="0"/>
                <a:ea typeface="Helvetica Neue Light" panose="02000403000000020004" pitchFamily="2" charset="0"/>
              </a:rPr>
              <a:t>To do this, we need to use some CSS - float, to be precise.</a:t>
            </a:r>
          </a:p>
          <a:p>
            <a:pPr marL="355600" indent="-342900">
              <a:lnSpc>
                <a:spcPct val="150000"/>
              </a:lnSpc>
              <a:spcBef>
                <a:spcPts val="5"/>
              </a:spcBef>
              <a:buClr>
                <a:srgbClr val="747474"/>
              </a:buClr>
              <a:buSzPct val="96153"/>
              <a:buFont typeface="Arial" panose="020B0604020202020204" pitchFamily="34" charset="0"/>
              <a:buChar char="•"/>
              <a:tabLst>
                <a:tab pos="186690" algn="l"/>
              </a:tabLst>
            </a:pPr>
            <a:r>
              <a:rPr sz="2400" dirty="0">
                <a:latin typeface="Helvetica Neue Light" panose="02000403000000020004" pitchFamily="2" charset="0"/>
                <a:ea typeface="Helvetica Neue Light" panose="02000403000000020004" pitchFamily="2" charset="0"/>
              </a:rPr>
              <a:t>Float tells the browser to allow content to flow down its side - content ca</a:t>
            </a:r>
            <a:r>
              <a:rPr lang="en-GB" sz="2400" dirty="0">
                <a:latin typeface="Helvetica Neue Light" panose="02000403000000020004" pitchFamily="2" charset="0"/>
                <a:ea typeface="Helvetica Neue Light" panose="02000403000000020004" pitchFamily="2" charset="0"/>
              </a:rPr>
              <a:t>n flow down the right side of a left-floated box and down the left side of a right- floated box. (I realise this sounds confusing, it’ll make sense when you see it).</a:t>
            </a:r>
          </a:p>
          <a:p>
            <a:pPr marL="355600" indent="-342900">
              <a:lnSpc>
                <a:spcPct val="150000"/>
              </a:lnSpc>
              <a:spcBef>
                <a:spcPts val="5"/>
              </a:spcBef>
              <a:buClr>
                <a:srgbClr val="747474"/>
              </a:buClr>
              <a:buSzPct val="96153"/>
              <a:buFont typeface="Arial" panose="020B0604020202020204" pitchFamily="34" charset="0"/>
              <a:buChar char="•"/>
              <a:tabLst>
                <a:tab pos="186690" algn="l"/>
              </a:tabLst>
            </a:pPr>
            <a:r>
              <a:rPr sz="2400" dirty="0">
                <a:latin typeface="Helvetica Neue Light" panose="02000403000000020004" pitchFamily="2" charset="0"/>
                <a:ea typeface="Helvetica Neue Light" panose="02000403000000020004" pitchFamily="2" charset="0"/>
              </a:rPr>
              <a:t>Floating an element removes it from the default document flow.</a:t>
            </a:r>
            <a:endParaRPr lang="en-GB" sz="2400" dirty="0">
              <a:latin typeface="Helvetica Neue Light" panose="02000403000000020004" pitchFamily="2" charset="0"/>
              <a:ea typeface="Helvetica Neue Light" panose="02000403000000020004" pitchFamily="2" charset="0"/>
            </a:endParaRPr>
          </a:p>
          <a:p>
            <a:pPr marL="355600" indent="-342900">
              <a:lnSpc>
                <a:spcPct val="150000"/>
              </a:lnSpc>
              <a:spcBef>
                <a:spcPts val="5"/>
              </a:spcBef>
              <a:buClr>
                <a:srgbClr val="747474"/>
              </a:buClr>
              <a:buSzPct val="96153"/>
              <a:buFont typeface="Arial" panose="020B0604020202020204" pitchFamily="34" charset="0"/>
              <a:buChar char="•"/>
              <a:tabLst>
                <a:tab pos="186690" algn="l"/>
              </a:tabLst>
            </a:pPr>
            <a:r>
              <a:rPr sz="2400" dirty="0">
                <a:latin typeface="Helvetica Neue Light" panose="02000403000000020004" pitchFamily="2" charset="0"/>
                <a:ea typeface="Helvetica Neue Light" panose="02000403000000020004" pitchFamily="2" charset="0"/>
              </a:rPr>
              <a:t>I’ve added some CSS to our example make the text and background a little  more aesthetically pleasing. I’ll also add a float to the image.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1"/>
            <a:ext cx="13004800" cy="9753597"/>
          </a:xfrm>
          <a:prstGeom prst="rect">
            <a:avLst/>
          </a:prstGeom>
          <a:blipFill>
            <a:blip r:embed="rId2" cstate="print"/>
            <a:stretch>
              <a:fillRect/>
            </a:stretch>
          </a:blipFill>
        </p:spPr>
        <p:txBody>
          <a:bodyPr wrap="square" lIns="0" tIns="0" rIns="0" bIns="0" rtlCol="0"/>
          <a:lstStyle/>
          <a:p>
            <a:endParaRPr/>
          </a:p>
        </p:txBody>
      </p:sp>
      <p:sp>
        <p:nvSpPr>
          <p:cNvPr id="3" name="object 3">
            <a:extLst>
              <a:ext uri="{C183D7F6-B498-43B3-948B-1728B52AA6E4}">
                <adec:decorative xmlns:adec="http://schemas.microsoft.com/office/drawing/2017/decorative" val="1"/>
              </a:ext>
            </a:extLst>
          </p:cNvPr>
          <p:cNvSpPr/>
          <p:nvPr/>
        </p:nvSpPr>
        <p:spPr>
          <a:xfrm>
            <a:off x="1969568" y="1692187"/>
            <a:ext cx="9654016" cy="2717798"/>
          </a:xfrm>
          <a:prstGeom prst="rect">
            <a:avLst/>
          </a:prstGeom>
          <a:blipFill>
            <a:blip r:embed="rId3" cstate="print"/>
            <a:stretch>
              <a:fillRect/>
            </a:stretch>
          </a:blip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2073275" y="1778001"/>
            <a:ext cx="9356725" cy="2438400"/>
          </a:xfrm>
          <a:custGeom>
            <a:avLst/>
            <a:gdLst/>
            <a:ahLst/>
            <a:cxnLst/>
            <a:rect l="l" t="t" r="r" b="b"/>
            <a:pathLst>
              <a:path w="9356725" h="2438400">
                <a:moveTo>
                  <a:pt x="9102723" y="0"/>
                </a:moveTo>
                <a:lnTo>
                  <a:pt x="835025" y="0"/>
                </a:lnTo>
                <a:lnTo>
                  <a:pt x="789367" y="4091"/>
                </a:lnTo>
                <a:lnTo>
                  <a:pt x="746392" y="15888"/>
                </a:lnTo>
                <a:lnTo>
                  <a:pt x="706823" y="34676"/>
                </a:lnTo>
                <a:lnTo>
                  <a:pt x="671374" y="59735"/>
                </a:lnTo>
                <a:lnTo>
                  <a:pt x="640760" y="90347"/>
                </a:lnTo>
                <a:lnTo>
                  <a:pt x="615702" y="125798"/>
                </a:lnTo>
                <a:lnTo>
                  <a:pt x="596915" y="165367"/>
                </a:lnTo>
                <a:lnTo>
                  <a:pt x="585116" y="208342"/>
                </a:lnTo>
                <a:lnTo>
                  <a:pt x="581025" y="254000"/>
                </a:lnTo>
                <a:lnTo>
                  <a:pt x="581025" y="755650"/>
                </a:lnTo>
                <a:lnTo>
                  <a:pt x="0" y="1020761"/>
                </a:lnTo>
                <a:lnTo>
                  <a:pt x="581025" y="1285875"/>
                </a:lnTo>
                <a:lnTo>
                  <a:pt x="581025" y="2184398"/>
                </a:lnTo>
                <a:lnTo>
                  <a:pt x="585116" y="2230056"/>
                </a:lnTo>
                <a:lnTo>
                  <a:pt x="596915" y="2273029"/>
                </a:lnTo>
                <a:lnTo>
                  <a:pt x="615702" y="2312598"/>
                </a:lnTo>
                <a:lnTo>
                  <a:pt x="640760" y="2348049"/>
                </a:lnTo>
                <a:lnTo>
                  <a:pt x="671374" y="2378661"/>
                </a:lnTo>
                <a:lnTo>
                  <a:pt x="706823" y="2403721"/>
                </a:lnTo>
                <a:lnTo>
                  <a:pt x="746392" y="2422508"/>
                </a:lnTo>
                <a:lnTo>
                  <a:pt x="789367" y="2434305"/>
                </a:lnTo>
                <a:lnTo>
                  <a:pt x="835025" y="2438398"/>
                </a:lnTo>
                <a:lnTo>
                  <a:pt x="9102723" y="2438398"/>
                </a:lnTo>
                <a:lnTo>
                  <a:pt x="9148380" y="2434305"/>
                </a:lnTo>
                <a:lnTo>
                  <a:pt x="9191353" y="2422508"/>
                </a:lnTo>
                <a:lnTo>
                  <a:pt x="9230923" y="2403721"/>
                </a:lnTo>
                <a:lnTo>
                  <a:pt x="9266373" y="2378661"/>
                </a:lnTo>
                <a:lnTo>
                  <a:pt x="9296985" y="2348049"/>
                </a:lnTo>
                <a:lnTo>
                  <a:pt x="9322045" y="2312598"/>
                </a:lnTo>
                <a:lnTo>
                  <a:pt x="9340832" y="2273029"/>
                </a:lnTo>
                <a:lnTo>
                  <a:pt x="9352630" y="2230056"/>
                </a:lnTo>
                <a:lnTo>
                  <a:pt x="9356723" y="2184398"/>
                </a:lnTo>
                <a:lnTo>
                  <a:pt x="9356723" y="254000"/>
                </a:lnTo>
                <a:lnTo>
                  <a:pt x="9352630" y="208342"/>
                </a:lnTo>
                <a:lnTo>
                  <a:pt x="9340832" y="165367"/>
                </a:lnTo>
                <a:lnTo>
                  <a:pt x="9322045" y="125798"/>
                </a:lnTo>
                <a:lnTo>
                  <a:pt x="9296985" y="90347"/>
                </a:lnTo>
                <a:lnTo>
                  <a:pt x="9266373" y="59735"/>
                </a:lnTo>
                <a:lnTo>
                  <a:pt x="9230923" y="34676"/>
                </a:lnTo>
                <a:lnTo>
                  <a:pt x="9191353" y="15888"/>
                </a:lnTo>
                <a:lnTo>
                  <a:pt x="9148380" y="4091"/>
                </a:lnTo>
                <a:lnTo>
                  <a:pt x="9102723" y="0"/>
                </a:lnTo>
                <a:close/>
              </a:path>
            </a:pathLst>
          </a:custGeom>
          <a:solidFill>
            <a:srgbClr val="000621"/>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2073275" y="1778001"/>
            <a:ext cx="9356725" cy="2438400"/>
          </a:xfrm>
          <a:custGeom>
            <a:avLst/>
            <a:gdLst/>
            <a:ahLst/>
            <a:cxnLst/>
            <a:rect l="l" t="t" r="r" b="b"/>
            <a:pathLst>
              <a:path w="9356725" h="2438400">
                <a:moveTo>
                  <a:pt x="835024" y="0"/>
                </a:moveTo>
                <a:lnTo>
                  <a:pt x="789367" y="4091"/>
                </a:lnTo>
                <a:lnTo>
                  <a:pt x="746395" y="15889"/>
                </a:lnTo>
                <a:lnTo>
                  <a:pt x="706825" y="34677"/>
                </a:lnTo>
                <a:lnTo>
                  <a:pt x="671375" y="59736"/>
                </a:lnTo>
                <a:lnTo>
                  <a:pt x="640761" y="90351"/>
                </a:lnTo>
                <a:lnTo>
                  <a:pt x="615702" y="125800"/>
                </a:lnTo>
                <a:lnTo>
                  <a:pt x="596914" y="165371"/>
                </a:lnTo>
                <a:lnTo>
                  <a:pt x="585116" y="208343"/>
                </a:lnTo>
                <a:lnTo>
                  <a:pt x="581024" y="253999"/>
                </a:lnTo>
                <a:lnTo>
                  <a:pt x="581024" y="755649"/>
                </a:lnTo>
                <a:lnTo>
                  <a:pt x="0" y="1020761"/>
                </a:lnTo>
                <a:lnTo>
                  <a:pt x="581024" y="1285874"/>
                </a:lnTo>
                <a:lnTo>
                  <a:pt x="581024" y="2184399"/>
                </a:lnTo>
                <a:lnTo>
                  <a:pt x="585116" y="2230056"/>
                </a:lnTo>
                <a:lnTo>
                  <a:pt x="596914" y="2273029"/>
                </a:lnTo>
                <a:lnTo>
                  <a:pt x="615702" y="2312599"/>
                </a:lnTo>
                <a:lnTo>
                  <a:pt x="640761" y="2348049"/>
                </a:lnTo>
                <a:lnTo>
                  <a:pt x="671375" y="2378662"/>
                </a:lnTo>
                <a:lnTo>
                  <a:pt x="706825" y="2403721"/>
                </a:lnTo>
                <a:lnTo>
                  <a:pt x="746395" y="2422508"/>
                </a:lnTo>
                <a:lnTo>
                  <a:pt x="789367" y="2434306"/>
                </a:lnTo>
                <a:lnTo>
                  <a:pt x="835024" y="2438399"/>
                </a:lnTo>
                <a:lnTo>
                  <a:pt x="9102722" y="2438399"/>
                </a:lnTo>
                <a:lnTo>
                  <a:pt x="9148379" y="2434306"/>
                </a:lnTo>
                <a:lnTo>
                  <a:pt x="9191352" y="2422508"/>
                </a:lnTo>
                <a:lnTo>
                  <a:pt x="9230922" y="2403721"/>
                </a:lnTo>
                <a:lnTo>
                  <a:pt x="9266372" y="2378662"/>
                </a:lnTo>
                <a:lnTo>
                  <a:pt x="9296985" y="2348049"/>
                </a:lnTo>
                <a:lnTo>
                  <a:pt x="9322044" y="2312599"/>
                </a:lnTo>
                <a:lnTo>
                  <a:pt x="9340831" y="2273029"/>
                </a:lnTo>
                <a:lnTo>
                  <a:pt x="9352629" y="2230056"/>
                </a:lnTo>
                <a:lnTo>
                  <a:pt x="9356722" y="2184399"/>
                </a:lnTo>
                <a:lnTo>
                  <a:pt x="9356722" y="253999"/>
                </a:lnTo>
                <a:lnTo>
                  <a:pt x="9352629" y="208343"/>
                </a:lnTo>
                <a:lnTo>
                  <a:pt x="9340831" y="165371"/>
                </a:lnTo>
                <a:lnTo>
                  <a:pt x="9322044" y="125800"/>
                </a:lnTo>
                <a:lnTo>
                  <a:pt x="9296985" y="90351"/>
                </a:lnTo>
                <a:lnTo>
                  <a:pt x="9266372" y="59736"/>
                </a:lnTo>
                <a:lnTo>
                  <a:pt x="9230922" y="34677"/>
                </a:lnTo>
                <a:lnTo>
                  <a:pt x="9191352" y="15889"/>
                </a:lnTo>
                <a:lnTo>
                  <a:pt x="9148379" y="4091"/>
                </a:lnTo>
                <a:lnTo>
                  <a:pt x="9102722" y="0"/>
                </a:lnTo>
                <a:lnTo>
                  <a:pt x="835024" y="0"/>
                </a:lnTo>
                <a:close/>
              </a:path>
            </a:pathLst>
          </a:custGeom>
          <a:ln w="25399">
            <a:solidFill>
              <a:srgbClr val="FFFFFF"/>
            </a:solidFill>
          </a:ln>
        </p:spPr>
        <p:txBody>
          <a:bodyPr wrap="square" lIns="0" tIns="0" rIns="0" bIns="0" rtlCol="0"/>
          <a:lstStyle/>
          <a:p>
            <a:endParaRPr/>
          </a:p>
        </p:txBody>
      </p:sp>
      <p:sp>
        <p:nvSpPr>
          <p:cNvPr id="6" name="object 6"/>
          <p:cNvSpPr txBox="1">
            <a:spLocks noGrp="1"/>
          </p:cNvSpPr>
          <p:nvPr>
            <p:ph type="title"/>
          </p:nvPr>
        </p:nvSpPr>
        <p:spPr>
          <a:xfrm>
            <a:off x="3016118" y="2230959"/>
            <a:ext cx="8039100" cy="1508760"/>
          </a:xfrm>
          <a:prstGeom prst="rect">
            <a:avLst/>
          </a:prstGeom>
        </p:spPr>
        <p:txBody>
          <a:bodyPr vert="horz" wrap="square" lIns="0" tIns="58419" rIns="0" bIns="0" rtlCol="0">
            <a:spAutoFit/>
          </a:bodyPr>
          <a:lstStyle/>
          <a:p>
            <a:pPr marL="12700" marR="5080" indent="24130" algn="ctr">
              <a:lnSpc>
                <a:spcPts val="3800"/>
              </a:lnSpc>
              <a:spcBef>
                <a:spcPts val="459"/>
              </a:spcBef>
            </a:pPr>
            <a:r>
              <a:rPr sz="3400" b="0" i="1" dirty="0">
                <a:solidFill>
                  <a:srgbClr val="FFFFFF"/>
                </a:solidFill>
                <a:latin typeface="Georgia"/>
                <a:cs typeface="Georgia"/>
              </a:rPr>
              <a:t>The </a:t>
            </a:r>
            <a:r>
              <a:rPr sz="3400" b="0" i="1" spc="-5" dirty="0">
                <a:solidFill>
                  <a:srgbClr val="FFFFFF"/>
                </a:solidFill>
                <a:latin typeface="Georgia"/>
                <a:cs typeface="Georgia"/>
              </a:rPr>
              <a:t>basic layout, </a:t>
            </a:r>
            <a:r>
              <a:rPr sz="3400" b="0" i="1" dirty="0">
                <a:solidFill>
                  <a:srgbClr val="FFFFFF"/>
                </a:solidFill>
                <a:latin typeface="Georgia"/>
                <a:cs typeface="Georgia"/>
              </a:rPr>
              <a:t>with the </a:t>
            </a:r>
            <a:r>
              <a:rPr sz="3400" b="0" i="1" spc="-5" dirty="0">
                <a:solidFill>
                  <a:srgbClr val="FFFFFF"/>
                </a:solidFill>
                <a:latin typeface="Georgia"/>
                <a:cs typeface="Georgia"/>
              </a:rPr>
              <a:t>new </a:t>
            </a:r>
            <a:r>
              <a:rPr sz="3400" b="0" i="1" spc="-10" dirty="0">
                <a:solidFill>
                  <a:srgbClr val="FFFFFF"/>
                </a:solidFill>
                <a:latin typeface="Georgia"/>
                <a:cs typeface="Georgia"/>
              </a:rPr>
              <a:t>CSS  </a:t>
            </a:r>
            <a:r>
              <a:rPr sz="3400" b="0" i="1" spc="-5" dirty="0">
                <a:solidFill>
                  <a:srgbClr val="FFFFFF"/>
                </a:solidFill>
                <a:latin typeface="Georgia"/>
                <a:cs typeface="Georgia"/>
              </a:rPr>
              <a:t>applied. </a:t>
            </a:r>
            <a:r>
              <a:rPr sz="3400" b="0" i="1" spc="-10" dirty="0">
                <a:solidFill>
                  <a:srgbClr val="FFFFFF"/>
                </a:solidFill>
                <a:latin typeface="Georgia"/>
                <a:cs typeface="Georgia"/>
              </a:rPr>
              <a:t>Notice </a:t>
            </a:r>
            <a:r>
              <a:rPr sz="3400" b="0" i="1" dirty="0">
                <a:solidFill>
                  <a:srgbClr val="FFFFFF"/>
                </a:solidFill>
                <a:latin typeface="Georgia"/>
                <a:cs typeface="Georgia"/>
              </a:rPr>
              <a:t>how </a:t>
            </a:r>
            <a:r>
              <a:rPr sz="3400" b="0" i="1" spc="-5" dirty="0">
                <a:solidFill>
                  <a:srgbClr val="FFFFFF"/>
                </a:solidFill>
                <a:latin typeface="Georgia"/>
                <a:cs typeface="Georgia"/>
              </a:rPr>
              <a:t>the image appears</a:t>
            </a:r>
            <a:r>
              <a:rPr sz="3400" b="0" i="1" spc="-95" dirty="0">
                <a:solidFill>
                  <a:srgbClr val="FFFFFF"/>
                </a:solidFill>
                <a:latin typeface="Georgia"/>
                <a:cs typeface="Georgia"/>
              </a:rPr>
              <a:t> </a:t>
            </a:r>
            <a:r>
              <a:rPr sz="3400" b="0" i="1" dirty="0">
                <a:solidFill>
                  <a:srgbClr val="FFFFFF"/>
                </a:solidFill>
                <a:latin typeface="Georgia"/>
                <a:cs typeface="Georgia"/>
              </a:rPr>
              <a:t>in  </a:t>
            </a:r>
            <a:r>
              <a:rPr sz="3400" b="0" i="1" spc="-5" dirty="0">
                <a:solidFill>
                  <a:srgbClr val="FFFFFF"/>
                </a:solidFill>
                <a:latin typeface="Georgia"/>
                <a:cs typeface="Georgia"/>
              </a:rPr>
              <a:t>the </a:t>
            </a:r>
            <a:r>
              <a:rPr sz="3400" b="0" i="1" dirty="0">
                <a:solidFill>
                  <a:srgbClr val="FFFFFF"/>
                </a:solidFill>
                <a:latin typeface="Georgia"/>
                <a:cs typeface="Georgia"/>
              </a:rPr>
              <a:t>same </a:t>
            </a:r>
            <a:r>
              <a:rPr sz="3400" b="0" i="1" spc="-5" dirty="0">
                <a:solidFill>
                  <a:srgbClr val="FFFFFF"/>
                </a:solidFill>
                <a:latin typeface="Georgia"/>
                <a:cs typeface="Georgia"/>
              </a:rPr>
              <a:t>place in the </a:t>
            </a:r>
            <a:r>
              <a:rPr sz="3400" b="0" i="1" spc="-10" dirty="0">
                <a:solidFill>
                  <a:srgbClr val="FFFFFF"/>
                </a:solidFill>
                <a:latin typeface="Georgia"/>
                <a:cs typeface="Georgia"/>
              </a:rPr>
              <a:t>document</a:t>
            </a:r>
            <a:r>
              <a:rPr sz="3400" b="0" i="1" spc="-85" dirty="0">
                <a:solidFill>
                  <a:srgbClr val="FFFFFF"/>
                </a:solidFill>
                <a:latin typeface="Georgia"/>
                <a:cs typeface="Georgia"/>
              </a:rPr>
              <a:t> </a:t>
            </a:r>
            <a:r>
              <a:rPr sz="3400" b="0" i="1" spc="-5" dirty="0">
                <a:solidFill>
                  <a:srgbClr val="FFFFFF"/>
                </a:solidFill>
                <a:latin typeface="Georgia"/>
                <a:cs typeface="Georgia"/>
              </a:rPr>
              <a:t>flow.</a:t>
            </a:r>
            <a:endParaRPr sz="3400">
              <a:latin typeface="Georgia"/>
              <a:cs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1"/>
            <a:ext cx="13004800" cy="9753597"/>
          </a:xfrm>
          <a:prstGeom prst="rect">
            <a:avLst/>
          </a:prstGeom>
          <a:blipFill>
            <a:blip r:embed="rId2" cstate="print"/>
            <a:stretch>
              <a:fillRect/>
            </a:stretch>
          </a:blipFill>
        </p:spPr>
        <p:txBody>
          <a:bodyPr wrap="square" lIns="0" tIns="0" rIns="0" bIns="0" rtlCol="0"/>
          <a:lstStyle/>
          <a:p>
            <a:endParaRPr/>
          </a:p>
        </p:txBody>
      </p:sp>
      <p:sp>
        <p:nvSpPr>
          <p:cNvPr id="3" name="object 3">
            <a:extLst>
              <a:ext uri="{C183D7F6-B498-43B3-948B-1728B52AA6E4}">
                <adec:decorative xmlns:adec="http://schemas.microsoft.com/office/drawing/2017/decorative" val="1"/>
              </a:ext>
            </a:extLst>
          </p:cNvPr>
          <p:cNvSpPr/>
          <p:nvPr/>
        </p:nvSpPr>
        <p:spPr>
          <a:xfrm>
            <a:off x="955581" y="4598708"/>
            <a:ext cx="9055098" cy="3252978"/>
          </a:xfrm>
          <a:prstGeom prst="rect">
            <a:avLst/>
          </a:prstGeom>
          <a:blipFill>
            <a:blip r:embed="rId3" cstate="print"/>
            <a:stretch>
              <a:fillRect/>
            </a:stretch>
          </a:blip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1041418" y="5219716"/>
            <a:ext cx="8775700" cy="2438400"/>
          </a:xfrm>
          <a:custGeom>
            <a:avLst/>
            <a:gdLst/>
            <a:ahLst/>
            <a:cxnLst/>
            <a:rect l="l" t="t" r="r" b="b"/>
            <a:pathLst>
              <a:path w="8775700" h="2438400">
                <a:moveTo>
                  <a:pt x="8521697" y="0"/>
                </a:moveTo>
                <a:lnTo>
                  <a:pt x="254000" y="0"/>
                </a:lnTo>
                <a:lnTo>
                  <a:pt x="208342" y="4093"/>
                </a:lnTo>
                <a:lnTo>
                  <a:pt x="165370" y="15891"/>
                </a:lnTo>
                <a:lnTo>
                  <a:pt x="125800" y="34678"/>
                </a:lnTo>
                <a:lnTo>
                  <a:pt x="90350" y="59736"/>
                </a:lnTo>
                <a:lnTo>
                  <a:pt x="59736" y="90350"/>
                </a:lnTo>
                <a:lnTo>
                  <a:pt x="34677" y="125799"/>
                </a:lnTo>
                <a:lnTo>
                  <a:pt x="15889" y="165370"/>
                </a:lnTo>
                <a:lnTo>
                  <a:pt x="4091" y="208343"/>
                </a:lnTo>
                <a:lnTo>
                  <a:pt x="0" y="254000"/>
                </a:lnTo>
                <a:lnTo>
                  <a:pt x="0" y="2184399"/>
                </a:lnTo>
                <a:lnTo>
                  <a:pt x="4091" y="2230057"/>
                </a:lnTo>
                <a:lnTo>
                  <a:pt x="15889" y="2273030"/>
                </a:lnTo>
                <a:lnTo>
                  <a:pt x="34677" y="2312601"/>
                </a:lnTo>
                <a:lnTo>
                  <a:pt x="59736" y="2348050"/>
                </a:lnTo>
                <a:lnTo>
                  <a:pt x="90350" y="2378664"/>
                </a:lnTo>
                <a:lnTo>
                  <a:pt x="125800" y="2403722"/>
                </a:lnTo>
                <a:lnTo>
                  <a:pt x="165370" y="2422509"/>
                </a:lnTo>
                <a:lnTo>
                  <a:pt x="208342" y="2434308"/>
                </a:lnTo>
                <a:lnTo>
                  <a:pt x="254000" y="2438399"/>
                </a:lnTo>
                <a:lnTo>
                  <a:pt x="8521697" y="2438399"/>
                </a:lnTo>
                <a:lnTo>
                  <a:pt x="8567354" y="2434308"/>
                </a:lnTo>
                <a:lnTo>
                  <a:pt x="8610327" y="2422509"/>
                </a:lnTo>
                <a:lnTo>
                  <a:pt x="8649897" y="2403722"/>
                </a:lnTo>
                <a:lnTo>
                  <a:pt x="8685347" y="2378664"/>
                </a:lnTo>
                <a:lnTo>
                  <a:pt x="8715960" y="2348050"/>
                </a:lnTo>
                <a:lnTo>
                  <a:pt x="8741020" y="2312601"/>
                </a:lnTo>
                <a:lnTo>
                  <a:pt x="8759806" y="2273030"/>
                </a:lnTo>
                <a:lnTo>
                  <a:pt x="8771604" y="2230057"/>
                </a:lnTo>
                <a:lnTo>
                  <a:pt x="8775697" y="2184399"/>
                </a:lnTo>
                <a:lnTo>
                  <a:pt x="8775697" y="254000"/>
                </a:lnTo>
                <a:lnTo>
                  <a:pt x="8771604" y="208343"/>
                </a:lnTo>
                <a:lnTo>
                  <a:pt x="8759806" y="165370"/>
                </a:lnTo>
                <a:lnTo>
                  <a:pt x="8741020" y="125799"/>
                </a:lnTo>
                <a:lnTo>
                  <a:pt x="8715960" y="90350"/>
                </a:lnTo>
                <a:lnTo>
                  <a:pt x="8685347" y="59736"/>
                </a:lnTo>
                <a:lnTo>
                  <a:pt x="8649897" y="34678"/>
                </a:lnTo>
                <a:lnTo>
                  <a:pt x="8610327" y="15891"/>
                </a:lnTo>
                <a:lnTo>
                  <a:pt x="8567354" y="4093"/>
                </a:lnTo>
                <a:lnTo>
                  <a:pt x="8521697" y="0"/>
                </a:lnTo>
                <a:close/>
              </a:path>
            </a:pathLst>
          </a:custGeom>
          <a:solidFill>
            <a:srgbClr val="000621"/>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8755472" y="4699817"/>
            <a:ext cx="530225" cy="520065"/>
          </a:xfrm>
          <a:custGeom>
            <a:avLst/>
            <a:gdLst/>
            <a:ahLst/>
            <a:cxnLst/>
            <a:rect l="l" t="t" r="r" b="b"/>
            <a:pathLst>
              <a:path w="530225" h="520064">
                <a:moveTo>
                  <a:pt x="264718" y="0"/>
                </a:moveTo>
                <a:lnTo>
                  <a:pt x="0" y="519898"/>
                </a:lnTo>
                <a:lnTo>
                  <a:pt x="529831" y="519898"/>
                </a:lnTo>
                <a:lnTo>
                  <a:pt x="264718" y="0"/>
                </a:lnTo>
                <a:close/>
              </a:path>
            </a:pathLst>
          </a:custGeom>
          <a:solidFill>
            <a:srgbClr val="000621"/>
          </a:solidFill>
        </p:spPr>
        <p:txBody>
          <a:bodyPr wrap="square" lIns="0" tIns="0" rIns="0" bIns="0" rtlCol="0"/>
          <a:lstStyle/>
          <a:p>
            <a:endParaRPr/>
          </a:p>
        </p:txBody>
      </p:sp>
      <p:sp>
        <p:nvSpPr>
          <p:cNvPr id="6" name="object 6">
            <a:extLst>
              <a:ext uri="{C183D7F6-B498-43B3-948B-1728B52AA6E4}">
                <adec:decorative xmlns:adec="http://schemas.microsoft.com/office/drawing/2017/decorative" val="1"/>
              </a:ext>
            </a:extLst>
          </p:cNvPr>
          <p:cNvSpPr/>
          <p:nvPr/>
        </p:nvSpPr>
        <p:spPr>
          <a:xfrm>
            <a:off x="1041418" y="4699812"/>
            <a:ext cx="8775700" cy="2958465"/>
          </a:xfrm>
          <a:custGeom>
            <a:avLst/>
            <a:gdLst/>
            <a:ahLst/>
            <a:cxnLst/>
            <a:rect l="l" t="t" r="r" b="b"/>
            <a:pathLst>
              <a:path w="8775700" h="2958465">
                <a:moveTo>
                  <a:pt x="7978771" y="0"/>
                </a:moveTo>
                <a:lnTo>
                  <a:pt x="7714053" y="519905"/>
                </a:lnTo>
                <a:lnTo>
                  <a:pt x="253999" y="519905"/>
                </a:lnTo>
                <a:lnTo>
                  <a:pt x="208342" y="523997"/>
                </a:lnTo>
                <a:lnTo>
                  <a:pt x="165370" y="535796"/>
                </a:lnTo>
                <a:lnTo>
                  <a:pt x="125800" y="554583"/>
                </a:lnTo>
                <a:lnTo>
                  <a:pt x="90350" y="579642"/>
                </a:lnTo>
                <a:lnTo>
                  <a:pt x="59736" y="610256"/>
                </a:lnTo>
                <a:lnTo>
                  <a:pt x="34678" y="645706"/>
                </a:lnTo>
                <a:lnTo>
                  <a:pt x="15890" y="685276"/>
                </a:lnTo>
                <a:lnTo>
                  <a:pt x="4091" y="728248"/>
                </a:lnTo>
                <a:lnTo>
                  <a:pt x="0" y="773905"/>
                </a:lnTo>
                <a:lnTo>
                  <a:pt x="0" y="2704305"/>
                </a:lnTo>
                <a:lnTo>
                  <a:pt x="4091" y="2749963"/>
                </a:lnTo>
                <a:lnTo>
                  <a:pt x="15890" y="2792935"/>
                </a:lnTo>
                <a:lnTo>
                  <a:pt x="34678" y="2832505"/>
                </a:lnTo>
                <a:lnTo>
                  <a:pt x="59736" y="2867955"/>
                </a:lnTo>
                <a:lnTo>
                  <a:pt x="90350" y="2898568"/>
                </a:lnTo>
                <a:lnTo>
                  <a:pt x="125800" y="2923627"/>
                </a:lnTo>
                <a:lnTo>
                  <a:pt x="165370" y="2942414"/>
                </a:lnTo>
                <a:lnTo>
                  <a:pt x="208342" y="2954213"/>
                </a:lnTo>
                <a:lnTo>
                  <a:pt x="253999" y="2958305"/>
                </a:lnTo>
                <a:lnTo>
                  <a:pt x="8521696" y="2958305"/>
                </a:lnTo>
                <a:lnTo>
                  <a:pt x="8567353" y="2954213"/>
                </a:lnTo>
                <a:lnTo>
                  <a:pt x="8610326" y="2942414"/>
                </a:lnTo>
                <a:lnTo>
                  <a:pt x="8649896" y="2923627"/>
                </a:lnTo>
                <a:lnTo>
                  <a:pt x="8685345" y="2898568"/>
                </a:lnTo>
                <a:lnTo>
                  <a:pt x="8715959" y="2867955"/>
                </a:lnTo>
                <a:lnTo>
                  <a:pt x="8741018" y="2832505"/>
                </a:lnTo>
                <a:lnTo>
                  <a:pt x="8759805" y="2792935"/>
                </a:lnTo>
                <a:lnTo>
                  <a:pt x="8771603" y="2749963"/>
                </a:lnTo>
                <a:lnTo>
                  <a:pt x="8775696" y="2704305"/>
                </a:lnTo>
                <a:lnTo>
                  <a:pt x="8775696" y="773905"/>
                </a:lnTo>
                <a:lnTo>
                  <a:pt x="8771603" y="728248"/>
                </a:lnTo>
                <a:lnTo>
                  <a:pt x="8759805" y="685276"/>
                </a:lnTo>
                <a:lnTo>
                  <a:pt x="8741018" y="645706"/>
                </a:lnTo>
                <a:lnTo>
                  <a:pt x="8715959" y="610256"/>
                </a:lnTo>
                <a:lnTo>
                  <a:pt x="8685345" y="579642"/>
                </a:lnTo>
                <a:lnTo>
                  <a:pt x="8649896" y="554583"/>
                </a:lnTo>
                <a:lnTo>
                  <a:pt x="8610326" y="535796"/>
                </a:lnTo>
                <a:lnTo>
                  <a:pt x="8567353" y="523997"/>
                </a:lnTo>
                <a:lnTo>
                  <a:pt x="8521696" y="519905"/>
                </a:lnTo>
                <a:lnTo>
                  <a:pt x="8243883" y="519905"/>
                </a:lnTo>
                <a:lnTo>
                  <a:pt x="7978771" y="0"/>
                </a:lnTo>
                <a:close/>
              </a:path>
            </a:pathLst>
          </a:custGeom>
          <a:ln w="25399">
            <a:solidFill>
              <a:srgbClr val="FFFFFF"/>
            </a:solidFill>
          </a:ln>
        </p:spPr>
        <p:txBody>
          <a:bodyPr wrap="square" lIns="0" tIns="0" rIns="0" bIns="0" rtlCol="0"/>
          <a:lstStyle/>
          <a:p>
            <a:endParaRPr/>
          </a:p>
        </p:txBody>
      </p:sp>
      <p:sp>
        <p:nvSpPr>
          <p:cNvPr id="7" name="object 7"/>
          <p:cNvSpPr txBox="1"/>
          <p:nvPr/>
        </p:nvSpPr>
        <p:spPr>
          <a:xfrm>
            <a:off x="1554837" y="5672627"/>
            <a:ext cx="7738109" cy="1508760"/>
          </a:xfrm>
          <a:prstGeom prst="rect">
            <a:avLst/>
          </a:prstGeom>
        </p:spPr>
        <p:txBody>
          <a:bodyPr vert="horz" wrap="square" lIns="0" tIns="58419" rIns="0" bIns="0" rtlCol="0">
            <a:spAutoFit/>
          </a:bodyPr>
          <a:lstStyle/>
          <a:p>
            <a:pPr marL="12700" marR="5080" indent="-635" algn="ctr">
              <a:lnSpc>
                <a:spcPts val="3800"/>
              </a:lnSpc>
              <a:spcBef>
                <a:spcPts val="459"/>
              </a:spcBef>
            </a:pPr>
            <a:r>
              <a:rPr sz="3400" i="1" spc="-5" dirty="0">
                <a:solidFill>
                  <a:srgbClr val="FFFFFF"/>
                </a:solidFill>
                <a:latin typeface="Georgia"/>
                <a:cs typeface="Georgia"/>
              </a:rPr>
              <a:t>Here, </a:t>
            </a:r>
            <a:r>
              <a:rPr sz="3400" i="1" spc="-10" dirty="0">
                <a:solidFill>
                  <a:srgbClr val="FFFFFF"/>
                </a:solidFill>
                <a:latin typeface="Georgia"/>
                <a:cs typeface="Georgia"/>
              </a:rPr>
              <a:t>the </a:t>
            </a:r>
            <a:r>
              <a:rPr sz="3400" i="1" spc="-5" dirty="0">
                <a:solidFill>
                  <a:srgbClr val="FFFFFF"/>
                </a:solidFill>
                <a:latin typeface="Georgia"/>
                <a:cs typeface="Georgia"/>
              </a:rPr>
              <a:t>image has been set to </a:t>
            </a:r>
            <a:r>
              <a:rPr sz="3400" i="1" dirty="0">
                <a:solidFill>
                  <a:srgbClr val="FFFFFF"/>
                </a:solidFill>
                <a:latin typeface="Georgia"/>
                <a:cs typeface="Georgia"/>
              </a:rPr>
              <a:t>have a  </a:t>
            </a:r>
            <a:r>
              <a:rPr sz="3400" i="1" spc="-5" dirty="0">
                <a:solidFill>
                  <a:srgbClr val="FFFFFF"/>
                </a:solidFill>
                <a:latin typeface="Georgia"/>
                <a:cs typeface="Georgia"/>
              </a:rPr>
              <a:t>float </a:t>
            </a:r>
            <a:r>
              <a:rPr sz="3400" i="1" dirty="0">
                <a:solidFill>
                  <a:srgbClr val="FFFFFF"/>
                </a:solidFill>
                <a:latin typeface="Georgia"/>
                <a:cs typeface="Georgia"/>
              </a:rPr>
              <a:t>of </a:t>
            </a:r>
            <a:r>
              <a:rPr sz="3400" i="1" spc="-5" dirty="0">
                <a:solidFill>
                  <a:srgbClr val="FFFFFF"/>
                </a:solidFill>
                <a:latin typeface="Georgia"/>
                <a:cs typeface="Georgia"/>
              </a:rPr>
              <a:t>right. This </a:t>
            </a:r>
            <a:r>
              <a:rPr sz="3400" i="1" spc="-10" dirty="0">
                <a:solidFill>
                  <a:srgbClr val="FFFFFF"/>
                </a:solidFill>
                <a:latin typeface="Georgia"/>
                <a:cs typeface="Georgia"/>
              </a:rPr>
              <a:t>means </a:t>
            </a:r>
            <a:r>
              <a:rPr sz="3400" i="1" dirty="0">
                <a:solidFill>
                  <a:srgbClr val="FFFFFF"/>
                </a:solidFill>
                <a:latin typeface="Georgia"/>
                <a:cs typeface="Georgia"/>
              </a:rPr>
              <a:t>that text</a:t>
            </a:r>
            <a:r>
              <a:rPr sz="3400" i="1" spc="-114" dirty="0">
                <a:solidFill>
                  <a:srgbClr val="FFFFFF"/>
                </a:solidFill>
                <a:latin typeface="Georgia"/>
                <a:cs typeface="Georgia"/>
              </a:rPr>
              <a:t> </a:t>
            </a:r>
            <a:r>
              <a:rPr sz="3400" i="1" spc="-5" dirty="0">
                <a:solidFill>
                  <a:srgbClr val="FFFFFF"/>
                </a:solidFill>
                <a:latin typeface="Georgia"/>
                <a:cs typeface="Georgia"/>
              </a:rPr>
              <a:t>flows  </a:t>
            </a:r>
            <a:r>
              <a:rPr sz="3400" i="1" spc="-10" dirty="0">
                <a:solidFill>
                  <a:srgbClr val="FFFFFF"/>
                </a:solidFill>
                <a:latin typeface="Georgia"/>
                <a:cs typeface="Georgia"/>
              </a:rPr>
              <a:t>around the </a:t>
            </a:r>
            <a:r>
              <a:rPr sz="3400" i="1" spc="-5" dirty="0">
                <a:solidFill>
                  <a:srgbClr val="FFFFFF"/>
                </a:solidFill>
                <a:latin typeface="Georgia"/>
                <a:cs typeface="Georgia"/>
              </a:rPr>
              <a:t>image on </a:t>
            </a:r>
            <a:r>
              <a:rPr sz="3400" i="1" spc="-10" dirty="0">
                <a:solidFill>
                  <a:srgbClr val="FFFFFF"/>
                </a:solidFill>
                <a:latin typeface="Georgia"/>
                <a:cs typeface="Georgia"/>
              </a:rPr>
              <a:t>its left </a:t>
            </a:r>
            <a:r>
              <a:rPr sz="3400" i="1" dirty="0">
                <a:solidFill>
                  <a:srgbClr val="FFFFFF"/>
                </a:solidFill>
                <a:latin typeface="Georgia"/>
                <a:cs typeface="Georgia"/>
              </a:rPr>
              <a:t>hand</a:t>
            </a:r>
            <a:r>
              <a:rPr sz="3400" i="1" spc="-90" dirty="0">
                <a:solidFill>
                  <a:srgbClr val="FFFFFF"/>
                </a:solidFill>
                <a:latin typeface="Georgia"/>
                <a:cs typeface="Georgia"/>
              </a:rPr>
              <a:t> </a:t>
            </a:r>
            <a:r>
              <a:rPr sz="3400" i="1" spc="-5" dirty="0">
                <a:solidFill>
                  <a:srgbClr val="FFFFFF"/>
                </a:solidFill>
                <a:latin typeface="Georgia"/>
                <a:cs typeface="Georgia"/>
              </a:rPr>
              <a:t>side.</a:t>
            </a:r>
            <a:endParaRPr sz="3400">
              <a:latin typeface="Georgia"/>
              <a:cs typeface="Georg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1"/>
            <a:ext cx="13004800" cy="9753597"/>
          </a:xfrm>
          <a:prstGeom prst="rect">
            <a:avLst/>
          </a:prstGeom>
          <a:blipFill>
            <a:blip r:embed="rId2" cstate="print"/>
            <a:stretch>
              <a:fillRect/>
            </a:stretch>
          </a:blipFill>
        </p:spPr>
        <p:txBody>
          <a:bodyPr wrap="square" lIns="0" tIns="0" rIns="0" bIns="0" rtlCol="0"/>
          <a:lstStyle/>
          <a:p>
            <a:endParaRPr/>
          </a:p>
        </p:txBody>
      </p:sp>
      <p:sp>
        <p:nvSpPr>
          <p:cNvPr id="3" name="object 3">
            <a:extLst>
              <a:ext uri="{C183D7F6-B498-43B3-948B-1728B52AA6E4}">
                <adec:decorative xmlns:adec="http://schemas.microsoft.com/office/drawing/2017/decorative" val="1"/>
              </a:ext>
            </a:extLst>
          </p:cNvPr>
          <p:cNvSpPr/>
          <p:nvPr/>
        </p:nvSpPr>
        <p:spPr>
          <a:xfrm>
            <a:off x="422182" y="4669172"/>
            <a:ext cx="9055098" cy="3169831"/>
          </a:xfrm>
          <a:prstGeom prst="rect">
            <a:avLst/>
          </a:prstGeom>
          <a:blipFill>
            <a:blip r:embed="rId3" cstate="print"/>
            <a:stretch>
              <a:fillRect/>
            </a:stretch>
          </a:blip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508018" y="5207001"/>
            <a:ext cx="8775700" cy="2438400"/>
          </a:xfrm>
          <a:custGeom>
            <a:avLst/>
            <a:gdLst/>
            <a:ahLst/>
            <a:cxnLst/>
            <a:rect l="l" t="t" r="r" b="b"/>
            <a:pathLst>
              <a:path w="8775700" h="2438400">
                <a:moveTo>
                  <a:pt x="8521697" y="0"/>
                </a:moveTo>
                <a:lnTo>
                  <a:pt x="253999" y="0"/>
                </a:lnTo>
                <a:lnTo>
                  <a:pt x="208342" y="4091"/>
                </a:lnTo>
                <a:lnTo>
                  <a:pt x="165371" y="15890"/>
                </a:lnTo>
                <a:lnTo>
                  <a:pt x="125800" y="34677"/>
                </a:lnTo>
                <a:lnTo>
                  <a:pt x="90350" y="59735"/>
                </a:lnTo>
                <a:lnTo>
                  <a:pt x="59736" y="90349"/>
                </a:lnTo>
                <a:lnTo>
                  <a:pt x="34677" y="125798"/>
                </a:lnTo>
                <a:lnTo>
                  <a:pt x="15889" y="165369"/>
                </a:lnTo>
                <a:lnTo>
                  <a:pt x="4092" y="208342"/>
                </a:lnTo>
                <a:lnTo>
                  <a:pt x="0" y="254000"/>
                </a:lnTo>
                <a:lnTo>
                  <a:pt x="0" y="2184400"/>
                </a:lnTo>
                <a:lnTo>
                  <a:pt x="4092" y="2230057"/>
                </a:lnTo>
                <a:lnTo>
                  <a:pt x="15889" y="2273029"/>
                </a:lnTo>
                <a:lnTo>
                  <a:pt x="34677" y="2312600"/>
                </a:lnTo>
                <a:lnTo>
                  <a:pt x="59736" y="2348049"/>
                </a:lnTo>
                <a:lnTo>
                  <a:pt x="90350" y="2378663"/>
                </a:lnTo>
                <a:lnTo>
                  <a:pt x="125800" y="2403721"/>
                </a:lnTo>
                <a:lnTo>
                  <a:pt x="165371" y="2422508"/>
                </a:lnTo>
                <a:lnTo>
                  <a:pt x="208342" y="2434308"/>
                </a:lnTo>
                <a:lnTo>
                  <a:pt x="253999" y="2438400"/>
                </a:lnTo>
                <a:lnTo>
                  <a:pt x="8521697" y="2438400"/>
                </a:lnTo>
                <a:lnTo>
                  <a:pt x="8567354" y="2434308"/>
                </a:lnTo>
                <a:lnTo>
                  <a:pt x="8610327" y="2422508"/>
                </a:lnTo>
                <a:lnTo>
                  <a:pt x="8649897" y="2403721"/>
                </a:lnTo>
                <a:lnTo>
                  <a:pt x="8685347" y="2378663"/>
                </a:lnTo>
                <a:lnTo>
                  <a:pt x="8715960" y="2348049"/>
                </a:lnTo>
                <a:lnTo>
                  <a:pt x="8741020" y="2312600"/>
                </a:lnTo>
                <a:lnTo>
                  <a:pt x="8759807" y="2273029"/>
                </a:lnTo>
                <a:lnTo>
                  <a:pt x="8771604" y="2230057"/>
                </a:lnTo>
                <a:lnTo>
                  <a:pt x="8775697" y="2184400"/>
                </a:lnTo>
                <a:lnTo>
                  <a:pt x="8775697" y="254000"/>
                </a:lnTo>
                <a:lnTo>
                  <a:pt x="8771604" y="208342"/>
                </a:lnTo>
                <a:lnTo>
                  <a:pt x="8759807" y="165369"/>
                </a:lnTo>
                <a:lnTo>
                  <a:pt x="8741020" y="125798"/>
                </a:lnTo>
                <a:lnTo>
                  <a:pt x="8715960" y="90349"/>
                </a:lnTo>
                <a:lnTo>
                  <a:pt x="8685347" y="59735"/>
                </a:lnTo>
                <a:lnTo>
                  <a:pt x="8649897" y="34677"/>
                </a:lnTo>
                <a:lnTo>
                  <a:pt x="8610327" y="15890"/>
                </a:lnTo>
                <a:lnTo>
                  <a:pt x="8567354" y="4091"/>
                </a:lnTo>
                <a:lnTo>
                  <a:pt x="8521697" y="0"/>
                </a:lnTo>
                <a:close/>
              </a:path>
            </a:pathLst>
          </a:custGeom>
          <a:solidFill>
            <a:srgbClr val="000621"/>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933468" y="4766869"/>
            <a:ext cx="530860" cy="440690"/>
          </a:xfrm>
          <a:custGeom>
            <a:avLst/>
            <a:gdLst/>
            <a:ahLst/>
            <a:cxnLst/>
            <a:rect l="l" t="t" r="r" b="b"/>
            <a:pathLst>
              <a:path w="530860" h="440689">
                <a:moveTo>
                  <a:pt x="265510" y="0"/>
                </a:moveTo>
                <a:lnTo>
                  <a:pt x="0" y="440131"/>
                </a:lnTo>
                <a:lnTo>
                  <a:pt x="530617" y="440131"/>
                </a:lnTo>
                <a:lnTo>
                  <a:pt x="265510" y="0"/>
                </a:lnTo>
                <a:close/>
              </a:path>
            </a:pathLst>
          </a:custGeom>
          <a:solidFill>
            <a:srgbClr val="000621"/>
          </a:solidFill>
        </p:spPr>
        <p:txBody>
          <a:bodyPr wrap="square" lIns="0" tIns="0" rIns="0" bIns="0" rtlCol="0"/>
          <a:lstStyle/>
          <a:p>
            <a:endParaRPr/>
          </a:p>
        </p:txBody>
      </p:sp>
      <p:sp>
        <p:nvSpPr>
          <p:cNvPr id="6" name="object 6">
            <a:extLst>
              <a:ext uri="{C183D7F6-B498-43B3-948B-1728B52AA6E4}">
                <adec:decorative xmlns:adec="http://schemas.microsoft.com/office/drawing/2017/decorative" val="1"/>
              </a:ext>
            </a:extLst>
          </p:cNvPr>
          <p:cNvSpPr/>
          <p:nvPr/>
        </p:nvSpPr>
        <p:spPr>
          <a:xfrm>
            <a:off x="508018" y="4766866"/>
            <a:ext cx="8775700" cy="2879090"/>
          </a:xfrm>
          <a:custGeom>
            <a:avLst/>
            <a:gdLst/>
            <a:ahLst/>
            <a:cxnLst/>
            <a:rect l="l" t="t" r="r" b="b"/>
            <a:pathLst>
              <a:path w="8775700" h="2879090">
                <a:moveTo>
                  <a:pt x="690957" y="0"/>
                </a:moveTo>
                <a:lnTo>
                  <a:pt x="425449" y="440132"/>
                </a:lnTo>
                <a:lnTo>
                  <a:pt x="253999" y="440132"/>
                </a:lnTo>
                <a:lnTo>
                  <a:pt x="208342" y="444225"/>
                </a:lnTo>
                <a:lnTo>
                  <a:pt x="165370" y="456024"/>
                </a:lnTo>
                <a:lnTo>
                  <a:pt x="125800" y="474812"/>
                </a:lnTo>
                <a:lnTo>
                  <a:pt x="90350" y="499870"/>
                </a:lnTo>
                <a:lnTo>
                  <a:pt x="59736" y="530483"/>
                </a:lnTo>
                <a:lnTo>
                  <a:pt x="34677" y="565934"/>
                </a:lnTo>
                <a:lnTo>
                  <a:pt x="15890" y="605503"/>
                </a:lnTo>
                <a:lnTo>
                  <a:pt x="4091" y="648475"/>
                </a:lnTo>
                <a:lnTo>
                  <a:pt x="0" y="694132"/>
                </a:lnTo>
                <a:lnTo>
                  <a:pt x="0" y="2624532"/>
                </a:lnTo>
                <a:lnTo>
                  <a:pt x="4091" y="2670190"/>
                </a:lnTo>
                <a:lnTo>
                  <a:pt x="15890" y="2713163"/>
                </a:lnTo>
                <a:lnTo>
                  <a:pt x="34677" y="2752733"/>
                </a:lnTo>
                <a:lnTo>
                  <a:pt x="59736" y="2788183"/>
                </a:lnTo>
                <a:lnTo>
                  <a:pt x="90350" y="2818796"/>
                </a:lnTo>
                <a:lnTo>
                  <a:pt x="125800" y="2843855"/>
                </a:lnTo>
                <a:lnTo>
                  <a:pt x="165370" y="2862642"/>
                </a:lnTo>
                <a:lnTo>
                  <a:pt x="208342" y="2874440"/>
                </a:lnTo>
                <a:lnTo>
                  <a:pt x="253999" y="2878532"/>
                </a:lnTo>
                <a:lnTo>
                  <a:pt x="8521696" y="2878532"/>
                </a:lnTo>
                <a:lnTo>
                  <a:pt x="8567353" y="2874440"/>
                </a:lnTo>
                <a:lnTo>
                  <a:pt x="8610326" y="2862642"/>
                </a:lnTo>
                <a:lnTo>
                  <a:pt x="8649896" y="2843855"/>
                </a:lnTo>
                <a:lnTo>
                  <a:pt x="8685346" y="2818796"/>
                </a:lnTo>
                <a:lnTo>
                  <a:pt x="8715959" y="2788183"/>
                </a:lnTo>
                <a:lnTo>
                  <a:pt x="8741018" y="2752733"/>
                </a:lnTo>
                <a:lnTo>
                  <a:pt x="8759805" y="2713163"/>
                </a:lnTo>
                <a:lnTo>
                  <a:pt x="8771603" y="2670190"/>
                </a:lnTo>
                <a:lnTo>
                  <a:pt x="8775696" y="2624532"/>
                </a:lnTo>
                <a:lnTo>
                  <a:pt x="8775696" y="694132"/>
                </a:lnTo>
                <a:lnTo>
                  <a:pt x="8771603" y="648475"/>
                </a:lnTo>
                <a:lnTo>
                  <a:pt x="8759805" y="605503"/>
                </a:lnTo>
                <a:lnTo>
                  <a:pt x="8741018" y="565934"/>
                </a:lnTo>
                <a:lnTo>
                  <a:pt x="8715959" y="530483"/>
                </a:lnTo>
                <a:lnTo>
                  <a:pt x="8685346" y="499870"/>
                </a:lnTo>
                <a:lnTo>
                  <a:pt x="8649896" y="474812"/>
                </a:lnTo>
                <a:lnTo>
                  <a:pt x="8610326" y="456024"/>
                </a:lnTo>
                <a:lnTo>
                  <a:pt x="8567353" y="444225"/>
                </a:lnTo>
                <a:lnTo>
                  <a:pt x="8521696" y="440132"/>
                </a:lnTo>
                <a:lnTo>
                  <a:pt x="956071" y="440132"/>
                </a:lnTo>
                <a:lnTo>
                  <a:pt x="690957" y="0"/>
                </a:lnTo>
                <a:close/>
              </a:path>
            </a:pathLst>
          </a:custGeom>
          <a:ln w="25399">
            <a:solidFill>
              <a:srgbClr val="FFFFFF"/>
            </a:solidFill>
          </a:ln>
        </p:spPr>
        <p:txBody>
          <a:bodyPr wrap="square" lIns="0" tIns="0" rIns="0" bIns="0" rtlCol="0"/>
          <a:lstStyle/>
          <a:p>
            <a:endParaRPr/>
          </a:p>
        </p:txBody>
      </p:sp>
      <p:sp>
        <p:nvSpPr>
          <p:cNvPr id="7" name="object 7"/>
          <p:cNvSpPr txBox="1"/>
          <p:nvPr/>
        </p:nvSpPr>
        <p:spPr>
          <a:xfrm>
            <a:off x="757190" y="5659956"/>
            <a:ext cx="8268970" cy="1508760"/>
          </a:xfrm>
          <a:prstGeom prst="rect">
            <a:avLst/>
          </a:prstGeom>
        </p:spPr>
        <p:txBody>
          <a:bodyPr vert="horz" wrap="square" lIns="0" tIns="58419" rIns="0" bIns="0" rtlCol="0">
            <a:spAutoFit/>
          </a:bodyPr>
          <a:lstStyle/>
          <a:p>
            <a:pPr marL="12065" marR="5080" algn="ctr">
              <a:lnSpc>
                <a:spcPts val="3800"/>
              </a:lnSpc>
              <a:spcBef>
                <a:spcPts val="459"/>
              </a:spcBef>
            </a:pPr>
            <a:r>
              <a:rPr sz="3400" i="1" spc="-5" dirty="0">
                <a:solidFill>
                  <a:srgbClr val="FFFFFF"/>
                </a:solidFill>
                <a:latin typeface="Georgia"/>
                <a:cs typeface="Georgia"/>
              </a:rPr>
              <a:t>Here </a:t>
            </a:r>
            <a:r>
              <a:rPr sz="3400" i="1" spc="-10" dirty="0">
                <a:solidFill>
                  <a:srgbClr val="FFFFFF"/>
                </a:solidFill>
                <a:latin typeface="Georgia"/>
                <a:cs typeface="Georgia"/>
              </a:rPr>
              <a:t>the </a:t>
            </a:r>
            <a:r>
              <a:rPr sz="3400" i="1" spc="-5" dirty="0">
                <a:solidFill>
                  <a:srgbClr val="FFFFFF"/>
                </a:solidFill>
                <a:latin typeface="Georgia"/>
                <a:cs typeface="Georgia"/>
              </a:rPr>
              <a:t>image has been set to </a:t>
            </a:r>
            <a:r>
              <a:rPr sz="3400" i="1" dirty="0">
                <a:solidFill>
                  <a:srgbClr val="FFFFFF"/>
                </a:solidFill>
                <a:latin typeface="Georgia"/>
                <a:cs typeface="Georgia"/>
              </a:rPr>
              <a:t>have a</a:t>
            </a:r>
            <a:r>
              <a:rPr sz="3400" i="1" spc="-165" dirty="0">
                <a:solidFill>
                  <a:srgbClr val="FFFFFF"/>
                </a:solidFill>
                <a:latin typeface="Georgia"/>
                <a:cs typeface="Georgia"/>
              </a:rPr>
              <a:t> </a:t>
            </a:r>
            <a:r>
              <a:rPr sz="3400" i="1" spc="-5" dirty="0">
                <a:solidFill>
                  <a:srgbClr val="FFFFFF"/>
                </a:solidFill>
                <a:latin typeface="Georgia"/>
                <a:cs typeface="Georgia"/>
              </a:rPr>
              <a:t>float  of left. </a:t>
            </a:r>
            <a:r>
              <a:rPr sz="3400" i="1" dirty="0">
                <a:solidFill>
                  <a:srgbClr val="FFFFFF"/>
                </a:solidFill>
                <a:latin typeface="Georgia"/>
                <a:cs typeface="Georgia"/>
              </a:rPr>
              <a:t>The text </a:t>
            </a:r>
            <a:r>
              <a:rPr sz="3400" i="1" spc="-5" dirty="0">
                <a:solidFill>
                  <a:srgbClr val="FFFFFF"/>
                </a:solidFill>
                <a:latin typeface="Georgia"/>
                <a:cs typeface="Georgia"/>
              </a:rPr>
              <a:t>flows down </a:t>
            </a:r>
            <a:r>
              <a:rPr sz="3400" i="1" dirty="0">
                <a:solidFill>
                  <a:srgbClr val="FFFFFF"/>
                </a:solidFill>
                <a:latin typeface="Georgia"/>
                <a:cs typeface="Georgia"/>
              </a:rPr>
              <a:t>the </a:t>
            </a:r>
            <a:r>
              <a:rPr sz="3400" i="1" spc="-5" dirty="0">
                <a:solidFill>
                  <a:srgbClr val="FFFFFF"/>
                </a:solidFill>
                <a:latin typeface="Georgia"/>
                <a:cs typeface="Georgia"/>
              </a:rPr>
              <a:t>right </a:t>
            </a:r>
            <a:r>
              <a:rPr sz="3400" i="1" spc="-10" dirty="0">
                <a:solidFill>
                  <a:srgbClr val="FFFFFF"/>
                </a:solidFill>
                <a:latin typeface="Georgia"/>
                <a:cs typeface="Georgia"/>
              </a:rPr>
              <a:t>hand  </a:t>
            </a:r>
            <a:r>
              <a:rPr sz="3400" i="1" dirty="0">
                <a:solidFill>
                  <a:srgbClr val="FFFFFF"/>
                </a:solidFill>
                <a:latin typeface="Georgia"/>
                <a:cs typeface="Georgia"/>
              </a:rPr>
              <a:t>side of </a:t>
            </a:r>
            <a:r>
              <a:rPr sz="3400" i="1" spc="-5" dirty="0">
                <a:solidFill>
                  <a:srgbClr val="FFFFFF"/>
                </a:solidFill>
                <a:latin typeface="Georgia"/>
                <a:cs typeface="Georgia"/>
              </a:rPr>
              <a:t>the</a:t>
            </a:r>
            <a:r>
              <a:rPr sz="3400" i="1" spc="-114" dirty="0">
                <a:solidFill>
                  <a:srgbClr val="FFFFFF"/>
                </a:solidFill>
                <a:latin typeface="Georgia"/>
                <a:cs typeface="Georgia"/>
              </a:rPr>
              <a:t> </a:t>
            </a:r>
            <a:r>
              <a:rPr sz="3400" i="1" spc="-10" dirty="0">
                <a:solidFill>
                  <a:srgbClr val="FFFFFF"/>
                </a:solidFill>
                <a:latin typeface="Georgia"/>
                <a:cs typeface="Georgia"/>
              </a:rPr>
              <a:t>image.</a:t>
            </a:r>
            <a:endParaRPr sz="3400">
              <a:latin typeface="Georgia"/>
              <a:cs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3647440" cy="665480"/>
          </a:xfrm>
          <a:prstGeom prst="rect">
            <a:avLst/>
          </a:prstGeom>
        </p:spPr>
        <p:txBody>
          <a:bodyPr vert="horz" wrap="square" lIns="0" tIns="12700" rIns="0" bIns="0" rtlCol="0">
            <a:spAutoFit/>
          </a:bodyPr>
          <a:lstStyle/>
          <a:p>
            <a:pPr marL="12700">
              <a:lnSpc>
                <a:spcPct val="100000"/>
              </a:lnSpc>
              <a:spcBef>
                <a:spcPts val="100"/>
              </a:spcBef>
            </a:pPr>
            <a:r>
              <a:rPr sz="4200" b="0" spc="-65" dirty="0">
                <a:solidFill>
                  <a:srgbClr val="000000"/>
                </a:solidFill>
                <a:latin typeface="Arial"/>
                <a:cs typeface="Arial"/>
              </a:rPr>
              <a:t>Other</a:t>
            </a:r>
            <a:r>
              <a:rPr sz="4200" b="0" spc="-245" dirty="0">
                <a:solidFill>
                  <a:srgbClr val="000000"/>
                </a:solidFill>
                <a:latin typeface="Arial"/>
                <a:cs typeface="Arial"/>
              </a:rPr>
              <a:t> </a:t>
            </a:r>
            <a:r>
              <a:rPr sz="4200" b="0" spc="-85" dirty="0">
                <a:solidFill>
                  <a:srgbClr val="000000"/>
                </a:solidFill>
                <a:latin typeface="Arial"/>
                <a:cs typeface="Arial"/>
              </a:rPr>
              <a:t>Changes.</a:t>
            </a:r>
            <a:endParaRPr sz="4200" dirty="0">
              <a:latin typeface="Arial"/>
              <a:cs typeface="Arial"/>
            </a:endParaRPr>
          </a:p>
        </p:txBody>
      </p:sp>
      <p:sp>
        <p:nvSpPr>
          <p:cNvPr id="4" name="object 4"/>
          <p:cNvSpPr txBox="1"/>
          <p:nvPr/>
        </p:nvSpPr>
        <p:spPr>
          <a:xfrm>
            <a:off x="596900" y="2357105"/>
            <a:ext cx="11722735" cy="5735032"/>
          </a:xfrm>
          <a:prstGeom prst="rect">
            <a:avLst/>
          </a:prstGeom>
        </p:spPr>
        <p:txBody>
          <a:bodyPr vert="horz" wrap="square" lIns="0" tIns="1905" rIns="0" bIns="0" rtlCol="0">
            <a:spAutoFit/>
          </a:bodyPr>
          <a:lstStyle/>
          <a:p>
            <a:pPr marL="355600" marR="5080" indent="-342900">
              <a:lnSpc>
                <a:spcPct val="150000"/>
              </a:lnSpc>
              <a:spcBef>
                <a:spcPts val="15"/>
              </a:spcBef>
              <a:buClr>
                <a:srgbClr val="747474"/>
              </a:buClr>
              <a:buSzPct val="96153"/>
              <a:buFont typeface="Arial" panose="020B0604020202020204" pitchFamily="34" charset="0"/>
              <a:buChar char="•"/>
              <a:tabLst>
                <a:tab pos="186690" algn="l"/>
              </a:tabLst>
            </a:pPr>
            <a:r>
              <a:rPr sz="2800" dirty="0">
                <a:latin typeface="Helvetica Neue Light" panose="02000403000000020004" pitchFamily="2" charset="0"/>
                <a:ea typeface="Helvetica Neue Light" panose="02000403000000020004" pitchFamily="2" charset="0"/>
              </a:rPr>
              <a:t>The text looks a bit cramped up against the image, so it would be nice to give  it some breathing space. To do this, we need to add a margin to the image,</a:t>
            </a:r>
            <a:r>
              <a:rPr lang="en-GB" sz="2800" dirty="0">
                <a:latin typeface="Helvetica Neue Light" panose="02000403000000020004" pitchFamily="2" charset="0"/>
                <a:ea typeface="Helvetica Neue Light" panose="02000403000000020004" pitchFamily="2" charset="0"/>
              </a:rPr>
              <a:t> </a:t>
            </a:r>
            <a:r>
              <a:rPr sz="2800" dirty="0">
                <a:latin typeface="Helvetica Neue Light" panose="02000403000000020004" pitchFamily="2" charset="0"/>
                <a:ea typeface="Helvetica Neue Light" panose="02000403000000020004" pitchFamily="2" charset="0"/>
              </a:rPr>
              <a:t>which pushes the text content away from the image.</a:t>
            </a:r>
            <a:endParaRPr lang="en-GB" sz="2800" dirty="0">
              <a:latin typeface="Helvetica Neue Light" panose="02000403000000020004" pitchFamily="2" charset="0"/>
              <a:ea typeface="Helvetica Neue Light" panose="02000403000000020004" pitchFamily="2" charset="0"/>
            </a:endParaRPr>
          </a:p>
          <a:p>
            <a:pPr marL="355600" marR="5080" indent="-342900">
              <a:lnSpc>
                <a:spcPct val="150000"/>
              </a:lnSpc>
              <a:spcBef>
                <a:spcPts val="15"/>
              </a:spcBef>
              <a:buClr>
                <a:srgbClr val="747474"/>
              </a:buClr>
              <a:buSzPct val="96153"/>
              <a:buFont typeface="Arial" panose="020B0604020202020204" pitchFamily="34" charset="0"/>
              <a:buChar char="•"/>
              <a:tabLst>
                <a:tab pos="186690" algn="l"/>
              </a:tabLst>
            </a:pPr>
            <a:r>
              <a:rPr sz="2800" dirty="0">
                <a:latin typeface="Helvetica Neue Light" panose="02000403000000020004" pitchFamily="2" charset="0"/>
                <a:ea typeface="Helvetica Neue Light" panose="02000403000000020004" pitchFamily="2" charset="0"/>
              </a:rPr>
              <a:t>Remember, the box model applies to each element - so even though the  image is not part of the normal document flow any more, it still has the  same properties as any other element.</a:t>
            </a:r>
            <a:endParaRPr lang="en-GB" sz="2800" dirty="0">
              <a:latin typeface="Helvetica Neue Light" panose="02000403000000020004" pitchFamily="2" charset="0"/>
              <a:ea typeface="Helvetica Neue Light" panose="02000403000000020004" pitchFamily="2" charset="0"/>
            </a:endParaRPr>
          </a:p>
          <a:p>
            <a:pPr marL="355600" marR="5080" indent="-342900">
              <a:lnSpc>
                <a:spcPct val="150000"/>
              </a:lnSpc>
              <a:spcBef>
                <a:spcPts val="15"/>
              </a:spcBef>
              <a:buClr>
                <a:srgbClr val="747474"/>
              </a:buClr>
              <a:buSzPct val="96153"/>
              <a:buFont typeface="Arial" panose="020B0604020202020204" pitchFamily="34" charset="0"/>
              <a:buChar char="•"/>
              <a:tabLst>
                <a:tab pos="186690" algn="l"/>
              </a:tabLst>
            </a:pPr>
            <a:r>
              <a:rPr sz="2800" dirty="0">
                <a:latin typeface="Helvetica Neue Light" panose="02000403000000020004" pitchFamily="2" charset="0"/>
                <a:ea typeface="Helvetica Neue Light" panose="02000403000000020004" pitchFamily="2" charset="0"/>
              </a:rPr>
              <a:t>We can also set the text to have a width of slightly less than the containing  area.</a:t>
            </a:r>
            <a:endParaRPr lang="en-GB" sz="2800" dirty="0">
              <a:latin typeface="Helvetica Neue Light" panose="02000403000000020004" pitchFamily="2" charset="0"/>
              <a:ea typeface="Helvetica Neue Light" panose="02000403000000020004" pitchFamily="2" charset="0"/>
            </a:endParaRPr>
          </a:p>
          <a:p>
            <a:pPr marL="355600" marR="5080" indent="-342900">
              <a:lnSpc>
                <a:spcPct val="150000"/>
              </a:lnSpc>
              <a:spcBef>
                <a:spcPts val="15"/>
              </a:spcBef>
              <a:buClr>
                <a:srgbClr val="747474"/>
              </a:buClr>
              <a:buSzPct val="96153"/>
              <a:buFont typeface="Arial" panose="020B0604020202020204" pitchFamily="34" charset="0"/>
              <a:buChar char="•"/>
              <a:tabLst>
                <a:tab pos="186690" algn="l"/>
              </a:tabLst>
            </a:pPr>
            <a:r>
              <a:rPr sz="2800" dirty="0">
                <a:latin typeface="Helvetica Neue Light" panose="02000403000000020004" pitchFamily="2" charset="0"/>
                <a:ea typeface="Helvetica Neue Light" panose="02000403000000020004" pitchFamily="2" charset="0"/>
              </a:rPr>
              <a:t>If we do this, we have a slight issue: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1"/>
            <a:ext cx="13004800" cy="9753597"/>
          </a:xfrm>
          <a:prstGeom prst="rect">
            <a:avLst/>
          </a:prstGeom>
          <a:blipFill>
            <a:blip r:embed="rId2" cstate="print"/>
            <a:stretch>
              <a:fillRect/>
            </a:stretch>
          </a:blipFill>
        </p:spPr>
        <p:txBody>
          <a:bodyPr wrap="square" lIns="0" tIns="0" rIns="0" bIns="0" rtlCol="0"/>
          <a:lstStyle/>
          <a:p>
            <a:endParaRPr/>
          </a:p>
        </p:txBody>
      </p:sp>
      <p:sp>
        <p:nvSpPr>
          <p:cNvPr id="3" name="object 3">
            <a:extLst>
              <a:ext uri="{C183D7F6-B498-43B3-948B-1728B52AA6E4}">
                <adec:decorative xmlns:adec="http://schemas.microsoft.com/office/drawing/2017/decorative" val="1"/>
              </a:ext>
            </a:extLst>
          </p:cNvPr>
          <p:cNvSpPr/>
          <p:nvPr/>
        </p:nvSpPr>
        <p:spPr>
          <a:xfrm>
            <a:off x="523781" y="5215267"/>
            <a:ext cx="9055098" cy="4236630"/>
          </a:xfrm>
          <a:prstGeom prst="rect">
            <a:avLst/>
          </a:prstGeom>
          <a:blipFill>
            <a:blip r:embed="rId3" cstate="print"/>
            <a:stretch>
              <a:fillRect/>
            </a:stretch>
          </a:blip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609619" y="5753098"/>
            <a:ext cx="8775700" cy="3505200"/>
          </a:xfrm>
          <a:custGeom>
            <a:avLst/>
            <a:gdLst/>
            <a:ahLst/>
            <a:cxnLst/>
            <a:rect l="l" t="t" r="r" b="b"/>
            <a:pathLst>
              <a:path w="8775700" h="3505200">
                <a:moveTo>
                  <a:pt x="8521697" y="0"/>
                </a:moveTo>
                <a:lnTo>
                  <a:pt x="253999" y="0"/>
                </a:lnTo>
                <a:lnTo>
                  <a:pt x="208342" y="4091"/>
                </a:lnTo>
                <a:lnTo>
                  <a:pt x="165370" y="15890"/>
                </a:lnTo>
                <a:lnTo>
                  <a:pt x="125800" y="34677"/>
                </a:lnTo>
                <a:lnTo>
                  <a:pt x="90350" y="59736"/>
                </a:lnTo>
                <a:lnTo>
                  <a:pt x="59736" y="90349"/>
                </a:lnTo>
                <a:lnTo>
                  <a:pt x="34677" y="125799"/>
                </a:lnTo>
                <a:lnTo>
                  <a:pt x="15889" y="165369"/>
                </a:lnTo>
                <a:lnTo>
                  <a:pt x="4091" y="208342"/>
                </a:lnTo>
                <a:lnTo>
                  <a:pt x="0" y="254000"/>
                </a:lnTo>
                <a:lnTo>
                  <a:pt x="0" y="3251199"/>
                </a:lnTo>
                <a:lnTo>
                  <a:pt x="4091" y="3296857"/>
                </a:lnTo>
                <a:lnTo>
                  <a:pt x="15889" y="3339828"/>
                </a:lnTo>
                <a:lnTo>
                  <a:pt x="34677" y="3379397"/>
                </a:lnTo>
                <a:lnTo>
                  <a:pt x="59736" y="3414848"/>
                </a:lnTo>
                <a:lnTo>
                  <a:pt x="90350" y="3445461"/>
                </a:lnTo>
                <a:lnTo>
                  <a:pt x="125800" y="3470520"/>
                </a:lnTo>
                <a:lnTo>
                  <a:pt x="165370" y="3489308"/>
                </a:lnTo>
                <a:lnTo>
                  <a:pt x="208342" y="3501106"/>
                </a:lnTo>
                <a:lnTo>
                  <a:pt x="253999" y="3505199"/>
                </a:lnTo>
                <a:lnTo>
                  <a:pt x="8521697" y="3505199"/>
                </a:lnTo>
                <a:lnTo>
                  <a:pt x="8567354" y="3501106"/>
                </a:lnTo>
                <a:lnTo>
                  <a:pt x="8610327" y="3489308"/>
                </a:lnTo>
                <a:lnTo>
                  <a:pt x="8649897" y="3470520"/>
                </a:lnTo>
                <a:lnTo>
                  <a:pt x="8685347" y="3445461"/>
                </a:lnTo>
                <a:lnTo>
                  <a:pt x="8715960" y="3414848"/>
                </a:lnTo>
                <a:lnTo>
                  <a:pt x="8741019" y="3379397"/>
                </a:lnTo>
                <a:lnTo>
                  <a:pt x="8759806" y="3339828"/>
                </a:lnTo>
                <a:lnTo>
                  <a:pt x="8771604" y="3296857"/>
                </a:lnTo>
                <a:lnTo>
                  <a:pt x="8775696" y="3251199"/>
                </a:lnTo>
                <a:lnTo>
                  <a:pt x="8775696" y="254000"/>
                </a:lnTo>
                <a:lnTo>
                  <a:pt x="8771604" y="208342"/>
                </a:lnTo>
                <a:lnTo>
                  <a:pt x="8759806" y="165369"/>
                </a:lnTo>
                <a:lnTo>
                  <a:pt x="8741019" y="125799"/>
                </a:lnTo>
                <a:lnTo>
                  <a:pt x="8715960" y="90349"/>
                </a:lnTo>
                <a:lnTo>
                  <a:pt x="8685347" y="59736"/>
                </a:lnTo>
                <a:lnTo>
                  <a:pt x="8649897" y="34677"/>
                </a:lnTo>
                <a:lnTo>
                  <a:pt x="8610327" y="15890"/>
                </a:lnTo>
                <a:lnTo>
                  <a:pt x="8567354" y="4091"/>
                </a:lnTo>
                <a:lnTo>
                  <a:pt x="8521697" y="0"/>
                </a:lnTo>
                <a:close/>
              </a:path>
            </a:pathLst>
          </a:custGeom>
          <a:solidFill>
            <a:srgbClr val="000621"/>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1035069" y="5312968"/>
            <a:ext cx="530860" cy="440690"/>
          </a:xfrm>
          <a:custGeom>
            <a:avLst/>
            <a:gdLst/>
            <a:ahLst/>
            <a:cxnLst/>
            <a:rect l="l" t="t" r="r" b="b"/>
            <a:pathLst>
              <a:path w="530860" h="440689">
                <a:moveTo>
                  <a:pt x="265505" y="0"/>
                </a:moveTo>
                <a:lnTo>
                  <a:pt x="0" y="440129"/>
                </a:lnTo>
                <a:lnTo>
                  <a:pt x="530617" y="440129"/>
                </a:lnTo>
                <a:lnTo>
                  <a:pt x="265505" y="0"/>
                </a:lnTo>
                <a:close/>
              </a:path>
            </a:pathLst>
          </a:custGeom>
          <a:solidFill>
            <a:srgbClr val="000621"/>
          </a:solidFill>
        </p:spPr>
        <p:txBody>
          <a:bodyPr wrap="square" lIns="0" tIns="0" rIns="0" bIns="0" rtlCol="0"/>
          <a:lstStyle/>
          <a:p>
            <a:endParaRPr/>
          </a:p>
        </p:txBody>
      </p:sp>
      <p:sp>
        <p:nvSpPr>
          <p:cNvPr id="6" name="object 6">
            <a:extLst>
              <a:ext uri="{C183D7F6-B498-43B3-948B-1728B52AA6E4}">
                <adec:decorative xmlns:adec="http://schemas.microsoft.com/office/drawing/2017/decorative" val="1"/>
              </a:ext>
            </a:extLst>
          </p:cNvPr>
          <p:cNvSpPr/>
          <p:nvPr/>
        </p:nvSpPr>
        <p:spPr>
          <a:xfrm>
            <a:off x="609619" y="5312969"/>
            <a:ext cx="8775700" cy="3945890"/>
          </a:xfrm>
          <a:custGeom>
            <a:avLst/>
            <a:gdLst/>
            <a:ahLst/>
            <a:cxnLst/>
            <a:rect l="l" t="t" r="r" b="b"/>
            <a:pathLst>
              <a:path w="8775700" h="3945890">
                <a:moveTo>
                  <a:pt x="690957" y="0"/>
                </a:moveTo>
                <a:lnTo>
                  <a:pt x="425449" y="440132"/>
                </a:lnTo>
                <a:lnTo>
                  <a:pt x="253999" y="440132"/>
                </a:lnTo>
                <a:lnTo>
                  <a:pt x="208342" y="444225"/>
                </a:lnTo>
                <a:lnTo>
                  <a:pt x="165370" y="456024"/>
                </a:lnTo>
                <a:lnTo>
                  <a:pt x="125800" y="474812"/>
                </a:lnTo>
                <a:lnTo>
                  <a:pt x="90350" y="499871"/>
                </a:lnTo>
                <a:lnTo>
                  <a:pt x="59736" y="530483"/>
                </a:lnTo>
                <a:lnTo>
                  <a:pt x="34677" y="565934"/>
                </a:lnTo>
                <a:lnTo>
                  <a:pt x="15890" y="605503"/>
                </a:lnTo>
                <a:lnTo>
                  <a:pt x="4091" y="648475"/>
                </a:lnTo>
                <a:lnTo>
                  <a:pt x="0" y="694132"/>
                </a:lnTo>
                <a:lnTo>
                  <a:pt x="0" y="3691331"/>
                </a:lnTo>
                <a:lnTo>
                  <a:pt x="4091" y="3736989"/>
                </a:lnTo>
                <a:lnTo>
                  <a:pt x="15890" y="3779962"/>
                </a:lnTo>
                <a:lnTo>
                  <a:pt x="34677" y="3819532"/>
                </a:lnTo>
                <a:lnTo>
                  <a:pt x="59736" y="3854982"/>
                </a:lnTo>
                <a:lnTo>
                  <a:pt x="90350" y="3885595"/>
                </a:lnTo>
                <a:lnTo>
                  <a:pt x="125800" y="3910654"/>
                </a:lnTo>
                <a:lnTo>
                  <a:pt x="165370" y="3929441"/>
                </a:lnTo>
                <a:lnTo>
                  <a:pt x="208342" y="3941239"/>
                </a:lnTo>
                <a:lnTo>
                  <a:pt x="253999" y="3945331"/>
                </a:lnTo>
                <a:lnTo>
                  <a:pt x="8521696" y="3945331"/>
                </a:lnTo>
                <a:lnTo>
                  <a:pt x="8567353" y="3941239"/>
                </a:lnTo>
                <a:lnTo>
                  <a:pt x="8610326" y="3929441"/>
                </a:lnTo>
                <a:lnTo>
                  <a:pt x="8649896" y="3910654"/>
                </a:lnTo>
                <a:lnTo>
                  <a:pt x="8685346" y="3885595"/>
                </a:lnTo>
                <a:lnTo>
                  <a:pt x="8715959" y="3854982"/>
                </a:lnTo>
                <a:lnTo>
                  <a:pt x="8741018" y="3819532"/>
                </a:lnTo>
                <a:lnTo>
                  <a:pt x="8759805" y="3779962"/>
                </a:lnTo>
                <a:lnTo>
                  <a:pt x="8771603" y="3736989"/>
                </a:lnTo>
                <a:lnTo>
                  <a:pt x="8775695" y="3691331"/>
                </a:lnTo>
                <a:lnTo>
                  <a:pt x="8775695" y="694132"/>
                </a:lnTo>
                <a:lnTo>
                  <a:pt x="8771603" y="648475"/>
                </a:lnTo>
                <a:lnTo>
                  <a:pt x="8759805" y="605503"/>
                </a:lnTo>
                <a:lnTo>
                  <a:pt x="8741018" y="565934"/>
                </a:lnTo>
                <a:lnTo>
                  <a:pt x="8715959" y="530483"/>
                </a:lnTo>
                <a:lnTo>
                  <a:pt x="8685346" y="499871"/>
                </a:lnTo>
                <a:lnTo>
                  <a:pt x="8649896" y="474812"/>
                </a:lnTo>
                <a:lnTo>
                  <a:pt x="8610326" y="456024"/>
                </a:lnTo>
                <a:lnTo>
                  <a:pt x="8567353" y="444225"/>
                </a:lnTo>
                <a:lnTo>
                  <a:pt x="8521696" y="440132"/>
                </a:lnTo>
                <a:lnTo>
                  <a:pt x="956071" y="440132"/>
                </a:lnTo>
                <a:lnTo>
                  <a:pt x="690957" y="0"/>
                </a:lnTo>
                <a:close/>
              </a:path>
            </a:pathLst>
          </a:custGeom>
          <a:ln w="25398">
            <a:solidFill>
              <a:srgbClr val="FFFFFF"/>
            </a:solidFill>
          </a:ln>
        </p:spPr>
        <p:txBody>
          <a:bodyPr wrap="square" lIns="0" tIns="0" rIns="0" bIns="0" rtlCol="0"/>
          <a:lstStyle/>
          <a:p>
            <a:endParaRPr/>
          </a:p>
        </p:txBody>
      </p:sp>
      <p:sp>
        <p:nvSpPr>
          <p:cNvPr id="7" name="object 7"/>
          <p:cNvSpPr txBox="1"/>
          <p:nvPr/>
        </p:nvSpPr>
        <p:spPr>
          <a:xfrm>
            <a:off x="910369" y="6012950"/>
            <a:ext cx="8162290" cy="2956560"/>
          </a:xfrm>
          <a:prstGeom prst="rect">
            <a:avLst/>
          </a:prstGeom>
        </p:spPr>
        <p:txBody>
          <a:bodyPr vert="horz" wrap="square" lIns="0" tIns="58419" rIns="0" bIns="0" rtlCol="0">
            <a:spAutoFit/>
          </a:bodyPr>
          <a:lstStyle/>
          <a:p>
            <a:pPr marL="12700" marR="5080" indent="635" algn="ctr">
              <a:lnSpc>
                <a:spcPts val="3800"/>
              </a:lnSpc>
              <a:spcBef>
                <a:spcPts val="459"/>
              </a:spcBef>
            </a:pPr>
            <a:r>
              <a:rPr sz="3400" i="1" spc="-5" dirty="0">
                <a:solidFill>
                  <a:srgbClr val="FFFFFF"/>
                </a:solidFill>
                <a:latin typeface="Georgia"/>
                <a:cs typeface="Georgia"/>
              </a:rPr>
              <a:t>Our image and </a:t>
            </a:r>
            <a:r>
              <a:rPr sz="3400" i="1" dirty="0">
                <a:solidFill>
                  <a:srgbClr val="FFFFFF"/>
                </a:solidFill>
                <a:latin typeface="Georgia"/>
                <a:cs typeface="Georgia"/>
              </a:rPr>
              <a:t>text </a:t>
            </a:r>
            <a:r>
              <a:rPr sz="3400" i="1" spc="-5" dirty="0">
                <a:solidFill>
                  <a:srgbClr val="FFFFFF"/>
                </a:solidFill>
                <a:latin typeface="Georgia"/>
                <a:cs typeface="Georgia"/>
              </a:rPr>
              <a:t>are </a:t>
            </a:r>
            <a:r>
              <a:rPr sz="3400" i="1" dirty="0">
                <a:solidFill>
                  <a:srgbClr val="FFFFFF"/>
                </a:solidFill>
                <a:latin typeface="Georgia"/>
                <a:cs typeface="Georgia"/>
              </a:rPr>
              <a:t>a </a:t>
            </a:r>
            <a:r>
              <a:rPr sz="3400" i="1" spc="-5" dirty="0">
                <a:solidFill>
                  <a:srgbClr val="FFFFFF"/>
                </a:solidFill>
                <a:latin typeface="Georgia"/>
                <a:cs typeface="Georgia"/>
              </a:rPr>
              <a:t>bit better but </a:t>
            </a:r>
            <a:r>
              <a:rPr sz="3400" i="1" dirty="0">
                <a:solidFill>
                  <a:srgbClr val="FFFFFF"/>
                </a:solidFill>
                <a:latin typeface="Georgia"/>
                <a:cs typeface="Georgia"/>
              </a:rPr>
              <a:t>I  </a:t>
            </a:r>
            <a:r>
              <a:rPr sz="3400" i="1" spc="-5" dirty="0">
                <a:solidFill>
                  <a:srgbClr val="FFFFFF"/>
                </a:solidFill>
                <a:latin typeface="Georgia"/>
                <a:cs typeface="Georgia"/>
              </a:rPr>
              <a:t>want </a:t>
            </a:r>
            <a:r>
              <a:rPr sz="3400" i="1" dirty="0">
                <a:solidFill>
                  <a:srgbClr val="FFFFFF"/>
                </a:solidFill>
                <a:latin typeface="Georgia"/>
                <a:cs typeface="Georgia"/>
              </a:rPr>
              <a:t>the text to </a:t>
            </a:r>
            <a:r>
              <a:rPr sz="3400" i="1" spc="-5" dirty="0">
                <a:solidFill>
                  <a:srgbClr val="FFFFFF"/>
                </a:solidFill>
                <a:latin typeface="Georgia"/>
                <a:cs typeface="Georgia"/>
              </a:rPr>
              <a:t>flow down </a:t>
            </a:r>
            <a:r>
              <a:rPr sz="3400" i="1" dirty="0">
                <a:solidFill>
                  <a:srgbClr val="FFFFFF"/>
                </a:solidFill>
                <a:latin typeface="Georgia"/>
                <a:cs typeface="Georgia"/>
              </a:rPr>
              <a:t>the </a:t>
            </a:r>
            <a:r>
              <a:rPr sz="3400" i="1" spc="-5" dirty="0">
                <a:solidFill>
                  <a:srgbClr val="FFFFFF"/>
                </a:solidFill>
                <a:latin typeface="Georgia"/>
                <a:cs typeface="Georgia"/>
              </a:rPr>
              <a:t>outside of  the image in </a:t>
            </a:r>
            <a:r>
              <a:rPr sz="3400" i="1" dirty="0">
                <a:solidFill>
                  <a:srgbClr val="FFFFFF"/>
                </a:solidFill>
                <a:latin typeface="Georgia"/>
                <a:cs typeface="Georgia"/>
              </a:rPr>
              <a:t>a </a:t>
            </a:r>
            <a:r>
              <a:rPr sz="3400" i="1" spc="-5" dirty="0">
                <a:solidFill>
                  <a:srgbClr val="FFFFFF"/>
                </a:solidFill>
                <a:latin typeface="Georgia"/>
                <a:cs typeface="Georgia"/>
              </a:rPr>
              <a:t>straight line </a:t>
            </a:r>
            <a:r>
              <a:rPr sz="3400" i="1" dirty="0">
                <a:solidFill>
                  <a:srgbClr val="FFFFFF"/>
                </a:solidFill>
                <a:latin typeface="Georgia"/>
                <a:cs typeface="Georgia"/>
              </a:rPr>
              <a:t>- </a:t>
            </a:r>
            <a:r>
              <a:rPr sz="3400" i="1" spc="-5" dirty="0">
                <a:solidFill>
                  <a:srgbClr val="FFFFFF"/>
                </a:solidFill>
                <a:latin typeface="Georgia"/>
                <a:cs typeface="Georgia"/>
              </a:rPr>
              <a:t>not </a:t>
            </a:r>
            <a:r>
              <a:rPr sz="3400" i="1" dirty="0">
                <a:solidFill>
                  <a:srgbClr val="FFFFFF"/>
                </a:solidFill>
                <a:latin typeface="Georgia"/>
                <a:cs typeface="Georgia"/>
              </a:rPr>
              <a:t>to </a:t>
            </a:r>
            <a:r>
              <a:rPr sz="3400" i="1" spc="-5" dirty="0">
                <a:solidFill>
                  <a:srgbClr val="FFFFFF"/>
                </a:solidFill>
                <a:latin typeface="Georgia"/>
                <a:cs typeface="Georgia"/>
              </a:rPr>
              <a:t>jump  </a:t>
            </a:r>
            <a:r>
              <a:rPr sz="3400" i="1" dirty="0">
                <a:solidFill>
                  <a:srgbClr val="FFFFFF"/>
                </a:solidFill>
                <a:latin typeface="Georgia"/>
                <a:cs typeface="Georgia"/>
              </a:rPr>
              <a:t>back to the edge </a:t>
            </a:r>
            <a:r>
              <a:rPr sz="3400" i="1" spc="-5" dirty="0">
                <a:solidFill>
                  <a:srgbClr val="FFFFFF"/>
                </a:solidFill>
                <a:latin typeface="Georgia"/>
                <a:cs typeface="Georgia"/>
              </a:rPr>
              <a:t>of the </a:t>
            </a:r>
            <a:r>
              <a:rPr sz="3400" i="1" spc="-10" dirty="0">
                <a:solidFill>
                  <a:srgbClr val="FFFFFF"/>
                </a:solidFill>
                <a:latin typeface="Georgia"/>
                <a:cs typeface="Georgia"/>
              </a:rPr>
              <a:t>container </a:t>
            </a:r>
            <a:r>
              <a:rPr sz="3400" i="1" dirty="0">
                <a:solidFill>
                  <a:srgbClr val="FFFFFF"/>
                </a:solidFill>
                <a:latin typeface="Georgia"/>
                <a:cs typeface="Georgia"/>
              </a:rPr>
              <a:t>like </a:t>
            </a:r>
            <a:r>
              <a:rPr sz="3400" i="1" spc="-5" dirty="0">
                <a:solidFill>
                  <a:srgbClr val="FFFFFF"/>
                </a:solidFill>
                <a:latin typeface="Georgia"/>
                <a:cs typeface="Georgia"/>
              </a:rPr>
              <a:t>this.  </a:t>
            </a:r>
            <a:r>
              <a:rPr sz="3400" i="1" dirty="0">
                <a:solidFill>
                  <a:srgbClr val="FFFFFF"/>
                </a:solidFill>
                <a:latin typeface="Georgia"/>
                <a:cs typeface="Georgia"/>
              </a:rPr>
              <a:t>To </a:t>
            </a:r>
            <a:r>
              <a:rPr sz="3400" i="1" spc="-5" dirty="0">
                <a:solidFill>
                  <a:srgbClr val="FFFFFF"/>
                </a:solidFill>
                <a:latin typeface="Georgia"/>
                <a:cs typeface="Georgia"/>
              </a:rPr>
              <a:t>fix </a:t>
            </a:r>
            <a:r>
              <a:rPr sz="3400" i="1" dirty="0">
                <a:solidFill>
                  <a:srgbClr val="FFFFFF"/>
                </a:solidFill>
                <a:latin typeface="Georgia"/>
                <a:cs typeface="Georgia"/>
              </a:rPr>
              <a:t>this, we </a:t>
            </a:r>
            <a:r>
              <a:rPr sz="3400" i="1" spc="-5" dirty="0">
                <a:solidFill>
                  <a:srgbClr val="FFFFFF"/>
                </a:solidFill>
                <a:latin typeface="Georgia"/>
                <a:cs typeface="Georgia"/>
              </a:rPr>
              <a:t>need </a:t>
            </a:r>
            <a:r>
              <a:rPr sz="3400" i="1" dirty="0">
                <a:solidFill>
                  <a:srgbClr val="FFFFFF"/>
                </a:solidFill>
                <a:latin typeface="Georgia"/>
                <a:cs typeface="Georgia"/>
              </a:rPr>
              <a:t>to </a:t>
            </a:r>
            <a:r>
              <a:rPr sz="3400" i="1" spc="-5" dirty="0">
                <a:solidFill>
                  <a:srgbClr val="FFFFFF"/>
                </a:solidFill>
                <a:latin typeface="Georgia"/>
                <a:cs typeface="Georgia"/>
              </a:rPr>
              <a:t>float </a:t>
            </a:r>
            <a:r>
              <a:rPr sz="3400" i="1" dirty="0">
                <a:solidFill>
                  <a:srgbClr val="FFFFFF"/>
                </a:solidFill>
                <a:latin typeface="Georgia"/>
                <a:cs typeface="Georgia"/>
              </a:rPr>
              <a:t>the text as</a:t>
            </a:r>
            <a:r>
              <a:rPr sz="3400" i="1" spc="-165" dirty="0">
                <a:solidFill>
                  <a:srgbClr val="FFFFFF"/>
                </a:solidFill>
                <a:latin typeface="Georgia"/>
                <a:cs typeface="Georgia"/>
              </a:rPr>
              <a:t> </a:t>
            </a:r>
            <a:r>
              <a:rPr sz="3400" i="1" spc="-5" dirty="0">
                <a:solidFill>
                  <a:srgbClr val="FFFFFF"/>
                </a:solidFill>
                <a:latin typeface="Georgia"/>
                <a:cs typeface="Georgia"/>
              </a:rPr>
              <a:t>well  </a:t>
            </a:r>
            <a:r>
              <a:rPr sz="3400" i="1" dirty="0">
                <a:solidFill>
                  <a:srgbClr val="FFFFFF"/>
                </a:solidFill>
                <a:latin typeface="Georgia"/>
                <a:cs typeface="Georgia"/>
              </a:rPr>
              <a:t>as </a:t>
            </a:r>
            <a:r>
              <a:rPr sz="3400" i="1" spc="-5" dirty="0">
                <a:solidFill>
                  <a:srgbClr val="FFFFFF"/>
                </a:solidFill>
                <a:latin typeface="Georgia"/>
                <a:cs typeface="Georgia"/>
              </a:rPr>
              <a:t>the</a:t>
            </a:r>
            <a:r>
              <a:rPr sz="3400" i="1" spc="-120" dirty="0">
                <a:solidFill>
                  <a:srgbClr val="FFFFFF"/>
                </a:solidFill>
                <a:latin typeface="Georgia"/>
                <a:cs typeface="Georgia"/>
              </a:rPr>
              <a:t> </a:t>
            </a:r>
            <a:r>
              <a:rPr sz="3400" i="1" spc="-5" dirty="0">
                <a:solidFill>
                  <a:srgbClr val="FFFFFF"/>
                </a:solidFill>
                <a:latin typeface="Georgia"/>
                <a:cs typeface="Georgia"/>
              </a:rPr>
              <a:t>image...</a:t>
            </a:r>
            <a:endParaRPr sz="3400">
              <a:latin typeface="Georgia"/>
              <a:cs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1"/>
            <a:ext cx="13004800" cy="9753597"/>
          </a:xfrm>
          <a:prstGeom prst="rect">
            <a:avLst/>
          </a:prstGeom>
          <a:blipFill>
            <a:blip r:embed="rId2" cstate="print"/>
            <a:stretch>
              <a:fillRect/>
            </a:stretch>
          </a:blipFill>
        </p:spPr>
        <p:txBody>
          <a:bodyPr wrap="square" lIns="0" tIns="0" rIns="0" bIns="0" rtlCol="0"/>
          <a:lstStyle/>
          <a:p>
            <a:endParaRPr/>
          </a:p>
        </p:txBody>
      </p:sp>
      <p:sp>
        <p:nvSpPr>
          <p:cNvPr id="3" name="object 3">
            <a:extLst>
              <a:ext uri="{C183D7F6-B498-43B3-948B-1728B52AA6E4}">
                <adec:decorative xmlns:adec="http://schemas.microsoft.com/office/drawing/2017/decorative" val="1"/>
              </a:ext>
            </a:extLst>
          </p:cNvPr>
          <p:cNvSpPr/>
          <p:nvPr/>
        </p:nvSpPr>
        <p:spPr>
          <a:xfrm>
            <a:off x="701581" y="4427849"/>
            <a:ext cx="9055098" cy="4922430"/>
          </a:xfrm>
          <a:prstGeom prst="rect">
            <a:avLst/>
          </a:prstGeom>
          <a:blipFill>
            <a:blip r:embed="rId3" cstate="print"/>
            <a:stretch>
              <a:fillRect/>
            </a:stretch>
          </a:blip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787418" y="4965698"/>
            <a:ext cx="8775700" cy="4191000"/>
          </a:xfrm>
          <a:custGeom>
            <a:avLst/>
            <a:gdLst/>
            <a:ahLst/>
            <a:cxnLst/>
            <a:rect l="l" t="t" r="r" b="b"/>
            <a:pathLst>
              <a:path w="8775700" h="4191000">
                <a:moveTo>
                  <a:pt x="8521697" y="0"/>
                </a:moveTo>
                <a:lnTo>
                  <a:pt x="253999" y="0"/>
                </a:lnTo>
                <a:lnTo>
                  <a:pt x="208342" y="4091"/>
                </a:lnTo>
                <a:lnTo>
                  <a:pt x="165370" y="15890"/>
                </a:lnTo>
                <a:lnTo>
                  <a:pt x="125800" y="34677"/>
                </a:lnTo>
                <a:lnTo>
                  <a:pt x="90350" y="59736"/>
                </a:lnTo>
                <a:lnTo>
                  <a:pt x="59736" y="90349"/>
                </a:lnTo>
                <a:lnTo>
                  <a:pt x="34677" y="125799"/>
                </a:lnTo>
                <a:lnTo>
                  <a:pt x="15889" y="165369"/>
                </a:lnTo>
                <a:lnTo>
                  <a:pt x="4091" y="208342"/>
                </a:lnTo>
                <a:lnTo>
                  <a:pt x="0" y="254000"/>
                </a:lnTo>
                <a:lnTo>
                  <a:pt x="0" y="3936999"/>
                </a:lnTo>
                <a:lnTo>
                  <a:pt x="4091" y="3982656"/>
                </a:lnTo>
                <a:lnTo>
                  <a:pt x="15889" y="4025628"/>
                </a:lnTo>
                <a:lnTo>
                  <a:pt x="34677" y="4065197"/>
                </a:lnTo>
                <a:lnTo>
                  <a:pt x="59736" y="4100648"/>
                </a:lnTo>
                <a:lnTo>
                  <a:pt x="90350" y="4131261"/>
                </a:lnTo>
                <a:lnTo>
                  <a:pt x="125800" y="4156320"/>
                </a:lnTo>
                <a:lnTo>
                  <a:pt x="165370" y="4175108"/>
                </a:lnTo>
                <a:lnTo>
                  <a:pt x="208342" y="4186906"/>
                </a:lnTo>
                <a:lnTo>
                  <a:pt x="253999" y="4190999"/>
                </a:lnTo>
                <a:lnTo>
                  <a:pt x="8521697" y="4190999"/>
                </a:lnTo>
                <a:lnTo>
                  <a:pt x="8567354" y="4186906"/>
                </a:lnTo>
                <a:lnTo>
                  <a:pt x="8610327" y="4175108"/>
                </a:lnTo>
                <a:lnTo>
                  <a:pt x="8649897" y="4156320"/>
                </a:lnTo>
                <a:lnTo>
                  <a:pt x="8685347" y="4131261"/>
                </a:lnTo>
                <a:lnTo>
                  <a:pt x="8715960" y="4100648"/>
                </a:lnTo>
                <a:lnTo>
                  <a:pt x="8741020" y="4065197"/>
                </a:lnTo>
                <a:lnTo>
                  <a:pt x="8759807" y="4025628"/>
                </a:lnTo>
                <a:lnTo>
                  <a:pt x="8771604" y="3982656"/>
                </a:lnTo>
                <a:lnTo>
                  <a:pt x="8775697" y="3936999"/>
                </a:lnTo>
                <a:lnTo>
                  <a:pt x="8775697" y="254000"/>
                </a:lnTo>
                <a:lnTo>
                  <a:pt x="8771604" y="208342"/>
                </a:lnTo>
                <a:lnTo>
                  <a:pt x="8759807" y="165369"/>
                </a:lnTo>
                <a:lnTo>
                  <a:pt x="8741020" y="125799"/>
                </a:lnTo>
                <a:lnTo>
                  <a:pt x="8715960" y="90349"/>
                </a:lnTo>
                <a:lnTo>
                  <a:pt x="8685347" y="59736"/>
                </a:lnTo>
                <a:lnTo>
                  <a:pt x="8649897" y="34677"/>
                </a:lnTo>
                <a:lnTo>
                  <a:pt x="8610327" y="15890"/>
                </a:lnTo>
                <a:lnTo>
                  <a:pt x="8567354" y="4091"/>
                </a:lnTo>
                <a:lnTo>
                  <a:pt x="8521697" y="0"/>
                </a:lnTo>
                <a:close/>
              </a:path>
            </a:pathLst>
          </a:custGeom>
          <a:solidFill>
            <a:srgbClr val="000621"/>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1212868" y="4525568"/>
            <a:ext cx="530860" cy="440690"/>
          </a:xfrm>
          <a:custGeom>
            <a:avLst/>
            <a:gdLst/>
            <a:ahLst/>
            <a:cxnLst/>
            <a:rect l="l" t="t" r="r" b="b"/>
            <a:pathLst>
              <a:path w="530860" h="440689">
                <a:moveTo>
                  <a:pt x="265506" y="0"/>
                </a:moveTo>
                <a:lnTo>
                  <a:pt x="0" y="440129"/>
                </a:lnTo>
                <a:lnTo>
                  <a:pt x="530617" y="440129"/>
                </a:lnTo>
                <a:lnTo>
                  <a:pt x="265506" y="0"/>
                </a:lnTo>
                <a:close/>
              </a:path>
            </a:pathLst>
          </a:custGeom>
          <a:solidFill>
            <a:srgbClr val="000621"/>
          </a:solidFill>
        </p:spPr>
        <p:txBody>
          <a:bodyPr wrap="square" lIns="0" tIns="0" rIns="0" bIns="0" rtlCol="0"/>
          <a:lstStyle/>
          <a:p>
            <a:endParaRPr/>
          </a:p>
        </p:txBody>
      </p:sp>
      <p:sp>
        <p:nvSpPr>
          <p:cNvPr id="6" name="object 6">
            <a:extLst>
              <a:ext uri="{C183D7F6-B498-43B3-948B-1728B52AA6E4}">
                <adec:decorative xmlns:adec="http://schemas.microsoft.com/office/drawing/2017/decorative" val="1"/>
              </a:ext>
            </a:extLst>
          </p:cNvPr>
          <p:cNvSpPr/>
          <p:nvPr/>
        </p:nvSpPr>
        <p:spPr>
          <a:xfrm>
            <a:off x="787418" y="4525566"/>
            <a:ext cx="8775700" cy="4631690"/>
          </a:xfrm>
          <a:custGeom>
            <a:avLst/>
            <a:gdLst/>
            <a:ahLst/>
            <a:cxnLst/>
            <a:rect l="l" t="t" r="r" b="b"/>
            <a:pathLst>
              <a:path w="8775700" h="4631690">
                <a:moveTo>
                  <a:pt x="690957" y="0"/>
                </a:moveTo>
                <a:lnTo>
                  <a:pt x="425449" y="440132"/>
                </a:lnTo>
                <a:lnTo>
                  <a:pt x="253999" y="440132"/>
                </a:lnTo>
                <a:lnTo>
                  <a:pt x="208342" y="444225"/>
                </a:lnTo>
                <a:lnTo>
                  <a:pt x="165370" y="456024"/>
                </a:lnTo>
                <a:lnTo>
                  <a:pt x="125800" y="474812"/>
                </a:lnTo>
                <a:lnTo>
                  <a:pt x="90350" y="499870"/>
                </a:lnTo>
                <a:lnTo>
                  <a:pt x="59736" y="530483"/>
                </a:lnTo>
                <a:lnTo>
                  <a:pt x="34678" y="565934"/>
                </a:lnTo>
                <a:lnTo>
                  <a:pt x="15890" y="605503"/>
                </a:lnTo>
                <a:lnTo>
                  <a:pt x="4091" y="648475"/>
                </a:lnTo>
                <a:lnTo>
                  <a:pt x="0" y="694132"/>
                </a:lnTo>
                <a:lnTo>
                  <a:pt x="0" y="4377131"/>
                </a:lnTo>
                <a:lnTo>
                  <a:pt x="4091" y="4422789"/>
                </a:lnTo>
                <a:lnTo>
                  <a:pt x="15890" y="4465762"/>
                </a:lnTo>
                <a:lnTo>
                  <a:pt x="34678" y="4505332"/>
                </a:lnTo>
                <a:lnTo>
                  <a:pt x="59736" y="4540782"/>
                </a:lnTo>
                <a:lnTo>
                  <a:pt x="90350" y="4571395"/>
                </a:lnTo>
                <a:lnTo>
                  <a:pt x="125800" y="4596454"/>
                </a:lnTo>
                <a:lnTo>
                  <a:pt x="165370" y="4615241"/>
                </a:lnTo>
                <a:lnTo>
                  <a:pt x="208342" y="4627039"/>
                </a:lnTo>
                <a:lnTo>
                  <a:pt x="253999" y="4631131"/>
                </a:lnTo>
                <a:lnTo>
                  <a:pt x="8521696" y="4631131"/>
                </a:lnTo>
                <a:lnTo>
                  <a:pt x="8567353" y="4627039"/>
                </a:lnTo>
                <a:lnTo>
                  <a:pt x="8610326" y="4615241"/>
                </a:lnTo>
                <a:lnTo>
                  <a:pt x="8649896" y="4596454"/>
                </a:lnTo>
                <a:lnTo>
                  <a:pt x="8685346" y="4571395"/>
                </a:lnTo>
                <a:lnTo>
                  <a:pt x="8715959" y="4540782"/>
                </a:lnTo>
                <a:lnTo>
                  <a:pt x="8741018" y="4505332"/>
                </a:lnTo>
                <a:lnTo>
                  <a:pt x="8759805" y="4465762"/>
                </a:lnTo>
                <a:lnTo>
                  <a:pt x="8771603" y="4422789"/>
                </a:lnTo>
                <a:lnTo>
                  <a:pt x="8775696" y="4377131"/>
                </a:lnTo>
                <a:lnTo>
                  <a:pt x="8775696" y="694132"/>
                </a:lnTo>
                <a:lnTo>
                  <a:pt x="8771603" y="648475"/>
                </a:lnTo>
                <a:lnTo>
                  <a:pt x="8759805" y="605503"/>
                </a:lnTo>
                <a:lnTo>
                  <a:pt x="8741018" y="565934"/>
                </a:lnTo>
                <a:lnTo>
                  <a:pt x="8715959" y="530483"/>
                </a:lnTo>
                <a:lnTo>
                  <a:pt x="8685346" y="499870"/>
                </a:lnTo>
                <a:lnTo>
                  <a:pt x="8649896" y="474812"/>
                </a:lnTo>
                <a:lnTo>
                  <a:pt x="8610326" y="456024"/>
                </a:lnTo>
                <a:lnTo>
                  <a:pt x="8567353" y="444225"/>
                </a:lnTo>
                <a:lnTo>
                  <a:pt x="8521696" y="440132"/>
                </a:lnTo>
                <a:lnTo>
                  <a:pt x="956071" y="440132"/>
                </a:lnTo>
                <a:lnTo>
                  <a:pt x="690957" y="0"/>
                </a:lnTo>
                <a:close/>
              </a:path>
            </a:pathLst>
          </a:custGeom>
          <a:ln w="25399">
            <a:solidFill>
              <a:srgbClr val="FFFFFF"/>
            </a:solidFill>
          </a:ln>
        </p:spPr>
        <p:txBody>
          <a:bodyPr wrap="square" lIns="0" tIns="0" rIns="0" bIns="0" rtlCol="0"/>
          <a:lstStyle/>
          <a:p>
            <a:endParaRPr/>
          </a:p>
        </p:txBody>
      </p:sp>
      <p:sp>
        <p:nvSpPr>
          <p:cNvPr id="7" name="object 7"/>
          <p:cNvSpPr txBox="1"/>
          <p:nvPr/>
        </p:nvSpPr>
        <p:spPr>
          <a:xfrm>
            <a:off x="1144927" y="5298533"/>
            <a:ext cx="8058784" cy="3462654"/>
          </a:xfrm>
          <a:prstGeom prst="rect">
            <a:avLst/>
          </a:prstGeom>
        </p:spPr>
        <p:txBody>
          <a:bodyPr vert="horz" wrap="square" lIns="0" tIns="12700" rIns="0" bIns="0" rtlCol="0">
            <a:spAutoFit/>
          </a:bodyPr>
          <a:lstStyle/>
          <a:p>
            <a:pPr marL="21590">
              <a:lnSpc>
                <a:spcPts val="4040"/>
              </a:lnSpc>
              <a:spcBef>
                <a:spcPts val="100"/>
              </a:spcBef>
            </a:pPr>
            <a:r>
              <a:rPr sz="3400" i="1" spc="-5" dirty="0">
                <a:solidFill>
                  <a:srgbClr val="FFFFFF"/>
                </a:solidFill>
                <a:latin typeface="Georgia"/>
                <a:cs typeface="Georgia"/>
              </a:rPr>
              <a:t>...which </a:t>
            </a:r>
            <a:r>
              <a:rPr sz="3400" i="1" spc="-10" dirty="0">
                <a:solidFill>
                  <a:srgbClr val="FFFFFF"/>
                </a:solidFill>
                <a:latin typeface="Georgia"/>
                <a:cs typeface="Georgia"/>
              </a:rPr>
              <a:t>causes </a:t>
            </a:r>
            <a:r>
              <a:rPr sz="3400" i="1" dirty="0">
                <a:solidFill>
                  <a:srgbClr val="FFFFFF"/>
                </a:solidFill>
                <a:latin typeface="Georgia"/>
                <a:cs typeface="Georgia"/>
              </a:rPr>
              <a:t>some </a:t>
            </a:r>
            <a:r>
              <a:rPr sz="3400" i="1" spc="-10" dirty="0">
                <a:solidFill>
                  <a:srgbClr val="FFFFFF"/>
                </a:solidFill>
                <a:latin typeface="Georgia"/>
                <a:cs typeface="Georgia"/>
              </a:rPr>
              <a:t>problems </a:t>
            </a:r>
            <a:r>
              <a:rPr sz="3400" i="1" spc="-5" dirty="0">
                <a:solidFill>
                  <a:srgbClr val="FFFFFF"/>
                </a:solidFill>
                <a:latin typeface="Georgia"/>
                <a:cs typeface="Georgia"/>
              </a:rPr>
              <a:t>of its</a:t>
            </a:r>
            <a:r>
              <a:rPr sz="3400" i="1" spc="-65" dirty="0">
                <a:solidFill>
                  <a:srgbClr val="FFFFFF"/>
                </a:solidFill>
                <a:latin typeface="Georgia"/>
                <a:cs typeface="Georgia"/>
              </a:rPr>
              <a:t> </a:t>
            </a:r>
            <a:r>
              <a:rPr sz="3400" i="1" spc="-10" dirty="0">
                <a:solidFill>
                  <a:srgbClr val="FFFFFF"/>
                </a:solidFill>
                <a:latin typeface="Georgia"/>
                <a:cs typeface="Georgia"/>
              </a:rPr>
              <a:t>own!</a:t>
            </a:r>
            <a:endParaRPr sz="3400">
              <a:latin typeface="Georgia"/>
              <a:cs typeface="Georgia"/>
            </a:endParaRPr>
          </a:p>
          <a:p>
            <a:pPr marL="12065" marR="20320" indent="27305" algn="ctr">
              <a:lnSpc>
                <a:spcPct val="93000"/>
              </a:lnSpc>
              <a:spcBef>
                <a:spcPts val="245"/>
              </a:spcBef>
            </a:pPr>
            <a:r>
              <a:rPr sz="3400" i="1" spc="-5" dirty="0">
                <a:solidFill>
                  <a:srgbClr val="FFFFFF"/>
                </a:solidFill>
                <a:latin typeface="Georgia"/>
                <a:cs typeface="Georgia"/>
              </a:rPr>
              <a:t>Here, </a:t>
            </a:r>
            <a:r>
              <a:rPr sz="3400" i="1" spc="-10" dirty="0">
                <a:solidFill>
                  <a:srgbClr val="FFFFFF"/>
                </a:solidFill>
                <a:latin typeface="Georgia"/>
                <a:cs typeface="Georgia"/>
              </a:rPr>
              <a:t>the </a:t>
            </a:r>
            <a:r>
              <a:rPr sz="3400" i="1" spc="-5" dirty="0">
                <a:solidFill>
                  <a:srgbClr val="FFFFFF"/>
                </a:solidFill>
                <a:latin typeface="Georgia"/>
                <a:cs typeface="Georgia"/>
              </a:rPr>
              <a:t>container </a:t>
            </a:r>
            <a:r>
              <a:rPr sz="3400" i="1" dirty="0">
                <a:solidFill>
                  <a:srgbClr val="FFFFFF"/>
                </a:solidFill>
                <a:latin typeface="Georgia"/>
                <a:cs typeface="Georgia"/>
              </a:rPr>
              <a:t>has </a:t>
            </a:r>
            <a:r>
              <a:rPr sz="3400" i="1" spc="-5" dirty="0">
                <a:solidFill>
                  <a:srgbClr val="FFFFFF"/>
                </a:solidFill>
                <a:latin typeface="Georgia"/>
                <a:cs typeface="Georgia"/>
              </a:rPr>
              <a:t>collapsed as we  </a:t>
            </a:r>
            <a:r>
              <a:rPr sz="3400" i="1" dirty="0">
                <a:solidFill>
                  <a:srgbClr val="FFFFFF"/>
                </a:solidFill>
                <a:latin typeface="Georgia"/>
                <a:cs typeface="Georgia"/>
              </a:rPr>
              <a:t>have </a:t>
            </a:r>
            <a:r>
              <a:rPr sz="3400" i="1" spc="-5" dirty="0">
                <a:solidFill>
                  <a:srgbClr val="FFFFFF"/>
                </a:solidFill>
                <a:latin typeface="Georgia"/>
                <a:cs typeface="Georgia"/>
              </a:rPr>
              <a:t>removed </a:t>
            </a:r>
            <a:r>
              <a:rPr sz="3400" i="1" dirty="0">
                <a:solidFill>
                  <a:srgbClr val="FFFFFF"/>
                </a:solidFill>
                <a:latin typeface="Georgia"/>
                <a:cs typeface="Georgia"/>
              </a:rPr>
              <a:t>the main </a:t>
            </a:r>
            <a:r>
              <a:rPr sz="3400" i="1" spc="-5" dirty="0">
                <a:solidFill>
                  <a:srgbClr val="FFFFFF"/>
                </a:solidFill>
                <a:latin typeface="Georgia"/>
                <a:cs typeface="Georgia"/>
              </a:rPr>
              <a:t>body of </a:t>
            </a:r>
            <a:r>
              <a:rPr sz="3400" i="1" dirty="0">
                <a:solidFill>
                  <a:srgbClr val="FFFFFF"/>
                </a:solidFill>
                <a:latin typeface="Georgia"/>
                <a:cs typeface="Georgia"/>
              </a:rPr>
              <a:t>text </a:t>
            </a:r>
            <a:r>
              <a:rPr sz="3400" i="1" spc="-5" dirty="0">
                <a:solidFill>
                  <a:srgbClr val="FFFFFF"/>
                </a:solidFill>
                <a:latin typeface="Georgia"/>
                <a:cs typeface="Georgia"/>
              </a:rPr>
              <a:t>from  the normal </a:t>
            </a:r>
            <a:r>
              <a:rPr sz="3400" i="1" spc="-10" dirty="0">
                <a:solidFill>
                  <a:srgbClr val="FFFFFF"/>
                </a:solidFill>
                <a:latin typeface="Georgia"/>
                <a:cs typeface="Georgia"/>
              </a:rPr>
              <a:t>document </a:t>
            </a:r>
            <a:r>
              <a:rPr sz="3400" i="1" spc="-5" dirty="0">
                <a:solidFill>
                  <a:srgbClr val="FFFFFF"/>
                </a:solidFill>
                <a:latin typeface="Georgia"/>
                <a:cs typeface="Georgia"/>
              </a:rPr>
              <a:t>flow. </a:t>
            </a:r>
            <a:r>
              <a:rPr sz="3400" i="1" spc="-10" dirty="0">
                <a:solidFill>
                  <a:srgbClr val="FFFFFF"/>
                </a:solidFill>
                <a:latin typeface="Georgia"/>
                <a:cs typeface="Georgia"/>
              </a:rPr>
              <a:t>This results</a:t>
            </a:r>
            <a:r>
              <a:rPr sz="3400" i="1" spc="-85" dirty="0">
                <a:solidFill>
                  <a:srgbClr val="FFFFFF"/>
                </a:solidFill>
                <a:latin typeface="Georgia"/>
                <a:cs typeface="Georgia"/>
              </a:rPr>
              <a:t> </a:t>
            </a:r>
            <a:r>
              <a:rPr sz="3400" i="1" spc="-10" dirty="0">
                <a:solidFill>
                  <a:srgbClr val="FFFFFF"/>
                </a:solidFill>
                <a:latin typeface="Georgia"/>
                <a:cs typeface="Georgia"/>
              </a:rPr>
              <a:t>in  </a:t>
            </a:r>
            <a:r>
              <a:rPr sz="3400" i="1" spc="-5" dirty="0">
                <a:solidFill>
                  <a:srgbClr val="FFFFFF"/>
                </a:solidFill>
                <a:latin typeface="Georgia"/>
                <a:cs typeface="Georgia"/>
              </a:rPr>
              <a:t>the </a:t>
            </a:r>
            <a:r>
              <a:rPr sz="3400" i="1" spc="-10" dirty="0">
                <a:solidFill>
                  <a:srgbClr val="FFFFFF"/>
                </a:solidFill>
                <a:latin typeface="Georgia"/>
                <a:cs typeface="Georgia"/>
              </a:rPr>
              <a:t>browser thinking </a:t>
            </a:r>
            <a:r>
              <a:rPr sz="3400" i="1" spc="-5" dirty="0">
                <a:solidFill>
                  <a:srgbClr val="FFFFFF"/>
                </a:solidFill>
                <a:latin typeface="Georgia"/>
                <a:cs typeface="Georgia"/>
              </a:rPr>
              <a:t>that the </a:t>
            </a:r>
            <a:r>
              <a:rPr sz="3400" i="1" spc="-10" dirty="0">
                <a:solidFill>
                  <a:srgbClr val="FFFFFF"/>
                </a:solidFill>
                <a:latin typeface="Georgia"/>
                <a:cs typeface="Georgia"/>
              </a:rPr>
              <a:t>container  </a:t>
            </a:r>
            <a:r>
              <a:rPr sz="3400" i="1" dirty="0">
                <a:solidFill>
                  <a:srgbClr val="FFFFFF"/>
                </a:solidFill>
                <a:latin typeface="Georgia"/>
                <a:cs typeface="Georgia"/>
              </a:rPr>
              <a:t>has </a:t>
            </a:r>
            <a:r>
              <a:rPr sz="3400" i="1" spc="-5" dirty="0">
                <a:solidFill>
                  <a:srgbClr val="FFFFFF"/>
                </a:solidFill>
                <a:latin typeface="Georgia"/>
                <a:cs typeface="Georgia"/>
              </a:rPr>
              <a:t>no content, so it </a:t>
            </a:r>
            <a:r>
              <a:rPr sz="3400" i="1" spc="-10" dirty="0">
                <a:solidFill>
                  <a:srgbClr val="FFFFFF"/>
                </a:solidFill>
                <a:latin typeface="Georgia"/>
                <a:cs typeface="Georgia"/>
              </a:rPr>
              <a:t>flattens </a:t>
            </a:r>
            <a:r>
              <a:rPr sz="3400" i="1" spc="-5" dirty="0">
                <a:solidFill>
                  <a:srgbClr val="FFFFFF"/>
                </a:solidFill>
                <a:latin typeface="Georgia"/>
                <a:cs typeface="Georgia"/>
              </a:rPr>
              <a:t>down to its  </a:t>
            </a:r>
            <a:r>
              <a:rPr sz="3400" i="1" spc="-10" dirty="0">
                <a:solidFill>
                  <a:srgbClr val="FFFFFF"/>
                </a:solidFill>
                <a:latin typeface="Georgia"/>
                <a:cs typeface="Georgia"/>
              </a:rPr>
              <a:t>minimum</a:t>
            </a:r>
            <a:r>
              <a:rPr sz="3400" i="1" spc="-80" dirty="0">
                <a:solidFill>
                  <a:srgbClr val="FFFFFF"/>
                </a:solidFill>
                <a:latin typeface="Georgia"/>
                <a:cs typeface="Georgia"/>
              </a:rPr>
              <a:t> </a:t>
            </a:r>
            <a:r>
              <a:rPr sz="3400" i="1" spc="-10" dirty="0">
                <a:solidFill>
                  <a:srgbClr val="FFFFFF"/>
                </a:solidFill>
                <a:latin typeface="Georgia"/>
                <a:cs typeface="Georgia"/>
              </a:rPr>
              <a:t>height.</a:t>
            </a:r>
            <a:endParaRPr sz="3400">
              <a:latin typeface="Georgia"/>
              <a:cs typeface="Georgi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1350010" cy="665480"/>
          </a:xfrm>
          <a:prstGeom prst="rect">
            <a:avLst/>
          </a:prstGeom>
        </p:spPr>
        <p:txBody>
          <a:bodyPr vert="horz" wrap="square" lIns="0" tIns="12700" rIns="0" bIns="0" rtlCol="0">
            <a:spAutoFit/>
          </a:bodyPr>
          <a:lstStyle/>
          <a:p>
            <a:pPr marL="12700">
              <a:lnSpc>
                <a:spcPct val="100000"/>
              </a:lnSpc>
              <a:spcBef>
                <a:spcPts val="100"/>
              </a:spcBef>
            </a:pPr>
            <a:r>
              <a:rPr sz="4200" b="0" spc="-135" dirty="0">
                <a:solidFill>
                  <a:srgbClr val="000000"/>
                </a:solidFill>
                <a:latin typeface="Arial"/>
                <a:cs typeface="Arial"/>
              </a:rPr>
              <a:t>Fixes.</a:t>
            </a:r>
            <a:endParaRPr sz="4200" dirty="0">
              <a:latin typeface="Arial"/>
              <a:cs typeface="Arial"/>
            </a:endParaRPr>
          </a:p>
        </p:txBody>
      </p:sp>
      <p:sp>
        <p:nvSpPr>
          <p:cNvPr id="4" name="object 4"/>
          <p:cNvSpPr txBox="1"/>
          <p:nvPr/>
        </p:nvSpPr>
        <p:spPr>
          <a:xfrm>
            <a:off x="596900" y="2357107"/>
            <a:ext cx="11703050" cy="3826047"/>
          </a:xfrm>
          <a:prstGeom prst="rect">
            <a:avLst/>
          </a:prstGeom>
        </p:spPr>
        <p:txBody>
          <a:bodyPr vert="horz" wrap="square" lIns="0" tIns="1905" rIns="0" bIns="0" rtlCol="0">
            <a:spAutoFit/>
          </a:bodyPr>
          <a:lstStyle/>
          <a:p>
            <a:pPr marL="12700" marR="137160">
              <a:lnSpc>
                <a:spcPct val="150000"/>
              </a:lnSpc>
              <a:spcBef>
                <a:spcPts val="15"/>
              </a:spcBef>
              <a:buClr>
                <a:srgbClr val="747474"/>
              </a:buClr>
              <a:buSzPct val="96153"/>
              <a:tabLst>
                <a:tab pos="186690" algn="l"/>
              </a:tabLst>
            </a:pPr>
            <a:r>
              <a:rPr sz="2800" dirty="0">
                <a:solidFill>
                  <a:schemeClr val="tx1">
                    <a:lumMod val="95000"/>
                    <a:lumOff val="5000"/>
                  </a:schemeClr>
                </a:solidFill>
                <a:latin typeface="Helvetica Neue Light" panose="02000403000000020004" pitchFamily="2" charset="0"/>
                <a:ea typeface="Helvetica Neue Light" panose="02000403000000020004" pitchFamily="2" charset="0"/>
                <a:cs typeface="Helvetica"/>
              </a:rPr>
              <a:t> </a:t>
            </a:r>
            <a:r>
              <a:rPr sz="2800" spc="-25"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This </a:t>
            </a:r>
            <a:r>
              <a:rPr sz="2800" spc="-5"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is </a:t>
            </a:r>
            <a:r>
              <a:rPr sz="2800"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annoying, </a:t>
            </a:r>
            <a:r>
              <a:rPr sz="2800" spc="25"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but </a:t>
            </a:r>
            <a:r>
              <a:rPr sz="2800"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fixable. </a:t>
            </a:r>
            <a:r>
              <a:rPr sz="2800" spc="-40"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There are </a:t>
            </a:r>
            <a:r>
              <a:rPr sz="2800"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a number </a:t>
            </a:r>
            <a:r>
              <a:rPr sz="2800" spc="10"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of </a:t>
            </a:r>
            <a:r>
              <a:rPr sz="2800" spc="0"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techniques we </a:t>
            </a:r>
            <a:r>
              <a:rPr sz="2800" spc="25"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could</a:t>
            </a:r>
            <a:r>
              <a:rPr sz="2800" spc="-125"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 </a:t>
            </a:r>
            <a:r>
              <a:rPr sz="2800" spc="-25"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use  </a:t>
            </a:r>
            <a:r>
              <a:rPr sz="2800" spc="25"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to </a:t>
            </a:r>
            <a:r>
              <a:rPr sz="2800" spc="10"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fix </a:t>
            </a:r>
            <a:r>
              <a:rPr sz="2800" spc="0"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this, </a:t>
            </a:r>
            <a:r>
              <a:rPr sz="2800" spc="30"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Here </a:t>
            </a:r>
            <a:r>
              <a:rPr lang="en-GB" sz="2800" spc="25" dirty="0">
                <a:solidFill>
                  <a:schemeClr val="tx1">
                    <a:lumMod val="95000"/>
                    <a:lumOff val="5000"/>
                  </a:schemeClr>
                </a:solidFill>
                <a:latin typeface="Helvetica Neue Light" panose="02000403000000020004" pitchFamily="2" charset="0"/>
                <a:ea typeface="Helvetica Neue Light" panose="02000403000000020004" pitchFamily="2" charset="0"/>
                <a:cs typeface="Arial"/>
              </a:rPr>
              <a:t>is one</a:t>
            </a:r>
            <a:endParaRPr sz="2800" dirty="0">
              <a:solidFill>
                <a:schemeClr val="tx1">
                  <a:lumMod val="95000"/>
                  <a:lumOff val="5000"/>
                </a:schemeClr>
              </a:solidFill>
              <a:latin typeface="Helvetica Neue Light" panose="02000403000000020004" pitchFamily="2" charset="0"/>
              <a:ea typeface="Helvetica Neue Light" panose="02000403000000020004" pitchFamily="2" charset="0"/>
              <a:cs typeface="Arial"/>
            </a:endParaRPr>
          </a:p>
          <a:p>
            <a:pPr>
              <a:lnSpc>
                <a:spcPct val="150000"/>
              </a:lnSpc>
              <a:spcBef>
                <a:spcPts val="5"/>
              </a:spcBef>
              <a:buClr>
                <a:srgbClr val="747474"/>
              </a:buClr>
            </a:pPr>
            <a:endParaRPr sz="2800" dirty="0">
              <a:solidFill>
                <a:schemeClr val="tx1">
                  <a:lumMod val="95000"/>
                  <a:lumOff val="5000"/>
                </a:schemeClr>
              </a:solidFill>
              <a:latin typeface="Helvetica Neue Light" panose="02000403000000020004" pitchFamily="2" charset="0"/>
              <a:ea typeface="Helvetica Neue Light" panose="02000403000000020004" pitchFamily="2" charset="0"/>
              <a:cs typeface="Times New Roman"/>
            </a:endParaRPr>
          </a:p>
          <a:p>
            <a:pPr marL="12700">
              <a:lnSpc>
                <a:spcPct val="150000"/>
              </a:lnSpc>
              <a:buClr>
                <a:srgbClr val="747474"/>
              </a:buClr>
              <a:buSzPct val="96153"/>
              <a:tabLst>
                <a:tab pos="186690" algn="l"/>
              </a:tabLst>
            </a:pPr>
            <a:r>
              <a:rPr sz="2800" dirty="0">
                <a:solidFill>
                  <a:schemeClr val="tx1">
                    <a:lumMod val="95000"/>
                    <a:lumOff val="5000"/>
                  </a:schemeClr>
                </a:solidFill>
                <a:latin typeface="Helvetica Neue Light" panose="02000403000000020004" pitchFamily="2" charset="0"/>
                <a:ea typeface="Helvetica Neue Light" panose="02000403000000020004" pitchFamily="2" charset="0"/>
                <a:cs typeface="Helvetica"/>
              </a:rPr>
              <a:t> </a:t>
            </a:r>
            <a:r>
              <a:rPr sz="2800" spc="-355" dirty="0">
                <a:solidFill>
                  <a:schemeClr val="tx1">
                    <a:lumMod val="95000"/>
                    <a:lumOff val="5000"/>
                  </a:schemeClr>
                </a:solidFill>
                <a:latin typeface="Helvetica Neue Light" panose="02000403000000020004" pitchFamily="2" charset="0"/>
                <a:ea typeface="Helvetica Neue Light" panose="02000403000000020004" pitchFamily="2" charset="0"/>
                <a:cs typeface="Helvetica"/>
              </a:rPr>
              <a:t> </a:t>
            </a:r>
            <a:r>
              <a:rPr sz="2800" spc="-10" dirty="0">
                <a:solidFill>
                  <a:srgbClr val="747474"/>
                </a:solidFill>
                <a:latin typeface="Helvetica Neue Light" panose="02000403000000020004" pitchFamily="2" charset="0"/>
                <a:ea typeface="Helvetica Neue Light" panose="02000403000000020004" pitchFamily="2" charset="0"/>
                <a:cs typeface="Arial"/>
                <a:hlinkClick r:id="rId2">
                  <a:extLst>
                    <a:ext uri="{A12FA001-AC4F-418D-AE19-62706E023703}">
                      <ahyp:hlinkClr xmlns:ahyp="http://schemas.microsoft.com/office/drawing/2018/hyperlinkcolor" val="tx"/>
                    </a:ext>
                  </a:extLst>
                </a:hlinkClick>
              </a:rPr>
              <a:t>https://css-tricks.com/almanac/properties/o/overflow</a:t>
            </a:r>
            <a:r>
              <a:rPr sz="2800" spc="-10" dirty="0">
                <a:solidFill>
                  <a:schemeClr val="tx1">
                    <a:lumMod val="95000"/>
                    <a:lumOff val="5000"/>
                  </a:schemeClr>
                </a:solidFill>
                <a:latin typeface="Helvetica Neue Light" panose="02000403000000020004" pitchFamily="2" charset="0"/>
                <a:ea typeface="Helvetica Neue Light" panose="02000403000000020004" pitchFamily="2" charset="0"/>
                <a:cs typeface="Arial"/>
                <a:hlinkClick r:id="rId2">
                  <a:extLst>
                    <a:ext uri="{A12FA001-AC4F-418D-AE19-62706E023703}">
                      <ahyp:hlinkClr xmlns:ahyp="http://schemas.microsoft.com/office/drawing/2018/hyperlinkcolor" val="tx"/>
                    </a:ext>
                  </a:extLst>
                </a:hlinkClick>
              </a:rPr>
              <a:t>/</a:t>
            </a:r>
            <a:endParaRPr lang="en-GB" sz="2800" spc="-10" dirty="0">
              <a:solidFill>
                <a:schemeClr val="tx1">
                  <a:lumMod val="95000"/>
                  <a:lumOff val="5000"/>
                </a:schemeClr>
              </a:solidFill>
              <a:latin typeface="Helvetica Neue Light" panose="02000403000000020004" pitchFamily="2" charset="0"/>
              <a:ea typeface="Helvetica Neue Light" panose="02000403000000020004" pitchFamily="2" charset="0"/>
              <a:cs typeface="Arial"/>
            </a:endParaRPr>
          </a:p>
          <a:p>
            <a:pPr marL="279400" indent="-266700">
              <a:lnSpc>
                <a:spcPct val="100000"/>
              </a:lnSpc>
              <a:buClr>
                <a:srgbClr val="747474"/>
              </a:buClr>
              <a:buSzPct val="96153"/>
              <a:buFont typeface="Trebuchet MS"/>
              <a:buChar char="•"/>
              <a:tabLst>
                <a:tab pos="186690" algn="l"/>
              </a:tabLst>
            </a:pPr>
            <a:endParaRPr sz="2600" dirty="0">
              <a:latin typeface="Arial"/>
              <a:cs typeface="Arial"/>
            </a:endParaRPr>
          </a:p>
          <a:p>
            <a:pPr>
              <a:lnSpc>
                <a:spcPct val="100000"/>
              </a:lnSpc>
              <a:buClr>
                <a:srgbClr val="747474"/>
              </a:buClr>
              <a:buFont typeface="Trebuchet MS"/>
              <a:buChar char="•"/>
            </a:pPr>
            <a:endParaRPr sz="2850" dirty="0">
              <a:latin typeface="Times New Roman"/>
              <a:cs typeface="Times New Roman"/>
            </a:endParaRPr>
          </a:p>
          <a:p>
            <a:pPr marL="12700">
              <a:lnSpc>
                <a:spcPct val="100000"/>
              </a:lnSpc>
              <a:spcBef>
                <a:spcPts val="5"/>
              </a:spcBef>
              <a:buClr>
                <a:srgbClr val="747474"/>
              </a:buClr>
              <a:buSzPct val="96153"/>
              <a:tabLst>
                <a:tab pos="186690" algn="l"/>
              </a:tabLst>
            </a:pPr>
            <a:r>
              <a:rPr sz="2600" spc="25" dirty="0">
                <a:solidFill>
                  <a:srgbClr val="747474"/>
                </a:solidFill>
                <a:latin typeface="Arial"/>
                <a:cs typeface="Arial"/>
              </a:rPr>
              <a:t>.</a:t>
            </a:r>
            <a:endParaRPr sz="2600" dirty="0">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1"/>
            <a:ext cx="13004800" cy="9753597"/>
          </a:xfrm>
          <a:prstGeom prst="rect">
            <a:avLst/>
          </a:prstGeom>
          <a:blipFill>
            <a:blip r:embed="rId2" cstate="print"/>
            <a:stretch>
              <a:fillRect/>
            </a:stretch>
          </a:blipFill>
        </p:spPr>
        <p:txBody>
          <a:bodyPr wrap="square" lIns="0" tIns="0" rIns="0" bIns="0" rtlCol="0"/>
          <a:lstStyle/>
          <a:p>
            <a:endParaRPr/>
          </a:p>
        </p:txBody>
      </p:sp>
      <p:sp>
        <p:nvSpPr>
          <p:cNvPr id="3" name="object 3">
            <a:extLst>
              <a:ext uri="{C183D7F6-B498-43B3-948B-1728B52AA6E4}">
                <adec:decorative xmlns:adec="http://schemas.microsoft.com/office/drawing/2017/decorative" val="1"/>
              </a:ext>
            </a:extLst>
          </p:cNvPr>
          <p:cNvSpPr/>
          <p:nvPr/>
        </p:nvSpPr>
        <p:spPr>
          <a:xfrm>
            <a:off x="701581" y="4427857"/>
            <a:ext cx="9055098" cy="2941228"/>
          </a:xfrm>
          <a:prstGeom prst="rect">
            <a:avLst/>
          </a:prstGeom>
          <a:blipFill>
            <a:blip r:embed="rId3" cstate="print"/>
            <a:stretch>
              <a:fillRect/>
            </a:stretch>
          </a:blip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787418" y="4965698"/>
            <a:ext cx="8775700" cy="2209800"/>
          </a:xfrm>
          <a:custGeom>
            <a:avLst/>
            <a:gdLst/>
            <a:ahLst/>
            <a:cxnLst/>
            <a:rect l="l" t="t" r="r" b="b"/>
            <a:pathLst>
              <a:path w="8775700" h="2209800">
                <a:moveTo>
                  <a:pt x="8521697" y="0"/>
                </a:moveTo>
                <a:lnTo>
                  <a:pt x="253999" y="0"/>
                </a:lnTo>
                <a:lnTo>
                  <a:pt x="208342" y="4091"/>
                </a:lnTo>
                <a:lnTo>
                  <a:pt x="165370" y="15890"/>
                </a:lnTo>
                <a:lnTo>
                  <a:pt x="125800" y="34677"/>
                </a:lnTo>
                <a:lnTo>
                  <a:pt x="90350" y="59736"/>
                </a:lnTo>
                <a:lnTo>
                  <a:pt x="59736" y="90349"/>
                </a:lnTo>
                <a:lnTo>
                  <a:pt x="34677" y="125799"/>
                </a:lnTo>
                <a:lnTo>
                  <a:pt x="15889" y="165369"/>
                </a:lnTo>
                <a:lnTo>
                  <a:pt x="4091" y="208342"/>
                </a:lnTo>
                <a:lnTo>
                  <a:pt x="0" y="254000"/>
                </a:lnTo>
                <a:lnTo>
                  <a:pt x="0" y="1955799"/>
                </a:lnTo>
                <a:lnTo>
                  <a:pt x="4091" y="2001457"/>
                </a:lnTo>
                <a:lnTo>
                  <a:pt x="15889" y="2044430"/>
                </a:lnTo>
                <a:lnTo>
                  <a:pt x="34677" y="2084000"/>
                </a:lnTo>
                <a:lnTo>
                  <a:pt x="59736" y="2119449"/>
                </a:lnTo>
                <a:lnTo>
                  <a:pt x="90350" y="2150063"/>
                </a:lnTo>
                <a:lnTo>
                  <a:pt x="125800" y="2175122"/>
                </a:lnTo>
                <a:lnTo>
                  <a:pt x="165370" y="2193909"/>
                </a:lnTo>
                <a:lnTo>
                  <a:pt x="208342" y="2205708"/>
                </a:lnTo>
                <a:lnTo>
                  <a:pt x="253999" y="2209799"/>
                </a:lnTo>
                <a:lnTo>
                  <a:pt x="8521697" y="2209799"/>
                </a:lnTo>
                <a:lnTo>
                  <a:pt x="8567354" y="2205708"/>
                </a:lnTo>
                <a:lnTo>
                  <a:pt x="8610327" y="2193909"/>
                </a:lnTo>
                <a:lnTo>
                  <a:pt x="8649897" y="2175122"/>
                </a:lnTo>
                <a:lnTo>
                  <a:pt x="8685347" y="2150063"/>
                </a:lnTo>
                <a:lnTo>
                  <a:pt x="8715960" y="2119449"/>
                </a:lnTo>
                <a:lnTo>
                  <a:pt x="8741020" y="2084000"/>
                </a:lnTo>
                <a:lnTo>
                  <a:pt x="8759807" y="2044430"/>
                </a:lnTo>
                <a:lnTo>
                  <a:pt x="8771604" y="2001457"/>
                </a:lnTo>
                <a:lnTo>
                  <a:pt x="8775697" y="1955799"/>
                </a:lnTo>
                <a:lnTo>
                  <a:pt x="8775697" y="254000"/>
                </a:lnTo>
                <a:lnTo>
                  <a:pt x="8771604" y="208342"/>
                </a:lnTo>
                <a:lnTo>
                  <a:pt x="8759807" y="165369"/>
                </a:lnTo>
                <a:lnTo>
                  <a:pt x="8741020" y="125799"/>
                </a:lnTo>
                <a:lnTo>
                  <a:pt x="8715960" y="90349"/>
                </a:lnTo>
                <a:lnTo>
                  <a:pt x="8685347" y="59736"/>
                </a:lnTo>
                <a:lnTo>
                  <a:pt x="8649897" y="34677"/>
                </a:lnTo>
                <a:lnTo>
                  <a:pt x="8610327" y="15890"/>
                </a:lnTo>
                <a:lnTo>
                  <a:pt x="8567354" y="4091"/>
                </a:lnTo>
                <a:lnTo>
                  <a:pt x="8521697" y="0"/>
                </a:lnTo>
                <a:close/>
              </a:path>
            </a:pathLst>
          </a:custGeom>
          <a:solidFill>
            <a:srgbClr val="000621"/>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1212868" y="4525568"/>
            <a:ext cx="530860" cy="440690"/>
          </a:xfrm>
          <a:custGeom>
            <a:avLst/>
            <a:gdLst/>
            <a:ahLst/>
            <a:cxnLst/>
            <a:rect l="l" t="t" r="r" b="b"/>
            <a:pathLst>
              <a:path w="530860" h="440689">
                <a:moveTo>
                  <a:pt x="265506" y="0"/>
                </a:moveTo>
                <a:lnTo>
                  <a:pt x="0" y="440129"/>
                </a:lnTo>
                <a:lnTo>
                  <a:pt x="530617" y="440129"/>
                </a:lnTo>
                <a:lnTo>
                  <a:pt x="265506" y="0"/>
                </a:lnTo>
                <a:close/>
              </a:path>
            </a:pathLst>
          </a:custGeom>
          <a:solidFill>
            <a:srgbClr val="000621"/>
          </a:solidFill>
        </p:spPr>
        <p:txBody>
          <a:bodyPr wrap="square" lIns="0" tIns="0" rIns="0" bIns="0" rtlCol="0"/>
          <a:lstStyle/>
          <a:p>
            <a:endParaRPr/>
          </a:p>
        </p:txBody>
      </p:sp>
      <p:sp>
        <p:nvSpPr>
          <p:cNvPr id="6" name="object 6">
            <a:extLst>
              <a:ext uri="{C183D7F6-B498-43B3-948B-1728B52AA6E4}">
                <adec:decorative xmlns:adec="http://schemas.microsoft.com/office/drawing/2017/decorative" val="1"/>
              </a:ext>
            </a:extLst>
          </p:cNvPr>
          <p:cNvSpPr/>
          <p:nvPr/>
        </p:nvSpPr>
        <p:spPr>
          <a:xfrm>
            <a:off x="787418" y="4525567"/>
            <a:ext cx="8775700" cy="2650490"/>
          </a:xfrm>
          <a:custGeom>
            <a:avLst/>
            <a:gdLst/>
            <a:ahLst/>
            <a:cxnLst/>
            <a:rect l="l" t="t" r="r" b="b"/>
            <a:pathLst>
              <a:path w="8775700" h="2650490">
                <a:moveTo>
                  <a:pt x="690957" y="0"/>
                </a:moveTo>
                <a:lnTo>
                  <a:pt x="425449" y="440132"/>
                </a:lnTo>
                <a:lnTo>
                  <a:pt x="253999" y="440132"/>
                </a:lnTo>
                <a:lnTo>
                  <a:pt x="208342" y="444225"/>
                </a:lnTo>
                <a:lnTo>
                  <a:pt x="165370" y="456024"/>
                </a:lnTo>
                <a:lnTo>
                  <a:pt x="125800" y="474812"/>
                </a:lnTo>
                <a:lnTo>
                  <a:pt x="90350" y="499870"/>
                </a:lnTo>
                <a:lnTo>
                  <a:pt x="59736" y="530483"/>
                </a:lnTo>
                <a:lnTo>
                  <a:pt x="34678" y="565934"/>
                </a:lnTo>
                <a:lnTo>
                  <a:pt x="15890" y="605503"/>
                </a:lnTo>
                <a:lnTo>
                  <a:pt x="4091" y="648475"/>
                </a:lnTo>
                <a:lnTo>
                  <a:pt x="0" y="694132"/>
                </a:lnTo>
                <a:lnTo>
                  <a:pt x="0" y="2395932"/>
                </a:lnTo>
                <a:lnTo>
                  <a:pt x="4091" y="2441590"/>
                </a:lnTo>
                <a:lnTo>
                  <a:pt x="15890" y="2484563"/>
                </a:lnTo>
                <a:lnTo>
                  <a:pt x="34678" y="2524133"/>
                </a:lnTo>
                <a:lnTo>
                  <a:pt x="59736" y="2559583"/>
                </a:lnTo>
                <a:lnTo>
                  <a:pt x="90350" y="2590196"/>
                </a:lnTo>
                <a:lnTo>
                  <a:pt x="125800" y="2615255"/>
                </a:lnTo>
                <a:lnTo>
                  <a:pt x="165370" y="2634042"/>
                </a:lnTo>
                <a:lnTo>
                  <a:pt x="208342" y="2645840"/>
                </a:lnTo>
                <a:lnTo>
                  <a:pt x="253999" y="2649932"/>
                </a:lnTo>
                <a:lnTo>
                  <a:pt x="8521696" y="2649932"/>
                </a:lnTo>
                <a:lnTo>
                  <a:pt x="8567353" y="2645840"/>
                </a:lnTo>
                <a:lnTo>
                  <a:pt x="8610326" y="2634042"/>
                </a:lnTo>
                <a:lnTo>
                  <a:pt x="8649896" y="2615255"/>
                </a:lnTo>
                <a:lnTo>
                  <a:pt x="8685346" y="2590196"/>
                </a:lnTo>
                <a:lnTo>
                  <a:pt x="8715959" y="2559583"/>
                </a:lnTo>
                <a:lnTo>
                  <a:pt x="8741018" y="2524133"/>
                </a:lnTo>
                <a:lnTo>
                  <a:pt x="8759805" y="2484563"/>
                </a:lnTo>
                <a:lnTo>
                  <a:pt x="8771603" y="2441590"/>
                </a:lnTo>
                <a:lnTo>
                  <a:pt x="8775696" y="2395932"/>
                </a:lnTo>
                <a:lnTo>
                  <a:pt x="8775696" y="694132"/>
                </a:lnTo>
                <a:lnTo>
                  <a:pt x="8771603" y="648475"/>
                </a:lnTo>
                <a:lnTo>
                  <a:pt x="8759805" y="605503"/>
                </a:lnTo>
                <a:lnTo>
                  <a:pt x="8741018" y="565934"/>
                </a:lnTo>
                <a:lnTo>
                  <a:pt x="8715959" y="530483"/>
                </a:lnTo>
                <a:lnTo>
                  <a:pt x="8685346" y="499870"/>
                </a:lnTo>
                <a:lnTo>
                  <a:pt x="8649896" y="474812"/>
                </a:lnTo>
                <a:lnTo>
                  <a:pt x="8610326" y="456024"/>
                </a:lnTo>
                <a:lnTo>
                  <a:pt x="8567353" y="444225"/>
                </a:lnTo>
                <a:lnTo>
                  <a:pt x="8521696" y="440132"/>
                </a:lnTo>
                <a:lnTo>
                  <a:pt x="956071" y="440132"/>
                </a:lnTo>
                <a:lnTo>
                  <a:pt x="690957" y="0"/>
                </a:lnTo>
                <a:close/>
              </a:path>
            </a:pathLst>
          </a:custGeom>
          <a:ln w="25399">
            <a:solidFill>
              <a:srgbClr val="FFFFFF"/>
            </a:solidFill>
          </a:ln>
        </p:spPr>
        <p:txBody>
          <a:bodyPr wrap="square" lIns="0" tIns="0" rIns="0" bIns="0" rtlCol="0"/>
          <a:lstStyle/>
          <a:p>
            <a:endParaRPr/>
          </a:p>
        </p:txBody>
      </p:sp>
      <p:sp>
        <p:nvSpPr>
          <p:cNvPr id="7" name="object 7"/>
          <p:cNvSpPr txBox="1"/>
          <p:nvPr/>
        </p:nvSpPr>
        <p:spPr>
          <a:xfrm>
            <a:off x="1555388" y="5305538"/>
            <a:ext cx="7228205" cy="1508760"/>
          </a:xfrm>
          <a:prstGeom prst="rect">
            <a:avLst/>
          </a:prstGeom>
        </p:spPr>
        <p:txBody>
          <a:bodyPr vert="horz" wrap="square" lIns="0" tIns="58419" rIns="0" bIns="0" rtlCol="0">
            <a:spAutoFit/>
          </a:bodyPr>
          <a:lstStyle/>
          <a:p>
            <a:pPr marL="12700" marR="5080" algn="ctr">
              <a:lnSpc>
                <a:spcPts val="3800"/>
              </a:lnSpc>
              <a:spcBef>
                <a:spcPts val="459"/>
              </a:spcBef>
            </a:pPr>
            <a:r>
              <a:rPr sz="3400" i="1" spc="-10" dirty="0">
                <a:solidFill>
                  <a:srgbClr val="FFFFFF"/>
                </a:solidFill>
                <a:latin typeface="Georgia"/>
                <a:cs typeface="Georgia"/>
              </a:rPr>
              <a:t>Excellent. </a:t>
            </a:r>
            <a:r>
              <a:rPr sz="3400" i="1" dirty="0">
                <a:solidFill>
                  <a:srgbClr val="FFFFFF"/>
                </a:solidFill>
                <a:latin typeface="Georgia"/>
                <a:cs typeface="Georgia"/>
              </a:rPr>
              <a:t>This </a:t>
            </a:r>
            <a:r>
              <a:rPr sz="3400" i="1" spc="-5" dirty="0">
                <a:solidFill>
                  <a:srgbClr val="FFFFFF"/>
                </a:solidFill>
                <a:latin typeface="Georgia"/>
                <a:cs typeface="Georgia"/>
              </a:rPr>
              <a:t>fixes </a:t>
            </a:r>
            <a:r>
              <a:rPr sz="3400" i="1" dirty="0">
                <a:solidFill>
                  <a:srgbClr val="FFFFFF"/>
                </a:solidFill>
                <a:latin typeface="Georgia"/>
                <a:cs typeface="Georgia"/>
              </a:rPr>
              <a:t>the issue with</a:t>
            </a:r>
            <a:r>
              <a:rPr sz="3400" i="1" spc="-90" dirty="0">
                <a:solidFill>
                  <a:srgbClr val="FFFFFF"/>
                </a:solidFill>
                <a:latin typeface="Georgia"/>
                <a:cs typeface="Georgia"/>
              </a:rPr>
              <a:t> </a:t>
            </a:r>
            <a:r>
              <a:rPr sz="3400" i="1" spc="-5" dirty="0">
                <a:solidFill>
                  <a:srgbClr val="FFFFFF"/>
                </a:solidFill>
                <a:latin typeface="Georgia"/>
                <a:cs typeface="Georgia"/>
              </a:rPr>
              <a:t>the  </a:t>
            </a:r>
            <a:r>
              <a:rPr sz="3400" i="1" spc="-10" dirty="0">
                <a:solidFill>
                  <a:srgbClr val="FFFFFF"/>
                </a:solidFill>
                <a:latin typeface="Georgia"/>
                <a:cs typeface="Georgia"/>
              </a:rPr>
              <a:t>container and makes </a:t>
            </a:r>
            <a:r>
              <a:rPr sz="3400" i="1" spc="-5" dirty="0">
                <a:solidFill>
                  <a:srgbClr val="FFFFFF"/>
                </a:solidFill>
                <a:latin typeface="Georgia"/>
                <a:cs typeface="Georgia"/>
              </a:rPr>
              <a:t>our </a:t>
            </a:r>
            <a:r>
              <a:rPr sz="3400" i="1" spc="-10" dirty="0">
                <a:solidFill>
                  <a:srgbClr val="FFFFFF"/>
                </a:solidFill>
                <a:latin typeface="Georgia"/>
                <a:cs typeface="Georgia"/>
              </a:rPr>
              <a:t>layout </a:t>
            </a:r>
            <a:r>
              <a:rPr sz="3400" i="1" spc="-5" dirty="0">
                <a:solidFill>
                  <a:srgbClr val="FFFFFF"/>
                </a:solidFill>
                <a:latin typeface="Georgia"/>
                <a:cs typeface="Georgia"/>
              </a:rPr>
              <a:t>as  expected.</a:t>
            </a:r>
            <a:endParaRPr sz="3400">
              <a:latin typeface="Georgia"/>
              <a:cs typeface="Georgi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46125" y="3331505"/>
            <a:ext cx="11512550" cy="3090590"/>
          </a:xfrm>
          <a:prstGeom prst="rect">
            <a:avLst/>
          </a:prstGeom>
        </p:spPr>
        <p:txBody>
          <a:bodyPr vert="horz" wrap="square" lIns="0" tIns="12700" rIns="0" bIns="0" rtlCol="0">
            <a:spAutoFit/>
          </a:bodyPr>
          <a:lstStyle/>
          <a:p>
            <a:pPr marL="12700" algn="ctr">
              <a:lnSpc>
                <a:spcPct val="100000"/>
              </a:lnSpc>
              <a:spcBef>
                <a:spcPts val="100"/>
              </a:spcBef>
            </a:pPr>
            <a:r>
              <a:rPr sz="20000" b="0" spc="-135" dirty="0">
                <a:solidFill>
                  <a:srgbClr val="000000"/>
                </a:solidFill>
                <a:latin typeface="American Typewriter" panose="02090604020004020304" pitchFamily="18" charset="77"/>
              </a:rPr>
              <a:t>F</a:t>
            </a:r>
            <a:r>
              <a:rPr lang="en-GB" sz="20000" b="0" spc="-135" dirty="0" err="1">
                <a:solidFill>
                  <a:srgbClr val="000000"/>
                </a:solidFill>
                <a:latin typeface="American Typewriter" panose="02090604020004020304" pitchFamily="18" charset="77"/>
              </a:rPr>
              <a:t>lexbox</a:t>
            </a:r>
            <a:endParaRPr sz="20000" dirty="0">
              <a:latin typeface="American Typewriter" panose="02090604020004020304" pitchFamily="18" charset="77"/>
            </a:endParaRPr>
          </a:p>
        </p:txBody>
      </p:sp>
      <p:sp>
        <p:nvSpPr>
          <p:cNvPr id="4" name="object 4"/>
          <p:cNvSpPr txBox="1"/>
          <p:nvPr/>
        </p:nvSpPr>
        <p:spPr>
          <a:xfrm>
            <a:off x="596900" y="2357107"/>
            <a:ext cx="11703050" cy="679032"/>
          </a:xfrm>
          <a:prstGeom prst="rect">
            <a:avLst/>
          </a:prstGeom>
        </p:spPr>
        <p:txBody>
          <a:bodyPr vert="horz" wrap="square" lIns="0" tIns="1905" rIns="0" bIns="0" rtlCol="0">
            <a:spAutoFit/>
          </a:bodyPr>
          <a:lstStyle/>
          <a:p>
            <a:endParaRPr lang="en-GB" dirty="0"/>
          </a:p>
          <a:p>
            <a:pPr marL="12700">
              <a:lnSpc>
                <a:spcPct val="100000"/>
              </a:lnSpc>
              <a:spcBef>
                <a:spcPts val="5"/>
              </a:spcBef>
              <a:buClr>
                <a:srgbClr val="747474"/>
              </a:buClr>
              <a:buSzPct val="96153"/>
              <a:tabLst>
                <a:tab pos="186690" algn="l"/>
              </a:tabLst>
            </a:pPr>
            <a:r>
              <a:rPr sz="2600" spc="25" dirty="0">
                <a:solidFill>
                  <a:srgbClr val="747474"/>
                </a:solidFill>
                <a:latin typeface="Arial"/>
                <a:cs typeface="Arial"/>
              </a:rPr>
              <a:t>.</a:t>
            </a:r>
            <a:endParaRPr sz="2600" dirty="0">
              <a:latin typeface="Arial"/>
              <a:cs typeface="Arial"/>
            </a:endParaRPr>
          </a:p>
        </p:txBody>
      </p:sp>
      <p:sp>
        <p:nvSpPr>
          <p:cNvPr id="10" name="TextBox 9">
            <a:extLst>
              <a:ext uri="{FF2B5EF4-FFF2-40B4-BE49-F238E27FC236}">
                <a16:creationId xmlns:a16="http://schemas.microsoft.com/office/drawing/2014/main" id="{B0FFD0ED-D297-924C-AADA-714F8E6E93F5}"/>
              </a:ext>
              <a:ext uri="{C183D7F6-B498-43B3-948B-1728B52AA6E4}">
                <adec:decorative xmlns:adec="http://schemas.microsoft.com/office/drawing/2017/decorative" val="1"/>
              </a:ext>
            </a:extLst>
          </p:cNvPr>
          <p:cNvSpPr txBox="1"/>
          <p:nvPr/>
        </p:nvSpPr>
        <p:spPr>
          <a:xfrm>
            <a:off x="4070555" y="4586748"/>
            <a:ext cx="184731" cy="646331"/>
          </a:xfrm>
          <a:prstGeom prst="rect">
            <a:avLst/>
          </a:prstGeom>
          <a:noFill/>
        </p:spPr>
        <p:txBody>
          <a:bodyPr wrap="none" rtlCol="0">
            <a:spAutoFit/>
          </a:bodyPr>
          <a:lstStyle/>
          <a:p>
            <a:endParaRPr lang="en-GB" dirty="0"/>
          </a:p>
          <a:p>
            <a:endParaRPr lang="en-US" dirty="0"/>
          </a:p>
        </p:txBody>
      </p:sp>
    </p:spTree>
    <p:extLst>
      <p:ext uri="{BB962C8B-B14F-4D97-AF65-F5344CB8AC3E}">
        <p14:creationId xmlns:p14="http://schemas.microsoft.com/office/powerpoint/2010/main" val="3263492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4000500" cy="659155"/>
          </a:xfrm>
          <a:prstGeom prst="rect">
            <a:avLst/>
          </a:prstGeom>
        </p:spPr>
        <p:txBody>
          <a:bodyPr vert="horz" wrap="square" lIns="0" tIns="12700" rIns="0" bIns="0" rtlCol="0">
            <a:spAutoFit/>
          </a:bodyPr>
          <a:lstStyle/>
          <a:p>
            <a:pPr marL="12700">
              <a:lnSpc>
                <a:spcPct val="100000"/>
              </a:lnSpc>
              <a:spcBef>
                <a:spcPts val="100"/>
              </a:spcBef>
            </a:pPr>
            <a:r>
              <a:rPr sz="4200" b="0" spc="-135" dirty="0">
                <a:solidFill>
                  <a:srgbClr val="000000"/>
                </a:solidFill>
                <a:latin typeface="Arial"/>
                <a:cs typeface="Arial"/>
              </a:rPr>
              <a:t>F</a:t>
            </a:r>
            <a:r>
              <a:rPr lang="en-GB" sz="4200" b="0" spc="-135" dirty="0" err="1">
                <a:solidFill>
                  <a:srgbClr val="000000"/>
                </a:solidFill>
                <a:latin typeface="Arial"/>
                <a:cs typeface="Arial"/>
              </a:rPr>
              <a:t>lexbox</a:t>
            </a:r>
            <a:endParaRPr sz="4200" dirty="0">
              <a:latin typeface="Arial"/>
              <a:cs typeface="Arial"/>
            </a:endParaRPr>
          </a:p>
        </p:txBody>
      </p:sp>
      <p:sp>
        <p:nvSpPr>
          <p:cNvPr id="4" name="object 4"/>
          <p:cNvSpPr txBox="1"/>
          <p:nvPr/>
        </p:nvSpPr>
        <p:spPr>
          <a:xfrm>
            <a:off x="596900" y="2357107"/>
            <a:ext cx="11703050" cy="679032"/>
          </a:xfrm>
          <a:prstGeom prst="rect">
            <a:avLst/>
          </a:prstGeom>
        </p:spPr>
        <p:txBody>
          <a:bodyPr vert="horz" wrap="square" lIns="0" tIns="1905" rIns="0" bIns="0" rtlCol="0">
            <a:spAutoFit/>
          </a:bodyPr>
          <a:lstStyle/>
          <a:p>
            <a:endParaRPr lang="en-GB" dirty="0"/>
          </a:p>
          <a:p>
            <a:pPr marL="12700">
              <a:lnSpc>
                <a:spcPct val="100000"/>
              </a:lnSpc>
              <a:spcBef>
                <a:spcPts val="5"/>
              </a:spcBef>
              <a:buClr>
                <a:srgbClr val="747474"/>
              </a:buClr>
              <a:buSzPct val="96153"/>
              <a:tabLst>
                <a:tab pos="186690" algn="l"/>
              </a:tabLst>
            </a:pPr>
            <a:r>
              <a:rPr sz="2600" spc="25" dirty="0">
                <a:solidFill>
                  <a:srgbClr val="747474"/>
                </a:solidFill>
                <a:latin typeface="Arial"/>
                <a:cs typeface="Arial"/>
              </a:rPr>
              <a:t>.</a:t>
            </a:r>
            <a:endParaRPr sz="2600" dirty="0">
              <a:latin typeface="Arial"/>
              <a:cs typeface="Arial"/>
            </a:endParaRPr>
          </a:p>
        </p:txBody>
      </p:sp>
      <p:sp>
        <p:nvSpPr>
          <p:cNvPr id="10" name="TextBox 9">
            <a:extLst>
              <a:ext uri="{FF2B5EF4-FFF2-40B4-BE49-F238E27FC236}">
                <a16:creationId xmlns:a16="http://schemas.microsoft.com/office/drawing/2014/main" id="{B0FFD0ED-D297-924C-AADA-714F8E6E93F5}"/>
              </a:ext>
              <a:ext uri="{C183D7F6-B498-43B3-948B-1728B52AA6E4}">
                <adec:decorative xmlns:adec="http://schemas.microsoft.com/office/drawing/2017/decorative" val="1"/>
              </a:ext>
            </a:extLst>
          </p:cNvPr>
          <p:cNvSpPr txBox="1"/>
          <p:nvPr/>
        </p:nvSpPr>
        <p:spPr>
          <a:xfrm>
            <a:off x="4070555" y="4586748"/>
            <a:ext cx="184731" cy="646331"/>
          </a:xfrm>
          <a:prstGeom prst="rect">
            <a:avLst/>
          </a:prstGeom>
          <a:noFill/>
        </p:spPr>
        <p:txBody>
          <a:bodyPr wrap="none" rtlCol="0">
            <a:spAutoFit/>
          </a:bodyPr>
          <a:lstStyle/>
          <a:p>
            <a:endParaRPr lang="en-GB" dirty="0"/>
          </a:p>
          <a:p>
            <a:endParaRPr lang="en-US" dirty="0"/>
          </a:p>
        </p:txBody>
      </p:sp>
      <p:sp>
        <p:nvSpPr>
          <p:cNvPr id="14" name="TextBox 13">
            <a:extLst>
              <a:ext uri="{FF2B5EF4-FFF2-40B4-BE49-F238E27FC236}">
                <a16:creationId xmlns:a16="http://schemas.microsoft.com/office/drawing/2014/main" id="{3BA22A07-F5A4-BF49-AC09-1659FF067021}"/>
              </a:ext>
            </a:extLst>
          </p:cNvPr>
          <p:cNvSpPr txBox="1"/>
          <p:nvPr/>
        </p:nvSpPr>
        <p:spPr>
          <a:xfrm>
            <a:off x="575154" y="2624455"/>
            <a:ext cx="11544300" cy="51927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2800" dirty="0">
                <a:latin typeface="Helvetica Neue" panose="02000503000000020004" pitchFamily="2" charset="0"/>
                <a:ea typeface="Helvetica Neue" panose="02000503000000020004" pitchFamily="2" charset="0"/>
                <a:cs typeface="Helvetica Neue" panose="02000503000000020004" pitchFamily="2" charset="0"/>
              </a:rPr>
              <a:t>Flexbox, also called Flexible Box Module, is one of the two modern layouts systems, along with CSS Grid.</a:t>
            </a:r>
          </a:p>
          <a:p>
            <a:pPr marL="342900" indent="-342900">
              <a:lnSpc>
                <a:spcPct val="150000"/>
              </a:lnSpc>
              <a:buFont typeface="Arial" panose="020B0604020202020204" pitchFamily="34" charset="0"/>
              <a:buChar char="•"/>
            </a:pPr>
            <a:r>
              <a:rPr lang="en-GB" sz="2800" dirty="0">
                <a:latin typeface="Helvetica Neue" panose="02000503000000020004" pitchFamily="2" charset="0"/>
                <a:ea typeface="Helvetica Neue" panose="02000503000000020004" pitchFamily="2" charset="0"/>
                <a:cs typeface="Helvetica Neue" panose="02000503000000020004" pitchFamily="2" charset="0"/>
              </a:rPr>
              <a:t>Compared to CSS Grid (which is bi-dimensional), flexbox is a one-dimensional layout model.</a:t>
            </a:r>
          </a:p>
          <a:p>
            <a:pPr marL="342900" indent="-342900">
              <a:lnSpc>
                <a:spcPct val="150000"/>
              </a:lnSpc>
              <a:buFont typeface="Arial" panose="020B0604020202020204" pitchFamily="34" charset="0"/>
              <a:buChar char="•"/>
            </a:pPr>
            <a:r>
              <a:rPr lang="en-GB" sz="2800" dirty="0">
                <a:latin typeface="Helvetica Neue" panose="02000503000000020004" pitchFamily="2" charset="0"/>
                <a:ea typeface="Helvetica Neue" panose="02000503000000020004" pitchFamily="2" charset="0"/>
                <a:cs typeface="Helvetica Neue" panose="02000503000000020004" pitchFamily="2" charset="0"/>
              </a:rPr>
              <a:t>It will control the layout based on a row or on a column, but not together at the same time.</a:t>
            </a:r>
          </a:p>
          <a:p>
            <a:pPr marL="342900" indent="-342900">
              <a:lnSpc>
                <a:spcPct val="150000"/>
              </a:lnSpc>
              <a:buFont typeface="Arial" panose="020B0604020202020204" pitchFamily="34" charset="0"/>
              <a:buChar char="•"/>
            </a:pPr>
            <a:r>
              <a:rPr lang="en-GB" sz="2800" dirty="0">
                <a:latin typeface="Helvetica Neue" panose="02000503000000020004" pitchFamily="2" charset="0"/>
                <a:ea typeface="Helvetica Neue" panose="02000503000000020004" pitchFamily="2" charset="0"/>
                <a:cs typeface="Helvetica Neue" panose="02000503000000020004" pitchFamily="2" charset="0"/>
              </a:rPr>
              <a:t>The Flexible Box Layout Module, makes it easier to design flexible responsive layout structure without using float or positioning.</a:t>
            </a:r>
          </a:p>
        </p:txBody>
      </p:sp>
    </p:spTree>
    <p:extLst>
      <p:ext uri="{BB962C8B-B14F-4D97-AF65-F5344CB8AC3E}">
        <p14:creationId xmlns:p14="http://schemas.microsoft.com/office/powerpoint/2010/main" val="3694927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4000500" cy="659155"/>
          </a:xfrm>
          <a:prstGeom prst="rect">
            <a:avLst/>
          </a:prstGeom>
        </p:spPr>
        <p:txBody>
          <a:bodyPr vert="horz" wrap="square" lIns="0" tIns="12700" rIns="0" bIns="0" rtlCol="0">
            <a:spAutoFit/>
          </a:bodyPr>
          <a:lstStyle/>
          <a:p>
            <a:pPr marL="12700">
              <a:lnSpc>
                <a:spcPct val="100000"/>
              </a:lnSpc>
              <a:spcBef>
                <a:spcPts val="100"/>
              </a:spcBef>
            </a:pPr>
            <a:r>
              <a:rPr lang="en-GB" sz="4200" b="0" spc="-135" dirty="0">
                <a:solidFill>
                  <a:srgbClr val="000000"/>
                </a:solidFill>
                <a:latin typeface="Arial"/>
                <a:cs typeface="Arial"/>
              </a:rPr>
              <a:t>Enable </a:t>
            </a:r>
            <a:r>
              <a:rPr sz="4200" b="0" spc="-135" dirty="0">
                <a:solidFill>
                  <a:srgbClr val="000000"/>
                </a:solidFill>
                <a:latin typeface="Arial"/>
                <a:cs typeface="Arial"/>
              </a:rPr>
              <a:t>F</a:t>
            </a:r>
            <a:r>
              <a:rPr lang="en-GB" sz="4200" b="0" spc="-135" dirty="0" err="1">
                <a:solidFill>
                  <a:srgbClr val="000000"/>
                </a:solidFill>
                <a:latin typeface="Arial"/>
                <a:cs typeface="Arial"/>
              </a:rPr>
              <a:t>lexbox</a:t>
            </a:r>
            <a:endParaRPr sz="4200" dirty="0">
              <a:latin typeface="Arial"/>
              <a:cs typeface="Arial"/>
            </a:endParaRPr>
          </a:p>
        </p:txBody>
      </p:sp>
      <p:sp>
        <p:nvSpPr>
          <p:cNvPr id="4" name="object 4"/>
          <p:cNvSpPr txBox="1"/>
          <p:nvPr/>
        </p:nvSpPr>
        <p:spPr>
          <a:xfrm>
            <a:off x="596900" y="2357107"/>
            <a:ext cx="11703050" cy="679032"/>
          </a:xfrm>
          <a:prstGeom prst="rect">
            <a:avLst/>
          </a:prstGeom>
        </p:spPr>
        <p:txBody>
          <a:bodyPr vert="horz" wrap="square" lIns="0" tIns="1905" rIns="0" bIns="0" rtlCol="0">
            <a:spAutoFit/>
          </a:bodyPr>
          <a:lstStyle/>
          <a:p>
            <a:endParaRPr lang="en-GB" dirty="0"/>
          </a:p>
          <a:p>
            <a:pPr marL="12700">
              <a:lnSpc>
                <a:spcPct val="100000"/>
              </a:lnSpc>
              <a:spcBef>
                <a:spcPts val="5"/>
              </a:spcBef>
              <a:buClr>
                <a:srgbClr val="747474"/>
              </a:buClr>
              <a:buSzPct val="96153"/>
              <a:tabLst>
                <a:tab pos="186690" algn="l"/>
              </a:tabLst>
            </a:pPr>
            <a:r>
              <a:rPr sz="2600" spc="25" dirty="0">
                <a:solidFill>
                  <a:srgbClr val="747474"/>
                </a:solidFill>
                <a:latin typeface="Arial"/>
                <a:cs typeface="Arial"/>
              </a:rPr>
              <a:t>.</a:t>
            </a:r>
            <a:endParaRPr sz="2600" dirty="0">
              <a:latin typeface="Arial"/>
              <a:cs typeface="Arial"/>
            </a:endParaRPr>
          </a:p>
        </p:txBody>
      </p:sp>
      <p:sp>
        <p:nvSpPr>
          <p:cNvPr id="10" name="TextBox 9">
            <a:extLst>
              <a:ext uri="{FF2B5EF4-FFF2-40B4-BE49-F238E27FC236}">
                <a16:creationId xmlns:a16="http://schemas.microsoft.com/office/drawing/2014/main" id="{B0FFD0ED-D297-924C-AADA-714F8E6E93F5}"/>
              </a:ext>
              <a:ext uri="{C183D7F6-B498-43B3-948B-1728B52AA6E4}">
                <adec:decorative xmlns:adec="http://schemas.microsoft.com/office/drawing/2017/decorative" val="1"/>
              </a:ext>
            </a:extLst>
          </p:cNvPr>
          <p:cNvSpPr txBox="1"/>
          <p:nvPr/>
        </p:nvSpPr>
        <p:spPr>
          <a:xfrm>
            <a:off x="4070555" y="4586748"/>
            <a:ext cx="184731" cy="646331"/>
          </a:xfrm>
          <a:prstGeom prst="rect">
            <a:avLst/>
          </a:prstGeom>
          <a:noFill/>
        </p:spPr>
        <p:txBody>
          <a:bodyPr wrap="none" rtlCol="0">
            <a:spAutoFit/>
          </a:bodyPr>
          <a:lstStyle/>
          <a:p>
            <a:endParaRPr lang="en-GB" dirty="0"/>
          </a:p>
          <a:p>
            <a:endParaRPr lang="en-US" dirty="0"/>
          </a:p>
        </p:txBody>
      </p:sp>
      <p:sp>
        <p:nvSpPr>
          <p:cNvPr id="14" name="TextBox 13">
            <a:extLst>
              <a:ext uri="{FF2B5EF4-FFF2-40B4-BE49-F238E27FC236}">
                <a16:creationId xmlns:a16="http://schemas.microsoft.com/office/drawing/2014/main" id="{3BA22A07-F5A4-BF49-AC09-1659FF067021}"/>
              </a:ext>
            </a:extLst>
          </p:cNvPr>
          <p:cNvSpPr txBox="1"/>
          <p:nvPr/>
        </p:nvSpPr>
        <p:spPr>
          <a:xfrm>
            <a:off x="575154" y="2624455"/>
            <a:ext cx="11544300" cy="5355312"/>
          </a:xfrm>
          <a:prstGeom prst="rect">
            <a:avLst/>
          </a:prstGeom>
          <a:noFill/>
        </p:spPr>
        <p:txBody>
          <a:bodyPr wrap="square" rtlCol="0">
            <a:spAutoFit/>
          </a:bodyPr>
          <a:lstStyle/>
          <a:p>
            <a:pPr>
              <a:lnSpc>
                <a:spcPct val="150000"/>
              </a:lnSpc>
            </a:pPr>
            <a:r>
              <a:rPr lang="en-GB" sz="3600" dirty="0">
                <a:latin typeface="Helvetica Neue" panose="02000503000000020004" pitchFamily="2" charset="0"/>
                <a:ea typeface="Helvetica Neue" panose="02000503000000020004" pitchFamily="2" charset="0"/>
                <a:cs typeface="Helvetica Neue" panose="02000503000000020004" pitchFamily="2" charset="0"/>
              </a:rPr>
              <a:t>A flexbox layout is applied to a container, by setting</a:t>
            </a:r>
          </a:p>
          <a:p>
            <a:pPr>
              <a:lnSpc>
                <a:spcPct val="150000"/>
              </a:lnSpc>
            </a:pPr>
            <a:endParaRPr lang="en-GB" sz="3600" dirty="0">
              <a:latin typeface="Helvetica Neue" panose="02000503000000020004" pitchFamily="2" charset="0"/>
              <a:ea typeface="Helvetica Neue" panose="02000503000000020004" pitchFamily="2" charset="0"/>
              <a:cs typeface="Helvetica Neue" panose="02000503000000020004" pitchFamily="2" charset="0"/>
            </a:endParaRPr>
          </a:p>
          <a:p>
            <a:pPr>
              <a:lnSpc>
                <a:spcPct val="150000"/>
              </a:lnSpc>
            </a:pPr>
            <a:r>
              <a:rPr lang="en-GB" sz="3600" dirty="0">
                <a:latin typeface="Courier New" panose="02070309020205020404" pitchFamily="49" charset="0"/>
                <a:ea typeface="Helvetica Neue" panose="02000503000000020004" pitchFamily="2" charset="0"/>
                <a:cs typeface="Courier New" panose="02070309020205020404" pitchFamily="49" charset="0"/>
              </a:rPr>
              <a:t>display: flex;</a:t>
            </a:r>
          </a:p>
          <a:p>
            <a:pPr>
              <a:lnSpc>
                <a:spcPct val="150000"/>
              </a:lnSpc>
            </a:pPr>
            <a:endParaRPr lang="en-GB" sz="3600" dirty="0">
              <a:latin typeface="Courier New" panose="02070309020205020404" pitchFamily="49" charset="0"/>
              <a:ea typeface="Helvetica Neue" panose="02000503000000020004" pitchFamily="2" charset="0"/>
              <a:cs typeface="Courier New" panose="02070309020205020404" pitchFamily="49" charset="0"/>
            </a:endParaRPr>
          </a:p>
          <a:p>
            <a:pPr>
              <a:lnSpc>
                <a:spcPct val="150000"/>
              </a:lnSpc>
            </a:pPr>
            <a:r>
              <a:rPr lang="en-GB" sz="3600" dirty="0">
                <a:latin typeface="Helvetica Neue" panose="02000503000000020004" pitchFamily="2" charset="0"/>
                <a:ea typeface="Helvetica Neue" panose="02000503000000020004" pitchFamily="2" charset="0"/>
                <a:cs typeface="Helvetica Neue" panose="02000503000000020004" pitchFamily="2" charset="0"/>
              </a:rPr>
              <a:t>the content inside the container will be aligned using flexbox</a:t>
            </a:r>
            <a:r>
              <a:rPr lang="en-GB" dirty="0"/>
              <a:t>.</a:t>
            </a:r>
          </a:p>
          <a:p>
            <a:endParaRPr lang="en-GB" dirty="0"/>
          </a:p>
        </p:txBody>
      </p:sp>
    </p:spTree>
    <p:extLst>
      <p:ext uri="{BB962C8B-B14F-4D97-AF65-F5344CB8AC3E}">
        <p14:creationId xmlns:p14="http://schemas.microsoft.com/office/powerpoint/2010/main" val="4043565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4000500" cy="659155"/>
          </a:xfrm>
          <a:prstGeom prst="rect">
            <a:avLst/>
          </a:prstGeom>
        </p:spPr>
        <p:txBody>
          <a:bodyPr vert="horz" wrap="square" lIns="0" tIns="12700" rIns="0" bIns="0" rtlCol="0">
            <a:spAutoFit/>
          </a:bodyPr>
          <a:lstStyle/>
          <a:p>
            <a:pPr marL="12700">
              <a:lnSpc>
                <a:spcPct val="100000"/>
              </a:lnSpc>
              <a:spcBef>
                <a:spcPts val="100"/>
              </a:spcBef>
            </a:pPr>
            <a:r>
              <a:rPr lang="en-GB" sz="4200" b="0" spc="-135" dirty="0">
                <a:solidFill>
                  <a:srgbClr val="000000"/>
                </a:solidFill>
                <a:latin typeface="Arial"/>
                <a:cs typeface="Arial"/>
              </a:rPr>
              <a:t>Flex Direction</a:t>
            </a:r>
            <a:endParaRPr sz="4200" dirty="0">
              <a:latin typeface="Arial"/>
              <a:cs typeface="Arial"/>
            </a:endParaRPr>
          </a:p>
        </p:txBody>
      </p:sp>
      <p:sp>
        <p:nvSpPr>
          <p:cNvPr id="4" name="object 4"/>
          <p:cNvSpPr txBox="1"/>
          <p:nvPr/>
        </p:nvSpPr>
        <p:spPr>
          <a:xfrm>
            <a:off x="596900" y="2357107"/>
            <a:ext cx="11703050" cy="679032"/>
          </a:xfrm>
          <a:prstGeom prst="rect">
            <a:avLst/>
          </a:prstGeom>
        </p:spPr>
        <p:txBody>
          <a:bodyPr vert="horz" wrap="square" lIns="0" tIns="1905" rIns="0" bIns="0" rtlCol="0">
            <a:spAutoFit/>
          </a:bodyPr>
          <a:lstStyle/>
          <a:p>
            <a:endParaRPr lang="en-GB" dirty="0"/>
          </a:p>
          <a:p>
            <a:pPr marL="12700">
              <a:lnSpc>
                <a:spcPct val="100000"/>
              </a:lnSpc>
              <a:spcBef>
                <a:spcPts val="5"/>
              </a:spcBef>
              <a:buClr>
                <a:srgbClr val="747474"/>
              </a:buClr>
              <a:buSzPct val="96153"/>
              <a:tabLst>
                <a:tab pos="186690" algn="l"/>
              </a:tabLst>
            </a:pPr>
            <a:r>
              <a:rPr sz="2600" spc="25" dirty="0">
                <a:solidFill>
                  <a:srgbClr val="747474"/>
                </a:solidFill>
                <a:latin typeface="Arial"/>
                <a:cs typeface="Arial"/>
              </a:rPr>
              <a:t>.</a:t>
            </a:r>
            <a:endParaRPr sz="2600" dirty="0">
              <a:latin typeface="Arial"/>
              <a:cs typeface="Arial"/>
            </a:endParaRPr>
          </a:p>
        </p:txBody>
      </p:sp>
      <p:sp>
        <p:nvSpPr>
          <p:cNvPr id="10" name="TextBox 9">
            <a:extLst>
              <a:ext uri="{FF2B5EF4-FFF2-40B4-BE49-F238E27FC236}">
                <a16:creationId xmlns:a16="http://schemas.microsoft.com/office/drawing/2014/main" id="{B0FFD0ED-D297-924C-AADA-714F8E6E93F5}"/>
              </a:ext>
              <a:ext uri="{C183D7F6-B498-43B3-948B-1728B52AA6E4}">
                <adec:decorative xmlns:adec="http://schemas.microsoft.com/office/drawing/2017/decorative" val="1"/>
              </a:ext>
            </a:extLst>
          </p:cNvPr>
          <p:cNvSpPr txBox="1"/>
          <p:nvPr/>
        </p:nvSpPr>
        <p:spPr>
          <a:xfrm>
            <a:off x="4070555" y="4586748"/>
            <a:ext cx="184731" cy="646331"/>
          </a:xfrm>
          <a:prstGeom prst="rect">
            <a:avLst/>
          </a:prstGeom>
          <a:noFill/>
        </p:spPr>
        <p:txBody>
          <a:bodyPr wrap="none" rtlCol="0">
            <a:spAutoFit/>
          </a:bodyPr>
          <a:lstStyle/>
          <a:p>
            <a:endParaRPr lang="en-GB" dirty="0"/>
          </a:p>
          <a:p>
            <a:endParaRPr lang="en-US" dirty="0"/>
          </a:p>
        </p:txBody>
      </p:sp>
      <p:sp>
        <p:nvSpPr>
          <p:cNvPr id="14" name="TextBox 13">
            <a:extLst>
              <a:ext uri="{FF2B5EF4-FFF2-40B4-BE49-F238E27FC236}">
                <a16:creationId xmlns:a16="http://schemas.microsoft.com/office/drawing/2014/main" id="{3BA22A07-F5A4-BF49-AC09-1659FF067021}"/>
              </a:ext>
            </a:extLst>
          </p:cNvPr>
          <p:cNvSpPr txBox="1"/>
          <p:nvPr/>
        </p:nvSpPr>
        <p:spPr>
          <a:xfrm>
            <a:off x="596900" y="2357107"/>
            <a:ext cx="11544300" cy="6186309"/>
          </a:xfrm>
          <a:prstGeom prst="rect">
            <a:avLst/>
          </a:prstGeom>
          <a:noFill/>
        </p:spPr>
        <p:txBody>
          <a:bodyPr wrap="square" rtlCol="0">
            <a:spAutoFit/>
          </a:bodyPr>
          <a:lstStyle/>
          <a:p>
            <a:pPr>
              <a:lnSpc>
                <a:spcPct val="150000"/>
              </a:lnSpc>
            </a:pPr>
            <a:r>
              <a:rPr lang="en-GB" sz="2800" dirty="0">
                <a:latin typeface="Courier New" panose="02070309020205020404" pitchFamily="49" charset="0"/>
                <a:ea typeface="Helvetica Neue" panose="02000503000000020004" pitchFamily="2" charset="0"/>
                <a:cs typeface="Courier New" panose="02070309020205020404" pitchFamily="49" charset="0"/>
              </a:rPr>
              <a:t>flex-direction: row</a:t>
            </a:r>
          </a:p>
          <a:p>
            <a:pPr>
              <a:lnSpc>
                <a:spcPct val="150000"/>
              </a:lnSpc>
            </a:pPr>
            <a:r>
              <a:rPr lang="en-GB" sz="2800" dirty="0">
                <a:latin typeface="Helvetica Neue" panose="02000503000000020004" pitchFamily="2" charset="0"/>
                <a:ea typeface="Helvetica Neue" panose="02000503000000020004" pitchFamily="2" charset="0"/>
                <a:cs typeface="Helvetica Neue" panose="02000503000000020004" pitchFamily="2" charset="0"/>
              </a:rPr>
              <a:t>places items as a row, in the text direction (left-to-right for western countries)</a:t>
            </a:r>
          </a:p>
          <a:p>
            <a:pPr>
              <a:lnSpc>
                <a:spcPct val="150000"/>
              </a:lnSpc>
            </a:pPr>
            <a:r>
              <a:rPr lang="en-GB" sz="2800" dirty="0">
                <a:latin typeface="Courier New" panose="02070309020205020404" pitchFamily="49" charset="0"/>
                <a:ea typeface="Helvetica Neue" panose="02000503000000020004" pitchFamily="2" charset="0"/>
                <a:cs typeface="Courier New" panose="02070309020205020404" pitchFamily="49" charset="0"/>
              </a:rPr>
              <a:t>flex-direction: row-reverse</a:t>
            </a:r>
          </a:p>
          <a:p>
            <a:pPr>
              <a:lnSpc>
                <a:spcPct val="150000"/>
              </a:lnSpc>
            </a:pPr>
            <a:r>
              <a:rPr lang="en-GB" sz="2800" dirty="0">
                <a:latin typeface="Helvetica Neue" panose="02000503000000020004" pitchFamily="2" charset="0"/>
                <a:ea typeface="Helvetica Neue" panose="02000503000000020004" pitchFamily="2" charset="0"/>
                <a:cs typeface="Helvetica Neue" panose="02000503000000020004" pitchFamily="2" charset="0"/>
              </a:rPr>
              <a:t>places items just like row but in the opposite direction</a:t>
            </a:r>
          </a:p>
          <a:p>
            <a:pPr>
              <a:lnSpc>
                <a:spcPct val="150000"/>
              </a:lnSpc>
            </a:pPr>
            <a:r>
              <a:rPr lang="en-GB" sz="2800" dirty="0">
                <a:latin typeface="Courier New" panose="02070309020205020404" pitchFamily="49" charset="0"/>
                <a:ea typeface="Helvetica Neue" panose="02000503000000020004" pitchFamily="2" charset="0"/>
                <a:cs typeface="Courier New" panose="02070309020205020404" pitchFamily="49" charset="0"/>
              </a:rPr>
              <a:t>flex-direction: column</a:t>
            </a:r>
          </a:p>
          <a:p>
            <a:pPr>
              <a:lnSpc>
                <a:spcPct val="150000"/>
              </a:lnSpc>
            </a:pPr>
            <a:r>
              <a:rPr lang="en-GB" sz="2800" dirty="0">
                <a:latin typeface="Helvetica Neue" panose="02000503000000020004" pitchFamily="2" charset="0"/>
                <a:ea typeface="Helvetica Neue" panose="02000503000000020004" pitchFamily="2" charset="0"/>
                <a:cs typeface="Helvetica Neue" panose="02000503000000020004" pitchFamily="2" charset="0"/>
              </a:rPr>
              <a:t>places items in a column, ordering top to bottom</a:t>
            </a:r>
          </a:p>
          <a:p>
            <a:pPr>
              <a:lnSpc>
                <a:spcPct val="150000"/>
              </a:lnSpc>
            </a:pPr>
            <a:r>
              <a:rPr lang="en-GB" sz="2800" dirty="0">
                <a:latin typeface="Courier New" panose="02070309020205020404" pitchFamily="49" charset="0"/>
                <a:ea typeface="Helvetica Neue" panose="02000503000000020004" pitchFamily="2" charset="0"/>
                <a:cs typeface="Courier New" panose="02070309020205020404" pitchFamily="49" charset="0"/>
              </a:rPr>
              <a:t>flex-direction: column-reverse</a:t>
            </a:r>
          </a:p>
          <a:p>
            <a:pPr>
              <a:lnSpc>
                <a:spcPct val="150000"/>
              </a:lnSpc>
            </a:pPr>
            <a:r>
              <a:rPr lang="en-GB" sz="2800" dirty="0">
                <a:latin typeface="Helvetica Neue" panose="02000503000000020004" pitchFamily="2" charset="0"/>
                <a:ea typeface="Helvetica Neue" panose="02000503000000020004" pitchFamily="2" charset="0"/>
                <a:cs typeface="Helvetica Neue" panose="02000503000000020004" pitchFamily="2" charset="0"/>
              </a:rPr>
              <a:t>places items in a column, just like column but in the opposite direction </a:t>
            </a:r>
          </a:p>
          <a:p>
            <a:endParaRPr lang="en-GB" dirty="0"/>
          </a:p>
        </p:txBody>
      </p:sp>
    </p:spTree>
    <p:extLst>
      <p:ext uri="{BB962C8B-B14F-4D97-AF65-F5344CB8AC3E}">
        <p14:creationId xmlns:p14="http://schemas.microsoft.com/office/powerpoint/2010/main" val="1443493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9944100" cy="659155"/>
          </a:xfrm>
          <a:prstGeom prst="rect">
            <a:avLst/>
          </a:prstGeom>
        </p:spPr>
        <p:txBody>
          <a:bodyPr vert="horz" wrap="square" lIns="0" tIns="12700" rIns="0" bIns="0" rtlCol="0">
            <a:spAutoFit/>
          </a:bodyPr>
          <a:lstStyle/>
          <a:p>
            <a:pPr marL="12700">
              <a:lnSpc>
                <a:spcPct val="100000"/>
              </a:lnSpc>
              <a:spcBef>
                <a:spcPts val="100"/>
              </a:spcBef>
            </a:pPr>
            <a:r>
              <a:rPr lang="en-GB" sz="4200" b="0" spc="-135" dirty="0">
                <a:solidFill>
                  <a:srgbClr val="000000"/>
                </a:solidFill>
                <a:latin typeface="Arial"/>
                <a:cs typeface="Arial"/>
              </a:rPr>
              <a:t>Change th</a:t>
            </a:r>
            <a:r>
              <a:rPr lang="en-GB" sz="4200" b="0" spc="-135" dirty="0">
                <a:solidFill>
                  <a:srgbClr val="000000"/>
                </a:solidFill>
              </a:rPr>
              <a:t>e horizontal alignment</a:t>
            </a:r>
            <a:endParaRPr sz="4200" dirty="0">
              <a:latin typeface="Arial"/>
              <a:cs typeface="Arial"/>
            </a:endParaRPr>
          </a:p>
        </p:txBody>
      </p:sp>
      <p:sp>
        <p:nvSpPr>
          <p:cNvPr id="4" name="object 4"/>
          <p:cNvSpPr txBox="1"/>
          <p:nvPr/>
        </p:nvSpPr>
        <p:spPr>
          <a:xfrm>
            <a:off x="596900" y="2357107"/>
            <a:ext cx="11703050" cy="679032"/>
          </a:xfrm>
          <a:prstGeom prst="rect">
            <a:avLst/>
          </a:prstGeom>
        </p:spPr>
        <p:txBody>
          <a:bodyPr vert="horz" wrap="square" lIns="0" tIns="1905" rIns="0" bIns="0" rtlCol="0">
            <a:spAutoFit/>
          </a:bodyPr>
          <a:lstStyle/>
          <a:p>
            <a:endParaRPr lang="en-GB" dirty="0"/>
          </a:p>
          <a:p>
            <a:pPr marL="12700">
              <a:lnSpc>
                <a:spcPct val="100000"/>
              </a:lnSpc>
              <a:spcBef>
                <a:spcPts val="5"/>
              </a:spcBef>
              <a:buClr>
                <a:srgbClr val="747474"/>
              </a:buClr>
              <a:buSzPct val="96153"/>
              <a:tabLst>
                <a:tab pos="186690" algn="l"/>
              </a:tabLst>
            </a:pPr>
            <a:r>
              <a:rPr sz="2600" spc="25" dirty="0">
                <a:solidFill>
                  <a:srgbClr val="747474"/>
                </a:solidFill>
                <a:latin typeface="Arial"/>
                <a:cs typeface="Arial"/>
              </a:rPr>
              <a:t>.</a:t>
            </a:r>
            <a:endParaRPr sz="2600" dirty="0">
              <a:latin typeface="Arial"/>
              <a:cs typeface="Arial"/>
            </a:endParaRPr>
          </a:p>
        </p:txBody>
      </p:sp>
      <p:sp>
        <p:nvSpPr>
          <p:cNvPr id="10" name="TextBox 9">
            <a:extLst>
              <a:ext uri="{FF2B5EF4-FFF2-40B4-BE49-F238E27FC236}">
                <a16:creationId xmlns:a16="http://schemas.microsoft.com/office/drawing/2014/main" id="{B0FFD0ED-D297-924C-AADA-714F8E6E93F5}"/>
              </a:ext>
              <a:ext uri="{C183D7F6-B498-43B3-948B-1728B52AA6E4}">
                <adec:decorative xmlns:adec="http://schemas.microsoft.com/office/drawing/2017/decorative" val="1"/>
              </a:ext>
            </a:extLst>
          </p:cNvPr>
          <p:cNvSpPr txBox="1"/>
          <p:nvPr/>
        </p:nvSpPr>
        <p:spPr>
          <a:xfrm>
            <a:off x="4070555" y="4586748"/>
            <a:ext cx="184731" cy="646331"/>
          </a:xfrm>
          <a:prstGeom prst="rect">
            <a:avLst/>
          </a:prstGeom>
          <a:noFill/>
        </p:spPr>
        <p:txBody>
          <a:bodyPr wrap="none" rtlCol="0">
            <a:spAutoFit/>
          </a:bodyPr>
          <a:lstStyle/>
          <a:p>
            <a:endParaRPr lang="en-GB" dirty="0"/>
          </a:p>
          <a:p>
            <a:endParaRPr lang="en-US" dirty="0"/>
          </a:p>
        </p:txBody>
      </p:sp>
      <p:sp>
        <p:nvSpPr>
          <p:cNvPr id="14" name="TextBox 13">
            <a:extLst>
              <a:ext uri="{FF2B5EF4-FFF2-40B4-BE49-F238E27FC236}">
                <a16:creationId xmlns:a16="http://schemas.microsoft.com/office/drawing/2014/main" id="{3BA22A07-F5A4-BF49-AC09-1659FF067021}"/>
              </a:ext>
            </a:extLst>
          </p:cNvPr>
          <p:cNvSpPr txBox="1"/>
          <p:nvPr/>
        </p:nvSpPr>
        <p:spPr>
          <a:xfrm>
            <a:off x="596900" y="2357107"/>
            <a:ext cx="11544300" cy="5539978"/>
          </a:xfrm>
          <a:prstGeom prst="rect">
            <a:avLst/>
          </a:prstGeom>
          <a:noFill/>
        </p:spPr>
        <p:txBody>
          <a:bodyPr wrap="square" rtlCol="0">
            <a:spAutoFit/>
          </a:bodyPr>
          <a:lstStyle/>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justify-content</a:t>
            </a:r>
            <a:r>
              <a:rPr lang="en-GB" sz="3200" dirty="0">
                <a:latin typeface="Helvetica Neue" panose="02000503000000020004" pitchFamily="2" charset="0"/>
                <a:ea typeface="Helvetica Neue" panose="02000503000000020004" pitchFamily="2" charset="0"/>
                <a:cs typeface="Helvetica Neue" panose="02000503000000020004" pitchFamily="2" charset="0"/>
              </a:rPr>
              <a:t> has 5 possible values:</a:t>
            </a:r>
          </a:p>
          <a:p>
            <a:pPr>
              <a:lnSpc>
                <a:spcPct val="150000"/>
              </a:lnSpc>
            </a:pPr>
            <a:endParaRPr lang="en-GB" sz="3200" dirty="0">
              <a:latin typeface="Helvetica Neue" panose="02000503000000020004" pitchFamily="2" charset="0"/>
              <a:ea typeface="Helvetica Neue" panose="02000503000000020004" pitchFamily="2" charset="0"/>
              <a:cs typeface="Helvetica Neue" panose="02000503000000020004" pitchFamily="2" charset="0"/>
            </a:endParaRPr>
          </a:p>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flex-start</a:t>
            </a:r>
            <a:r>
              <a:rPr lang="en-GB" sz="3200" dirty="0">
                <a:latin typeface="Helvetica Neue" panose="02000503000000020004" pitchFamily="2" charset="0"/>
                <a:ea typeface="Helvetica Neue" panose="02000503000000020004" pitchFamily="2" charset="0"/>
                <a:cs typeface="Helvetica Neue" panose="02000503000000020004" pitchFamily="2" charset="0"/>
              </a:rPr>
              <a:t> : align to the  side of the container.</a:t>
            </a:r>
          </a:p>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flex-end</a:t>
            </a:r>
            <a:r>
              <a:rPr lang="en-GB" sz="3200" dirty="0">
                <a:latin typeface="Helvetica Neue" panose="02000503000000020004" pitchFamily="2" charset="0"/>
                <a:ea typeface="Helvetica Neue" panose="02000503000000020004" pitchFamily="2" charset="0"/>
                <a:cs typeface="Helvetica Neue" panose="02000503000000020004" pitchFamily="2" charset="0"/>
              </a:rPr>
              <a:t> : align to the right side of the container.</a:t>
            </a:r>
          </a:p>
          <a:p>
            <a:pPr>
              <a:lnSpc>
                <a:spcPct val="150000"/>
              </a:lnSpc>
            </a:pPr>
            <a:r>
              <a:rPr lang="en-GB" sz="3200" dirty="0" err="1">
                <a:latin typeface="Courier New" panose="02070309020205020404" pitchFamily="49" charset="0"/>
                <a:ea typeface="Helvetica Neue" panose="02000503000000020004" pitchFamily="2" charset="0"/>
                <a:cs typeface="Courier New" panose="02070309020205020404" pitchFamily="49" charset="0"/>
              </a:rPr>
              <a:t>center</a:t>
            </a:r>
            <a:r>
              <a:rPr lang="en-GB" sz="3200" dirty="0">
                <a:latin typeface="Helvetica Neue" panose="02000503000000020004" pitchFamily="2" charset="0"/>
                <a:ea typeface="Helvetica Neue" panose="02000503000000020004" pitchFamily="2" charset="0"/>
                <a:cs typeface="Helvetica Neue" panose="02000503000000020004" pitchFamily="2" charset="0"/>
              </a:rPr>
              <a:t> : align at the </a:t>
            </a:r>
            <a:r>
              <a:rPr lang="en-GB" sz="3200" dirty="0" err="1">
                <a:latin typeface="Helvetica Neue" panose="02000503000000020004" pitchFamily="2" charset="0"/>
                <a:ea typeface="Helvetica Neue" panose="02000503000000020004" pitchFamily="2" charset="0"/>
                <a:cs typeface="Helvetica Neue" panose="02000503000000020004" pitchFamily="2" charset="0"/>
              </a:rPr>
              <a:t>center</a:t>
            </a:r>
            <a:r>
              <a:rPr lang="en-GB" sz="3200" dirty="0">
                <a:latin typeface="Helvetica Neue" panose="02000503000000020004" pitchFamily="2" charset="0"/>
                <a:ea typeface="Helvetica Neue" panose="02000503000000020004" pitchFamily="2" charset="0"/>
                <a:cs typeface="Helvetica Neue" panose="02000503000000020004" pitchFamily="2" charset="0"/>
              </a:rPr>
              <a:t> of the container.</a:t>
            </a:r>
          </a:p>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space-between</a:t>
            </a:r>
            <a:r>
              <a:rPr lang="en-GB" sz="3200" dirty="0">
                <a:latin typeface="Helvetica Neue" panose="02000503000000020004" pitchFamily="2" charset="0"/>
                <a:ea typeface="Helvetica Neue" panose="02000503000000020004" pitchFamily="2" charset="0"/>
                <a:cs typeface="Helvetica Neue" panose="02000503000000020004" pitchFamily="2" charset="0"/>
              </a:rPr>
              <a:t> : display with equal spacing between them.</a:t>
            </a:r>
          </a:p>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space-around</a:t>
            </a:r>
            <a:r>
              <a:rPr lang="en-GB" sz="3200" dirty="0">
                <a:latin typeface="Helvetica Neue" panose="02000503000000020004" pitchFamily="2" charset="0"/>
                <a:ea typeface="Helvetica Neue" panose="02000503000000020004" pitchFamily="2" charset="0"/>
                <a:cs typeface="Helvetica Neue" panose="02000503000000020004" pitchFamily="2" charset="0"/>
              </a:rPr>
              <a:t> : display with equal spacing around them</a:t>
            </a:r>
          </a:p>
          <a:p>
            <a:endParaRPr lang="en-GB" dirty="0"/>
          </a:p>
        </p:txBody>
      </p:sp>
    </p:spTree>
    <p:extLst>
      <p:ext uri="{BB962C8B-B14F-4D97-AF65-F5344CB8AC3E}">
        <p14:creationId xmlns:p14="http://schemas.microsoft.com/office/powerpoint/2010/main" val="4713808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9944100" cy="659155"/>
          </a:xfrm>
          <a:prstGeom prst="rect">
            <a:avLst/>
          </a:prstGeom>
        </p:spPr>
        <p:txBody>
          <a:bodyPr vert="horz" wrap="square" lIns="0" tIns="12700" rIns="0" bIns="0" rtlCol="0">
            <a:spAutoFit/>
          </a:bodyPr>
          <a:lstStyle/>
          <a:p>
            <a:pPr marL="12700">
              <a:lnSpc>
                <a:spcPct val="100000"/>
              </a:lnSpc>
              <a:spcBef>
                <a:spcPts val="100"/>
              </a:spcBef>
            </a:pPr>
            <a:r>
              <a:rPr lang="en-GB" sz="4200" b="0" spc="-135" dirty="0">
                <a:solidFill>
                  <a:srgbClr val="000000"/>
                </a:solidFill>
                <a:latin typeface="Arial"/>
                <a:cs typeface="Arial"/>
              </a:rPr>
              <a:t>Change th</a:t>
            </a:r>
            <a:r>
              <a:rPr lang="en-GB" sz="4200" b="0" spc="-135" dirty="0">
                <a:solidFill>
                  <a:srgbClr val="000000"/>
                </a:solidFill>
              </a:rPr>
              <a:t>e vertical alignment</a:t>
            </a:r>
            <a:endParaRPr sz="4200" dirty="0">
              <a:latin typeface="Arial"/>
              <a:cs typeface="Arial"/>
            </a:endParaRPr>
          </a:p>
        </p:txBody>
      </p:sp>
      <p:sp>
        <p:nvSpPr>
          <p:cNvPr id="4" name="object 4"/>
          <p:cNvSpPr txBox="1"/>
          <p:nvPr/>
        </p:nvSpPr>
        <p:spPr>
          <a:xfrm>
            <a:off x="596900" y="2357107"/>
            <a:ext cx="11703050" cy="679032"/>
          </a:xfrm>
          <a:prstGeom prst="rect">
            <a:avLst/>
          </a:prstGeom>
        </p:spPr>
        <p:txBody>
          <a:bodyPr vert="horz" wrap="square" lIns="0" tIns="1905" rIns="0" bIns="0" rtlCol="0">
            <a:spAutoFit/>
          </a:bodyPr>
          <a:lstStyle/>
          <a:p>
            <a:endParaRPr lang="en-GB" dirty="0"/>
          </a:p>
          <a:p>
            <a:pPr marL="12700">
              <a:lnSpc>
                <a:spcPct val="100000"/>
              </a:lnSpc>
              <a:spcBef>
                <a:spcPts val="5"/>
              </a:spcBef>
              <a:buClr>
                <a:srgbClr val="747474"/>
              </a:buClr>
              <a:buSzPct val="96153"/>
              <a:tabLst>
                <a:tab pos="186690" algn="l"/>
              </a:tabLst>
            </a:pPr>
            <a:r>
              <a:rPr sz="2600" spc="25" dirty="0">
                <a:solidFill>
                  <a:srgbClr val="747474"/>
                </a:solidFill>
                <a:latin typeface="Arial"/>
                <a:cs typeface="Arial"/>
              </a:rPr>
              <a:t>.</a:t>
            </a:r>
            <a:endParaRPr sz="2600" dirty="0">
              <a:latin typeface="Arial"/>
              <a:cs typeface="Arial"/>
            </a:endParaRPr>
          </a:p>
        </p:txBody>
      </p:sp>
      <p:sp>
        <p:nvSpPr>
          <p:cNvPr id="10" name="TextBox 9">
            <a:extLst>
              <a:ext uri="{FF2B5EF4-FFF2-40B4-BE49-F238E27FC236}">
                <a16:creationId xmlns:a16="http://schemas.microsoft.com/office/drawing/2014/main" id="{B0FFD0ED-D297-924C-AADA-714F8E6E93F5}"/>
              </a:ext>
              <a:ext uri="{C183D7F6-B498-43B3-948B-1728B52AA6E4}">
                <adec:decorative xmlns:adec="http://schemas.microsoft.com/office/drawing/2017/decorative" val="1"/>
              </a:ext>
            </a:extLst>
          </p:cNvPr>
          <p:cNvSpPr txBox="1"/>
          <p:nvPr/>
        </p:nvSpPr>
        <p:spPr>
          <a:xfrm>
            <a:off x="4070555" y="4586748"/>
            <a:ext cx="184731" cy="646331"/>
          </a:xfrm>
          <a:prstGeom prst="rect">
            <a:avLst/>
          </a:prstGeom>
          <a:noFill/>
        </p:spPr>
        <p:txBody>
          <a:bodyPr wrap="none" rtlCol="0">
            <a:spAutoFit/>
          </a:bodyPr>
          <a:lstStyle/>
          <a:p>
            <a:endParaRPr lang="en-GB" dirty="0"/>
          </a:p>
          <a:p>
            <a:endParaRPr lang="en-US" dirty="0"/>
          </a:p>
        </p:txBody>
      </p:sp>
      <p:sp>
        <p:nvSpPr>
          <p:cNvPr id="14" name="TextBox 13">
            <a:extLst>
              <a:ext uri="{FF2B5EF4-FFF2-40B4-BE49-F238E27FC236}">
                <a16:creationId xmlns:a16="http://schemas.microsoft.com/office/drawing/2014/main" id="{3BA22A07-F5A4-BF49-AC09-1659FF067021}"/>
              </a:ext>
            </a:extLst>
          </p:cNvPr>
          <p:cNvSpPr txBox="1"/>
          <p:nvPr/>
        </p:nvSpPr>
        <p:spPr>
          <a:xfrm>
            <a:off x="596900" y="2357107"/>
            <a:ext cx="11544300" cy="5539978"/>
          </a:xfrm>
          <a:prstGeom prst="rect">
            <a:avLst/>
          </a:prstGeom>
          <a:noFill/>
        </p:spPr>
        <p:txBody>
          <a:bodyPr wrap="square" rtlCol="0">
            <a:spAutoFit/>
          </a:bodyPr>
          <a:lstStyle/>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align-items</a:t>
            </a:r>
            <a:r>
              <a:rPr lang="en-GB" sz="3200" dirty="0">
                <a:latin typeface="Helvetica Neue" panose="02000503000000020004" pitchFamily="2" charset="0"/>
                <a:ea typeface="Helvetica Neue" panose="02000503000000020004" pitchFamily="2" charset="0"/>
                <a:cs typeface="Helvetica Neue" panose="02000503000000020004" pitchFamily="2" charset="0"/>
              </a:rPr>
              <a:t> has 5 possible values:</a:t>
            </a:r>
          </a:p>
          <a:p>
            <a:pPr>
              <a:lnSpc>
                <a:spcPct val="150000"/>
              </a:lnSpc>
            </a:pPr>
            <a:endParaRPr lang="en-GB" sz="3200" dirty="0">
              <a:latin typeface="Helvetica Neue" panose="02000503000000020004" pitchFamily="2" charset="0"/>
              <a:ea typeface="Helvetica Neue" panose="02000503000000020004" pitchFamily="2" charset="0"/>
              <a:cs typeface="Helvetica Neue" panose="02000503000000020004" pitchFamily="2" charset="0"/>
            </a:endParaRPr>
          </a:p>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flex-start</a:t>
            </a:r>
            <a:r>
              <a:rPr lang="en-GB" sz="3200" dirty="0">
                <a:latin typeface="Helvetica Neue" panose="02000503000000020004" pitchFamily="2" charset="0"/>
                <a:ea typeface="Helvetica Neue" panose="02000503000000020004" pitchFamily="2" charset="0"/>
                <a:cs typeface="Helvetica Neue" panose="02000503000000020004" pitchFamily="2" charset="0"/>
              </a:rPr>
              <a:t> : align to the top of the container.</a:t>
            </a:r>
          </a:p>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flex-end</a:t>
            </a:r>
            <a:r>
              <a:rPr lang="en-GB" sz="3200" dirty="0">
                <a:latin typeface="Helvetica Neue" panose="02000503000000020004" pitchFamily="2" charset="0"/>
                <a:ea typeface="Helvetica Neue" panose="02000503000000020004" pitchFamily="2" charset="0"/>
                <a:cs typeface="Helvetica Neue" panose="02000503000000020004" pitchFamily="2" charset="0"/>
              </a:rPr>
              <a:t> : align to the bottom of the container.</a:t>
            </a:r>
          </a:p>
          <a:p>
            <a:pPr>
              <a:lnSpc>
                <a:spcPct val="150000"/>
              </a:lnSpc>
            </a:pPr>
            <a:r>
              <a:rPr lang="en-GB" sz="3200" dirty="0" err="1">
                <a:latin typeface="Courier New" panose="02070309020205020404" pitchFamily="49" charset="0"/>
                <a:ea typeface="Helvetica Neue" panose="02000503000000020004" pitchFamily="2" charset="0"/>
                <a:cs typeface="Courier New" panose="02070309020205020404" pitchFamily="49" charset="0"/>
              </a:rPr>
              <a:t>center</a:t>
            </a:r>
            <a:r>
              <a:rPr lang="en-GB" sz="3200" dirty="0">
                <a:latin typeface="Helvetica Neue" panose="02000503000000020004" pitchFamily="2" charset="0"/>
                <a:ea typeface="Helvetica Neue" panose="02000503000000020004" pitchFamily="2" charset="0"/>
                <a:cs typeface="Helvetica Neue" panose="02000503000000020004" pitchFamily="2" charset="0"/>
              </a:rPr>
              <a:t> : align at the vertical centre of the container.</a:t>
            </a:r>
          </a:p>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baseline</a:t>
            </a:r>
            <a:r>
              <a:rPr lang="en-GB" sz="3200" dirty="0">
                <a:latin typeface="Helvetica Neue" panose="02000503000000020004" pitchFamily="2" charset="0"/>
                <a:ea typeface="Helvetica Neue" panose="02000503000000020004" pitchFamily="2" charset="0"/>
                <a:cs typeface="Helvetica Neue" panose="02000503000000020004" pitchFamily="2" charset="0"/>
              </a:rPr>
              <a:t> : display at the baseline of the container.</a:t>
            </a:r>
          </a:p>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stretch</a:t>
            </a:r>
            <a:r>
              <a:rPr lang="en-GB" sz="3200" dirty="0">
                <a:latin typeface="Helvetica Neue" panose="02000503000000020004" pitchFamily="2" charset="0"/>
                <a:ea typeface="Helvetica Neue" panose="02000503000000020004" pitchFamily="2" charset="0"/>
                <a:cs typeface="Helvetica Neue" panose="02000503000000020004" pitchFamily="2" charset="0"/>
              </a:rPr>
              <a:t> : items are stretched to fit the container</a:t>
            </a:r>
          </a:p>
          <a:p>
            <a:endParaRPr lang="en-GB" dirty="0"/>
          </a:p>
        </p:txBody>
      </p:sp>
      <p:sp>
        <p:nvSpPr>
          <p:cNvPr id="6" name="TextBox 5">
            <a:extLst>
              <a:ext uri="{FF2B5EF4-FFF2-40B4-BE49-F238E27FC236}">
                <a16:creationId xmlns:a16="http://schemas.microsoft.com/office/drawing/2014/main" id="{9C5D7FB9-9616-3B38-9C78-87EB8682F66C}"/>
              </a:ext>
            </a:extLst>
          </p:cNvPr>
          <p:cNvSpPr txBox="1"/>
          <p:nvPr/>
        </p:nvSpPr>
        <p:spPr>
          <a:xfrm>
            <a:off x="596900" y="8093333"/>
            <a:ext cx="12407900" cy="738664"/>
          </a:xfrm>
          <a:prstGeom prst="rect">
            <a:avLst/>
          </a:prstGeom>
          <a:noFill/>
        </p:spPr>
        <p:txBody>
          <a:bodyPr wrap="square">
            <a:spAutoFit/>
          </a:bodyPr>
          <a:lstStyle/>
          <a:p>
            <a:r>
              <a:rPr lang="en-US" sz="2400" dirty="0">
                <a:solidFill>
                  <a:schemeClr val="accent1">
                    <a:lumMod val="75000"/>
                  </a:schemeClr>
                </a:solidFill>
                <a:hlinkClick r:id="rId2">
                  <a:extLst>
                    <a:ext uri="{A12FA001-AC4F-418D-AE19-62706E023703}">
                      <ahyp:hlinkClr xmlns:ahyp="http://schemas.microsoft.com/office/drawing/2018/hyperlinkcolor" val="tx"/>
                    </a:ext>
                  </a:extLst>
                </a:hlinkClick>
              </a:rPr>
              <a:t>https://www.w3schools.com/cssref/playdemo.php?filename=playcss_align-items&amp;preval=stretch</a:t>
            </a:r>
            <a:endParaRPr lang="en-US" sz="2400" dirty="0">
              <a:solidFill>
                <a:schemeClr val="accent1">
                  <a:lumMod val="75000"/>
                </a:schemeClr>
              </a:solidFill>
            </a:endParaRPr>
          </a:p>
          <a:p>
            <a:endParaRPr lang="en-US" dirty="0"/>
          </a:p>
        </p:txBody>
      </p:sp>
    </p:spTree>
    <p:extLst>
      <p:ext uri="{BB962C8B-B14F-4D97-AF65-F5344CB8AC3E}">
        <p14:creationId xmlns:p14="http://schemas.microsoft.com/office/powerpoint/2010/main" val="1274215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9944100" cy="659155"/>
          </a:xfrm>
          <a:prstGeom prst="rect">
            <a:avLst/>
          </a:prstGeom>
        </p:spPr>
        <p:txBody>
          <a:bodyPr vert="horz" wrap="square" lIns="0" tIns="12700" rIns="0" bIns="0" rtlCol="0">
            <a:spAutoFit/>
          </a:bodyPr>
          <a:lstStyle/>
          <a:p>
            <a:pPr marL="12700">
              <a:lnSpc>
                <a:spcPct val="100000"/>
              </a:lnSpc>
              <a:spcBef>
                <a:spcPts val="100"/>
              </a:spcBef>
            </a:pPr>
            <a:r>
              <a:rPr lang="en-GB" sz="4200" b="0" spc="-135" dirty="0">
                <a:solidFill>
                  <a:srgbClr val="000000"/>
                </a:solidFill>
                <a:latin typeface="Arial"/>
                <a:cs typeface="Arial"/>
              </a:rPr>
              <a:t>Wrap</a:t>
            </a:r>
            <a:endParaRPr sz="4200" dirty="0">
              <a:latin typeface="Arial"/>
              <a:cs typeface="Arial"/>
            </a:endParaRPr>
          </a:p>
        </p:txBody>
      </p:sp>
      <p:sp>
        <p:nvSpPr>
          <p:cNvPr id="4" name="object 4"/>
          <p:cNvSpPr txBox="1"/>
          <p:nvPr/>
        </p:nvSpPr>
        <p:spPr>
          <a:xfrm>
            <a:off x="596900" y="2357107"/>
            <a:ext cx="11703050" cy="679032"/>
          </a:xfrm>
          <a:prstGeom prst="rect">
            <a:avLst/>
          </a:prstGeom>
        </p:spPr>
        <p:txBody>
          <a:bodyPr vert="horz" wrap="square" lIns="0" tIns="1905" rIns="0" bIns="0" rtlCol="0">
            <a:spAutoFit/>
          </a:bodyPr>
          <a:lstStyle/>
          <a:p>
            <a:endParaRPr lang="en-GB" dirty="0"/>
          </a:p>
          <a:p>
            <a:pPr marL="12700">
              <a:lnSpc>
                <a:spcPct val="100000"/>
              </a:lnSpc>
              <a:spcBef>
                <a:spcPts val="5"/>
              </a:spcBef>
              <a:buClr>
                <a:srgbClr val="747474"/>
              </a:buClr>
              <a:buSzPct val="96153"/>
              <a:tabLst>
                <a:tab pos="186690" algn="l"/>
              </a:tabLst>
            </a:pPr>
            <a:r>
              <a:rPr sz="2600" spc="25" dirty="0">
                <a:solidFill>
                  <a:srgbClr val="747474"/>
                </a:solidFill>
                <a:latin typeface="Arial"/>
                <a:cs typeface="Arial"/>
              </a:rPr>
              <a:t>.</a:t>
            </a:r>
            <a:endParaRPr sz="2600" dirty="0">
              <a:latin typeface="Arial"/>
              <a:cs typeface="Arial"/>
            </a:endParaRPr>
          </a:p>
        </p:txBody>
      </p:sp>
      <p:sp>
        <p:nvSpPr>
          <p:cNvPr id="10" name="TextBox 9">
            <a:extLst>
              <a:ext uri="{FF2B5EF4-FFF2-40B4-BE49-F238E27FC236}">
                <a16:creationId xmlns:a16="http://schemas.microsoft.com/office/drawing/2014/main" id="{B0FFD0ED-D297-924C-AADA-714F8E6E93F5}"/>
              </a:ext>
              <a:ext uri="{C183D7F6-B498-43B3-948B-1728B52AA6E4}">
                <adec:decorative xmlns:adec="http://schemas.microsoft.com/office/drawing/2017/decorative" val="1"/>
              </a:ext>
            </a:extLst>
          </p:cNvPr>
          <p:cNvSpPr txBox="1"/>
          <p:nvPr/>
        </p:nvSpPr>
        <p:spPr>
          <a:xfrm>
            <a:off x="4070555" y="4586748"/>
            <a:ext cx="184731" cy="646331"/>
          </a:xfrm>
          <a:prstGeom prst="rect">
            <a:avLst/>
          </a:prstGeom>
          <a:noFill/>
        </p:spPr>
        <p:txBody>
          <a:bodyPr wrap="none" rtlCol="0">
            <a:spAutoFit/>
          </a:bodyPr>
          <a:lstStyle/>
          <a:p>
            <a:endParaRPr lang="en-GB" dirty="0"/>
          </a:p>
          <a:p>
            <a:endParaRPr lang="en-US" dirty="0"/>
          </a:p>
        </p:txBody>
      </p:sp>
      <p:sp>
        <p:nvSpPr>
          <p:cNvPr id="14" name="TextBox 13">
            <a:extLst>
              <a:ext uri="{FF2B5EF4-FFF2-40B4-BE49-F238E27FC236}">
                <a16:creationId xmlns:a16="http://schemas.microsoft.com/office/drawing/2014/main" id="{3BA22A07-F5A4-BF49-AC09-1659FF067021}"/>
              </a:ext>
            </a:extLst>
          </p:cNvPr>
          <p:cNvSpPr txBox="1"/>
          <p:nvPr/>
        </p:nvSpPr>
        <p:spPr>
          <a:xfrm>
            <a:off x="596900" y="2357107"/>
            <a:ext cx="11544300" cy="5539978"/>
          </a:xfrm>
          <a:prstGeom prst="rect">
            <a:avLst/>
          </a:prstGeom>
          <a:noFill/>
        </p:spPr>
        <p:txBody>
          <a:bodyPr wrap="square" rtlCol="0">
            <a:spAutoFit/>
          </a:bodyPr>
          <a:lstStyle/>
          <a:p>
            <a:pPr>
              <a:lnSpc>
                <a:spcPct val="150000"/>
              </a:lnSpc>
            </a:pPr>
            <a:r>
              <a:rPr lang="en-GB" sz="3200" dirty="0">
                <a:latin typeface="Helvetica Neue" panose="02000503000000020004" pitchFamily="2" charset="0"/>
                <a:ea typeface="Helvetica Neue" panose="02000503000000020004" pitchFamily="2" charset="0"/>
                <a:cs typeface="Helvetica Neue" panose="02000503000000020004" pitchFamily="2" charset="0"/>
              </a:rPr>
              <a:t>By default items in a flexbox container are kept on a single line, shrinking them to fit in the container.</a:t>
            </a:r>
          </a:p>
          <a:p>
            <a:pPr>
              <a:lnSpc>
                <a:spcPct val="150000"/>
              </a:lnSpc>
            </a:pPr>
            <a:r>
              <a:rPr lang="en-GB" sz="3200" dirty="0">
                <a:latin typeface="Helvetica Neue" panose="02000503000000020004" pitchFamily="2" charset="0"/>
                <a:ea typeface="Helvetica Neue" panose="02000503000000020004" pitchFamily="2" charset="0"/>
                <a:cs typeface="Helvetica Neue" panose="02000503000000020004" pitchFamily="2" charset="0"/>
              </a:rPr>
              <a:t>To force the items to spread across multiple lines, use </a:t>
            </a:r>
          </a:p>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flex-wrap: wrap</a:t>
            </a:r>
            <a:endParaRPr lang="en-GB" sz="3200" dirty="0">
              <a:latin typeface="Helvetica Neue" panose="02000503000000020004" pitchFamily="2" charset="0"/>
              <a:ea typeface="Helvetica Neue" panose="02000503000000020004" pitchFamily="2" charset="0"/>
              <a:cs typeface="Helvetica Neue" panose="02000503000000020004" pitchFamily="2" charset="0"/>
            </a:endParaRPr>
          </a:p>
          <a:p>
            <a:pPr>
              <a:lnSpc>
                <a:spcPct val="150000"/>
              </a:lnSpc>
            </a:pPr>
            <a:r>
              <a:rPr lang="en-GB" sz="3200" dirty="0">
                <a:latin typeface="Helvetica Neue" panose="02000503000000020004" pitchFamily="2" charset="0"/>
                <a:ea typeface="Helvetica Neue" panose="02000503000000020004" pitchFamily="2" charset="0"/>
                <a:cs typeface="Helvetica Neue" panose="02000503000000020004" pitchFamily="2" charset="0"/>
              </a:rPr>
              <a:t>This will distribute the items according to the order set in </a:t>
            </a:r>
          </a:p>
          <a:p>
            <a:pPr>
              <a:lnSpc>
                <a:spcPct val="150000"/>
              </a:lnSpc>
            </a:pPr>
            <a:r>
              <a:rPr lang="en-GB" sz="3200" dirty="0">
                <a:latin typeface="Courier New" panose="02070309020205020404" pitchFamily="49" charset="0"/>
                <a:ea typeface="Helvetica Neue" panose="02000503000000020004" pitchFamily="2" charset="0"/>
                <a:cs typeface="Courier New" panose="02070309020205020404" pitchFamily="49" charset="0"/>
              </a:rPr>
              <a:t>flex-direction</a:t>
            </a:r>
            <a:r>
              <a:rPr lang="en-GB" sz="3200" dirty="0">
                <a:latin typeface="Helvetica Neue" panose="02000503000000020004" pitchFamily="2" charset="0"/>
                <a:ea typeface="Helvetica Neue" panose="02000503000000020004" pitchFamily="2" charset="0"/>
                <a:cs typeface="Helvetica Neue" panose="02000503000000020004" pitchFamily="2" charset="0"/>
              </a:rPr>
              <a:t> </a:t>
            </a:r>
          </a:p>
          <a:p>
            <a:pPr>
              <a:lnSpc>
                <a:spcPct val="150000"/>
              </a:lnSpc>
            </a:pPr>
            <a:r>
              <a:rPr lang="en-GB" sz="3200" dirty="0">
                <a:latin typeface="Helvetica Neue" panose="02000503000000020004" pitchFamily="2" charset="0"/>
                <a:ea typeface="Helvetica Neue" panose="02000503000000020004" pitchFamily="2" charset="0"/>
                <a:cs typeface="Helvetica Neue" panose="02000503000000020004" pitchFamily="2" charset="0"/>
              </a:rPr>
              <a:t>Use </a:t>
            </a:r>
            <a:r>
              <a:rPr lang="en-GB" sz="3200" dirty="0">
                <a:latin typeface="Courier New" panose="02070309020205020404" pitchFamily="49" charset="0"/>
                <a:ea typeface="Helvetica Neue" panose="02000503000000020004" pitchFamily="2" charset="0"/>
                <a:cs typeface="Courier New" panose="02070309020205020404" pitchFamily="49" charset="0"/>
              </a:rPr>
              <a:t>flex-wrap: wrap-reverse </a:t>
            </a:r>
            <a:r>
              <a:rPr lang="en-GB" sz="3200" dirty="0">
                <a:latin typeface="Helvetica Neue" panose="02000503000000020004" pitchFamily="2" charset="0"/>
                <a:ea typeface="Helvetica Neue" panose="02000503000000020004" pitchFamily="2" charset="0"/>
                <a:cs typeface="Helvetica Neue" panose="02000503000000020004" pitchFamily="2" charset="0"/>
              </a:rPr>
              <a:t>to reverse this order.</a:t>
            </a:r>
          </a:p>
          <a:p>
            <a:endParaRPr lang="en-GB" dirty="0"/>
          </a:p>
        </p:txBody>
      </p:sp>
    </p:spTree>
    <p:extLst>
      <p:ext uri="{BB962C8B-B14F-4D97-AF65-F5344CB8AC3E}">
        <p14:creationId xmlns:p14="http://schemas.microsoft.com/office/powerpoint/2010/main" val="3239145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9944100" cy="659155"/>
          </a:xfrm>
          <a:prstGeom prst="rect">
            <a:avLst/>
          </a:prstGeom>
        </p:spPr>
        <p:txBody>
          <a:bodyPr vert="horz" wrap="square" lIns="0" tIns="12700" rIns="0" bIns="0" rtlCol="0">
            <a:spAutoFit/>
          </a:bodyPr>
          <a:lstStyle/>
          <a:p>
            <a:pPr marL="12700">
              <a:lnSpc>
                <a:spcPct val="100000"/>
              </a:lnSpc>
              <a:spcBef>
                <a:spcPts val="100"/>
              </a:spcBef>
            </a:pPr>
            <a:r>
              <a:rPr lang="en-GB" sz="4200" b="0" spc="-135" dirty="0">
                <a:solidFill>
                  <a:srgbClr val="000000"/>
                </a:solidFill>
                <a:latin typeface="Arial"/>
                <a:cs typeface="Arial"/>
              </a:rPr>
              <a:t>Perfect centring</a:t>
            </a:r>
            <a:endParaRPr sz="4200" dirty="0">
              <a:latin typeface="Arial"/>
              <a:cs typeface="Arial"/>
            </a:endParaRPr>
          </a:p>
        </p:txBody>
      </p:sp>
      <p:sp>
        <p:nvSpPr>
          <p:cNvPr id="4" name="object 4"/>
          <p:cNvSpPr txBox="1"/>
          <p:nvPr/>
        </p:nvSpPr>
        <p:spPr>
          <a:xfrm>
            <a:off x="596900" y="2357107"/>
            <a:ext cx="11703050" cy="679032"/>
          </a:xfrm>
          <a:prstGeom prst="rect">
            <a:avLst/>
          </a:prstGeom>
        </p:spPr>
        <p:txBody>
          <a:bodyPr vert="horz" wrap="square" lIns="0" tIns="1905" rIns="0" bIns="0" rtlCol="0">
            <a:spAutoFit/>
          </a:bodyPr>
          <a:lstStyle/>
          <a:p>
            <a:endParaRPr lang="en-GB" dirty="0"/>
          </a:p>
          <a:p>
            <a:pPr marL="12700">
              <a:lnSpc>
                <a:spcPct val="100000"/>
              </a:lnSpc>
              <a:spcBef>
                <a:spcPts val="5"/>
              </a:spcBef>
              <a:buClr>
                <a:srgbClr val="747474"/>
              </a:buClr>
              <a:buSzPct val="96153"/>
              <a:tabLst>
                <a:tab pos="186690" algn="l"/>
              </a:tabLst>
            </a:pPr>
            <a:r>
              <a:rPr sz="2600" spc="25" dirty="0">
                <a:solidFill>
                  <a:srgbClr val="747474"/>
                </a:solidFill>
                <a:latin typeface="Arial"/>
                <a:cs typeface="Arial"/>
              </a:rPr>
              <a:t>.</a:t>
            </a:r>
            <a:endParaRPr sz="2600" dirty="0">
              <a:latin typeface="Arial"/>
              <a:cs typeface="Arial"/>
            </a:endParaRPr>
          </a:p>
        </p:txBody>
      </p:sp>
      <p:sp>
        <p:nvSpPr>
          <p:cNvPr id="10" name="TextBox 9">
            <a:extLst>
              <a:ext uri="{FF2B5EF4-FFF2-40B4-BE49-F238E27FC236}">
                <a16:creationId xmlns:a16="http://schemas.microsoft.com/office/drawing/2014/main" id="{B0FFD0ED-D297-924C-AADA-714F8E6E93F5}"/>
              </a:ext>
              <a:ext uri="{C183D7F6-B498-43B3-948B-1728B52AA6E4}">
                <adec:decorative xmlns:adec="http://schemas.microsoft.com/office/drawing/2017/decorative" val="1"/>
              </a:ext>
            </a:extLst>
          </p:cNvPr>
          <p:cNvSpPr txBox="1"/>
          <p:nvPr/>
        </p:nvSpPr>
        <p:spPr>
          <a:xfrm>
            <a:off x="4070555" y="4586748"/>
            <a:ext cx="184731" cy="646331"/>
          </a:xfrm>
          <a:prstGeom prst="rect">
            <a:avLst/>
          </a:prstGeom>
          <a:noFill/>
        </p:spPr>
        <p:txBody>
          <a:bodyPr wrap="none" rtlCol="0">
            <a:spAutoFit/>
          </a:bodyPr>
          <a:lstStyle/>
          <a:p>
            <a:endParaRPr lang="en-GB" dirty="0"/>
          </a:p>
          <a:p>
            <a:endParaRPr lang="en-US" dirty="0"/>
          </a:p>
        </p:txBody>
      </p:sp>
      <p:sp>
        <p:nvSpPr>
          <p:cNvPr id="14" name="TextBox 13">
            <a:extLst>
              <a:ext uri="{FF2B5EF4-FFF2-40B4-BE49-F238E27FC236}">
                <a16:creationId xmlns:a16="http://schemas.microsoft.com/office/drawing/2014/main" id="{3BA22A07-F5A4-BF49-AC09-1659FF067021}"/>
              </a:ext>
            </a:extLst>
          </p:cNvPr>
          <p:cNvSpPr txBox="1"/>
          <p:nvPr/>
        </p:nvSpPr>
        <p:spPr>
          <a:xfrm>
            <a:off x="596900" y="2357107"/>
            <a:ext cx="11544300" cy="4462760"/>
          </a:xfrm>
          <a:prstGeom prst="rect">
            <a:avLst/>
          </a:prstGeom>
          <a:noFill/>
        </p:spPr>
        <p:txBody>
          <a:bodyPr wrap="square" rtlCol="0">
            <a:spAutoFit/>
          </a:bodyPr>
          <a:lstStyle/>
          <a:p>
            <a:pPr>
              <a:lnSpc>
                <a:spcPct val="150000"/>
              </a:lnSpc>
            </a:pPr>
            <a:r>
              <a:rPr lang="en-GB" sz="3200" dirty="0">
                <a:latin typeface="Courier New" panose="02070309020205020404" pitchFamily="49" charset="0"/>
                <a:cs typeface="Courier New" panose="02070309020205020404" pitchFamily="49" charset="0"/>
              </a:rPr>
              <a:t>.flex-container {</a:t>
            </a:r>
            <a:br>
              <a:rPr lang="en-GB" sz="3200" dirty="0">
                <a:latin typeface="Courier New" panose="02070309020205020404" pitchFamily="49" charset="0"/>
                <a:cs typeface="Courier New" panose="02070309020205020404" pitchFamily="49" charset="0"/>
              </a:rPr>
            </a:br>
            <a:r>
              <a:rPr lang="en-GB" sz="3200" dirty="0">
                <a:latin typeface="Courier New" panose="02070309020205020404" pitchFamily="49" charset="0"/>
                <a:cs typeface="Courier New" panose="02070309020205020404" pitchFamily="49" charset="0"/>
              </a:rPr>
              <a:t>  display: flex;</a:t>
            </a:r>
            <a:br>
              <a:rPr lang="en-GB" sz="3200" dirty="0">
                <a:latin typeface="Courier New" panose="02070309020205020404" pitchFamily="49" charset="0"/>
                <a:cs typeface="Courier New" panose="02070309020205020404" pitchFamily="49" charset="0"/>
              </a:rPr>
            </a:br>
            <a:r>
              <a:rPr lang="en-GB" sz="3200" dirty="0">
                <a:latin typeface="Courier New" panose="02070309020205020404" pitchFamily="49" charset="0"/>
                <a:cs typeface="Courier New" panose="02070309020205020404" pitchFamily="49" charset="0"/>
              </a:rPr>
              <a:t>  height: 300px;</a:t>
            </a:r>
            <a:br>
              <a:rPr lang="en-GB" sz="3200" dirty="0">
                <a:latin typeface="Courier New" panose="02070309020205020404" pitchFamily="49" charset="0"/>
                <a:cs typeface="Courier New" panose="02070309020205020404" pitchFamily="49" charset="0"/>
              </a:rPr>
            </a:br>
            <a:r>
              <a:rPr lang="en-GB" sz="3200" dirty="0">
                <a:latin typeface="Courier New" panose="02070309020205020404" pitchFamily="49" charset="0"/>
                <a:cs typeface="Courier New" panose="02070309020205020404" pitchFamily="49" charset="0"/>
              </a:rPr>
              <a:t>  justify-content: </a:t>
            </a:r>
            <a:r>
              <a:rPr lang="en-GB" sz="3200" dirty="0" err="1">
                <a:latin typeface="Courier New" panose="02070309020205020404" pitchFamily="49" charset="0"/>
                <a:cs typeface="Courier New" panose="02070309020205020404" pitchFamily="49" charset="0"/>
              </a:rPr>
              <a:t>center</a:t>
            </a:r>
            <a:r>
              <a:rPr lang="en-GB" sz="3200" dirty="0">
                <a:latin typeface="Courier New" panose="02070309020205020404" pitchFamily="49" charset="0"/>
                <a:cs typeface="Courier New" panose="02070309020205020404" pitchFamily="49" charset="0"/>
              </a:rPr>
              <a:t>;</a:t>
            </a:r>
            <a:br>
              <a:rPr lang="en-GB" sz="3200" dirty="0">
                <a:latin typeface="Courier New" panose="02070309020205020404" pitchFamily="49" charset="0"/>
                <a:cs typeface="Courier New" panose="02070309020205020404" pitchFamily="49" charset="0"/>
              </a:rPr>
            </a:br>
            <a:r>
              <a:rPr lang="en-GB" sz="3200" dirty="0">
                <a:latin typeface="Courier New" panose="02070309020205020404" pitchFamily="49" charset="0"/>
                <a:cs typeface="Courier New" panose="02070309020205020404" pitchFamily="49" charset="0"/>
              </a:rPr>
              <a:t>  align-items: </a:t>
            </a:r>
            <a:r>
              <a:rPr lang="en-GB" sz="3200" dirty="0" err="1">
                <a:latin typeface="Courier New" panose="02070309020205020404" pitchFamily="49" charset="0"/>
                <a:cs typeface="Courier New" panose="02070309020205020404" pitchFamily="49" charset="0"/>
              </a:rPr>
              <a:t>center</a:t>
            </a:r>
            <a:r>
              <a:rPr lang="en-GB" sz="3200" dirty="0">
                <a:latin typeface="Courier New" panose="02070309020205020404" pitchFamily="49" charset="0"/>
                <a:cs typeface="Courier New" panose="02070309020205020404" pitchFamily="49" charset="0"/>
              </a:rPr>
              <a:t>;</a:t>
            </a:r>
          </a:p>
          <a:p>
            <a:pPr>
              <a:lnSpc>
                <a:spcPct val="150000"/>
              </a:lnSpc>
            </a:pPr>
            <a:r>
              <a:rPr lang="en-GB" sz="3200" dirty="0">
                <a:latin typeface="Courier New" panose="02070309020205020404" pitchFamily="49" charset="0"/>
                <a:cs typeface="Courier New" panose="02070309020205020404" pitchFamily="49" charset="0"/>
              </a:rPr>
              <a:t>} </a:t>
            </a:r>
          </a:p>
        </p:txBody>
      </p:sp>
      <p:pic>
        <p:nvPicPr>
          <p:cNvPr id="6" name="Picture 5">
            <a:extLst>
              <a:ext uri="{FF2B5EF4-FFF2-40B4-BE49-F238E27FC236}">
                <a16:creationId xmlns:a16="http://schemas.microsoft.com/office/drawing/2014/main" id="{D8725005-1CAC-9C40-8E8B-EDF8EA0EB59E}"/>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869"/>
          <a:stretch/>
        </p:blipFill>
        <p:spPr>
          <a:xfrm>
            <a:off x="5892799" y="6324600"/>
            <a:ext cx="6327775" cy="3187700"/>
          </a:xfrm>
          <a:prstGeom prst="rect">
            <a:avLst/>
          </a:prstGeom>
        </p:spPr>
      </p:pic>
    </p:spTree>
    <p:extLst>
      <p:ext uri="{BB962C8B-B14F-4D97-AF65-F5344CB8AC3E}">
        <p14:creationId xmlns:p14="http://schemas.microsoft.com/office/powerpoint/2010/main" val="2171967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468466" y="378697"/>
            <a:ext cx="11888634" cy="1419171"/>
          </a:xfrm>
          <a:prstGeom prst="rect">
            <a:avLst/>
          </a:prstGeom>
        </p:spPr>
        <p:txBody>
          <a:bodyPr vert="horz" wrap="square" lIns="0" tIns="12700" rIns="0" bIns="0" rtlCol="0">
            <a:spAutoFit/>
          </a:bodyPr>
          <a:lstStyle/>
          <a:p>
            <a:pPr algn="l">
              <a:lnSpc>
                <a:spcPct val="150000"/>
              </a:lnSpc>
            </a:pPr>
            <a:r>
              <a:rPr lang="en-GB" sz="4000" b="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Child Elements (Items)</a:t>
            </a:r>
            <a:br>
              <a:rPr lang="en-GB" sz="4000" b="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br>
            <a:r>
              <a:rPr lang="en-GB" sz="2400" b="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The direct child elements of a flex container automatically becomes flexible (flex) items.</a:t>
            </a:r>
          </a:p>
        </p:txBody>
      </p:sp>
      <p:sp>
        <p:nvSpPr>
          <p:cNvPr id="4" name="object 4"/>
          <p:cNvSpPr txBox="1"/>
          <p:nvPr/>
        </p:nvSpPr>
        <p:spPr>
          <a:xfrm>
            <a:off x="596900" y="2357107"/>
            <a:ext cx="11703050" cy="679032"/>
          </a:xfrm>
          <a:prstGeom prst="rect">
            <a:avLst/>
          </a:prstGeom>
        </p:spPr>
        <p:txBody>
          <a:bodyPr vert="horz" wrap="square" lIns="0" tIns="1905" rIns="0" bIns="0" rtlCol="0">
            <a:spAutoFit/>
          </a:bodyPr>
          <a:lstStyle/>
          <a:p>
            <a:endParaRPr lang="en-GB" dirty="0"/>
          </a:p>
          <a:p>
            <a:pPr marL="12700">
              <a:lnSpc>
                <a:spcPct val="100000"/>
              </a:lnSpc>
              <a:spcBef>
                <a:spcPts val="5"/>
              </a:spcBef>
              <a:buClr>
                <a:srgbClr val="747474"/>
              </a:buClr>
              <a:buSzPct val="96153"/>
              <a:tabLst>
                <a:tab pos="186690" algn="l"/>
              </a:tabLst>
            </a:pPr>
            <a:r>
              <a:rPr sz="2600" spc="25" dirty="0">
                <a:solidFill>
                  <a:srgbClr val="747474"/>
                </a:solidFill>
                <a:latin typeface="Arial"/>
                <a:cs typeface="Arial"/>
              </a:rPr>
              <a:t>.</a:t>
            </a:r>
            <a:endParaRPr sz="2600" dirty="0">
              <a:latin typeface="Arial"/>
              <a:cs typeface="Arial"/>
            </a:endParaRPr>
          </a:p>
        </p:txBody>
      </p:sp>
      <p:sp>
        <p:nvSpPr>
          <p:cNvPr id="10" name="TextBox 9">
            <a:extLst>
              <a:ext uri="{FF2B5EF4-FFF2-40B4-BE49-F238E27FC236}">
                <a16:creationId xmlns:a16="http://schemas.microsoft.com/office/drawing/2014/main" id="{B0FFD0ED-D297-924C-AADA-714F8E6E93F5}"/>
              </a:ext>
              <a:ext uri="{C183D7F6-B498-43B3-948B-1728B52AA6E4}">
                <adec:decorative xmlns:adec="http://schemas.microsoft.com/office/drawing/2017/decorative" val="1"/>
              </a:ext>
            </a:extLst>
          </p:cNvPr>
          <p:cNvSpPr txBox="1"/>
          <p:nvPr/>
        </p:nvSpPr>
        <p:spPr>
          <a:xfrm>
            <a:off x="4070555" y="4586748"/>
            <a:ext cx="184731" cy="646331"/>
          </a:xfrm>
          <a:prstGeom prst="rect">
            <a:avLst/>
          </a:prstGeom>
          <a:noFill/>
        </p:spPr>
        <p:txBody>
          <a:bodyPr wrap="none" rtlCol="0">
            <a:spAutoFit/>
          </a:bodyPr>
          <a:lstStyle/>
          <a:p>
            <a:endParaRPr lang="en-GB" dirty="0"/>
          </a:p>
          <a:p>
            <a:endParaRPr lang="en-US" dirty="0"/>
          </a:p>
        </p:txBody>
      </p:sp>
      <p:sp>
        <p:nvSpPr>
          <p:cNvPr id="14" name="TextBox 13">
            <a:extLst>
              <a:ext uri="{FF2B5EF4-FFF2-40B4-BE49-F238E27FC236}">
                <a16:creationId xmlns:a16="http://schemas.microsoft.com/office/drawing/2014/main" id="{3BA22A07-F5A4-BF49-AC09-1659FF067021}"/>
              </a:ext>
            </a:extLst>
          </p:cNvPr>
          <p:cNvSpPr txBox="1"/>
          <p:nvPr/>
        </p:nvSpPr>
        <p:spPr>
          <a:xfrm>
            <a:off x="437331" y="2349733"/>
            <a:ext cx="11544300" cy="5724644"/>
          </a:xfrm>
          <a:prstGeom prst="rect">
            <a:avLst/>
          </a:prstGeom>
          <a:noFill/>
        </p:spPr>
        <p:txBody>
          <a:bodyPr wrap="square" rtlCol="0">
            <a:spAutoFit/>
          </a:bodyPr>
          <a:lstStyle/>
          <a:p>
            <a:r>
              <a:rPr lang="en-GB" sz="2800" dirty="0"/>
              <a:t>The flex item properties are:</a:t>
            </a:r>
          </a:p>
          <a:p>
            <a:pPr>
              <a:lnSpc>
                <a:spcPct val="150000"/>
              </a:lnSpc>
            </a:pPr>
            <a:r>
              <a:rPr lang="en-GB" sz="3200" dirty="0">
                <a:latin typeface="Courier New" panose="02070309020205020404" pitchFamily="49" charset="0"/>
                <a:cs typeface="Courier New" panose="02070309020205020404" pitchFamily="49" charset="0"/>
                <a:hlinkClick r:id="rId2"/>
              </a:rPr>
              <a:t>order</a:t>
            </a:r>
            <a:endParaRPr lang="en-GB" sz="3200" dirty="0">
              <a:latin typeface="Courier New" panose="02070309020205020404" pitchFamily="49" charset="0"/>
              <a:cs typeface="Courier New" panose="02070309020205020404" pitchFamily="49" charset="0"/>
            </a:endParaRPr>
          </a:p>
          <a:p>
            <a:pPr>
              <a:lnSpc>
                <a:spcPct val="150000"/>
              </a:lnSpc>
            </a:pPr>
            <a:r>
              <a:rPr lang="en-GB" sz="3200" dirty="0">
                <a:latin typeface="Courier New" panose="02070309020205020404" pitchFamily="49" charset="0"/>
                <a:cs typeface="Courier New" panose="02070309020205020404" pitchFamily="49" charset="0"/>
                <a:hlinkClick r:id="rId3"/>
              </a:rPr>
              <a:t>flex-grow</a:t>
            </a:r>
            <a:endParaRPr lang="en-GB" sz="3200" dirty="0">
              <a:latin typeface="Courier New" panose="02070309020205020404" pitchFamily="49" charset="0"/>
              <a:cs typeface="Courier New" panose="02070309020205020404" pitchFamily="49" charset="0"/>
            </a:endParaRPr>
          </a:p>
          <a:p>
            <a:pPr>
              <a:lnSpc>
                <a:spcPct val="150000"/>
              </a:lnSpc>
            </a:pPr>
            <a:r>
              <a:rPr lang="en-GB" sz="3200" dirty="0">
                <a:latin typeface="Courier New" panose="02070309020205020404" pitchFamily="49" charset="0"/>
                <a:cs typeface="Courier New" panose="02070309020205020404" pitchFamily="49" charset="0"/>
                <a:hlinkClick r:id="rId4"/>
              </a:rPr>
              <a:t>flex-shrink</a:t>
            </a:r>
            <a:endParaRPr lang="en-GB" sz="3200" dirty="0">
              <a:latin typeface="Courier New" panose="02070309020205020404" pitchFamily="49" charset="0"/>
              <a:cs typeface="Courier New" panose="02070309020205020404" pitchFamily="49" charset="0"/>
            </a:endParaRPr>
          </a:p>
          <a:p>
            <a:pPr>
              <a:lnSpc>
                <a:spcPct val="150000"/>
              </a:lnSpc>
            </a:pPr>
            <a:r>
              <a:rPr lang="en-GB" sz="3200" dirty="0">
                <a:latin typeface="Courier New" panose="02070309020205020404" pitchFamily="49" charset="0"/>
                <a:cs typeface="Courier New" panose="02070309020205020404" pitchFamily="49" charset="0"/>
                <a:hlinkClick r:id="rId5"/>
              </a:rPr>
              <a:t>flex-basis</a:t>
            </a:r>
            <a:endParaRPr lang="en-GB" sz="3200" dirty="0">
              <a:latin typeface="Courier New" panose="02070309020205020404" pitchFamily="49" charset="0"/>
              <a:cs typeface="Courier New" panose="02070309020205020404" pitchFamily="49" charset="0"/>
            </a:endParaRPr>
          </a:p>
          <a:p>
            <a:pPr>
              <a:lnSpc>
                <a:spcPct val="150000"/>
              </a:lnSpc>
            </a:pPr>
            <a:r>
              <a:rPr lang="en-GB" sz="3200" dirty="0">
                <a:latin typeface="Courier New" panose="02070309020205020404" pitchFamily="49" charset="0"/>
                <a:cs typeface="Courier New" panose="02070309020205020404" pitchFamily="49" charset="0"/>
                <a:hlinkClick r:id="rId6"/>
              </a:rPr>
              <a:t>flex</a:t>
            </a:r>
            <a:endParaRPr lang="en-GB" sz="3200" dirty="0">
              <a:latin typeface="Courier New" panose="02070309020205020404" pitchFamily="49" charset="0"/>
              <a:cs typeface="Courier New" panose="02070309020205020404" pitchFamily="49" charset="0"/>
            </a:endParaRPr>
          </a:p>
          <a:p>
            <a:pPr>
              <a:lnSpc>
                <a:spcPct val="150000"/>
              </a:lnSpc>
            </a:pPr>
            <a:r>
              <a:rPr lang="en-GB" sz="3200" dirty="0">
                <a:latin typeface="Courier New" panose="02070309020205020404" pitchFamily="49" charset="0"/>
                <a:cs typeface="Courier New" panose="02070309020205020404" pitchFamily="49" charset="0"/>
                <a:hlinkClick r:id="rId7"/>
              </a:rPr>
              <a:t>align-self</a:t>
            </a:r>
            <a:endParaRPr lang="en-GB" sz="3200" dirty="0">
              <a:latin typeface="Courier New" panose="02070309020205020404" pitchFamily="49" charset="0"/>
              <a:cs typeface="Courier New" panose="02070309020205020404" pitchFamily="49" charset="0"/>
            </a:endParaRPr>
          </a:p>
          <a:p>
            <a:br>
              <a:rPr lang="en-GB" sz="3200" dirty="0"/>
            </a:br>
            <a:endParaRPr lang="en-GB" dirty="0"/>
          </a:p>
        </p:txBody>
      </p:sp>
      <p:sp>
        <p:nvSpPr>
          <p:cNvPr id="5" name="TextBox 4">
            <a:extLst>
              <a:ext uri="{FF2B5EF4-FFF2-40B4-BE49-F238E27FC236}">
                <a16:creationId xmlns:a16="http://schemas.microsoft.com/office/drawing/2014/main" id="{5772DBD4-C484-0047-946C-E97FB6FF538C}"/>
              </a:ext>
            </a:extLst>
          </p:cNvPr>
          <p:cNvSpPr txBox="1"/>
          <p:nvPr/>
        </p:nvSpPr>
        <p:spPr>
          <a:xfrm>
            <a:off x="488950" y="7815752"/>
            <a:ext cx="11118850" cy="1302151"/>
          </a:xfrm>
          <a:prstGeom prst="rect">
            <a:avLst/>
          </a:prstGeom>
          <a:noFill/>
        </p:spPr>
        <p:txBody>
          <a:bodyPr wrap="square" rtlCol="0">
            <a:spAutoFit/>
          </a:bodyPr>
          <a:lstStyle/>
          <a:p>
            <a:pPr>
              <a:lnSpc>
                <a:spcPct val="150000"/>
              </a:lnSpc>
            </a:pPr>
            <a:r>
              <a:rPr lang="en-US" sz="2800" dirty="0">
                <a:latin typeface="Helvetica Neue" panose="02000503000000020004" pitchFamily="2" charset="0"/>
                <a:ea typeface="Helvetica Neue" panose="02000503000000020004" pitchFamily="2" charset="0"/>
                <a:cs typeface="Helvetica Neue" panose="02000503000000020004" pitchFamily="2" charset="0"/>
              </a:rPr>
              <a:t>Investigate these in your own time</a:t>
            </a:r>
          </a:p>
          <a:p>
            <a:pPr>
              <a:lnSpc>
                <a:spcPct val="150000"/>
              </a:lnSpc>
            </a:pPr>
            <a:r>
              <a:rPr lang="en-GB" sz="2800" dirty="0">
                <a:latin typeface="Helvetica Neue" panose="02000503000000020004" pitchFamily="2" charset="0"/>
                <a:ea typeface="Helvetica Neue" panose="02000503000000020004" pitchFamily="2" charset="0"/>
                <a:cs typeface="Helvetica Neue" panose="02000503000000020004" pitchFamily="2" charset="0"/>
                <a:hlinkClick r:id="rId8"/>
              </a:rPr>
              <a:t>https://css-tricks.com/snippets/css/a-guide-to-flexbox/</a:t>
            </a:r>
            <a:endParaRPr lang="en-GB" sz="28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073307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647700" y="1974851"/>
            <a:ext cx="11709400" cy="0"/>
          </a:xfrm>
          <a:custGeom>
            <a:avLst/>
            <a:gdLst/>
            <a:ahLst/>
            <a:cxnLst/>
            <a:rect l="l" t="t" r="r" b="b"/>
            <a:pathLst>
              <a:path w="11709400">
                <a:moveTo>
                  <a:pt x="0" y="0"/>
                </a:moveTo>
                <a:lnTo>
                  <a:pt x="11709396" y="0"/>
                </a:lnTo>
              </a:path>
            </a:pathLst>
          </a:custGeom>
          <a:ln w="12699">
            <a:solidFill>
              <a:srgbClr val="AAAAAA"/>
            </a:solidFill>
          </a:ln>
        </p:spPr>
        <p:txBody>
          <a:bodyPr wrap="square" lIns="0" tIns="0" rIns="0" bIns="0" rtlCol="0"/>
          <a:lstStyle/>
          <a:p>
            <a:endParaRPr/>
          </a:p>
        </p:txBody>
      </p:sp>
      <p:sp>
        <p:nvSpPr>
          <p:cNvPr id="3" name="object 3"/>
          <p:cNvSpPr txBox="1">
            <a:spLocks noGrp="1"/>
          </p:cNvSpPr>
          <p:nvPr>
            <p:ph type="title"/>
          </p:nvPr>
        </p:nvSpPr>
        <p:spPr>
          <a:xfrm>
            <a:off x="596900" y="1013936"/>
            <a:ext cx="4000500" cy="659155"/>
          </a:xfrm>
          <a:prstGeom prst="rect">
            <a:avLst/>
          </a:prstGeom>
        </p:spPr>
        <p:txBody>
          <a:bodyPr vert="horz" wrap="square" lIns="0" tIns="12700" rIns="0" bIns="0" rtlCol="0">
            <a:spAutoFit/>
          </a:bodyPr>
          <a:lstStyle/>
          <a:p>
            <a:pPr marL="12700">
              <a:lnSpc>
                <a:spcPct val="100000"/>
              </a:lnSpc>
              <a:spcBef>
                <a:spcPts val="100"/>
              </a:spcBef>
            </a:pPr>
            <a:r>
              <a:rPr lang="en-GB" sz="4200" b="0" spc="-135" dirty="0">
                <a:solidFill>
                  <a:srgbClr val="000000"/>
                </a:solidFill>
                <a:latin typeface="Arial"/>
                <a:cs typeface="Arial"/>
              </a:rPr>
              <a:t>Summary</a:t>
            </a:r>
            <a:endParaRPr sz="4200" dirty="0">
              <a:latin typeface="Arial"/>
              <a:cs typeface="Arial"/>
            </a:endParaRPr>
          </a:p>
        </p:txBody>
      </p:sp>
      <p:sp>
        <p:nvSpPr>
          <p:cNvPr id="4" name="object 4"/>
          <p:cNvSpPr txBox="1"/>
          <p:nvPr/>
        </p:nvSpPr>
        <p:spPr>
          <a:xfrm>
            <a:off x="596900" y="2357107"/>
            <a:ext cx="11703050" cy="5765040"/>
          </a:xfrm>
          <a:prstGeom prst="rect">
            <a:avLst/>
          </a:prstGeom>
        </p:spPr>
        <p:txBody>
          <a:bodyPr vert="horz" wrap="square" lIns="0" tIns="1905" rIns="0" bIns="0" rtlCol="0">
            <a:spAutoFit/>
          </a:bodyPr>
          <a:lstStyle/>
          <a:p>
            <a:pPr marL="469900" marR="137160" indent="-457200">
              <a:lnSpc>
                <a:spcPct val="200000"/>
              </a:lnSpc>
              <a:spcBef>
                <a:spcPts val="15"/>
              </a:spcBef>
              <a:buClr>
                <a:srgbClr val="747474"/>
              </a:buClr>
              <a:buSzPct val="96153"/>
              <a:buFont typeface="Arial" panose="020B0604020202020204" pitchFamily="34" charset="0"/>
              <a:buChar char="•"/>
              <a:tabLst>
                <a:tab pos="186690" algn="l"/>
              </a:tabLst>
            </a:pPr>
            <a:r>
              <a:rPr lang="en-GB" sz="3200" dirty="0">
                <a:latin typeface="Helvetica"/>
                <a:cs typeface="Arial"/>
              </a:rPr>
              <a:t>CSS Grid to make the main grid layout for your site (next week)</a:t>
            </a:r>
          </a:p>
          <a:p>
            <a:pPr marL="469900" marR="137160" indent="-457200">
              <a:lnSpc>
                <a:spcPct val="200000"/>
              </a:lnSpc>
              <a:spcBef>
                <a:spcPts val="15"/>
              </a:spcBef>
              <a:buClr>
                <a:srgbClr val="747474"/>
              </a:buClr>
              <a:buSzPct val="96153"/>
              <a:buFont typeface="Arial" panose="020B0604020202020204" pitchFamily="34" charset="0"/>
              <a:buChar char="•"/>
              <a:tabLst>
                <a:tab pos="186690" algn="l"/>
              </a:tabLst>
            </a:pPr>
            <a:r>
              <a:rPr lang="en-GB" sz="3200" dirty="0">
                <a:latin typeface="Helvetica"/>
                <a:cs typeface="Arial"/>
              </a:rPr>
              <a:t>Flexbox to help position or centre items within in a single row  or area.</a:t>
            </a:r>
          </a:p>
          <a:p>
            <a:pPr marL="469900" marR="137160" indent="-457200">
              <a:lnSpc>
                <a:spcPct val="200000"/>
              </a:lnSpc>
              <a:spcBef>
                <a:spcPts val="15"/>
              </a:spcBef>
              <a:buClr>
                <a:srgbClr val="747474"/>
              </a:buClr>
              <a:buSzPct val="96153"/>
              <a:buFont typeface="Arial" panose="020B0604020202020204" pitchFamily="34" charset="0"/>
              <a:buChar char="•"/>
              <a:tabLst>
                <a:tab pos="186690" algn="l"/>
              </a:tabLst>
            </a:pPr>
            <a:r>
              <a:rPr lang="en-GB" sz="3200" dirty="0">
                <a:latin typeface="Helvetica"/>
                <a:cs typeface="Arial"/>
              </a:rPr>
              <a:t>Float to wrap text around images.</a:t>
            </a:r>
            <a:endParaRPr sz="3200" dirty="0">
              <a:latin typeface="Arial"/>
              <a:cs typeface="Arial"/>
            </a:endParaRPr>
          </a:p>
          <a:p>
            <a:pPr>
              <a:lnSpc>
                <a:spcPct val="100000"/>
              </a:lnSpc>
              <a:buClr>
                <a:srgbClr val="747474"/>
              </a:buClr>
              <a:buFont typeface="Trebuchet MS"/>
              <a:buChar char="•"/>
            </a:pPr>
            <a:endParaRPr sz="2850" dirty="0">
              <a:latin typeface="Times New Roman"/>
              <a:cs typeface="Times New Roman"/>
            </a:endParaRPr>
          </a:p>
          <a:p>
            <a:pPr marL="12700">
              <a:lnSpc>
                <a:spcPct val="100000"/>
              </a:lnSpc>
              <a:spcBef>
                <a:spcPts val="5"/>
              </a:spcBef>
              <a:buClr>
                <a:srgbClr val="747474"/>
              </a:buClr>
              <a:buSzPct val="96153"/>
              <a:tabLst>
                <a:tab pos="186690" algn="l"/>
              </a:tabLst>
            </a:pPr>
            <a:r>
              <a:rPr sz="2600" spc="25" dirty="0">
                <a:solidFill>
                  <a:srgbClr val="747474"/>
                </a:solidFill>
                <a:latin typeface="Arial"/>
                <a:cs typeface="Arial"/>
              </a:rPr>
              <a:t>.</a:t>
            </a:r>
            <a:endParaRPr sz="2600" dirty="0">
              <a:latin typeface="Arial"/>
              <a:cs typeface="Arial"/>
            </a:endParaRPr>
          </a:p>
        </p:txBody>
      </p:sp>
    </p:spTree>
    <p:extLst>
      <p:ext uri="{BB962C8B-B14F-4D97-AF65-F5344CB8AC3E}">
        <p14:creationId xmlns:p14="http://schemas.microsoft.com/office/powerpoint/2010/main" val="3405056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4186598" y="444501"/>
            <a:ext cx="3980815" cy="8559800"/>
          </a:xfrm>
          <a:prstGeom prst="rect">
            <a:avLst/>
          </a:prstGeom>
        </p:spPr>
        <p:txBody>
          <a:bodyPr vert="horz" wrap="square" lIns="0" tIns="12700" rIns="0" bIns="0" rtlCol="0">
            <a:spAutoFit/>
          </a:bodyPr>
          <a:lstStyle/>
          <a:p>
            <a:pPr marL="12700">
              <a:lnSpc>
                <a:spcPct val="100000"/>
              </a:lnSpc>
              <a:spcBef>
                <a:spcPts val="100"/>
              </a:spcBef>
            </a:pPr>
            <a:r>
              <a:rPr sz="56000" dirty="0">
                <a:solidFill>
                  <a:srgbClr val="747474"/>
                </a:solidFill>
                <a:latin typeface="Arial"/>
                <a:cs typeface="Arial"/>
              </a:rPr>
              <a:t>?</a:t>
            </a:r>
            <a:endParaRPr sz="560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4747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711</TotalTime>
  <Words>1637</Words>
  <Application>Microsoft Office PowerPoint</Application>
  <PresentationFormat>Custom</PresentationFormat>
  <Paragraphs>157</Paragraphs>
  <Slides>31</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31</vt:i4>
      </vt:variant>
    </vt:vector>
  </HeadingPairs>
  <TitlesOfParts>
    <vt:vector size="44" baseType="lpstr">
      <vt:lpstr>American Typewriter</vt:lpstr>
      <vt:lpstr>Arial</vt:lpstr>
      <vt:lpstr>Arial Unicode MS</vt:lpstr>
      <vt:lpstr>Arial-BoldItalicMT</vt:lpstr>
      <vt:lpstr>Calibri</vt:lpstr>
      <vt:lpstr>Courier New</vt:lpstr>
      <vt:lpstr>Georgia</vt:lpstr>
      <vt:lpstr>Helvetica</vt:lpstr>
      <vt:lpstr>Helvetica Neue</vt:lpstr>
      <vt:lpstr>Helvetica Neue Light</vt:lpstr>
      <vt:lpstr>Times New Roman</vt:lpstr>
      <vt:lpstr>Trebuchet MS</vt:lpstr>
      <vt:lpstr>Office Theme</vt:lpstr>
      <vt:lpstr>Computer Systems and Internet Technologies </vt:lpstr>
      <vt:lpstr>Pre CSS</vt:lpstr>
      <vt:lpstr>An example of a  “sliced” website in  Photoshop. Each of  the blue and grey  numbers are  separate images that,  once exported from  Photoshop, would  have to be arranged  into the same layout  using HTML tables.  This was a long and  boring process.</vt:lpstr>
      <vt:lpstr>CSS for Layout.</vt:lpstr>
      <vt:lpstr>CSS for Layout.</vt:lpstr>
      <vt:lpstr>CSS Box Model.</vt:lpstr>
      <vt:lpstr>PowerPoint Presentation</vt:lpstr>
      <vt:lpstr>Chrome dev tools box model helper</vt:lpstr>
      <vt:lpstr>Change values and drag and drop demo</vt:lpstr>
      <vt:lpstr>Document Flow and using Float.</vt:lpstr>
      <vt:lpstr>Image, followed by heading, followed by  text. Each new item on a new line.</vt:lpstr>
      <vt:lpstr>Changing Document Flow.</vt:lpstr>
      <vt:lpstr>The basic layout, with the new CSS  applied. Notice how the image appears in  the same place in the document flow.</vt:lpstr>
      <vt:lpstr>PowerPoint Presentation</vt:lpstr>
      <vt:lpstr>PowerPoint Presentation</vt:lpstr>
      <vt:lpstr>Other Changes.</vt:lpstr>
      <vt:lpstr>PowerPoint Presentation</vt:lpstr>
      <vt:lpstr>PowerPoint Presentation</vt:lpstr>
      <vt:lpstr>Fixes.</vt:lpstr>
      <vt:lpstr>PowerPoint Presentation</vt:lpstr>
      <vt:lpstr>Flexbox</vt:lpstr>
      <vt:lpstr>Flexbox</vt:lpstr>
      <vt:lpstr>Enable Flexbox</vt:lpstr>
      <vt:lpstr>Flex Direction</vt:lpstr>
      <vt:lpstr>Change the horizontal alignment</vt:lpstr>
      <vt:lpstr>Change the vertical alignment</vt:lpstr>
      <vt:lpstr>Wrap</vt:lpstr>
      <vt:lpstr>Perfect centring</vt:lpstr>
      <vt:lpstr>Child Elements (Items) The direct child elements of a flex container automatically becomes flexible (flex) items.</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Media Foundations</dc:title>
  <cp:lastModifiedBy>Louis Kashari</cp:lastModifiedBy>
  <cp:revision>31</cp:revision>
  <dcterms:created xsi:type="dcterms:W3CDTF">2019-11-21T14:02:17Z</dcterms:created>
  <dcterms:modified xsi:type="dcterms:W3CDTF">2025-05-09T14:28:19Z</dcterms:modified>
</cp:coreProperties>
</file>